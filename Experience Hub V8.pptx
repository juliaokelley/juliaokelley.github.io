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xml" ContentType="application/vnd.openxmlformats-officedocument.presentationml.tags+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3"/>
  </p:notesMasterIdLst>
  <p:sldIdLst>
    <p:sldId id="266" r:id="rId5"/>
    <p:sldId id="2147478837" r:id="rId6"/>
    <p:sldId id="2147478836" r:id="rId7"/>
    <p:sldId id="399" r:id="rId8"/>
    <p:sldId id="309" r:id="rId9"/>
    <p:sldId id="2147478847" r:id="rId10"/>
    <p:sldId id="2147477877" r:id="rId11"/>
    <p:sldId id="355" r:id="rId12"/>
    <p:sldId id="2147477606" r:id="rId13"/>
    <p:sldId id="2147477462" r:id="rId14"/>
    <p:sldId id="2147477609" r:id="rId15"/>
    <p:sldId id="311" r:id="rId16"/>
    <p:sldId id="2147347799" r:id="rId17"/>
    <p:sldId id="310" r:id="rId18"/>
    <p:sldId id="400" r:id="rId19"/>
    <p:sldId id="341" r:id="rId20"/>
    <p:sldId id="398" r:id="rId21"/>
    <p:sldId id="2145873257" r:id="rId22"/>
    <p:sldId id="2147347797" r:id="rId23"/>
    <p:sldId id="2147477610" r:id="rId24"/>
    <p:sldId id="2147477871" r:id="rId25"/>
    <p:sldId id="2147477483" r:id="rId26"/>
    <p:sldId id="2147478832" r:id="rId27"/>
    <p:sldId id="2147478833" r:id="rId28"/>
    <p:sldId id="2147478839" r:id="rId29"/>
    <p:sldId id="883" r:id="rId30"/>
    <p:sldId id="2147483640" r:id="rId31"/>
    <p:sldId id="214747936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E63"/>
    <a:srgbClr val="ED583E"/>
    <a:srgbClr val="D3BA59"/>
    <a:srgbClr val="4C94AC"/>
    <a:srgbClr val="FFFFFF"/>
    <a:srgbClr val="E9F2F5"/>
    <a:srgbClr val="E3E0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69751-614B-4EDB-88E6-188F98D223DC}" v="3" dt="2026-08-03T17:03:28.0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9609811611083209"/>
          <c:y val="3.7578856419178831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40523786371456355"/>
          <c:y val="0.21778567582902356"/>
          <c:w val="0.42785147943536755"/>
          <c:h val="0.54598353087186346"/>
        </c:manualLayout>
      </c:layout>
      <c:barChart>
        <c:barDir val="bar"/>
        <c:grouping val="clustered"/>
        <c:varyColors val="0"/>
        <c:ser>
          <c:idx val="0"/>
          <c:order val="0"/>
          <c:tx>
            <c:strRef>
              <c:f>Sheet1!$B$1</c:f>
              <c:strCache>
                <c:ptCount val="1"/>
                <c:pt idx="0">
                  <c:v>Aided Awareness</c:v>
                </c:pt>
              </c:strCache>
            </c:strRef>
          </c:tx>
          <c:spPr>
            <a:solidFill>
              <a:schemeClr val="bg1">
                <a:lumMod val="65000"/>
              </a:schemeClr>
            </a:solidFill>
            <a:ln>
              <a:solidFill>
                <a:schemeClr val="bg1">
                  <a:lumMod val="75000"/>
                </a:schemeClr>
              </a:solidFill>
            </a:ln>
            <a:effectLst/>
          </c:spPr>
          <c:invertIfNegative val="0"/>
          <c:dPt>
            <c:idx val="2"/>
            <c:invertIfNegative val="0"/>
            <c:bubble3D val="0"/>
            <c:spPr>
              <a:solidFill>
                <a:schemeClr val="accent2"/>
              </a:solidFill>
              <a:ln>
                <a:solidFill>
                  <a:schemeClr val="bg1">
                    <a:lumMod val="75000"/>
                  </a:schemeClr>
                </a:solidFill>
              </a:ln>
              <a:effectLst/>
            </c:spPr>
            <c:extLst>
              <c:ext xmlns:c16="http://schemas.microsoft.com/office/drawing/2014/chart" uri="{C3380CC4-5D6E-409C-BE32-E72D297353CC}">
                <c16:uniqueId val="{00000001-254D-43F2-915C-695D6123F78F}"/>
              </c:ext>
            </c:extLst>
          </c:dPt>
          <c:cat>
            <c:strRef>
              <c:f>Sheet1!$A$2:$A$6</c:f>
              <c:strCache>
                <c:ptCount val="5"/>
                <c:pt idx="0">
                  <c:v>RELX</c:v>
                </c:pt>
                <c:pt idx="1">
                  <c:v>Wolters Kluwer</c:v>
                </c:pt>
                <c:pt idx="2">
                  <c:v>Clarivate</c:v>
                </c:pt>
                <c:pt idx="3">
                  <c:v>Thomson Reuters</c:v>
                </c:pt>
                <c:pt idx="4">
                  <c:v>S&amp;P Global</c:v>
                </c:pt>
              </c:strCache>
            </c:strRef>
          </c:cat>
          <c:val>
            <c:numRef>
              <c:f>Sheet1!$B$2:$B$6</c:f>
              <c:numCache>
                <c:formatCode>0.00%</c:formatCode>
                <c:ptCount val="5"/>
                <c:pt idx="0">
                  <c:v>0.105</c:v>
                </c:pt>
                <c:pt idx="1">
                  <c:v>0.10100000000000001</c:v>
                </c:pt>
                <c:pt idx="2">
                  <c:v>0.161</c:v>
                </c:pt>
                <c:pt idx="3" formatCode="0%">
                  <c:v>0.22500000000000001</c:v>
                </c:pt>
                <c:pt idx="4">
                  <c:v>0.25850000000000001</c:v>
                </c:pt>
              </c:numCache>
            </c:numRef>
          </c:val>
          <c:extLst>
            <c:ext xmlns:c16="http://schemas.microsoft.com/office/drawing/2014/chart" uri="{C3380CC4-5D6E-409C-BE32-E72D297353CC}">
              <c16:uniqueId val="{00000002-254D-43F2-915C-695D6123F78F}"/>
            </c:ext>
          </c:extLst>
        </c:ser>
        <c:dLbls>
          <c:showLegendKey val="0"/>
          <c:showVal val="0"/>
          <c:showCatName val="0"/>
          <c:showSerName val="0"/>
          <c:showPercent val="0"/>
          <c:showBubbleSize val="0"/>
        </c:dLbls>
        <c:gapWidth val="182"/>
        <c:axId val="1342531408"/>
        <c:axId val="1342531888"/>
      </c:barChart>
      <c:catAx>
        <c:axId val="1342531408"/>
        <c:scaling>
          <c:orientation val="minMax"/>
        </c:scaling>
        <c:delete val="1"/>
        <c:axPos val="l"/>
        <c:numFmt formatCode="General" sourceLinked="1"/>
        <c:majorTickMark val="none"/>
        <c:minorTickMark val="none"/>
        <c:tickLblPos val="nextTo"/>
        <c:crossAx val="1342531888"/>
        <c:crosses val="autoZero"/>
        <c:auto val="1"/>
        <c:lblAlgn val="ctr"/>
        <c:lblOffset val="100"/>
        <c:noMultiLvlLbl val="0"/>
      </c:catAx>
      <c:valAx>
        <c:axId val="1342531888"/>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25314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US" dirty="0">
              <a:solidFill>
                <a:srgbClr val="ED583E"/>
              </a:solidFill>
            </a:rPr>
            <a:t>Understand</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dirty="0">
              <a:solidFill>
                <a:schemeClr val="accent3"/>
              </a:solidFill>
            </a:rPr>
            <a:t>Assess</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 </a:t>
          </a:r>
          <a:r>
            <a:rPr lang="en-US" dirty="0">
              <a:solidFill>
                <a:srgbClr val="D3BA59"/>
              </a:solidFill>
            </a:rPr>
            <a:t>Optimize</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a:solidFill>
          <a:srgbClr val="ED583E"/>
        </a:solidFill>
      </dgm:spPr>
    </dgm:pt>
    <dgm:pt modelId="{8FA2F131-CD01-4CBD-B7A5-1B9B5E7F0402}" type="pres">
      <dgm:prSet presAssocID="{40FC4FFE-8987-4A26-B7F4-8A516F18ADAE}"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custLinFactNeighborX="-10323" custLinFactNeighborY="-49784">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custLinFactNeighborY="-62678">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a:solidFill>
          <a:srgbClr val="D3BA59"/>
        </a:solidFill>
      </dgm:spPr>
    </dgm:pt>
    <dgm:pt modelId="{F09AEBFF-D2D3-4FFF-AD65-C3CEAEEB10F2}" type="pres">
      <dgm:prSet presAssocID="{1C383F32-22E8-4F62-A3E0-BDC3D5F4899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custLinFactNeighborX="8269" custLinFactNeighborY="-62995">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55787" y="213787"/>
          <a:ext cx="1955812" cy="1955812"/>
        </a:xfrm>
        <a:prstGeom prst="ellipse">
          <a:avLst/>
        </a:prstGeom>
        <a:solidFill>
          <a:srgbClr val="ED583E"/>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72600" y="630599"/>
          <a:ext cx="1122187" cy="112218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0" y="242034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solidFill>
                <a:srgbClr val="ED583E"/>
              </a:solidFill>
            </a:rPr>
            <a:t>Understand</a:t>
          </a:r>
        </a:p>
      </dsp:txBody>
      <dsp:txXfrm>
        <a:off x="0" y="2420342"/>
        <a:ext cx="3206250" cy="720000"/>
      </dsp:txXfrm>
    </dsp:sp>
    <dsp:sp modelId="{543C18BC-1989-44B2-9862-C670C61D3452}">
      <dsp:nvSpPr>
        <dsp:cNvPr id="0" name=""/>
        <dsp:cNvSpPr/>
      </dsp:nvSpPr>
      <dsp:spPr>
        <a:xfrm>
          <a:off x="4423131" y="213787"/>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839944" y="630599"/>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797913" y="232750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solidFill>
                <a:schemeClr val="accent3"/>
              </a:solidFill>
            </a:rPr>
            <a:t>Assess</a:t>
          </a:r>
        </a:p>
      </dsp:txBody>
      <dsp:txXfrm>
        <a:off x="3797913" y="2327505"/>
        <a:ext cx="3206250" cy="720000"/>
      </dsp:txXfrm>
    </dsp:sp>
    <dsp:sp modelId="{5BDDFF18-9AEC-4E5E-B9AA-33D86F01A63E}">
      <dsp:nvSpPr>
        <dsp:cNvPr id="0" name=""/>
        <dsp:cNvSpPr/>
      </dsp:nvSpPr>
      <dsp:spPr>
        <a:xfrm>
          <a:off x="8190475" y="213787"/>
          <a:ext cx="1955812" cy="1955812"/>
        </a:xfrm>
        <a:prstGeom prst="ellipse">
          <a:avLst/>
        </a:prstGeom>
        <a:solidFill>
          <a:srgbClr val="D3BA59"/>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607288" y="630599"/>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595826" y="2325223"/>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t> </a:t>
          </a:r>
          <a:r>
            <a:rPr lang="en-US" sz="4000" kern="1200" dirty="0">
              <a:solidFill>
                <a:srgbClr val="D3BA59"/>
              </a:solidFill>
            </a:rPr>
            <a:t>Optimize</a:t>
          </a:r>
        </a:p>
      </dsp:txBody>
      <dsp:txXfrm>
        <a:off x="7595826" y="2325223"/>
        <a:ext cx="3206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4488D-FD6D-4977-A23B-F74F67A6DF09}"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AD78E5-D391-48BE-8626-5E9572DCFAE5}" type="slidenum">
              <a:rPr lang="en-US" smtClean="0"/>
              <a:t>‹#›</a:t>
            </a:fld>
            <a:endParaRPr lang="en-US"/>
          </a:p>
        </p:txBody>
      </p:sp>
    </p:spTree>
    <p:extLst>
      <p:ext uri="{BB962C8B-B14F-4D97-AF65-F5344CB8AC3E}">
        <p14:creationId xmlns:p14="http://schemas.microsoft.com/office/powerpoint/2010/main" val="465461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BE075F-A260-4257-BA6C-CE5571AE4EB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807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B3C285-11B3-A64B-A5AF-6A4034B43988}" type="slidenum">
              <a:rPr lang="en-GB" smtClean="0"/>
              <a:t>6</a:t>
            </a:fld>
            <a:endParaRPr lang="en-GB"/>
          </a:p>
        </p:txBody>
      </p:sp>
    </p:spTree>
    <p:extLst>
      <p:ext uri="{BB962C8B-B14F-4D97-AF65-F5344CB8AC3E}">
        <p14:creationId xmlns:p14="http://schemas.microsoft.com/office/powerpoint/2010/main" val="195196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defRPr/>
            </a:pPr>
            <a:r>
              <a:rPr lang="en-US" sz="1200">
                <a:solidFill>
                  <a:srgbClr val="5C6770"/>
                </a:solidFill>
                <a:latin typeface="+mj-lt"/>
              </a:rPr>
              <a:t>North American consulting and implementation</a:t>
            </a:r>
          </a:p>
          <a:p>
            <a:pPr marL="342900" indent="-342900">
              <a:buFont typeface="+mj-lt"/>
              <a:buAutoNum type="arabicPeriod"/>
              <a:defRPr/>
            </a:pPr>
            <a:r>
              <a:rPr lang="en-US" sz="1200">
                <a:solidFill>
                  <a:srgbClr val="5C6770"/>
                </a:solidFill>
                <a:latin typeface="+mj-lt"/>
              </a:rPr>
              <a:t>International consulting and implementation</a:t>
            </a:r>
          </a:p>
          <a:p>
            <a:pPr marL="342900" indent="-342900">
              <a:buFont typeface="+mj-lt"/>
              <a:buAutoNum type="arabicPeriod"/>
              <a:defRPr/>
            </a:pPr>
            <a:r>
              <a:rPr lang="en-US" sz="1200">
                <a:solidFill>
                  <a:srgbClr val="5C6770"/>
                </a:solidFill>
                <a:latin typeface="+mj-lt"/>
              </a:rPr>
              <a:t>Veterans’ Administration (VA) consulting and implementation</a:t>
            </a:r>
          </a:p>
          <a:p>
            <a:pPr marL="342900" indent="-342900">
              <a:buFont typeface="+mj-lt"/>
              <a:buAutoNum type="arabicPeriod"/>
              <a:defRPr/>
            </a:pPr>
            <a:r>
              <a:rPr lang="en-US" sz="1200">
                <a:solidFill>
                  <a:srgbClr val="5C6770"/>
                </a:solidFill>
                <a:latin typeface="+mj-lt"/>
              </a:rPr>
              <a:t>Continuous Improvement consultants</a:t>
            </a:r>
          </a:p>
          <a:p>
            <a:pPr marL="342900" indent="-342900">
              <a:buFont typeface="+mj-lt"/>
              <a:buAutoNum type="arabicPeriod"/>
              <a:defRPr/>
            </a:pPr>
            <a:r>
              <a:rPr lang="en-US" sz="1200">
                <a:solidFill>
                  <a:srgbClr val="5C6770"/>
                </a:solidFill>
                <a:latin typeface="+mj-lt"/>
              </a:rPr>
              <a:t>Strategic Analytics and Adoption consultants</a:t>
            </a:r>
          </a:p>
          <a:p>
            <a:pPr marL="342900" indent="-342900">
              <a:buFont typeface="+mj-lt"/>
              <a:buAutoNum type="arabicPeriod"/>
              <a:defRPr/>
            </a:pPr>
            <a:r>
              <a:rPr lang="en-US" sz="1200" err="1">
                <a:solidFill>
                  <a:srgbClr val="5C6770"/>
                </a:solidFill>
                <a:latin typeface="+mj-lt"/>
              </a:rPr>
              <a:t>CommunityWorks</a:t>
            </a:r>
            <a:r>
              <a:rPr lang="en-US" sz="1200">
                <a:solidFill>
                  <a:srgbClr val="5C6770"/>
                </a:solidFill>
                <a:latin typeface="+mj-lt"/>
              </a:rPr>
              <a:t> consulting and implementation</a:t>
            </a:r>
          </a:p>
          <a:p>
            <a:pPr marL="342900" indent="-342900">
              <a:buFont typeface="+mj-lt"/>
              <a:buAutoNum type="arabicPeriod"/>
              <a:defRPr/>
            </a:pPr>
            <a:r>
              <a:rPr lang="en-US" sz="1200" err="1">
                <a:solidFill>
                  <a:srgbClr val="5C6770"/>
                </a:solidFill>
                <a:latin typeface="+mj-lt"/>
              </a:rPr>
              <a:t>HealtheIntent</a:t>
            </a:r>
            <a:r>
              <a:rPr lang="en-US" sz="1200">
                <a:solidFill>
                  <a:srgbClr val="5C6770"/>
                </a:solidFill>
                <a:latin typeface="+mj-lt"/>
              </a:rPr>
              <a:t> consulting and implementation</a:t>
            </a:r>
          </a:p>
          <a:p>
            <a:pPr marL="342900" indent="-342900">
              <a:buFont typeface="+mj-lt"/>
              <a:buAutoNum type="arabicPeriod"/>
              <a:defRPr/>
            </a:pPr>
            <a:r>
              <a:rPr lang="en-US" sz="1200">
                <a:solidFill>
                  <a:srgbClr val="5C6770"/>
                </a:solidFill>
                <a:latin typeface="+mj-lt"/>
              </a:rPr>
              <a:t>Training and Learning organization</a:t>
            </a:r>
          </a:p>
          <a:p>
            <a:endParaRPr lang="en-US" baseline="0"/>
          </a:p>
        </p:txBody>
      </p:sp>
      <p:sp>
        <p:nvSpPr>
          <p:cNvPr id="4" name="Slide Number Placeholder 3"/>
          <p:cNvSpPr>
            <a:spLocks noGrp="1"/>
          </p:cNvSpPr>
          <p:nvPr>
            <p:ph type="sldNum" sz="quarter" idx="10"/>
          </p:nvPr>
        </p:nvSpPr>
        <p:spPr/>
        <p:txBody>
          <a:bodyPr/>
          <a:lstStyle/>
          <a:p>
            <a:fld id="{3840B8A7-A168-4497-B0D0-9F4B9517569B}"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98286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 fontAlgn="base">
              <a:spcBef>
                <a:spcPts val="600"/>
              </a:spcBef>
              <a:spcAft>
                <a:spcPct val="0"/>
              </a:spcAft>
              <a:buFont typeface="Wingdings" panose="05000000000000000000" pitchFamily="2" charset="2"/>
            </a:pPr>
            <a:r>
              <a:rPr lang="en-US"/>
              <a:t>I want to take a moment to introduce the Voice of the Client Moneyball strategy to support our data-driven retention proposal. This is a 5-step strategy we are working through that we believe will really move the meter and help us identify risks. You can see #2, which is the segmentation analysis for at-risk clients, that we just talked through in the last few slides about leveraging the cluster analysis to increase our understanding of our client base by identifying key similarities and determining meaningful retention approaches. Our goal is to shift from processing survey data, which is often lagging indicators of client satisfaction, and instead leverage our data and analytics teams to drive real-time predictive analytics through various advanced techniques. This will allow us to make predictions about future outcomes using historical data combined with statistical modeling, data mining techniques and machine learning, which will allow us to quickly identify and remediate risks and maximize on opportunities based on our client interactions.</a:t>
            </a:r>
          </a:p>
          <a:p>
            <a:pPr marL="11430" indent="0" fontAlgn="base">
              <a:spcBef>
                <a:spcPts val="600"/>
              </a:spcBef>
              <a:spcAft>
                <a:spcPct val="0"/>
              </a:spcAft>
              <a:buFont typeface="Wingdings" panose="05000000000000000000" pitchFamily="2" charset="2"/>
              <a:buNone/>
            </a:pPr>
            <a:endParaRPr lang="en-US" sz="1200" b="1" kern="0">
              <a:solidFill>
                <a:srgbClr val="5C6770"/>
              </a:solidFill>
              <a:latin typeface="+mj-lt"/>
              <a:ea typeface="ＭＳ Ｐゴシック" pitchFamily="34" charset="-128"/>
              <a:cs typeface="Segoe UI" panose="020B0502040204020203" pitchFamily="34" charset="0"/>
            </a:endParaRPr>
          </a:p>
          <a:p>
            <a:pPr marL="11430" indent="0" fontAlgn="base">
              <a:spcBef>
                <a:spcPts val="600"/>
              </a:spcBef>
              <a:spcAft>
                <a:spcPct val="0"/>
              </a:spcAft>
              <a:buFont typeface="Wingdings" panose="05000000000000000000" pitchFamily="2" charset="2"/>
              <a:buNone/>
            </a:pPr>
            <a:endParaRPr lang="en-US" sz="1200" b="1" kern="0">
              <a:solidFill>
                <a:srgbClr val="5C6770"/>
              </a:solidFill>
              <a:latin typeface="+mj-lt"/>
              <a:ea typeface="ＭＳ Ｐゴシック" pitchFamily="34" charset="-128"/>
              <a:cs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B5376E-C5CE-4910-8A0E-F8FC33A1AD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813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1E1AB9-0440-4D98-86FE-A48D908AEC5D}" type="slidenum">
              <a:rPr lang="en-US" smtClean="0"/>
              <a:t>22</a:t>
            </a:fld>
            <a:endParaRPr lang="en-US"/>
          </a:p>
        </p:txBody>
      </p:sp>
    </p:spTree>
    <p:extLst>
      <p:ext uri="{BB962C8B-B14F-4D97-AF65-F5344CB8AC3E}">
        <p14:creationId xmlns:p14="http://schemas.microsoft.com/office/powerpoint/2010/main" val="330942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solidFill>
                  <a:schemeClr val="accent4"/>
                </a:solidFill>
                <a:highlight>
                  <a:srgbClr val="FFFF00"/>
                </a:highlight>
                <a:latin typeface="Montserrat Light"/>
              </a:rPr>
              <a:t>(use Qualtrics action planning platform?)</a:t>
            </a:r>
          </a:p>
          <a:p>
            <a:r>
              <a:rPr lang="en-US"/>
              <a:t>Text analytics??</a:t>
            </a:r>
          </a:p>
        </p:txBody>
      </p:sp>
      <p:sp>
        <p:nvSpPr>
          <p:cNvPr id="4" name="Slide Number Placeholder 3"/>
          <p:cNvSpPr>
            <a:spLocks noGrp="1"/>
          </p:cNvSpPr>
          <p:nvPr>
            <p:ph type="sldNum" sz="quarter" idx="5"/>
          </p:nvPr>
        </p:nvSpPr>
        <p:spPr/>
        <p:txBody>
          <a:bodyPr/>
          <a:lstStyle/>
          <a:p>
            <a:fld id="{201AA105-5391-4E6B-B984-500E1A89D223}" type="slidenum">
              <a:rPr lang="en-US" smtClean="0"/>
              <a:t>24</a:t>
            </a:fld>
            <a:endParaRPr lang="en-US"/>
          </a:p>
        </p:txBody>
      </p:sp>
    </p:spTree>
    <p:extLst>
      <p:ext uri="{BB962C8B-B14F-4D97-AF65-F5344CB8AC3E}">
        <p14:creationId xmlns:p14="http://schemas.microsoft.com/office/powerpoint/2010/main" val="2495096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Canva project overview.pptx: Used for the project purpose, including establishing Canva as the primary self-service creative platform, improving brand consistency, reducing dependency on routine creative production support, and proposed adoption KPIs.
- Prosci-ADKAR-Outcomes-and-Milestones-Canvas.pdf: Used for ADKAR stage structure and outcome framing: Awareness, Desire, Knowledge, Ability, Reinforcement.
- Change management template.pptx: Used for change management deliverables and planning categories, including communications, training, stakeholder engagement, sponsorship, risk/resistance, measurement and reinforcement.
[/Sources]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433C-FF42-21C4-9F3F-8B1F355BE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ECAFA-2A8B-7BF0-E3AF-185316913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E4E47-D26D-8A7F-C4F5-E497EE0C25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u="sng" dirty="0">
                <a:solidFill>
                  <a:srgbClr val="FF0000"/>
                </a:solidFill>
              </a:rPr>
              <a:t>Equity</a:t>
            </a:r>
            <a:r>
              <a:rPr lang="en-US" dirty="0"/>
              <a:t> – Continued growth in our brand equity score signifies validity in our brand strategy – to sustain growth we must provide consistency around our brand promise and improve our customer experience through continues collection and adoption of data driven feedback. Provide o</a:t>
            </a:r>
            <a:r>
              <a:rPr lang="en-US" sz="1200" b="0" i="0" kern="1200" dirty="0">
                <a:solidFill>
                  <a:schemeClr val="tx1"/>
                </a:solidFill>
                <a:effectLst/>
                <a:latin typeface="+mn-lt"/>
                <a:ea typeface="+mn-ea"/>
                <a:cs typeface="+mn-cs"/>
              </a:rPr>
              <a:t>ngoing, relevant communication that fuels brand affinity. Reinforce differentiation that sharpens our value proposition. Track competitor campaigns, innovation, and sentiment. Continue to monitor our positioning through research measurement and reinforcement of 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b="1" u="sng" dirty="0"/>
              <a:t>NPS</a:t>
            </a:r>
            <a:r>
              <a:rPr lang="en-US" dirty="0"/>
              <a:t> – there is a statistically significant drop in NPS score for each sample in both the  score and the overall market NPS scores. A market drop in NPS scores signifies the following market expectation shifts: The potential “why’s”</a:t>
            </a:r>
          </a:p>
          <a:p>
            <a:pPr rtl="0" fontAlgn="base"/>
            <a:r>
              <a:rPr lang="en-US" sz="1200" b="1" i="0" u="none" strike="noStrike" kern="1200" dirty="0">
                <a:solidFill>
                  <a:schemeClr val="tx1"/>
                </a:solidFill>
                <a:effectLst/>
                <a:latin typeface="+mn-lt"/>
                <a:ea typeface="+mn-ea"/>
                <a:cs typeface="+mn-cs"/>
              </a:rPr>
              <a:t>1.</a:t>
            </a:r>
            <a:r>
              <a:rPr lang="en-US" sz="1200" b="0" i="0" u="none" strike="noStrike" kern="1200" dirty="0">
                <a:solidFill>
                  <a:schemeClr val="tx1"/>
                </a:solidFill>
                <a:effectLst/>
                <a:latin typeface="+mn-lt"/>
                <a:ea typeface="+mn-ea"/>
                <a:cs typeface="+mn-cs"/>
              </a:rPr>
              <a:t> Market Disruption or Change</a:t>
            </a:r>
            <a:r>
              <a:rPr lang="en-US" sz="1200" b="0" i="0"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New regulations, pricing models, or technology shifts can create confusion or dissatisfaction.</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Example: A change in privacy laws or subscription models that affects all providers.</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2. Customer Expectations Have Shifted</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Customers may now expect faster service, better personalization, or more transparency.</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If no competitor is meeting these new expectations, NPS scores will drop across the board.</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3. Economic or Social Factors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Economic downturns, inflation, or social unrest can make customers more critical or less loyal.</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Even if service quality remains the same, perceived value may decline.</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4. Negative Media or Public Sentiment</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A scandal, data breach, or poor press involving one major player can spill over to others in the same space.</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Customers may lose trust in the entire industry.</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5. Increased Competition from Outside the Market</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A new entrant (e.g., a tech company or startup) may offer a radically better experience, raising the bar.</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Customers compare legacy providers unfavorably, even if they haven’t switched yet.</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6. Service Saturation or Fatigue</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If the market is oversaturated, customers may feel overwhelmed or fatigued by similar offerings.</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This can lead to indifference or frustration, lowering NPS.</a:t>
            </a:r>
            <a:r>
              <a:rPr lang="en-US" sz="1200" b="0" i="0" kern="1200" dirty="0">
                <a:solidFill>
                  <a:schemeClr val="tx1"/>
                </a:solidFill>
                <a:effectLst/>
                <a:latin typeface="+mn-lt"/>
                <a:ea typeface="+mn-ea"/>
                <a:cs typeface="+mn-cs"/>
              </a:rPr>
              <a:t>​</a:t>
            </a:r>
            <a:endParaRPr lang="en-US" b="0" dirty="0"/>
          </a:p>
          <a:p>
            <a:endParaRPr lang="en-US" dirty="0"/>
          </a:p>
          <a:p>
            <a:r>
              <a:rPr lang="en-US" b="1" u="sng" dirty="0"/>
              <a:t>Brand exposure </a:t>
            </a:r>
            <a:r>
              <a:rPr lang="en-US" dirty="0"/>
              <a:t>– </a:t>
            </a:r>
            <a:r>
              <a:rPr lang="en-US" b="1" dirty="0"/>
              <a:t>HUGE shout out </a:t>
            </a:r>
            <a:r>
              <a:rPr lang="en-US" dirty="0"/>
              <a:t>to our web 2.0 project. We see a statistically significant shift in our first familiar metrics in each sample with our website growing as one of the key channels for how our customers and prospects are hearing about the brand. We also see growth in our social media awareness.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Huge shout out to our external comms team </a:t>
            </a:r>
            <a:r>
              <a:rPr lang="en-US" dirty="0"/>
              <a:t>- Our metrics around how often people have heard about  in the past 6 months has seen a shift into the “very often” category from our “often” category +6%.</a:t>
            </a:r>
          </a:p>
          <a:p>
            <a:endParaRPr lang="en-US" dirty="0"/>
          </a:p>
          <a:p>
            <a:r>
              <a:rPr lang="en-US" b="1" u="sng" dirty="0"/>
              <a:t>Brand perceptions </a:t>
            </a:r>
            <a:r>
              <a:rPr lang="en-US" dirty="0"/>
              <a:t>– We see positive movement in the opinion change of our marketplace over the last two samples. 6.8% YoY. There have been no respondents that have given a negative response to this question in the past 3 samples, indicating high brand perception in the  brand.</a:t>
            </a:r>
          </a:p>
          <a:p>
            <a:endParaRPr lang="en-US" dirty="0"/>
          </a:p>
          <a:p>
            <a:pPr marL="171450" indent="-171450">
              <a:buFont typeface="Arial" panose="020B0604020202020204" pitchFamily="34" charset="0"/>
              <a:buChar char="•"/>
            </a:pPr>
            <a:r>
              <a:rPr lang="en-US" b="1" dirty="0"/>
              <a:t>Our think forward </a:t>
            </a:r>
            <a:r>
              <a:rPr lang="en-US" dirty="0"/>
              <a:t>promise shows statistically significant movement upward as we continue efforts to educate our marketplace on the values this messaging presents</a:t>
            </a:r>
          </a:p>
          <a:p>
            <a:endParaRPr lang="en-US" dirty="0"/>
          </a:p>
          <a:p>
            <a:r>
              <a:rPr lang="en-US" b="1" u="sng" dirty="0"/>
              <a:t>Brand awareness </a:t>
            </a:r>
            <a:r>
              <a:rPr lang="en-US" dirty="0"/>
              <a:t>– We see a large movement upward of our aided awareness metrics. This coupled with our strong equity growth shows our reach is expanding and our reputation is strengthening. Strong increase in brand awareness shows brand salience, new audience exposure, and effective marketing and communication efforts.</a:t>
            </a:r>
          </a:p>
          <a:p>
            <a:endParaRPr lang="en-US" dirty="0"/>
          </a:p>
          <a:p>
            <a:r>
              <a:rPr lang="en-US" dirty="0"/>
              <a:t>In the past 3 samples we see the following increase in our competitors' numbers around the aided awareness metrics:</a:t>
            </a:r>
          </a:p>
          <a:p>
            <a:pPr marL="171450" indent="-171450">
              <a:buFont typeface="Arial" panose="020B0604020202020204" pitchFamily="34" charset="0"/>
              <a:buChar char="•"/>
            </a:pPr>
            <a:r>
              <a:rPr lang="en-US" dirty="0"/>
              <a:t>S&amp;P Global – 2.9%</a:t>
            </a:r>
          </a:p>
          <a:p>
            <a:pPr marL="171450" indent="-171450">
              <a:buFont typeface="Arial" panose="020B0604020202020204" pitchFamily="34" charset="0"/>
              <a:buChar char="•"/>
            </a:pPr>
            <a:r>
              <a:rPr lang="en-US" dirty="0"/>
              <a:t>Thomson Reuters – 0.6%</a:t>
            </a:r>
          </a:p>
          <a:p>
            <a:pPr marL="171450" indent="-171450">
              <a:buFont typeface="Arial" panose="020B0604020202020204" pitchFamily="34" charset="0"/>
              <a:buChar char="•"/>
            </a:pPr>
            <a:r>
              <a:rPr lang="en-US" dirty="0"/>
              <a:t> -  5.6%</a:t>
            </a:r>
          </a:p>
          <a:p>
            <a:pPr marL="171450" indent="-171450">
              <a:buFont typeface="Arial" panose="020B0604020202020204" pitchFamily="34" charset="0"/>
              <a:buChar char="•"/>
            </a:pPr>
            <a:r>
              <a:rPr lang="en-US" dirty="0"/>
              <a:t>Wolters Kluwer – 1.1%</a:t>
            </a:r>
          </a:p>
          <a:p>
            <a:pPr marL="171450" indent="-171450">
              <a:buFont typeface="Arial" panose="020B0604020202020204" pitchFamily="34" charset="0"/>
              <a:buChar char="•"/>
            </a:pPr>
            <a:r>
              <a:rPr lang="en-US" dirty="0" err="1"/>
              <a:t>Relx</a:t>
            </a:r>
            <a:r>
              <a:rPr lang="en-US" dirty="0"/>
              <a:t> – 0.6%</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32328DF-0FA5-B750-DA0D-5B5EB3B688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5BCE6-7E67-43DB-94DC-F1D9E99E221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3612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F21BA5-95A4-4989-80F1-DE7DB767203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6532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Header &amp; Footer (Light Version) copy 7">
    <p:spTree>
      <p:nvGrpSpPr>
        <p:cNvPr id="1" name=""/>
        <p:cNvGrpSpPr/>
        <p:nvPr/>
      </p:nvGrpSpPr>
      <p:grpSpPr>
        <a:xfrm>
          <a:off x="0" y="0"/>
          <a:ext cx="0" cy="0"/>
          <a:chOff x="0" y="0"/>
          <a:chExt cx="0" cy="0"/>
        </a:xfrm>
      </p:grpSpPr>
      <p:sp>
        <p:nvSpPr>
          <p:cNvPr id="94" name="Shape 94"/>
          <p:cNvSpPr>
            <a:spLocks noGrp="1"/>
          </p:cNvSpPr>
          <p:nvPr>
            <p:ph type="title"/>
          </p:nvPr>
        </p:nvSpPr>
        <p:spPr>
          <a:xfrm>
            <a:off x="992972" y="179682"/>
            <a:ext cx="10206057" cy="741978"/>
          </a:xfrm>
          <a:prstGeom prst="rect">
            <a:avLst/>
          </a:prstGeom>
        </p:spPr>
        <p:txBody>
          <a:bodyPr/>
          <a:lstStyle>
            <a:lvl1pPr algn="l"/>
          </a:lstStyle>
          <a:p>
            <a:pPr lvl="0">
              <a:defRPr sz="1800" b="0">
                <a:solidFill>
                  <a:srgbClr val="000000"/>
                </a:solidFill>
              </a:defRPr>
            </a:pPr>
            <a:r>
              <a:rPr sz="4500" b="1">
                <a:solidFill>
                  <a:srgbClr val="212830"/>
                </a:solidFill>
              </a:rPr>
              <a:t>Title Text</a:t>
            </a:r>
          </a:p>
        </p:txBody>
      </p:sp>
      <p:sp>
        <p:nvSpPr>
          <p:cNvPr id="95" name="Shape 95"/>
          <p:cNvSpPr>
            <a:spLocks noGrp="1"/>
          </p:cNvSpPr>
          <p:nvPr>
            <p:ph type="body" idx="1"/>
          </p:nvPr>
        </p:nvSpPr>
        <p:spPr>
          <a:xfrm>
            <a:off x="992972" y="823064"/>
            <a:ext cx="8371205" cy="793751"/>
          </a:xfrm>
          <a:prstGeom prst="rect">
            <a:avLst/>
          </a:prstGeom>
        </p:spPr>
        <p:txBody>
          <a:bodyPr/>
          <a:lstStyle>
            <a:lvl1pPr algn="l"/>
            <a:lvl2pPr algn="l"/>
            <a:lvl3pPr algn="l"/>
            <a:lvl4pPr algn="l"/>
            <a:lvl5pPr algn="l"/>
          </a:lstStyle>
          <a:p>
            <a:pPr lvl="0">
              <a:defRPr sz="1800"/>
            </a:pPr>
            <a:r>
              <a:rPr sz="800"/>
              <a:t>Body Level One</a:t>
            </a:r>
          </a:p>
          <a:p>
            <a:pPr lvl="1">
              <a:defRPr sz="1800"/>
            </a:pPr>
            <a:r>
              <a:rPr sz="800"/>
              <a:t>Body Level Two</a:t>
            </a:r>
          </a:p>
          <a:p>
            <a:pPr lvl="2">
              <a:defRPr sz="1800"/>
            </a:pPr>
            <a:r>
              <a:rPr sz="800"/>
              <a:t>Body Level Three</a:t>
            </a:r>
          </a:p>
          <a:p>
            <a:pPr lvl="3">
              <a:defRPr sz="1800"/>
            </a:pPr>
            <a:r>
              <a:rPr sz="800"/>
              <a:t>Body Level Four</a:t>
            </a:r>
          </a:p>
          <a:p>
            <a:pPr lvl="4">
              <a:defRPr sz="1800"/>
            </a:pPr>
            <a:r>
              <a:rPr sz="800"/>
              <a:t>Body Level Five</a:t>
            </a:r>
          </a:p>
        </p:txBody>
      </p:sp>
      <p:sp>
        <p:nvSpPr>
          <p:cNvPr id="96" name="Shape 96"/>
          <p:cNvSpPr>
            <a:spLocks noGrp="1"/>
          </p:cNvSpPr>
          <p:nvPr>
            <p:ph type="sldNum" sz="quarter" idx="2"/>
          </p:nvPr>
        </p:nvSpPr>
        <p:spPr>
          <a:xfrm>
            <a:off x="11518676" y="6578600"/>
            <a:ext cx="185906" cy="203200"/>
          </a:xfrm>
          <a:prstGeom prst="rect">
            <a:avLst/>
          </a:prstGeom>
        </p:spPr>
        <p:txBody>
          <a:bodyPr/>
          <a:lstStyle>
            <a:lvl1pPr>
              <a:defRPr>
                <a:solidFill>
                  <a:srgbClr val="FFFFFF"/>
                </a:solidFill>
              </a:defRPr>
            </a:lvl1pPr>
          </a:lstStyle>
          <a:p>
            <a:pPr lvl="0"/>
            <a:fld id="{86CB4B4D-7CA3-9044-876B-883B54F8677D}" type="slidenum">
              <a:t>‹#›</a:t>
            </a:fld>
            <a:endParaRPr dirty="0"/>
          </a:p>
        </p:txBody>
      </p:sp>
    </p:spTree>
    <p:extLst>
      <p:ext uri="{BB962C8B-B14F-4D97-AF65-F5344CB8AC3E}">
        <p14:creationId xmlns:p14="http://schemas.microsoft.com/office/powerpoint/2010/main" val="321556840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White - 1col">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B94DE98-2EFE-3B4C-B4F7-32A5AFC9E229}"/>
              </a:ext>
            </a:extLst>
          </p:cNvPr>
          <p:cNvSpPr>
            <a:spLocks noGrp="1"/>
          </p:cNvSpPr>
          <p:nvPr>
            <p:ph type="title" hasCustomPrompt="1"/>
          </p:nvPr>
        </p:nvSpPr>
        <p:spPr/>
        <p:txBody>
          <a:bodyPr/>
          <a:lstStyle>
            <a:lvl1pPr>
              <a:defRPr/>
            </a:lvl1pPr>
          </a:lstStyle>
          <a:p>
            <a:r>
              <a:rPr lang="en-US">
                <a:solidFill>
                  <a:schemeClr val="accent3"/>
                </a:solidFill>
                <a:ea typeface="Arial"/>
                <a:sym typeface="Arial"/>
              </a:rPr>
              <a:t>Title goes here (less than 6/7 words)</a:t>
            </a:r>
            <a:endParaRPr lang="en-US"/>
          </a:p>
        </p:txBody>
      </p:sp>
    </p:spTree>
    <p:extLst>
      <p:ext uri="{BB962C8B-B14F-4D97-AF65-F5344CB8AC3E}">
        <p14:creationId xmlns:p14="http://schemas.microsoft.com/office/powerpoint/2010/main" val="1599223850"/>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3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White - blank">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763A8A-5CC6-874D-A2A4-8D19DB69328D}"/>
              </a:ext>
            </a:extLst>
          </p:cNvPr>
          <p:cNvSpPr>
            <a:spLocks noGrp="1"/>
          </p:cNvSpPr>
          <p:nvPr>
            <p:ph type="title" hasCustomPrompt="1"/>
          </p:nvPr>
        </p:nvSpPr>
        <p:spPr>
          <a:xfrm>
            <a:off x="2" y="2"/>
            <a:ext cx="12196351" cy="701675"/>
          </a:xfrm>
        </p:spPr>
        <p:txBody>
          <a:bodyPr rIns="822960">
            <a:noAutofit/>
          </a:bodyPr>
          <a:lstStyle>
            <a:lvl1pPr>
              <a:defRPr/>
            </a:lvl1pPr>
          </a:lstStyle>
          <a:p>
            <a:r>
              <a:rPr lang="en-US">
                <a:solidFill>
                  <a:schemeClr val="accent3"/>
                </a:solidFill>
                <a:ea typeface="Arial"/>
                <a:sym typeface="Arial"/>
              </a:rPr>
              <a:t>Title goes here (less than 6/7 words)</a:t>
            </a:r>
            <a:endParaRPr lang="en-US"/>
          </a:p>
        </p:txBody>
      </p:sp>
      <p:sp>
        <p:nvSpPr>
          <p:cNvPr id="6" name="Text Placeholder 5">
            <a:extLst>
              <a:ext uri="{FF2B5EF4-FFF2-40B4-BE49-F238E27FC236}">
                <a16:creationId xmlns:a16="http://schemas.microsoft.com/office/drawing/2014/main" id="{6FCCA69F-63C4-F541-9BA9-168700FB714F}"/>
              </a:ext>
            </a:extLst>
          </p:cNvPr>
          <p:cNvSpPr>
            <a:spLocks noGrp="1"/>
          </p:cNvSpPr>
          <p:nvPr>
            <p:ph type="body" sz="quarter" idx="16" hasCustomPrompt="1"/>
          </p:nvPr>
        </p:nvSpPr>
        <p:spPr>
          <a:xfrm>
            <a:off x="1" y="838200"/>
            <a:ext cx="12191975" cy="457200"/>
          </a:xfrm>
          <a:prstGeom prst="rect">
            <a:avLst/>
          </a:prstGeom>
        </p:spPr>
        <p:txBody>
          <a:bodyPr tIns="0" bIns="0" anchor="ctr" anchorCtr="0">
            <a:noAutofit/>
          </a:bodyPr>
          <a:lstStyle>
            <a:lvl1pPr>
              <a:defRPr sz="2800" b="0" i="0"/>
            </a:lvl1pPr>
          </a:lstStyle>
          <a:p>
            <a:pPr lvl="0"/>
            <a:r>
              <a:rPr lang="en-US"/>
              <a:t>Subtitle copy goes here</a:t>
            </a:r>
          </a:p>
        </p:txBody>
      </p:sp>
    </p:spTree>
    <p:extLst>
      <p:ext uri="{BB962C8B-B14F-4D97-AF65-F5344CB8AC3E}">
        <p14:creationId xmlns:p14="http://schemas.microsoft.com/office/powerpoint/2010/main" val="661265954"/>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2_WhiteAngle_PhotoBehin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88D833-9B2A-624C-BE94-F2FCF6E291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D7D26346-D219-DD4D-9759-C47FBDE6228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1348" y="6437525"/>
            <a:ext cx="1006978" cy="253277"/>
          </a:xfrm>
          <a:prstGeom prst="rect">
            <a:avLst/>
          </a:prstGeom>
        </p:spPr>
      </p:pic>
      <p:sp>
        <p:nvSpPr>
          <p:cNvPr id="11" name="Slide Number Placeholder 5">
            <a:extLst>
              <a:ext uri="{FF2B5EF4-FFF2-40B4-BE49-F238E27FC236}">
                <a16:creationId xmlns:a16="http://schemas.microsoft.com/office/drawing/2014/main" id="{6A2C920D-F0CB-3943-82AA-637D9C553E1C}"/>
              </a:ext>
            </a:extLst>
          </p:cNvPr>
          <p:cNvSpPr txBox="1">
            <a:spLocks/>
          </p:cNvSpPr>
          <p:nvPr userDrawn="1"/>
        </p:nvSpPr>
        <p:spPr>
          <a:xfrm>
            <a:off x="112295" y="6332255"/>
            <a:ext cx="1885248" cy="5016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715BDC91-2756-4C4C-9423-40422E705BA8}" type="slidenum">
              <a:rPr lang="en-US" smtClean="0">
                <a:solidFill>
                  <a:schemeClr val="tx1"/>
                </a:solidFill>
              </a:rPr>
              <a:pPr algn="l"/>
              <a:t>‹#›</a:t>
            </a:fld>
            <a:endParaRPr lang="en-US">
              <a:solidFill>
                <a:schemeClr val="tx1"/>
              </a:solidFill>
            </a:endParaRPr>
          </a:p>
        </p:txBody>
      </p:sp>
      <p:sp>
        <p:nvSpPr>
          <p:cNvPr id="2" name="Rectangle 1">
            <a:extLst>
              <a:ext uri="{FF2B5EF4-FFF2-40B4-BE49-F238E27FC236}">
                <a16:creationId xmlns:a16="http://schemas.microsoft.com/office/drawing/2014/main" id="{2A1E7E86-2166-0F48-8EB2-883E5636A6B0}"/>
              </a:ext>
            </a:extLst>
          </p:cNvPr>
          <p:cNvSpPr/>
          <p:nvPr userDrawn="1"/>
        </p:nvSpPr>
        <p:spPr>
          <a:xfrm>
            <a:off x="0" y="7325995"/>
            <a:ext cx="6633882" cy="2031325"/>
          </a:xfrm>
          <a:prstGeom prst="rect">
            <a:avLst/>
          </a:prstGeom>
        </p:spPr>
        <p:txBody>
          <a:bodyPr wrap="square">
            <a:spAutoFit/>
          </a:bodyPr>
          <a:lstStyle/>
          <a:p>
            <a:r>
              <a:rPr lang="en-US" sz="1800" b="1">
                <a:latin typeface="Montserrat" pitchFamily="2" charset="77"/>
              </a:rPr>
              <a:t>INSTRUCTIONS TO INSERT PHOTO IN BACKGROUND</a:t>
            </a:r>
            <a:r>
              <a:rPr lang="en-US" sz="1800" b="0">
                <a:latin typeface="Montserrat" pitchFamily="2" charset="77"/>
              </a:rPr>
              <a:t> (behind bottom white angle)</a:t>
            </a:r>
            <a:r>
              <a:rPr lang="en-US" sz="1800" b="1">
                <a:latin typeface="Montserrat" pitchFamily="2" charset="77"/>
              </a:rPr>
              <a:t>:</a:t>
            </a:r>
          </a:p>
          <a:p>
            <a:r>
              <a:rPr lang="en-US" sz="1800">
                <a:latin typeface="Montserrat" pitchFamily="2" charset="77"/>
              </a:rPr>
              <a:t>View-Slide Master</a:t>
            </a:r>
          </a:p>
          <a:p>
            <a:r>
              <a:rPr lang="en-US" sz="1800">
                <a:latin typeface="Montserrat" pitchFamily="2" charset="77"/>
              </a:rPr>
              <a:t>Insert image</a:t>
            </a:r>
          </a:p>
          <a:p>
            <a:r>
              <a:rPr lang="en-US" sz="1800">
                <a:latin typeface="Montserrat" pitchFamily="2" charset="77"/>
              </a:rPr>
              <a:t>Resize to cover entire slide</a:t>
            </a:r>
          </a:p>
          <a:p>
            <a:r>
              <a:rPr lang="en-US" sz="1800">
                <a:latin typeface="Montserrat" pitchFamily="2" charset="77"/>
              </a:rPr>
              <a:t>Arrange-Send to back</a:t>
            </a:r>
          </a:p>
          <a:p>
            <a:r>
              <a:rPr lang="en-US" sz="1800">
                <a:latin typeface="Montserrat" pitchFamily="2" charset="77"/>
              </a:rPr>
              <a:t>Close Slide Master</a:t>
            </a:r>
          </a:p>
        </p:txBody>
      </p:sp>
    </p:spTree>
    <p:extLst>
      <p:ext uri="{BB962C8B-B14F-4D97-AF65-F5344CB8AC3E}">
        <p14:creationId xmlns:p14="http://schemas.microsoft.com/office/powerpoint/2010/main" val="107045982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 Chart / Table_Light -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F821-5920-9EC7-0061-529319AFDFAB}"/>
              </a:ext>
            </a:extLst>
          </p:cNvPr>
          <p:cNvSpPr>
            <a:spLocks noGrp="1"/>
          </p:cNvSpPr>
          <p:nvPr>
            <p:ph type="title" hasCustomPrompt="1"/>
          </p:nvPr>
        </p:nvSpPr>
        <p:spPr>
          <a:xfrm>
            <a:off x="550864" y="368828"/>
            <a:ext cx="8281986" cy="251885"/>
          </a:xfrm>
        </p:spPr>
        <p:txBody>
          <a:bodyPr/>
          <a:lstStyle>
            <a:lvl1pPr>
              <a:defRPr/>
            </a:lvl1pPr>
          </a:lstStyle>
          <a:p>
            <a:r>
              <a:rPr lang="en-US"/>
              <a:t>Header avenir demi 24pt</a:t>
            </a:r>
            <a:endParaRPr lang="en-GB"/>
          </a:p>
        </p:txBody>
      </p:sp>
      <p:sp>
        <p:nvSpPr>
          <p:cNvPr id="10" name="Text Placeholder 9">
            <a:extLst>
              <a:ext uri="{FF2B5EF4-FFF2-40B4-BE49-F238E27FC236}">
                <a16:creationId xmlns:a16="http://schemas.microsoft.com/office/drawing/2014/main" id="{88D86876-3FB4-FBBD-1737-D60B88DA98AF}"/>
              </a:ext>
            </a:extLst>
          </p:cNvPr>
          <p:cNvSpPr>
            <a:spLocks noGrp="1"/>
          </p:cNvSpPr>
          <p:nvPr>
            <p:ph type="body" sz="quarter" idx="13" hasCustomPrompt="1"/>
          </p:nvPr>
        </p:nvSpPr>
        <p:spPr>
          <a:xfrm>
            <a:off x="550864" y="753852"/>
            <a:ext cx="8281986" cy="336973"/>
          </a:xfrm>
          <a:prstGeom prst="rect">
            <a:avLst/>
          </a:prstGeom>
        </p:spPr>
        <p:txBody>
          <a:bodyPr lIns="0" tIns="0" rIns="0" bIns="0">
            <a:noAutofit/>
          </a:bodyPr>
          <a:lstStyle>
            <a:lvl1pPr marL="0" indent="0">
              <a:lnSpc>
                <a:spcPct val="90000"/>
              </a:lnSpc>
              <a:buNone/>
              <a:defRPr sz="2000"/>
            </a:lvl1pPr>
          </a:lstStyle>
          <a:p>
            <a:pPr lvl="0"/>
            <a:r>
              <a:rPr lang="en-US"/>
              <a:t>Subhead avenir pro 20pt</a:t>
            </a:r>
            <a:endParaRPr lang="en-GB"/>
          </a:p>
        </p:txBody>
      </p:sp>
      <p:sp>
        <p:nvSpPr>
          <p:cNvPr id="3" name="Footer Placeholder 2">
            <a:extLst>
              <a:ext uri="{FF2B5EF4-FFF2-40B4-BE49-F238E27FC236}">
                <a16:creationId xmlns:a16="http://schemas.microsoft.com/office/drawing/2014/main" id="{0871EE65-26EE-B181-C60C-77234227C285}"/>
              </a:ext>
              <a:ext uri="{C183D7F6-B498-43B3-948B-1728B52AA6E4}">
                <adec:decorative xmlns:adec="http://schemas.microsoft.com/office/drawing/2017/decorative" val="1"/>
              </a:ext>
            </a:extLst>
          </p:cNvPr>
          <p:cNvSpPr>
            <a:spLocks noGrp="1"/>
          </p:cNvSpPr>
          <p:nvPr>
            <p:ph type="ftr" sz="quarter" idx="10"/>
          </p:nvPr>
        </p:nvSpPr>
        <p:spPr>
          <a:xfrm>
            <a:off x="8040688" y="6348353"/>
            <a:ext cx="3292473" cy="215901"/>
          </a:xfrm>
        </p:spPr>
        <p:txBody>
          <a:bodyPr/>
          <a:lstStyle/>
          <a:p>
            <a:r>
              <a:rPr lang="en-US" dirty="0"/>
              <a:t>© 2024 . All rights reserved.</a:t>
            </a:r>
          </a:p>
        </p:txBody>
      </p:sp>
      <p:sp>
        <p:nvSpPr>
          <p:cNvPr id="4" name="Slide Number Placeholder 3">
            <a:extLst>
              <a:ext uri="{FF2B5EF4-FFF2-40B4-BE49-F238E27FC236}">
                <a16:creationId xmlns:a16="http://schemas.microsoft.com/office/drawing/2014/main" id="{50BDD441-95E6-955E-8A17-BE1B5185D4A8}"/>
              </a:ext>
              <a:ext uri="{C183D7F6-B498-43B3-948B-1728B52AA6E4}">
                <adec:decorative xmlns:adec="http://schemas.microsoft.com/office/drawing/2017/decorative" val="1"/>
              </a:ext>
            </a:extLst>
          </p:cNvPr>
          <p:cNvSpPr>
            <a:spLocks noGrp="1"/>
          </p:cNvSpPr>
          <p:nvPr>
            <p:ph type="sldNum" sz="quarter" idx="11"/>
          </p:nvPr>
        </p:nvSpPr>
        <p:spPr>
          <a:xfrm>
            <a:off x="11506200" y="6348353"/>
            <a:ext cx="216000" cy="215900"/>
          </a:xfrm>
        </p:spPr>
        <p:txBody>
          <a:bodyPr/>
          <a:lstStyle/>
          <a:p>
            <a:fld id="{F59CD943-D024-467A-B36E-F11E1285ED75}" type="slidenum">
              <a:rPr lang="en-GB" smtClean="0"/>
              <a:pPr/>
              <a:t>‹#›</a:t>
            </a:fld>
            <a:endParaRPr lang="en-GB"/>
          </a:p>
        </p:txBody>
      </p:sp>
    </p:spTree>
    <p:extLst>
      <p:ext uri="{BB962C8B-B14F-4D97-AF65-F5344CB8AC3E}">
        <p14:creationId xmlns:p14="http://schemas.microsoft.com/office/powerpoint/2010/main" val="3314396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106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8/3/2026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3" r:id="rId12"/>
    <p:sldLayoutId id="2147483674" r:id="rId13"/>
    <p:sldLayoutId id="2147483675" r:id="rId14"/>
    <p:sldLayoutId id="2147483676" r:id="rId15"/>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sv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svg"/></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slideLayout" Target="../slideLayouts/slideLayout10.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chart" Target="../charts/chart1.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itle 5">
            <a:extLst>
              <a:ext uri="{FF2B5EF4-FFF2-40B4-BE49-F238E27FC236}">
                <a16:creationId xmlns:a16="http://schemas.microsoft.com/office/drawing/2014/main" id="{510CD4F8-CB6E-C645-2E1A-A54F81EAB35C}"/>
              </a:ext>
            </a:extLst>
          </p:cNvPr>
          <p:cNvSpPr txBox="1">
            <a:spLocks/>
          </p:cNvSpPr>
          <p:nvPr/>
        </p:nvSpPr>
        <p:spPr>
          <a:xfrm>
            <a:off x="6519280" y="512749"/>
            <a:ext cx="4403093" cy="1443159"/>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8000" kern="1200" spc="-50" baseline="0">
                <a:solidFill>
                  <a:schemeClr val="tx1">
                    <a:lumMod val="85000"/>
                    <a:lumOff val="15000"/>
                  </a:schemeClr>
                </a:solidFill>
                <a:latin typeface="+mj-lt"/>
                <a:ea typeface="+mj-ea"/>
                <a:cs typeface="+mj-cs"/>
              </a:defRPr>
            </a:lvl1pPr>
          </a:lstStyle>
          <a:p>
            <a:r>
              <a:rPr lang="en-US" dirty="0">
                <a:solidFill>
                  <a:srgbClr val="C00000"/>
                </a:solidFill>
              </a:rPr>
              <a:t>The Experience Hub</a:t>
            </a:r>
          </a:p>
        </p:txBody>
      </p:sp>
      <p:sp>
        <p:nvSpPr>
          <p:cNvPr id="8" name="Subtitle 6">
            <a:extLst>
              <a:ext uri="{FF2B5EF4-FFF2-40B4-BE49-F238E27FC236}">
                <a16:creationId xmlns:a16="http://schemas.microsoft.com/office/drawing/2014/main" id="{C1C6786C-96E1-2668-4482-0F17AD50D5A4}"/>
              </a:ext>
            </a:extLst>
          </p:cNvPr>
          <p:cNvSpPr txBox="1">
            <a:spLocks/>
          </p:cNvSpPr>
          <p:nvPr/>
        </p:nvSpPr>
        <p:spPr>
          <a:xfrm>
            <a:off x="6519280" y="4887936"/>
            <a:ext cx="5561001" cy="1457315"/>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1"/>
                </a:solidFill>
                <a:latin typeface="+mn-lt"/>
                <a:ea typeface="+mn-ea"/>
                <a:cs typeface="+mn-cs"/>
              </a:defRPr>
            </a:lvl1pPr>
            <a:lvl2pPr marL="4572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100000"/>
              </a:lnSpc>
              <a:spcBef>
                <a:spcPts val="200"/>
              </a:spcBef>
              <a:spcAft>
                <a:spcPts val="400"/>
              </a:spcAft>
              <a:buClrTx/>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100000"/>
              </a:lnSpc>
              <a:spcBef>
                <a:spcPts val="200"/>
              </a:spcBef>
              <a:spcAft>
                <a:spcPts val="400"/>
              </a:spcAft>
              <a:buClrTx/>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sz="1800" i="1" dirty="0"/>
              <a:t>In an increasingly complex, connected world the contact center is set to become the interaction hub of the digital enterprise – responsible for support, problem solving, co-creators of unique experiences, educators and brand-enhancing ambassadors.</a:t>
            </a:r>
          </a:p>
        </p:txBody>
      </p:sp>
      <p:sp>
        <p:nvSpPr>
          <p:cNvPr id="9" name="Rectangle 8">
            <a:extLst>
              <a:ext uri="{FF2B5EF4-FFF2-40B4-BE49-F238E27FC236}">
                <a16:creationId xmlns:a16="http://schemas.microsoft.com/office/drawing/2014/main" id="{15F9AD41-D4B0-83E7-2E19-2EF9AC246BA6}"/>
              </a:ext>
            </a:extLst>
          </p:cNvPr>
          <p:cNvSpPr/>
          <p:nvPr/>
        </p:nvSpPr>
        <p:spPr>
          <a:xfrm>
            <a:off x="6669773" y="1882197"/>
            <a:ext cx="4659680" cy="2492990"/>
          </a:xfrm>
          <a:prstGeom prst="rect">
            <a:avLst/>
          </a:prstGeom>
        </p:spPr>
        <p:txBody>
          <a:bodyPr wrap="square">
            <a:spAutoFit/>
          </a:bodyPr>
          <a:lstStyle/>
          <a:p>
            <a:pPr>
              <a:spcBef>
                <a:spcPts val="0"/>
              </a:spcBef>
              <a:spcAft>
                <a:spcPts val="0"/>
              </a:spcAft>
            </a:pPr>
            <a:endParaRPr lang="en-US" sz="2800" dirty="0">
              <a:effectLst/>
            </a:endParaRPr>
          </a:p>
          <a:p>
            <a:pPr marL="742950" marR="0" lvl="1" indent="-285750" fontAlgn="ctr">
              <a:spcBef>
                <a:spcPts val="0"/>
              </a:spcBef>
              <a:spcAft>
                <a:spcPts val="0"/>
              </a:spcAft>
              <a:buFont typeface="Courier New" panose="02070309020205020404" pitchFamily="49" charset="0"/>
              <a:buChar char="o"/>
            </a:pPr>
            <a:r>
              <a:rPr lang="en-US" sz="2000" dirty="0">
                <a:effectLst/>
                <a:ea typeface="Times New Roman" panose="02020603050405020304" pitchFamily="18" charset="0"/>
              </a:rPr>
              <a:t>Client Experience </a:t>
            </a:r>
            <a:endParaRPr lang="en-US" sz="2000" dirty="0">
              <a:effectLst/>
              <a:ea typeface="Calibri" panose="020F0502020204030204" pitchFamily="34" charset="0"/>
            </a:endParaRPr>
          </a:p>
          <a:p>
            <a:pPr marL="742950" marR="0" lvl="1" indent="-285750" fontAlgn="ctr">
              <a:spcBef>
                <a:spcPts val="0"/>
              </a:spcBef>
              <a:spcAft>
                <a:spcPts val="0"/>
              </a:spcAft>
              <a:buFont typeface="Courier New" panose="02070309020205020404" pitchFamily="49" charset="0"/>
              <a:buChar char="o"/>
            </a:pPr>
            <a:r>
              <a:rPr lang="en-US" sz="2000" dirty="0">
                <a:effectLst/>
                <a:ea typeface="Times New Roman" panose="02020603050405020304" pitchFamily="18" charset="0"/>
              </a:rPr>
              <a:t>Associate Experience</a:t>
            </a:r>
            <a:endParaRPr lang="en-US" sz="2000" dirty="0">
              <a:effectLst/>
              <a:ea typeface="Calibri" panose="020F0502020204030204" pitchFamily="34" charset="0"/>
            </a:endParaRPr>
          </a:p>
          <a:p>
            <a:pPr marL="742950" marR="0" lvl="1" indent="-285750" fontAlgn="ctr">
              <a:spcBef>
                <a:spcPts val="0"/>
              </a:spcBef>
              <a:spcAft>
                <a:spcPts val="0"/>
              </a:spcAft>
              <a:buFont typeface="Courier New" panose="02070309020205020404" pitchFamily="49" charset="0"/>
              <a:buChar char="o"/>
            </a:pPr>
            <a:r>
              <a:rPr lang="en-US" sz="2000" dirty="0">
                <a:effectLst/>
                <a:ea typeface="Times New Roman" panose="02020603050405020304" pitchFamily="18" charset="0"/>
              </a:rPr>
              <a:t>Technology, Scalability &amp; Efficiency</a:t>
            </a:r>
            <a:endParaRPr lang="en-US" sz="2000" dirty="0">
              <a:effectLst/>
              <a:ea typeface="Calibri" panose="020F0502020204030204" pitchFamily="34" charset="0"/>
            </a:endParaRPr>
          </a:p>
          <a:p>
            <a:pPr marL="742950" marR="0" lvl="1" indent="-285750" fontAlgn="ctr">
              <a:spcBef>
                <a:spcPts val="0"/>
              </a:spcBef>
              <a:spcAft>
                <a:spcPts val="0"/>
              </a:spcAft>
              <a:buFont typeface="Courier New" panose="02070309020205020404" pitchFamily="49" charset="0"/>
              <a:buChar char="o"/>
            </a:pPr>
            <a:r>
              <a:rPr lang="en-US" sz="2000" dirty="0">
                <a:effectLst/>
                <a:ea typeface="Times New Roman" panose="02020603050405020304" pitchFamily="18" charset="0"/>
              </a:rPr>
              <a:t>Quality</a:t>
            </a:r>
            <a:endParaRPr lang="en-US" sz="2000" dirty="0">
              <a:effectLst/>
              <a:ea typeface="Calibri" panose="020F0502020204030204" pitchFamily="34" charset="0"/>
            </a:endParaRPr>
          </a:p>
          <a:p>
            <a:pPr marL="742950" marR="0" lvl="1" indent="-285750" fontAlgn="ctr">
              <a:spcBef>
                <a:spcPts val="0"/>
              </a:spcBef>
              <a:spcAft>
                <a:spcPts val="0"/>
              </a:spcAft>
              <a:buFont typeface="Courier New" panose="02070309020205020404" pitchFamily="49" charset="0"/>
              <a:buChar char="o"/>
            </a:pPr>
            <a:r>
              <a:rPr lang="en-US" sz="2000" dirty="0">
                <a:effectLst/>
                <a:ea typeface="Times New Roman" panose="02020603050405020304" pitchFamily="18" charset="0"/>
              </a:rPr>
              <a:t>Predictability – Data Driven Insights</a:t>
            </a:r>
            <a:endParaRPr lang="en-US" sz="2000" dirty="0">
              <a:effectLst/>
              <a:ea typeface="Calibri" panose="020F0502020204030204" pitchFamily="34" charset="0"/>
            </a:endParaRPr>
          </a:p>
          <a:p>
            <a:endParaRPr lang="en-US" sz="2800" dirty="0"/>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45557" y="-441511"/>
            <a:ext cx="11564076" cy="1325563"/>
          </a:xfrm>
        </p:spPr>
        <p:txBody>
          <a:bodyPr>
            <a:normAutofit/>
          </a:bodyPr>
          <a:lstStyle/>
          <a:p>
            <a:r>
              <a:rPr lang="en-US" sz="4000" dirty="0">
                <a:solidFill>
                  <a:srgbClr val="C00000"/>
                </a:solidFill>
              </a:rPr>
              <a:t>Building the Blueprint – Short Term Plan</a:t>
            </a:r>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4294967295"/>
            <p:extLst>
              <p:ext uri="{D42A27DB-BD31-4B8C-83A1-F6EECF244321}">
                <p14:modId xmlns:p14="http://schemas.microsoft.com/office/powerpoint/2010/main" val="592653075"/>
              </p:ext>
            </p:extLst>
          </p:nvPr>
        </p:nvGraphicFramePr>
        <p:xfrm>
          <a:off x="457200" y="935625"/>
          <a:ext cx="10802076" cy="3712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AA591DAE-2934-4A3D-AE70-B60E1DDEA29A}"/>
              </a:ext>
            </a:extLst>
          </p:cNvPr>
          <p:cNvSpPr txBox="1"/>
          <p:nvPr/>
        </p:nvSpPr>
        <p:spPr>
          <a:xfrm>
            <a:off x="785918" y="4110712"/>
            <a:ext cx="3029527" cy="2062103"/>
          </a:xfrm>
          <a:prstGeom prst="rect">
            <a:avLst/>
          </a:prstGeom>
          <a:noFill/>
        </p:spPr>
        <p:txBody>
          <a:bodyPr wrap="square" rtlCol="0">
            <a:spAutoFit/>
          </a:bodyPr>
          <a:lstStyle/>
          <a:p>
            <a:r>
              <a:rPr lang="en-US" sz="2000" b="1" dirty="0">
                <a:solidFill>
                  <a:srgbClr val="ED583E"/>
                </a:solidFill>
              </a:rPr>
              <a:t>Gain Visibility </a:t>
            </a:r>
          </a:p>
          <a:p>
            <a:pPr marL="285750" indent="-285750">
              <a:buFont typeface="Arial" panose="020B0604020202020204" pitchFamily="34" charset="0"/>
              <a:buChar char="•"/>
            </a:pPr>
            <a:r>
              <a:rPr lang="en-US" dirty="0"/>
              <a:t>Customers</a:t>
            </a:r>
          </a:p>
          <a:p>
            <a:pPr marL="285750" indent="-285750">
              <a:buFont typeface="Arial" panose="020B0604020202020204" pitchFamily="34" charset="0"/>
              <a:buChar char="•"/>
            </a:pPr>
            <a:r>
              <a:rPr lang="en-US" dirty="0"/>
              <a:t>Team</a:t>
            </a:r>
          </a:p>
          <a:p>
            <a:pPr marL="285750" indent="-285750">
              <a:buFont typeface="Arial" panose="020B0604020202020204" pitchFamily="34" charset="0"/>
              <a:buChar char="•"/>
            </a:pPr>
            <a:r>
              <a:rPr lang="en-US" dirty="0"/>
              <a:t>Peers</a:t>
            </a:r>
          </a:p>
          <a:p>
            <a:pPr marL="285750" indent="-285750">
              <a:buFont typeface="Arial" panose="020B0604020202020204" pitchFamily="34" charset="0"/>
              <a:buChar char="•"/>
            </a:pPr>
            <a:r>
              <a:rPr lang="en-US" dirty="0"/>
              <a:t>Products</a:t>
            </a:r>
          </a:p>
          <a:p>
            <a:pPr marL="285750" indent="-285750">
              <a:buFont typeface="Arial" panose="020B0604020202020204" pitchFamily="34" charset="0"/>
              <a:buChar char="•"/>
            </a:pPr>
            <a:r>
              <a:rPr lang="en-US" dirty="0"/>
              <a:t>Technology</a:t>
            </a:r>
          </a:p>
          <a:p>
            <a:pPr marL="285750" indent="-285750">
              <a:buFont typeface="Arial" panose="020B0604020202020204" pitchFamily="34" charset="0"/>
              <a:buChar char="•"/>
            </a:pPr>
            <a:r>
              <a:rPr lang="en-US" dirty="0"/>
              <a:t>Measures of Success</a:t>
            </a:r>
          </a:p>
        </p:txBody>
      </p:sp>
      <p:sp>
        <p:nvSpPr>
          <p:cNvPr id="6" name="TextBox 5">
            <a:extLst>
              <a:ext uri="{FF2B5EF4-FFF2-40B4-BE49-F238E27FC236}">
                <a16:creationId xmlns:a16="http://schemas.microsoft.com/office/drawing/2014/main" id="{4EB68936-C452-4FE2-8EBA-E95B59B23939}"/>
              </a:ext>
            </a:extLst>
          </p:cNvPr>
          <p:cNvSpPr txBox="1"/>
          <p:nvPr/>
        </p:nvSpPr>
        <p:spPr>
          <a:xfrm>
            <a:off x="4343400" y="3962400"/>
            <a:ext cx="3762080" cy="2431435"/>
          </a:xfrm>
          <a:prstGeom prst="rect">
            <a:avLst/>
          </a:prstGeom>
          <a:noFill/>
        </p:spPr>
        <p:txBody>
          <a:bodyPr wrap="square" rtlCol="0">
            <a:spAutoFit/>
          </a:bodyPr>
          <a:lstStyle/>
          <a:p>
            <a:r>
              <a:rPr lang="en-US" sz="2000" b="1" dirty="0">
                <a:solidFill>
                  <a:schemeClr val="accent3"/>
                </a:solidFill>
              </a:rPr>
              <a:t>Map the Landscape &amp; Roadblocks </a:t>
            </a:r>
          </a:p>
          <a:p>
            <a:pPr marL="285750" indent="-285750">
              <a:buFont typeface="Arial" panose="020B0604020202020204" pitchFamily="34" charset="0"/>
              <a:buChar char="•"/>
            </a:pPr>
            <a:r>
              <a:rPr lang="en-US" sz="1600" dirty="0"/>
              <a:t>CX Maturity Model Assessment</a:t>
            </a:r>
          </a:p>
          <a:p>
            <a:pPr marL="285750" indent="-285750">
              <a:buFont typeface="Arial" panose="020B0604020202020204" pitchFamily="34" charset="0"/>
              <a:buChar char="•"/>
            </a:pPr>
            <a:r>
              <a:rPr lang="en-US" sz="1600" dirty="0"/>
              <a:t>Quality Review</a:t>
            </a:r>
          </a:p>
          <a:p>
            <a:pPr marL="285750" indent="-285750">
              <a:buFont typeface="Arial" panose="020B0604020202020204" pitchFamily="34" charset="0"/>
              <a:buChar char="•"/>
            </a:pPr>
            <a:r>
              <a:rPr lang="en-US" sz="1600" dirty="0"/>
              <a:t>SWOT &amp; Gap Analysis</a:t>
            </a:r>
          </a:p>
          <a:p>
            <a:pPr marL="285750" indent="-285750">
              <a:buFont typeface="Arial" panose="020B0604020202020204" pitchFamily="34" charset="0"/>
              <a:buChar char="•"/>
            </a:pPr>
            <a:r>
              <a:rPr lang="en-US" sz="1600" dirty="0"/>
              <a:t>Roadmaps/Goals</a:t>
            </a:r>
          </a:p>
          <a:p>
            <a:pPr marL="285750" indent="-285750">
              <a:buFont typeface="Arial" panose="020B0604020202020204" pitchFamily="34" charset="0"/>
              <a:buChar char="•"/>
            </a:pPr>
            <a:r>
              <a:rPr lang="en-US" sz="1600" dirty="0"/>
              <a:t>KPI’s</a:t>
            </a:r>
          </a:p>
          <a:p>
            <a:pPr marL="285750" indent="-285750">
              <a:buFont typeface="Arial" panose="020B0604020202020204" pitchFamily="34" charset="0"/>
              <a:buChar char="•"/>
            </a:pPr>
            <a:r>
              <a:rPr lang="en-US" sz="1600" dirty="0"/>
              <a:t>Change Management Strategy</a:t>
            </a:r>
          </a:p>
          <a:p>
            <a:pPr marL="285750" indent="-285750">
              <a:buFont typeface="Arial" panose="020B0604020202020204" pitchFamily="34" charset="0"/>
              <a:buChar char="•"/>
            </a:pPr>
            <a:r>
              <a:rPr lang="en-US" sz="1600" dirty="0"/>
              <a:t>Employee Engagement Program</a:t>
            </a:r>
            <a:endParaRPr lang="en-US" dirty="0"/>
          </a:p>
        </p:txBody>
      </p:sp>
      <p:sp>
        <p:nvSpPr>
          <p:cNvPr id="8" name="TextBox 7">
            <a:extLst>
              <a:ext uri="{FF2B5EF4-FFF2-40B4-BE49-F238E27FC236}">
                <a16:creationId xmlns:a16="http://schemas.microsoft.com/office/drawing/2014/main" id="{199E15A2-6B14-4309-A200-C20D299541FC}"/>
              </a:ext>
            </a:extLst>
          </p:cNvPr>
          <p:cNvSpPr txBox="1"/>
          <p:nvPr/>
        </p:nvSpPr>
        <p:spPr>
          <a:xfrm>
            <a:off x="8305800" y="3713718"/>
            <a:ext cx="3762080" cy="2616101"/>
          </a:xfrm>
          <a:prstGeom prst="rect">
            <a:avLst/>
          </a:prstGeom>
          <a:noFill/>
        </p:spPr>
        <p:txBody>
          <a:bodyPr wrap="square" rtlCol="0">
            <a:spAutoFit/>
          </a:bodyPr>
          <a:lstStyle/>
          <a:p>
            <a:r>
              <a:rPr lang="en-US" sz="2000" b="1" dirty="0">
                <a:solidFill>
                  <a:srgbClr val="D3BA59"/>
                </a:solidFill>
              </a:rPr>
              <a:t>Craft the Plan &amp; Programs</a:t>
            </a:r>
          </a:p>
          <a:p>
            <a:pPr marL="285750" indent="-285750">
              <a:buFont typeface="Arial" panose="020B0604020202020204" pitchFamily="34" charset="0"/>
              <a:buChar char="•"/>
            </a:pPr>
            <a:r>
              <a:rPr lang="en-US" sz="1600" dirty="0"/>
              <a:t>Client Pain-Points/Engagement Assessment</a:t>
            </a:r>
          </a:p>
          <a:p>
            <a:pPr marL="285750" indent="-285750">
              <a:buFont typeface="Arial" panose="020B0604020202020204" pitchFamily="34" charset="0"/>
              <a:buChar char="•"/>
            </a:pPr>
            <a:r>
              <a:rPr lang="en-US" sz="1600" dirty="0"/>
              <a:t>Client profiles/Person’s</a:t>
            </a:r>
          </a:p>
          <a:p>
            <a:pPr marL="285750" indent="-285750">
              <a:buFont typeface="Arial" panose="020B0604020202020204" pitchFamily="34" charset="0"/>
              <a:buChar char="•"/>
            </a:pPr>
            <a:r>
              <a:rPr lang="en-US" sz="1600" dirty="0"/>
              <a:t>CX Team Resource Needs</a:t>
            </a:r>
          </a:p>
          <a:p>
            <a:pPr marL="285750" indent="-285750">
              <a:buFont typeface="Arial" panose="020B0604020202020204" pitchFamily="34" charset="0"/>
              <a:buChar char="•"/>
            </a:pPr>
            <a:r>
              <a:rPr lang="en-US" sz="1600" dirty="0"/>
              <a:t>Start the Customer Journey Map</a:t>
            </a:r>
          </a:p>
          <a:p>
            <a:pPr marL="285750" indent="-285750">
              <a:buFont typeface="Arial" panose="020B0604020202020204" pitchFamily="34" charset="0"/>
              <a:buChar char="•"/>
            </a:pPr>
            <a:r>
              <a:rPr lang="en-US" sz="1600" dirty="0"/>
              <a:t>Data Collection, Measurement, Analyzation</a:t>
            </a:r>
          </a:p>
          <a:p>
            <a:pPr marL="285750" indent="-285750">
              <a:buFont typeface="Arial" panose="020B0604020202020204" pitchFamily="34" charset="0"/>
              <a:buChar char="•"/>
            </a:pPr>
            <a:r>
              <a:rPr lang="en-US" sz="1600" dirty="0"/>
              <a:t>Tools and Techniques</a:t>
            </a:r>
          </a:p>
          <a:p>
            <a:pPr marL="285750" indent="-285750">
              <a:buFont typeface="Arial" panose="020B0604020202020204" pitchFamily="34" charset="0"/>
              <a:buChar char="•"/>
            </a:pPr>
            <a:r>
              <a:rPr lang="en-US" sz="1600" i="1" dirty="0"/>
              <a:t>Refine, Rinse and Repeat</a:t>
            </a:r>
            <a:endParaRPr lang="en-US" i="1" dirty="0"/>
          </a:p>
        </p:txBody>
      </p:sp>
      <p:sp>
        <p:nvSpPr>
          <p:cNvPr id="9" name="TextBox 8">
            <a:extLst>
              <a:ext uri="{FF2B5EF4-FFF2-40B4-BE49-F238E27FC236}">
                <a16:creationId xmlns:a16="http://schemas.microsoft.com/office/drawing/2014/main" id="{FE04FDCB-75FE-FF27-4017-175409E76C6F}"/>
              </a:ext>
            </a:extLst>
          </p:cNvPr>
          <p:cNvSpPr txBox="1"/>
          <p:nvPr/>
        </p:nvSpPr>
        <p:spPr>
          <a:xfrm>
            <a:off x="2458060" y="2895600"/>
            <a:ext cx="1199540" cy="369332"/>
          </a:xfrm>
          <a:prstGeom prst="rect">
            <a:avLst/>
          </a:prstGeom>
          <a:noFill/>
        </p:spPr>
        <p:txBody>
          <a:bodyPr wrap="square">
            <a:spAutoFit/>
          </a:bodyPr>
          <a:lstStyle/>
          <a:p>
            <a:r>
              <a:rPr lang="en-US" sz="1800" b="1" dirty="0">
                <a:solidFill>
                  <a:srgbClr val="ED583E"/>
                </a:solidFill>
              </a:rPr>
              <a:t>30 days</a:t>
            </a:r>
            <a:endParaRPr lang="en-US" dirty="0">
              <a:solidFill>
                <a:srgbClr val="ED583E"/>
              </a:solidFill>
            </a:endParaRPr>
          </a:p>
        </p:txBody>
      </p:sp>
      <p:sp>
        <p:nvSpPr>
          <p:cNvPr id="10" name="TextBox 9">
            <a:extLst>
              <a:ext uri="{FF2B5EF4-FFF2-40B4-BE49-F238E27FC236}">
                <a16:creationId xmlns:a16="http://schemas.microsoft.com/office/drawing/2014/main" id="{D8995D61-9978-562D-5C54-91F8FE0C3799}"/>
              </a:ext>
            </a:extLst>
          </p:cNvPr>
          <p:cNvSpPr txBox="1"/>
          <p:nvPr/>
        </p:nvSpPr>
        <p:spPr>
          <a:xfrm>
            <a:off x="6324600" y="2878714"/>
            <a:ext cx="990600" cy="369332"/>
          </a:xfrm>
          <a:prstGeom prst="rect">
            <a:avLst/>
          </a:prstGeom>
          <a:noFill/>
        </p:spPr>
        <p:txBody>
          <a:bodyPr wrap="square">
            <a:spAutoFit/>
          </a:bodyPr>
          <a:lstStyle/>
          <a:p>
            <a:r>
              <a:rPr lang="en-US" sz="1800" b="1" dirty="0">
                <a:solidFill>
                  <a:schemeClr val="accent3"/>
                </a:solidFill>
              </a:rPr>
              <a:t>60 days</a:t>
            </a:r>
            <a:endParaRPr lang="en-US" dirty="0"/>
          </a:p>
        </p:txBody>
      </p:sp>
      <p:sp>
        <p:nvSpPr>
          <p:cNvPr id="12" name="TextBox 11">
            <a:extLst>
              <a:ext uri="{FF2B5EF4-FFF2-40B4-BE49-F238E27FC236}">
                <a16:creationId xmlns:a16="http://schemas.microsoft.com/office/drawing/2014/main" id="{3F43C74F-FE60-2632-3B15-A95E845BAA98}"/>
              </a:ext>
            </a:extLst>
          </p:cNvPr>
          <p:cNvSpPr txBox="1"/>
          <p:nvPr/>
        </p:nvSpPr>
        <p:spPr>
          <a:xfrm>
            <a:off x="10186840" y="2786136"/>
            <a:ext cx="1199540" cy="369332"/>
          </a:xfrm>
          <a:prstGeom prst="rect">
            <a:avLst/>
          </a:prstGeom>
          <a:noFill/>
        </p:spPr>
        <p:txBody>
          <a:bodyPr wrap="square">
            <a:spAutoFit/>
          </a:bodyPr>
          <a:lstStyle/>
          <a:p>
            <a:r>
              <a:rPr lang="en-US" sz="1800" b="1" dirty="0">
                <a:solidFill>
                  <a:srgbClr val="D3BA59"/>
                </a:solidFill>
              </a:rPr>
              <a:t>90 days</a:t>
            </a:r>
            <a:endParaRPr lang="en-US" dirty="0">
              <a:solidFill>
                <a:srgbClr val="D3BA59"/>
              </a:solidFill>
            </a:endParaRPr>
          </a:p>
        </p:txBody>
      </p:sp>
    </p:spTree>
    <p:extLst>
      <p:ext uri="{BB962C8B-B14F-4D97-AF65-F5344CB8AC3E}">
        <p14:creationId xmlns:p14="http://schemas.microsoft.com/office/powerpoint/2010/main" val="217287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622758" y="816771"/>
            <a:ext cx="9142278" cy="837676"/>
          </a:xfrm>
          <a:prstGeom prst="roundRect">
            <a:avLst/>
          </a:prstGeom>
          <a:solidFill>
            <a:srgbClr val="ED583E"/>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ctr" defTabSz="685800" rtl="0" eaLnBrk="1" fontAlgn="auto" latinLnBrk="0" hangingPunct="1">
              <a:lnSpc>
                <a:spcPct val="90000"/>
              </a:lnSpc>
              <a:spcBef>
                <a:spcPts val="0"/>
              </a:spcBef>
              <a:spcAft>
                <a:spcPts val="0"/>
              </a:spcAft>
              <a:buClrTx/>
              <a:buSzTx/>
              <a:buFontTx/>
              <a:buNone/>
              <a:tabLst/>
              <a:defRPr/>
            </a:pPr>
            <a:r>
              <a:rPr lang="en-US" sz="1600" dirty="0"/>
              <a:t>Transform the organization to provide a world class customer experience that has the right strategy, infrastructure, processes &amp; go to market approach that supports the overall company vision and drives revenue, retention, and rock-solid relationship opportunities.</a:t>
            </a:r>
            <a:endPar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7" name="TextBox 6"/>
          <p:cNvSpPr txBox="1"/>
          <p:nvPr/>
        </p:nvSpPr>
        <p:spPr>
          <a:xfrm>
            <a:off x="501698" y="865628"/>
            <a:ext cx="1514122" cy="817245"/>
          </a:xfrm>
          <a:prstGeom prst="roundRect">
            <a:avLst/>
          </a:prstGeom>
          <a:solidFill>
            <a:srgbClr val="ED583E"/>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marR="0" lvl="0" indent="0" algn="ctr" defTabSz="806867" fontAlgn="auto">
              <a:lnSpc>
                <a:spcPct val="100000"/>
              </a:lnSpc>
              <a:spcBef>
                <a:spcPts val="0"/>
              </a:spcBef>
              <a:spcAft>
                <a:spcPts val="0"/>
              </a:spcAft>
              <a:buClrTx/>
              <a:buSzTx/>
              <a:buFontTx/>
              <a:buNone/>
              <a:tabLst/>
              <a:defRPr kumimoji="0" sz="1100" b="1" i="0" u="none" strike="noStrike" cap="none" spc="0" normalizeH="0" baseline="0">
                <a:ln>
                  <a:noFill/>
                </a:ln>
                <a:solidFill>
                  <a:srgbClr val="FFFFFF"/>
                </a:solidFill>
                <a:effectLst/>
                <a:uLnTx/>
                <a:uFillTx/>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Vision</a:t>
            </a:r>
          </a:p>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9" name="Rounded Rectangle 8"/>
          <p:cNvSpPr/>
          <p:nvPr/>
        </p:nvSpPr>
        <p:spPr>
          <a:xfrm>
            <a:off x="2887708" y="1916291"/>
            <a:ext cx="4306189" cy="79777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Create and nurture a client delivery model or experience hub and define successful outcomes </a:t>
            </a:r>
            <a:endParaRPr lang="en-US" altLang="ko-KR" sz="1400" dirty="0">
              <a:solidFill>
                <a:schemeClr val="bg1"/>
              </a:solidFill>
              <a:latin typeface="+mj-lt"/>
            </a:endParaRPr>
          </a:p>
        </p:txBody>
      </p:sp>
      <p:sp>
        <p:nvSpPr>
          <p:cNvPr id="11" name="Rounded Rectangle 10"/>
          <p:cNvSpPr/>
          <p:nvPr/>
        </p:nvSpPr>
        <p:spPr>
          <a:xfrm>
            <a:off x="7292565" y="2829660"/>
            <a:ext cx="4306188" cy="65954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Ensure a culture of engaged &amp; talented relationship experts and leaders - EX</a:t>
            </a:r>
            <a:endParaRPr lang="en-US" altLang="ko-KR" sz="1400" dirty="0">
              <a:solidFill>
                <a:schemeClr val="bg1"/>
              </a:solidFill>
              <a:latin typeface="+mj-lt"/>
            </a:endParaRPr>
          </a:p>
        </p:txBody>
      </p:sp>
      <p:sp>
        <p:nvSpPr>
          <p:cNvPr id="12" name="TextBox 11"/>
          <p:cNvSpPr txBox="1"/>
          <p:nvPr/>
        </p:nvSpPr>
        <p:spPr>
          <a:xfrm>
            <a:off x="501698" y="2189913"/>
            <a:ext cx="1539846" cy="105560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Strategy &amp; Objectives</a:t>
            </a:r>
          </a:p>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13" name="Rounded Rectangle 12"/>
          <p:cNvSpPr/>
          <p:nvPr/>
        </p:nvSpPr>
        <p:spPr>
          <a:xfrm>
            <a:off x="3144528" y="3749030"/>
            <a:ext cx="1862137" cy="765708"/>
          </a:xfrm>
          <a:prstGeom prst="roundRect">
            <a:avLst/>
          </a:prstGeom>
          <a:solidFill>
            <a:srgbClr val="4C94AC"/>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rPr>
              <a:t>Create &amp; deploy roadmap &amp; timeline for CX VOC strategy</a:t>
            </a:r>
          </a:p>
        </p:txBody>
      </p:sp>
      <p:sp>
        <p:nvSpPr>
          <p:cNvPr id="14" name="Rounded Rectangle 13"/>
          <p:cNvSpPr/>
          <p:nvPr/>
        </p:nvSpPr>
        <p:spPr>
          <a:xfrm>
            <a:off x="6942414" y="3719970"/>
            <a:ext cx="2056493" cy="794767"/>
          </a:xfrm>
          <a:prstGeom prst="roundRect">
            <a:avLst/>
          </a:prstGeom>
          <a:solidFill>
            <a:srgbClr val="4C94AC"/>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rPr>
              <a:t>Support business on inner loop governance process</a:t>
            </a:r>
            <a:endParaRPr kumimoji="0" lang="en-US" sz="1100" i="1" u="none" strike="noStrike" kern="1200" cap="none" spc="0" normalizeH="0" baseline="0" noProof="0" dirty="0">
              <a:ln>
                <a:noFill/>
              </a:ln>
              <a:solidFill>
                <a:srgbClr val="FFFF00"/>
              </a:solidFill>
              <a:effectLst/>
              <a:uLnTx/>
              <a:uFillTx/>
              <a:latin typeface="+mj-lt"/>
              <a:ea typeface="Open Sans Light" panose="020B0306030504020204" pitchFamily="34" charset="0"/>
              <a:cs typeface="Open Sans Light" panose="020B0306030504020204" pitchFamily="34" charset="0"/>
            </a:endParaRPr>
          </a:p>
        </p:txBody>
      </p:sp>
      <p:sp>
        <p:nvSpPr>
          <p:cNvPr id="15" name="Rounded Rectangle 14"/>
          <p:cNvSpPr/>
          <p:nvPr/>
        </p:nvSpPr>
        <p:spPr>
          <a:xfrm>
            <a:off x="6942414" y="4646325"/>
            <a:ext cx="2056493" cy="765709"/>
          </a:xfrm>
          <a:prstGeom prst="roundRect">
            <a:avLst/>
          </a:prstGeom>
          <a:solidFill>
            <a:srgbClr val="4C94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lang="en-US" sz="1100" dirty="0"/>
              <a:t>Organizational structure roles and responsibilities review</a:t>
            </a:r>
            <a:endPar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17" name="Rounded Rectangle 16"/>
          <p:cNvSpPr/>
          <p:nvPr/>
        </p:nvSpPr>
        <p:spPr>
          <a:xfrm>
            <a:off x="5200477" y="4643160"/>
            <a:ext cx="1581201" cy="759430"/>
          </a:xfrm>
          <a:prstGeom prst="roundRect">
            <a:avLst/>
          </a:prstGeom>
          <a:solidFill>
            <a:srgbClr val="4C94AC"/>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rPr>
              <a:t>Update work on segmentation &amp; data modeling</a:t>
            </a:r>
            <a:r>
              <a:rPr lang="en-US" sz="1100" dirty="0">
                <a:solidFill>
                  <a:srgbClr val="FFFFFF"/>
                </a:solidFill>
                <a:latin typeface="+mj-lt"/>
                <a:ea typeface="Open Sans Light" panose="020B0306030504020204" pitchFamily="34" charset="0"/>
                <a:cs typeface="Open Sans Light" panose="020B0306030504020204" pitchFamily="34" charset="0"/>
              </a:rPr>
              <a:t> </a:t>
            </a:r>
            <a:endParaRPr kumimoji="0" lang="en-US" sz="1000" i="0" u="none" strike="sng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18" name="Rounded Rectangle 17"/>
          <p:cNvSpPr/>
          <p:nvPr/>
        </p:nvSpPr>
        <p:spPr>
          <a:xfrm>
            <a:off x="9159643" y="3710642"/>
            <a:ext cx="1862138" cy="765708"/>
          </a:xfrm>
          <a:prstGeom prst="roundRect">
            <a:avLst/>
          </a:prstGeom>
          <a:solidFill>
            <a:srgbClr val="4C94AC"/>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rPr>
              <a:t>Create VOC </a:t>
            </a:r>
            <a:r>
              <a:rPr lang="en-US" sz="1100" dirty="0">
                <a:solidFill>
                  <a:srgbClr val="FFFFFF"/>
                </a:solidFill>
                <a:latin typeface="+mj-lt"/>
                <a:ea typeface="Open Sans Light" panose="020B0306030504020204" pitchFamily="34" charset="0"/>
                <a:cs typeface="Open Sans Light" panose="020B0306030504020204" pitchFamily="34" charset="0"/>
              </a:rPr>
              <a:t>strategy for strategic corporate initiatives</a:t>
            </a:r>
          </a:p>
        </p:txBody>
      </p:sp>
      <p:sp>
        <p:nvSpPr>
          <p:cNvPr id="19" name="TextBox 18"/>
          <p:cNvSpPr txBox="1"/>
          <p:nvPr/>
        </p:nvSpPr>
        <p:spPr>
          <a:xfrm>
            <a:off x="501698" y="4067727"/>
            <a:ext cx="1514122" cy="817245"/>
          </a:xfrm>
          <a:prstGeom prst="roundRect">
            <a:avLst/>
          </a:prstGeom>
          <a:solidFill>
            <a:srgbClr val="4C94AC"/>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Initiatives</a:t>
            </a:r>
          </a:p>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20" name="Rounded Rectangle 19"/>
          <p:cNvSpPr/>
          <p:nvPr/>
        </p:nvSpPr>
        <p:spPr>
          <a:xfrm>
            <a:off x="7162800" y="5638800"/>
            <a:ext cx="1500774" cy="55469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NPS</a:t>
            </a:r>
          </a:p>
        </p:txBody>
      </p:sp>
      <p:sp>
        <p:nvSpPr>
          <p:cNvPr id="21" name="Rounded Rectangle 20"/>
          <p:cNvSpPr/>
          <p:nvPr/>
        </p:nvSpPr>
        <p:spPr>
          <a:xfrm>
            <a:off x="3861122" y="5654191"/>
            <a:ext cx="1500771" cy="554691"/>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Client Retention</a:t>
            </a:r>
          </a:p>
        </p:txBody>
      </p:sp>
      <p:sp>
        <p:nvSpPr>
          <p:cNvPr id="22" name="Rounded Rectangle 21"/>
          <p:cNvSpPr/>
          <p:nvPr/>
        </p:nvSpPr>
        <p:spPr>
          <a:xfrm>
            <a:off x="5538180" y="5649915"/>
            <a:ext cx="1500773" cy="543579"/>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Client Satisfaction</a:t>
            </a:r>
          </a:p>
        </p:txBody>
      </p:sp>
      <p:sp>
        <p:nvSpPr>
          <p:cNvPr id="23" name="TextBox 22"/>
          <p:cNvSpPr txBox="1"/>
          <p:nvPr/>
        </p:nvSpPr>
        <p:spPr>
          <a:xfrm>
            <a:off x="540774" y="5614612"/>
            <a:ext cx="1500770" cy="578882"/>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marR="0" lvl="0" indent="0" algn="ctr" defTabSz="806867" fontAlgn="auto">
              <a:lnSpc>
                <a:spcPct val="100000"/>
              </a:lnSpc>
              <a:spcBef>
                <a:spcPts val="0"/>
              </a:spcBef>
              <a:spcAft>
                <a:spcPts val="0"/>
              </a:spcAft>
              <a:buClrTx/>
              <a:buSzTx/>
              <a:buFontTx/>
              <a:buNone/>
              <a:tabLst/>
              <a:defRPr kumimoji="0" sz="1100" b="1" i="0" u="none" strike="noStrike" cap="none" spc="0" normalizeH="0" baseline="0">
                <a:ln>
                  <a:noFill/>
                </a:ln>
                <a:solidFill>
                  <a:srgbClr val="FFFFFF"/>
                </a:solidFill>
                <a:effectLst/>
                <a:uLnTx/>
                <a:uFillTx/>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Measures of Success</a:t>
            </a:r>
          </a:p>
        </p:txBody>
      </p:sp>
      <p:sp>
        <p:nvSpPr>
          <p:cNvPr id="24" name="Rounded Rectangle 23"/>
          <p:cNvSpPr/>
          <p:nvPr/>
        </p:nvSpPr>
        <p:spPr>
          <a:xfrm>
            <a:off x="3135039" y="4638356"/>
            <a:ext cx="1895209" cy="735975"/>
          </a:xfrm>
          <a:prstGeom prst="roundRect">
            <a:avLst>
              <a:gd name="adj" fmla="val 16667"/>
            </a:avLst>
          </a:prstGeom>
          <a:solidFill>
            <a:srgbClr val="4C94AC"/>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lang="en-US" sz="1200" dirty="0"/>
              <a:t>Review and refine employee engagement program </a:t>
            </a:r>
            <a:endParaRPr kumimoji="0" lang="en-US" sz="12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25" name="Rounded Rectangle 24"/>
          <p:cNvSpPr/>
          <p:nvPr/>
        </p:nvSpPr>
        <p:spPr>
          <a:xfrm>
            <a:off x="7309935" y="1916291"/>
            <a:ext cx="4306189" cy="76400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Manage with a disciplined customer experience methodology across the globe</a:t>
            </a:r>
            <a:endParaRPr kumimoji="0" lang="en-US" sz="16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26" name="Rounded Rectangle 25"/>
          <p:cNvSpPr/>
          <p:nvPr/>
        </p:nvSpPr>
        <p:spPr>
          <a:xfrm>
            <a:off x="8863343" y="5638800"/>
            <a:ext cx="1444554" cy="55469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Open Sans Light" panose="020B0306030504020204" pitchFamily="34" charset="0"/>
                <a:cs typeface="Open Sans Light" panose="020B0306030504020204" pitchFamily="34" charset="0"/>
              </a:rPr>
              <a:t>Internal Engagement (EX)</a:t>
            </a:r>
          </a:p>
        </p:txBody>
      </p:sp>
      <p:cxnSp>
        <p:nvCxnSpPr>
          <p:cNvPr id="27" name="Straight Connector 26"/>
          <p:cNvCxnSpPr>
            <a:cxnSpLocks/>
          </p:cNvCxnSpPr>
          <p:nvPr/>
        </p:nvCxnSpPr>
        <p:spPr>
          <a:xfrm>
            <a:off x="2384735" y="963157"/>
            <a:ext cx="0" cy="554691"/>
          </a:xfrm>
          <a:prstGeom prst="line">
            <a:avLst/>
          </a:prstGeom>
          <a:ln>
            <a:solidFill>
              <a:schemeClr val="tx1">
                <a:lumMod val="75000"/>
              </a:schemeClr>
            </a:solidFill>
          </a:ln>
        </p:spPr>
        <p:style>
          <a:lnRef idx="3">
            <a:schemeClr val="accent5"/>
          </a:lnRef>
          <a:fillRef idx="0">
            <a:schemeClr val="accent5"/>
          </a:fillRef>
          <a:effectRef idx="2">
            <a:schemeClr val="accent5"/>
          </a:effectRef>
          <a:fontRef idx="minor">
            <a:schemeClr val="tx1"/>
          </a:fontRef>
        </p:style>
      </p:cxnSp>
      <p:cxnSp>
        <p:nvCxnSpPr>
          <p:cNvPr id="29" name="Straight Connector 28"/>
          <p:cNvCxnSpPr>
            <a:cxnSpLocks/>
          </p:cNvCxnSpPr>
          <p:nvPr/>
        </p:nvCxnSpPr>
        <p:spPr>
          <a:xfrm>
            <a:off x="2384734" y="2195241"/>
            <a:ext cx="0" cy="1162605"/>
          </a:xfrm>
          <a:prstGeom prst="line">
            <a:avLst/>
          </a:prstGeom>
          <a:ln>
            <a:solidFill>
              <a:schemeClr val="tx1">
                <a:lumMod val="90000"/>
              </a:schemeClr>
            </a:solidFill>
          </a:ln>
        </p:spPr>
        <p:style>
          <a:lnRef idx="3">
            <a:schemeClr val="accent5"/>
          </a:lnRef>
          <a:fillRef idx="0">
            <a:schemeClr val="accent5"/>
          </a:fillRef>
          <a:effectRef idx="2">
            <a:schemeClr val="accent5"/>
          </a:effectRef>
          <a:fontRef idx="minor">
            <a:schemeClr val="tx1"/>
          </a:fontRef>
        </p:style>
      </p:cxnSp>
      <p:cxnSp>
        <p:nvCxnSpPr>
          <p:cNvPr id="30" name="Straight Connector 29"/>
          <p:cNvCxnSpPr>
            <a:cxnSpLocks/>
          </p:cNvCxnSpPr>
          <p:nvPr/>
        </p:nvCxnSpPr>
        <p:spPr>
          <a:xfrm>
            <a:off x="2388197" y="3962988"/>
            <a:ext cx="0" cy="1168907"/>
          </a:xfrm>
          <a:prstGeom prst="line">
            <a:avLst/>
          </a:prstGeom>
          <a:ln>
            <a:solidFill>
              <a:schemeClr val="tx1">
                <a:lumMod val="75000"/>
              </a:schemeClr>
            </a:solidFill>
          </a:ln>
        </p:spPr>
        <p:style>
          <a:lnRef idx="3">
            <a:schemeClr val="accent5"/>
          </a:lnRef>
          <a:fillRef idx="0">
            <a:schemeClr val="accent5"/>
          </a:fillRef>
          <a:effectRef idx="2">
            <a:schemeClr val="accent5"/>
          </a:effectRef>
          <a:fontRef idx="minor">
            <a:schemeClr val="tx1"/>
          </a:fontRef>
        </p:style>
      </p:cxnSp>
      <p:cxnSp>
        <p:nvCxnSpPr>
          <p:cNvPr id="31" name="Straight Connector 30"/>
          <p:cNvCxnSpPr>
            <a:cxnSpLocks/>
          </p:cNvCxnSpPr>
          <p:nvPr/>
        </p:nvCxnSpPr>
        <p:spPr>
          <a:xfrm>
            <a:off x="2413922" y="5626708"/>
            <a:ext cx="0" cy="554691"/>
          </a:xfrm>
          <a:prstGeom prst="line">
            <a:avLst/>
          </a:prstGeom>
          <a:ln>
            <a:solidFill>
              <a:schemeClr val="tx1">
                <a:lumMod val="75000"/>
              </a:schemeClr>
            </a:solidFill>
          </a:ln>
        </p:spPr>
        <p:style>
          <a:lnRef idx="3">
            <a:schemeClr val="accent5"/>
          </a:lnRef>
          <a:fillRef idx="0">
            <a:schemeClr val="accent5"/>
          </a:fillRef>
          <a:effectRef idx="2">
            <a:schemeClr val="accent5"/>
          </a:effectRef>
          <a:fontRef idx="minor">
            <a:schemeClr val="tx1"/>
          </a:fontRef>
        </p:style>
      </p:cxnSp>
      <p:sp>
        <p:nvSpPr>
          <p:cNvPr id="32" name="Rounded Rectangle 31"/>
          <p:cNvSpPr/>
          <p:nvPr/>
        </p:nvSpPr>
        <p:spPr>
          <a:xfrm>
            <a:off x="5200478" y="3719971"/>
            <a:ext cx="1581200" cy="797772"/>
          </a:xfrm>
          <a:prstGeom prst="roundRect">
            <a:avLst/>
          </a:prstGeom>
          <a:solidFill>
            <a:srgbClr val="4C94AC"/>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rPr>
              <a:t>Administer and report on quarterly NPS pulse</a:t>
            </a:r>
          </a:p>
        </p:txBody>
      </p:sp>
      <p:sp>
        <p:nvSpPr>
          <p:cNvPr id="34" name="Rounded Rectangle 16">
            <a:extLst>
              <a:ext uri="{FF2B5EF4-FFF2-40B4-BE49-F238E27FC236}">
                <a16:creationId xmlns:a16="http://schemas.microsoft.com/office/drawing/2014/main" id="{EA6C5C24-635E-4537-A112-CC1C76522E0C}"/>
              </a:ext>
            </a:extLst>
          </p:cNvPr>
          <p:cNvSpPr/>
          <p:nvPr/>
        </p:nvSpPr>
        <p:spPr>
          <a:xfrm>
            <a:off x="9159643" y="4582101"/>
            <a:ext cx="1862137" cy="759430"/>
          </a:xfrm>
          <a:prstGeom prst="roundRect">
            <a:avLst/>
          </a:prstGeom>
          <a:solidFill>
            <a:srgbClr val="4C94AC"/>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806867" rtl="0" eaLnBrk="1" fontAlgn="auto" latinLnBrk="0" hangingPunct="1">
              <a:lnSpc>
                <a:spcPct val="100000"/>
              </a:lnSpc>
              <a:spcBef>
                <a:spcPts val="0"/>
              </a:spcBef>
              <a:spcAft>
                <a:spcPts val="0"/>
              </a:spcAft>
              <a:buClrTx/>
              <a:buSzTx/>
              <a:buFontTx/>
              <a:buNone/>
              <a:tabLst/>
              <a:defRPr/>
            </a:pPr>
            <a:r>
              <a:rPr lang="en-US" sz="1100" dirty="0"/>
              <a:t>Client surprise and delight program</a:t>
            </a:r>
            <a:endParaRPr kumimoji="0" lang="en-US" sz="1000" i="0" u="none" strike="sngStrike" kern="1200" cap="none" spc="0" normalizeH="0" baseline="0" noProof="0" dirty="0">
              <a:ln>
                <a:noFill/>
              </a:ln>
              <a:solidFill>
                <a:srgbClr val="FFFFFF"/>
              </a:solidFill>
              <a:effectLst/>
              <a:uLnTx/>
              <a:uFillTx/>
              <a:latin typeface="+mj-lt"/>
              <a:ea typeface="Open Sans Light" panose="020B0306030504020204" pitchFamily="34" charset="0"/>
              <a:cs typeface="Open Sans Light" panose="020B0306030504020204" pitchFamily="34" charset="0"/>
            </a:endParaRPr>
          </a:p>
        </p:txBody>
      </p:sp>
      <p:sp>
        <p:nvSpPr>
          <p:cNvPr id="28" name="Rounded Rectangle 10">
            <a:extLst>
              <a:ext uri="{FF2B5EF4-FFF2-40B4-BE49-F238E27FC236}">
                <a16:creationId xmlns:a16="http://schemas.microsoft.com/office/drawing/2014/main" id="{633B7749-21E1-4A86-94D7-BCBA7F838099}"/>
              </a:ext>
            </a:extLst>
          </p:cNvPr>
          <p:cNvSpPr/>
          <p:nvPr/>
        </p:nvSpPr>
        <p:spPr>
          <a:xfrm>
            <a:off x="2907965" y="2867684"/>
            <a:ext cx="4306188" cy="65954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Build and refine customer journey map and establish a baseline for efficiencies and improvements</a:t>
            </a:r>
            <a:endParaRPr lang="en-US" altLang="ko-KR" sz="1400" dirty="0">
              <a:solidFill>
                <a:schemeClr val="bg1"/>
              </a:solidFill>
              <a:latin typeface="+mj-lt"/>
            </a:endParaRPr>
          </a:p>
        </p:txBody>
      </p:sp>
      <p:sp>
        <p:nvSpPr>
          <p:cNvPr id="33" name="TextBox 32">
            <a:extLst>
              <a:ext uri="{FF2B5EF4-FFF2-40B4-BE49-F238E27FC236}">
                <a16:creationId xmlns:a16="http://schemas.microsoft.com/office/drawing/2014/main" id="{03538913-A5F7-41DA-AB6B-B9C8B8650B91}"/>
              </a:ext>
            </a:extLst>
          </p:cNvPr>
          <p:cNvSpPr txBox="1"/>
          <p:nvPr/>
        </p:nvSpPr>
        <p:spPr>
          <a:xfrm>
            <a:off x="585699" y="57837"/>
            <a:ext cx="10356712" cy="523220"/>
          </a:xfrm>
          <a:prstGeom prst="rect">
            <a:avLst/>
          </a:prstGeom>
          <a:noFill/>
        </p:spPr>
        <p:txBody>
          <a:bodyPr wrap="square">
            <a:spAutoFit/>
          </a:bodyPr>
          <a:lstStyle/>
          <a:p>
            <a:r>
              <a:rPr lang="en-US" altLang="ko-KR" sz="2800" dirty="0">
                <a:solidFill>
                  <a:srgbClr val="C00000"/>
                </a:solidFill>
                <a:latin typeface="+mj-lt"/>
              </a:rPr>
              <a:t>Plan on a page (Sample) – Medium Term Planning</a:t>
            </a:r>
            <a:endParaRPr lang="en-US" sz="2800" dirty="0">
              <a:solidFill>
                <a:srgbClr val="C00000"/>
              </a:solidFill>
            </a:endParaRPr>
          </a:p>
        </p:txBody>
      </p:sp>
    </p:spTree>
    <p:extLst>
      <p:ext uri="{BB962C8B-B14F-4D97-AF65-F5344CB8AC3E}">
        <p14:creationId xmlns:p14="http://schemas.microsoft.com/office/powerpoint/2010/main" val="355254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5D674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B12CEE91-EC26-00AC-E605-80B5CF8DCF14}"/>
              </a:ext>
            </a:extLst>
          </p:cNvPr>
          <p:cNvSpPr>
            <a:spLocks noGrp="1"/>
          </p:cNvSpPr>
          <p:nvPr>
            <p:ph type="title"/>
          </p:nvPr>
        </p:nvSpPr>
        <p:spPr>
          <a:xfrm>
            <a:off x="492370" y="516836"/>
            <a:ext cx="3084844" cy="1961086"/>
          </a:xfrm>
        </p:spPr>
        <p:txBody>
          <a:bodyPr vert="horz" lIns="91440" tIns="45720" rIns="91440" bIns="45720" rtlCol="0" anchor="b">
            <a:normAutofit/>
          </a:bodyPr>
          <a:lstStyle/>
          <a:p>
            <a:r>
              <a:rPr lang="en-US" sz="4000"/>
              <a:t>Client Experience</a:t>
            </a:r>
          </a:p>
        </p:txBody>
      </p:sp>
      <p:cxnSp>
        <p:nvCxnSpPr>
          <p:cNvPr id="19" name="Straight Connector 18">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C8311CD7-ED87-A6C2-1F74-E5C1520C18BA}"/>
              </a:ext>
            </a:extLst>
          </p:cNvPr>
          <p:cNvSpPr>
            <a:spLocks noGrp="1"/>
          </p:cNvSpPr>
          <p:nvPr>
            <p:ph type="body" sz="half" idx="2"/>
          </p:nvPr>
        </p:nvSpPr>
        <p:spPr>
          <a:xfrm>
            <a:off x="571752" y="2799654"/>
            <a:ext cx="3005462" cy="3189665"/>
          </a:xfrm>
        </p:spPr>
        <p:txBody>
          <a:bodyPr vert="horz" lIns="0" tIns="45720" rIns="0" bIns="45720" rtlCol="0">
            <a:normAutofit/>
          </a:bodyPr>
          <a:lstStyle/>
          <a:p>
            <a:pPr>
              <a:lnSpc>
                <a:spcPct val="100000"/>
              </a:lnSpc>
            </a:pPr>
            <a:r>
              <a:rPr lang="en-US" dirty="0"/>
              <a:t>"I've learned that people will forget what you said, will forget what you did, but people will never forget how you made them feel..." Maya Angelou</a:t>
            </a:r>
            <a:endParaRPr lang="en-US"/>
          </a:p>
        </p:txBody>
      </p:sp>
      <p:pic>
        <p:nvPicPr>
          <p:cNvPr id="3" name="Content Placeholder 2">
            <a:extLst>
              <a:ext uri="{FF2B5EF4-FFF2-40B4-BE49-F238E27FC236}">
                <a16:creationId xmlns:a16="http://schemas.microsoft.com/office/drawing/2014/main" id="{1CE01130-45BB-4A34-A567-1ACB02D562DF}"/>
              </a:ext>
            </a:extLst>
          </p:cNvPr>
          <p:cNvPicPr>
            <a:picLocks noGrp="1" noChangeAspect="1"/>
          </p:cNvPicPr>
          <p:nvPr>
            <p:ph idx="1"/>
          </p:nvPr>
        </p:nvPicPr>
        <p:blipFill>
          <a:blip r:embed="rId2"/>
          <a:stretch>
            <a:fillRect/>
          </a:stretch>
        </p:blipFill>
        <p:spPr>
          <a:xfrm>
            <a:off x="4742017" y="1415068"/>
            <a:ext cx="6798082" cy="4027863"/>
          </a:xfrm>
          <a:prstGeom prst="rect">
            <a:avLst/>
          </a:prstGeom>
        </p:spPr>
      </p:pic>
    </p:spTree>
    <p:extLst>
      <p:ext uri="{BB962C8B-B14F-4D97-AF65-F5344CB8AC3E}">
        <p14:creationId xmlns:p14="http://schemas.microsoft.com/office/powerpoint/2010/main" val="3280387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5">
            <a:extLst>
              <a:ext uri="{FF2B5EF4-FFF2-40B4-BE49-F238E27FC236}">
                <a16:creationId xmlns:a16="http://schemas.microsoft.com/office/drawing/2014/main" id="{2B891A0C-D6CC-4F5E-2DA7-D0B79F966B33}"/>
              </a:ext>
            </a:extLst>
          </p:cNvPr>
          <p:cNvPicPr>
            <a:picLocks noChangeAspect="1"/>
          </p:cNvPicPr>
          <p:nvPr/>
        </p:nvPicPr>
        <p:blipFill>
          <a:blip r:embed="rId2"/>
          <a:stretch>
            <a:fillRect/>
          </a:stretch>
        </p:blipFill>
        <p:spPr>
          <a:xfrm>
            <a:off x="2327546" y="1302854"/>
            <a:ext cx="8389665" cy="5029288"/>
          </a:xfrm>
          <a:prstGeom prst="rect">
            <a:avLst/>
          </a:prstGeom>
        </p:spPr>
      </p:pic>
      <p:sp>
        <p:nvSpPr>
          <p:cNvPr id="10" name="Title 2">
            <a:extLst>
              <a:ext uri="{FF2B5EF4-FFF2-40B4-BE49-F238E27FC236}">
                <a16:creationId xmlns:a16="http://schemas.microsoft.com/office/drawing/2014/main" id="{8C6E5474-8099-B1FF-D310-5BAECC91957D}"/>
              </a:ext>
            </a:extLst>
          </p:cNvPr>
          <p:cNvSpPr txBox="1">
            <a:spLocks/>
          </p:cNvSpPr>
          <p:nvPr/>
        </p:nvSpPr>
        <p:spPr>
          <a:xfrm>
            <a:off x="298592" y="52030"/>
            <a:ext cx="11111859" cy="480131"/>
          </a:xfrm>
          <a:prstGeom prst="rect">
            <a:avLst/>
          </a:prstGeom>
        </p:spPr>
        <p:txBody>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r>
              <a:rPr lang="en-US" dirty="0">
                <a:solidFill>
                  <a:srgbClr val="C00000"/>
                </a:solidFill>
              </a:rPr>
              <a:t>Client Experience</a:t>
            </a:r>
          </a:p>
        </p:txBody>
      </p:sp>
      <p:sp>
        <p:nvSpPr>
          <p:cNvPr id="11" name="Text Placeholder 4">
            <a:extLst>
              <a:ext uri="{FF2B5EF4-FFF2-40B4-BE49-F238E27FC236}">
                <a16:creationId xmlns:a16="http://schemas.microsoft.com/office/drawing/2014/main" id="{3C77D57A-2B2B-9227-3C5B-4BB5FEB1D72B}"/>
              </a:ext>
            </a:extLst>
          </p:cNvPr>
          <p:cNvSpPr txBox="1">
            <a:spLocks/>
          </p:cNvSpPr>
          <p:nvPr/>
        </p:nvSpPr>
        <p:spPr>
          <a:xfrm>
            <a:off x="298592" y="732841"/>
            <a:ext cx="11554318" cy="369332"/>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1800" b="1" i="1" dirty="0">
                <a:solidFill>
                  <a:srgbClr val="4C94AC"/>
                </a:solidFill>
              </a:rPr>
              <a:t>The fundamentals and emerging expectations of customer service – Building customer intelligence factors through AI technology implementation:</a:t>
            </a:r>
          </a:p>
        </p:txBody>
      </p:sp>
      <p:sp>
        <p:nvSpPr>
          <p:cNvPr id="12" name="Oval 11">
            <a:extLst>
              <a:ext uri="{FF2B5EF4-FFF2-40B4-BE49-F238E27FC236}">
                <a16:creationId xmlns:a16="http://schemas.microsoft.com/office/drawing/2014/main" id="{ED8D8686-8CBB-7326-9EAF-CCDFC80CABD9}"/>
              </a:ext>
            </a:extLst>
          </p:cNvPr>
          <p:cNvSpPr/>
          <p:nvPr/>
        </p:nvSpPr>
        <p:spPr>
          <a:xfrm>
            <a:off x="5364576" y="1856587"/>
            <a:ext cx="2315603" cy="1479949"/>
          </a:xfrm>
          <a:prstGeom prst="ellipse">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FDB6AF16-DB2E-672F-09BC-60ADDC37671B}"/>
              </a:ext>
            </a:extLst>
          </p:cNvPr>
          <p:cNvSpPr/>
          <p:nvPr/>
        </p:nvSpPr>
        <p:spPr>
          <a:xfrm>
            <a:off x="7734634" y="2411896"/>
            <a:ext cx="1212342" cy="369332"/>
          </a:xfrm>
          <a:prstGeom prst="lef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lumMod val="75000"/>
                </a:schemeClr>
              </a:solidFill>
            </a:endParaRPr>
          </a:p>
        </p:txBody>
      </p:sp>
      <p:sp>
        <p:nvSpPr>
          <p:cNvPr id="14" name="TextBox 13">
            <a:extLst>
              <a:ext uri="{FF2B5EF4-FFF2-40B4-BE49-F238E27FC236}">
                <a16:creationId xmlns:a16="http://schemas.microsoft.com/office/drawing/2014/main" id="{45803FB7-E56B-D8FC-8EC3-A390985FA95F}"/>
              </a:ext>
            </a:extLst>
          </p:cNvPr>
          <p:cNvSpPr txBox="1"/>
          <p:nvPr/>
        </p:nvSpPr>
        <p:spPr>
          <a:xfrm>
            <a:off x="9001431" y="2134897"/>
            <a:ext cx="2979547" cy="923330"/>
          </a:xfrm>
          <a:prstGeom prst="rect">
            <a:avLst/>
          </a:prstGeom>
          <a:noFill/>
        </p:spPr>
        <p:txBody>
          <a:bodyPr wrap="square" rtlCol="0">
            <a:spAutoFit/>
          </a:bodyPr>
          <a:lstStyle/>
          <a:p>
            <a:r>
              <a:rPr lang="en-US" i="1" dirty="0">
                <a:solidFill>
                  <a:schemeClr val="accent3">
                    <a:lumMod val="75000"/>
                  </a:schemeClr>
                </a:solidFill>
                <a:latin typeface="+mj-lt"/>
                <a:ea typeface="+mj-ea"/>
                <a:cs typeface="+mj-cs"/>
              </a:rPr>
              <a:t>The experience hub focuses on how to get to here with each client interaction.</a:t>
            </a:r>
          </a:p>
        </p:txBody>
      </p:sp>
      <p:sp>
        <p:nvSpPr>
          <p:cNvPr id="15" name="Rectangle 14">
            <a:extLst>
              <a:ext uri="{FF2B5EF4-FFF2-40B4-BE49-F238E27FC236}">
                <a16:creationId xmlns:a16="http://schemas.microsoft.com/office/drawing/2014/main" id="{2644A4A1-CAD8-88FE-92CF-4B639952CD32}"/>
              </a:ext>
            </a:extLst>
          </p:cNvPr>
          <p:cNvSpPr/>
          <p:nvPr/>
        </p:nvSpPr>
        <p:spPr>
          <a:xfrm>
            <a:off x="298592" y="1656085"/>
            <a:ext cx="3034155" cy="4770537"/>
          </a:xfrm>
          <a:prstGeom prst="rect">
            <a:avLst/>
          </a:prstGeom>
        </p:spPr>
        <p:txBody>
          <a:bodyPr wrap="square">
            <a:spAutoFit/>
          </a:bodyPr>
          <a:lstStyle/>
          <a:p>
            <a:r>
              <a:rPr lang="en-US" sz="1600" i="1" dirty="0">
                <a:solidFill>
                  <a:srgbClr val="828282"/>
                </a:solidFill>
                <a:latin typeface="+mj-lt"/>
              </a:rPr>
              <a:t>D</a:t>
            </a:r>
            <a:r>
              <a:rPr lang="en-US" sz="1600" b="0" i="1" dirty="0">
                <a:solidFill>
                  <a:srgbClr val="828282"/>
                </a:solidFill>
                <a:effectLst/>
                <a:latin typeface="+mj-lt"/>
              </a:rPr>
              <a:t>eeply understand customers’ </a:t>
            </a:r>
          </a:p>
          <a:p>
            <a:pPr marL="285750" indent="-285750">
              <a:buFont typeface="Arial" panose="020B0604020202020204" pitchFamily="34" charset="0"/>
              <a:buChar char="•"/>
            </a:pPr>
            <a:r>
              <a:rPr lang="en-US" sz="1600" i="1" dirty="0">
                <a:solidFill>
                  <a:srgbClr val="828282"/>
                </a:solidFill>
                <a:latin typeface="+mj-lt"/>
              </a:rPr>
              <a:t>T</a:t>
            </a:r>
            <a:r>
              <a:rPr lang="en-US" sz="1600" b="0" i="1" dirty="0">
                <a:solidFill>
                  <a:srgbClr val="828282"/>
                </a:solidFill>
                <a:effectLst/>
                <a:latin typeface="+mj-lt"/>
              </a:rPr>
              <a:t>arget outcomes</a:t>
            </a:r>
          </a:p>
          <a:p>
            <a:pPr marL="285750" indent="-285750">
              <a:buFont typeface="Arial" panose="020B0604020202020204" pitchFamily="34" charset="0"/>
              <a:buChar char="•"/>
            </a:pPr>
            <a:r>
              <a:rPr lang="en-US" sz="1600" i="1" dirty="0">
                <a:solidFill>
                  <a:srgbClr val="828282"/>
                </a:solidFill>
                <a:latin typeface="+mj-lt"/>
              </a:rPr>
              <a:t>M</a:t>
            </a:r>
            <a:r>
              <a:rPr lang="en-US" sz="1600" b="0" i="1" dirty="0">
                <a:solidFill>
                  <a:srgbClr val="828282"/>
                </a:solidFill>
                <a:effectLst/>
                <a:latin typeface="+mj-lt"/>
              </a:rPr>
              <a:t>otivations</a:t>
            </a:r>
          </a:p>
          <a:p>
            <a:pPr marL="285750" indent="-285750">
              <a:buFont typeface="Arial" panose="020B0604020202020204" pitchFamily="34" charset="0"/>
              <a:buChar char="•"/>
            </a:pPr>
            <a:r>
              <a:rPr lang="en-US" sz="1600" i="1" dirty="0">
                <a:solidFill>
                  <a:srgbClr val="828282"/>
                </a:solidFill>
                <a:latin typeface="+mj-lt"/>
              </a:rPr>
              <a:t>E</a:t>
            </a:r>
            <a:r>
              <a:rPr lang="en-US" sz="1600" b="0" i="1" dirty="0">
                <a:solidFill>
                  <a:srgbClr val="828282"/>
                </a:solidFill>
                <a:effectLst/>
                <a:latin typeface="+mj-lt"/>
              </a:rPr>
              <a:t>motion evokes</a:t>
            </a:r>
          </a:p>
          <a:p>
            <a:pPr marL="285750" indent="-285750">
              <a:buFont typeface="Arial" panose="020B0604020202020204" pitchFamily="34" charset="0"/>
              <a:buChar char="•"/>
            </a:pPr>
            <a:r>
              <a:rPr lang="en-US" sz="1600" i="1" dirty="0">
                <a:solidFill>
                  <a:srgbClr val="828282"/>
                </a:solidFill>
                <a:latin typeface="+mj-lt"/>
              </a:rPr>
              <a:t>A</a:t>
            </a:r>
            <a:r>
              <a:rPr lang="en-US" sz="1600" b="0" i="1" dirty="0">
                <a:solidFill>
                  <a:srgbClr val="828282"/>
                </a:solidFill>
                <a:effectLst/>
                <a:latin typeface="+mj-lt"/>
              </a:rPr>
              <a:t>ctions </a:t>
            </a:r>
          </a:p>
          <a:p>
            <a:pPr marL="285750" indent="-285750">
              <a:buFont typeface="Arial" panose="020B0604020202020204" pitchFamily="34" charset="0"/>
              <a:buChar char="•"/>
            </a:pPr>
            <a:r>
              <a:rPr lang="en-US" sz="1600" i="1" dirty="0">
                <a:solidFill>
                  <a:srgbClr val="828282"/>
                </a:solidFill>
                <a:latin typeface="+mj-lt"/>
              </a:rPr>
              <a:t>Personas</a:t>
            </a:r>
            <a:endParaRPr lang="en-US" sz="1600" b="0" i="1" dirty="0">
              <a:solidFill>
                <a:srgbClr val="828282"/>
              </a:solidFill>
              <a:effectLst/>
              <a:latin typeface="+mj-lt"/>
            </a:endParaRPr>
          </a:p>
          <a:p>
            <a:pPr marL="285750" indent="-285750">
              <a:buFont typeface="Arial" panose="020B0604020202020204" pitchFamily="34" charset="0"/>
              <a:buChar char="•"/>
            </a:pPr>
            <a:endParaRPr lang="en-US" sz="1600" b="0" i="1" dirty="0">
              <a:solidFill>
                <a:srgbClr val="828282"/>
              </a:solidFill>
              <a:effectLst/>
              <a:latin typeface="+mj-lt"/>
            </a:endParaRPr>
          </a:p>
          <a:p>
            <a:r>
              <a:rPr lang="en-US" sz="1600" b="0" i="1" dirty="0">
                <a:solidFill>
                  <a:srgbClr val="828282"/>
                </a:solidFill>
                <a:effectLst/>
                <a:latin typeface="+mj-lt"/>
              </a:rPr>
              <a:t>Followed by defining their </a:t>
            </a:r>
          </a:p>
          <a:p>
            <a:pPr marL="285750" indent="-285750">
              <a:buFont typeface="Arial" panose="020B0604020202020204" pitchFamily="34" charset="0"/>
              <a:buChar char="•"/>
            </a:pPr>
            <a:r>
              <a:rPr lang="en-US" sz="1600" i="1" dirty="0">
                <a:solidFill>
                  <a:srgbClr val="828282"/>
                </a:solidFill>
                <a:latin typeface="+mj-lt"/>
              </a:rPr>
              <a:t>C</a:t>
            </a:r>
            <a:r>
              <a:rPr lang="en-US" sz="1600" b="0" i="1" dirty="0">
                <a:solidFill>
                  <a:srgbClr val="828282"/>
                </a:solidFill>
                <a:effectLst/>
                <a:latin typeface="+mj-lt"/>
              </a:rPr>
              <a:t>ompany strategy</a:t>
            </a:r>
          </a:p>
          <a:p>
            <a:pPr marL="285750" indent="-285750">
              <a:buFont typeface="Arial" panose="020B0604020202020204" pitchFamily="34" charset="0"/>
              <a:buChar char="•"/>
            </a:pPr>
            <a:r>
              <a:rPr lang="en-US" sz="1600" b="0" i="1" dirty="0">
                <a:solidFill>
                  <a:srgbClr val="828282"/>
                </a:solidFill>
                <a:effectLst/>
                <a:latin typeface="+mj-lt"/>
              </a:rPr>
              <a:t>Workflow/policies </a:t>
            </a:r>
          </a:p>
          <a:p>
            <a:pPr marL="285750" indent="-285750">
              <a:buFont typeface="Arial" panose="020B0604020202020204" pitchFamily="34" charset="0"/>
              <a:buChar char="•"/>
            </a:pPr>
            <a:r>
              <a:rPr lang="en-US" sz="1600" i="1" dirty="0">
                <a:solidFill>
                  <a:srgbClr val="828282"/>
                </a:solidFill>
                <a:latin typeface="+mj-lt"/>
              </a:rPr>
              <a:t>C</a:t>
            </a:r>
            <a:r>
              <a:rPr lang="en-US" sz="1600" b="0" i="1" dirty="0">
                <a:solidFill>
                  <a:srgbClr val="828282"/>
                </a:solidFill>
                <a:effectLst/>
                <a:latin typeface="+mj-lt"/>
              </a:rPr>
              <a:t>ulture to customer interaction expectations. </a:t>
            </a:r>
          </a:p>
          <a:p>
            <a:pPr marL="285750" indent="-285750">
              <a:buFont typeface="Arial" panose="020B0604020202020204" pitchFamily="34" charset="0"/>
              <a:buChar char="•"/>
            </a:pPr>
            <a:endParaRPr lang="en-US" sz="1600" i="1" dirty="0">
              <a:solidFill>
                <a:srgbClr val="828282"/>
              </a:solidFill>
              <a:latin typeface="+mj-lt"/>
            </a:endParaRPr>
          </a:p>
          <a:p>
            <a:r>
              <a:rPr lang="en-US" sz="1600" i="1" dirty="0">
                <a:solidFill>
                  <a:srgbClr val="828282"/>
                </a:solidFill>
                <a:latin typeface="+mj-lt"/>
              </a:rPr>
              <a:t>Incorporate Lean principles</a:t>
            </a:r>
          </a:p>
          <a:p>
            <a:pPr marL="285750" indent="-285750">
              <a:buFont typeface="Arial" panose="020B0604020202020204" pitchFamily="34" charset="0"/>
              <a:buChar char="•"/>
            </a:pPr>
            <a:r>
              <a:rPr lang="en-US" sz="1600" i="1" dirty="0">
                <a:solidFill>
                  <a:srgbClr val="828282"/>
                </a:solidFill>
                <a:latin typeface="+mj-lt"/>
              </a:rPr>
              <a:t>What is the customer willing to pay for in your process. All other items are waste</a:t>
            </a:r>
          </a:p>
          <a:p>
            <a:pPr marL="285750" indent="-285750">
              <a:buFont typeface="Arial" panose="020B0604020202020204" pitchFamily="34" charset="0"/>
              <a:buChar char="•"/>
            </a:pPr>
            <a:r>
              <a:rPr lang="en-US" sz="1600" i="1" dirty="0">
                <a:solidFill>
                  <a:srgbClr val="828282"/>
                </a:solidFill>
                <a:latin typeface="+mj-lt"/>
              </a:rPr>
              <a:t>Continuous process improvement</a:t>
            </a:r>
            <a:endParaRPr lang="en-US" sz="1600" dirty="0">
              <a:latin typeface="+mj-lt"/>
            </a:endParaRPr>
          </a:p>
        </p:txBody>
      </p:sp>
    </p:spTree>
    <p:extLst>
      <p:ext uri="{BB962C8B-B14F-4D97-AF65-F5344CB8AC3E}">
        <p14:creationId xmlns:p14="http://schemas.microsoft.com/office/powerpoint/2010/main" val="2893502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79FCDD-DAA8-DE34-10BA-D44330DDB9A0}"/>
              </a:ext>
            </a:extLst>
          </p:cNvPr>
          <p:cNvSpPr>
            <a:spLocks noGrp="1"/>
          </p:cNvSpPr>
          <p:nvPr>
            <p:ph type="title" idx="4294967295"/>
          </p:nvPr>
        </p:nvSpPr>
        <p:spPr>
          <a:xfrm>
            <a:off x="126835" y="111286"/>
            <a:ext cx="10058400" cy="785813"/>
          </a:xfrm>
        </p:spPr>
        <p:txBody>
          <a:bodyPr/>
          <a:lstStyle/>
          <a:p>
            <a:r>
              <a:rPr lang="en-US" sz="4800" dirty="0"/>
              <a:t>Customer Success Competencies</a:t>
            </a:r>
            <a:endParaRPr lang="en-US" dirty="0"/>
          </a:p>
        </p:txBody>
      </p:sp>
      <p:sp>
        <p:nvSpPr>
          <p:cNvPr id="5" name="TextBox 4">
            <a:extLst>
              <a:ext uri="{FF2B5EF4-FFF2-40B4-BE49-F238E27FC236}">
                <a16:creationId xmlns:a16="http://schemas.microsoft.com/office/drawing/2014/main" id="{7B24365D-691C-E491-B437-7F3F214CB812}"/>
              </a:ext>
            </a:extLst>
          </p:cNvPr>
          <p:cNvSpPr txBox="1"/>
          <p:nvPr/>
        </p:nvSpPr>
        <p:spPr>
          <a:xfrm>
            <a:off x="1118869" y="3567718"/>
            <a:ext cx="4799555" cy="1446550"/>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Adoption &amp; Usage</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Maximize value &amp; usage of products/services</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ko-KR" sz="1400" dirty="0">
                <a:solidFill>
                  <a:srgbClr val="5B6770"/>
                </a:solidFill>
                <a:latin typeface="Montserrat" panose="00000500000000000000" pitchFamily="2" charset="0"/>
                <a:ea typeface="ＭＳ Ｐゴシック" pitchFamily="34" charset="-128"/>
                <a:cs typeface="Arial" pitchFamily="34" charset="0"/>
              </a:rPr>
              <a:t>Goal-based engagements – goals &amp; milestones</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Digital automation engagement strategy</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ko-KR" sz="1400" dirty="0">
                <a:solidFill>
                  <a:srgbClr val="5B6770"/>
                </a:solidFill>
                <a:latin typeface="Montserrat" panose="00000500000000000000" pitchFamily="2" charset="0"/>
                <a:ea typeface="ＭＳ Ｐゴシック" pitchFamily="34" charset="-128"/>
                <a:cs typeface="Arial" pitchFamily="34" charset="0"/>
              </a:rPr>
              <a:t>Proactively provide value and use cases</a:t>
            </a:r>
            <a:endPar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endParaRPr>
          </a:p>
        </p:txBody>
      </p:sp>
      <p:sp>
        <p:nvSpPr>
          <p:cNvPr id="6" name="TextBox 5">
            <a:extLst>
              <a:ext uri="{FF2B5EF4-FFF2-40B4-BE49-F238E27FC236}">
                <a16:creationId xmlns:a16="http://schemas.microsoft.com/office/drawing/2014/main" id="{B1D89C8A-05D1-5E8C-1C3C-B7B5D142D6B5}"/>
              </a:ext>
            </a:extLst>
          </p:cNvPr>
          <p:cNvSpPr txBox="1"/>
          <p:nvPr/>
        </p:nvSpPr>
        <p:spPr>
          <a:xfrm>
            <a:off x="7335277" y="3737772"/>
            <a:ext cx="4550185" cy="123110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Cross-sell &amp; Up-sell Opportunities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Identify opportunities to sell further products/services through – Persona’s, data driven analytics etc.</a:t>
            </a:r>
          </a:p>
        </p:txBody>
      </p:sp>
      <p:sp>
        <p:nvSpPr>
          <p:cNvPr id="8" name="TextBox 7">
            <a:extLst>
              <a:ext uri="{FF2B5EF4-FFF2-40B4-BE49-F238E27FC236}">
                <a16:creationId xmlns:a16="http://schemas.microsoft.com/office/drawing/2014/main" id="{9750D7F3-9903-9A28-C308-2066F0CABD96}"/>
              </a:ext>
            </a:extLst>
          </p:cNvPr>
          <p:cNvSpPr txBox="1"/>
          <p:nvPr/>
        </p:nvSpPr>
        <p:spPr>
          <a:xfrm>
            <a:off x="1136757" y="1855510"/>
            <a:ext cx="4799555" cy="1446550"/>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Customer Value/Goal Achievement</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Understand customer goals and how to help them achieve this trough our products/services</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ko-KR" sz="1400" dirty="0">
                <a:solidFill>
                  <a:srgbClr val="5B6770"/>
                </a:solidFill>
                <a:latin typeface="Montserrat" panose="00000500000000000000" pitchFamily="2" charset="0"/>
                <a:ea typeface="ＭＳ Ｐゴシック" pitchFamily="34" charset="-128"/>
                <a:cs typeface="Arial" pitchFamily="34" charset="0"/>
              </a:rPr>
              <a:t>Help customers remove roadblocks along the client journey</a:t>
            </a:r>
            <a:endPar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endParaRPr>
          </a:p>
        </p:txBody>
      </p:sp>
      <p:sp>
        <p:nvSpPr>
          <p:cNvPr id="9" name="TextBox 8">
            <a:extLst>
              <a:ext uri="{FF2B5EF4-FFF2-40B4-BE49-F238E27FC236}">
                <a16:creationId xmlns:a16="http://schemas.microsoft.com/office/drawing/2014/main" id="{62A878F7-3D11-D279-3338-87255C149A34}"/>
              </a:ext>
            </a:extLst>
          </p:cNvPr>
          <p:cNvSpPr txBox="1"/>
          <p:nvPr/>
        </p:nvSpPr>
        <p:spPr>
          <a:xfrm>
            <a:off x="7236172" y="1847089"/>
            <a:ext cx="4799555" cy="1446550"/>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Customer Delight</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Building a long-term positive experience around products/services and brand</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ko-KR" sz="1400" dirty="0">
                <a:solidFill>
                  <a:srgbClr val="5B6770"/>
                </a:solidFill>
                <a:latin typeface="Montserrat" panose="00000500000000000000" pitchFamily="2" charset="0"/>
                <a:ea typeface="ＭＳ Ｐゴシック" pitchFamily="34" charset="-128"/>
                <a:cs typeface="Arial" pitchFamily="34" charset="0"/>
              </a:rPr>
              <a:t>Exceed expectations and gain loyalty</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Create referenceable customers</a:t>
            </a:r>
          </a:p>
        </p:txBody>
      </p:sp>
      <p:sp>
        <p:nvSpPr>
          <p:cNvPr id="10" name="TextBox 9">
            <a:extLst>
              <a:ext uri="{FF2B5EF4-FFF2-40B4-BE49-F238E27FC236}">
                <a16:creationId xmlns:a16="http://schemas.microsoft.com/office/drawing/2014/main" id="{2E281FF4-FDBE-9365-E70F-2CFBC962A29A}"/>
              </a:ext>
            </a:extLst>
          </p:cNvPr>
          <p:cNvSpPr txBox="1"/>
          <p:nvPr/>
        </p:nvSpPr>
        <p:spPr>
          <a:xfrm>
            <a:off x="3877964" y="5140915"/>
            <a:ext cx="5808961" cy="1231106"/>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lang="en-US" altLang="ko-KR" sz="1600" b="1" dirty="0">
                <a:solidFill>
                  <a:schemeClr val="accent3">
                    <a:lumMod val="75000"/>
                  </a:schemeClr>
                </a:solidFill>
                <a:latin typeface="Montserrat" panose="00000500000000000000" pitchFamily="2" charset="0"/>
                <a:ea typeface="ＭＳ Ｐゴシック" pitchFamily="34" charset="-128"/>
                <a:cs typeface="Arial" pitchFamily="34" charset="0"/>
              </a:rPr>
              <a:t>Risk Identification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altLang="ko-KR" sz="1600"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ko-KR" sz="1400" dirty="0">
                <a:solidFill>
                  <a:srgbClr val="5B6770"/>
                </a:solidFill>
                <a:latin typeface="Montserrat" panose="00000500000000000000" pitchFamily="2" charset="0"/>
                <a:ea typeface="ＭＳ Ｐゴシック" pitchFamily="34" charset="-128"/>
                <a:cs typeface="Arial" pitchFamily="34" charset="0"/>
              </a:rPr>
              <a:t>Visibility into customers’ behaviors that spotlights risks</a:t>
            </a:r>
          </a:p>
          <a:p>
            <a:pPr marL="285750" marR="0" lvl="0" indent="-2857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Proactively be mindful of key factors that cause risk. DS market fac</a:t>
            </a:r>
            <a:r>
              <a:rPr lang="en-US" altLang="ko-KR" sz="1400" dirty="0">
                <a:solidFill>
                  <a:srgbClr val="5B6770"/>
                </a:solidFill>
                <a:latin typeface="Montserrat" panose="00000500000000000000" pitchFamily="2" charset="0"/>
                <a:ea typeface="ＭＳ Ｐゴシック" pitchFamily="34" charset="-128"/>
                <a:cs typeface="Arial" pitchFamily="34" charset="0"/>
              </a:rPr>
              <a:t>es challenge of; time, resource and funding</a:t>
            </a:r>
            <a:endPar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endParaRPr>
          </a:p>
        </p:txBody>
      </p:sp>
      <p:sp>
        <p:nvSpPr>
          <p:cNvPr id="55" name="Oval 54">
            <a:extLst>
              <a:ext uri="{FF2B5EF4-FFF2-40B4-BE49-F238E27FC236}">
                <a16:creationId xmlns:a16="http://schemas.microsoft.com/office/drawing/2014/main" id="{62BDBCE5-D846-9747-0E3B-93D2F06D8C7A}"/>
              </a:ext>
            </a:extLst>
          </p:cNvPr>
          <p:cNvSpPr/>
          <p:nvPr/>
        </p:nvSpPr>
        <p:spPr>
          <a:xfrm>
            <a:off x="6367356" y="3760196"/>
            <a:ext cx="914162" cy="91416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1AC604"/>
              </a:solidFill>
              <a:effectLst/>
              <a:uLnTx/>
              <a:uFillTx/>
              <a:latin typeface="Arial" panose="020B0604020202020204"/>
              <a:ea typeface="+mn-ea"/>
              <a:cs typeface="+mn-cs"/>
            </a:endParaRPr>
          </a:p>
        </p:txBody>
      </p:sp>
      <p:sp>
        <p:nvSpPr>
          <p:cNvPr id="85" name="Oval 84">
            <a:extLst>
              <a:ext uri="{FF2B5EF4-FFF2-40B4-BE49-F238E27FC236}">
                <a16:creationId xmlns:a16="http://schemas.microsoft.com/office/drawing/2014/main" id="{400D9967-F362-EC1A-1A68-C56D72C36596}"/>
              </a:ext>
            </a:extLst>
          </p:cNvPr>
          <p:cNvSpPr/>
          <p:nvPr/>
        </p:nvSpPr>
        <p:spPr>
          <a:xfrm>
            <a:off x="2633670" y="5176164"/>
            <a:ext cx="909630" cy="91416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1AC604"/>
              </a:solidFill>
              <a:effectLst/>
              <a:uLnTx/>
              <a:uFillTx/>
              <a:latin typeface="Arial" panose="020B0604020202020204"/>
              <a:ea typeface="+mn-ea"/>
              <a:cs typeface="+mn-cs"/>
            </a:endParaRPr>
          </a:p>
        </p:txBody>
      </p:sp>
      <p:sp>
        <p:nvSpPr>
          <p:cNvPr id="88" name="Oval 87">
            <a:extLst>
              <a:ext uri="{FF2B5EF4-FFF2-40B4-BE49-F238E27FC236}">
                <a16:creationId xmlns:a16="http://schemas.microsoft.com/office/drawing/2014/main" id="{C6166F16-5B8E-B11B-ED6A-869C4C68FE44}"/>
              </a:ext>
            </a:extLst>
          </p:cNvPr>
          <p:cNvSpPr/>
          <p:nvPr/>
        </p:nvSpPr>
        <p:spPr>
          <a:xfrm>
            <a:off x="98531" y="3641863"/>
            <a:ext cx="914162" cy="91416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1AC604"/>
              </a:solidFill>
              <a:effectLst/>
              <a:uLnTx/>
              <a:uFillTx/>
              <a:latin typeface="Arial" panose="020B0604020202020204"/>
              <a:ea typeface="+mn-ea"/>
              <a:cs typeface="+mn-cs"/>
            </a:endParaRPr>
          </a:p>
        </p:txBody>
      </p:sp>
      <p:sp>
        <p:nvSpPr>
          <p:cNvPr id="94" name="Oval 93">
            <a:extLst>
              <a:ext uri="{FF2B5EF4-FFF2-40B4-BE49-F238E27FC236}">
                <a16:creationId xmlns:a16="http://schemas.microsoft.com/office/drawing/2014/main" id="{05AF6003-3FEE-FF0C-094B-B07B3546C117}"/>
              </a:ext>
            </a:extLst>
          </p:cNvPr>
          <p:cNvSpPr/>
          <p:nvPr/>
        </p:nvSpPr>
        <p:spPr>
          <a:xfrm>
            <a:off x="6234226" y="1882700"/>
            <a:ext cx="914162" cy="91416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1AC604"/>
              </a:solidFill>
              <a:effectLst/>
              <a:uLnTx/>
              <a:uFillTx/>
              <a:latin typeface="Arial" panose="020B0604020202020204"/>
              <a:ea typeface="+mn-ea"/>
              <a:cs typeface="+mn-cs"/>
            </a:endParaRPr>
          </a:p>
        </p:txBody>
      </p:sp>
      <p:sp>
        <p:nvSpPr>
          <p:cNvPr id="97" name="Oval 96">
            <a:extLst>
              <a:ext uri="{FF2B5EF4-FFF2-40B4-BE49-F238E27FC236}">
                <a16:creationId xmlns:a16="http://schemas.microsoft.com/office/drawing/2014/main" id="{AAD0EE5B-ADAE-4A7B-CB9B-D4DC32B0CF1A}"/>
              </a:ext>
            </a:extLst>
          </p:cNvPr>
          <p:cNvSpPr/>
          <p:nvPr/>
        </p:nvSpPr>
        <p:spPr>
          <a:xfrm>
            <a:off x="134811" y="1855510"/>
            <a:ext cx="914162" cy="91416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1AC604"/>
              </a:solidFill>
              <a:effectLst/>
              <a:uLnTx/>
              <a:uFillTx/>
              <a:latin typeface="Arial" panose="020B0604020202020204"/>
              <a:ea typeface="+mn-ea"/>
              <a:cs typeface="+mn-cs"/>
            </a:endParaRPr>
          </a:p>
        </p:txBody>
      </p:sp>
      <p:pic>
        <p:nvPicPr>
          <p:cNvPr id="16" name="Graphic 15" descr="Connections with solid fill">
            <a:extLst>
              <a:ext uri="{FF2B5EF4-FFF2-40B4-BE49-F238E27FC236}">
                <a16:creationId xmlns:a16="http://schemas.microsoft.com/office/drawing/2014/main" id="{96D386DB-6692-F703-76E6-333A7DA500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2099" y="1970735"/>
            <a:ext cx="744497" cy="744497"/>
          </a:xfrm>
          <a:prstGeom prst="rect">
            <a:avLst/>
          </a:prstGeom>
        </p:spPr>
      </p:pic>
      <p:pic>
        <p:nvPicPr>
          <p:cNvPr id="18" name="Graphic 17" descr="GMO with solid fill">
            <a:extLst>
              <a:ext uri="{FF2B5EF4-FFF2-40B4-BE49-F238E27FC236}">
                <a16:creationId xmlns:a16="http://schemas.microsoft.com/office/drawing/2014/main" id="{3FB3905D-2F9B-89C0-A032-EA4E2BF4A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8258" y="3737772"/>
            <a:ext cx="649612" cy="746162"/>
          </a:xfrm>
          <a:prstGeom prst="rect">
            <a:avLst/>
          </a:prstGeom>
        </p:spPr>
      </p:pic>
      <p:pic>
        <p:nvPicPr>
          <p:cNvPr id="20" name="Graphic 19" descr="Presentation with bar chart with solid fill">
            <a:extLst>
              <a:ext uri="{FF2B5EF4-FFF2-40B4-BE49-F238E27FC236}">
                <a16:creationId xmlns:a16="http://schemas.microsoft.com/office/drawing/2014/main" id="{456B0EA9-174B-6CF8-8ECA-EB09406B8E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24669" y="5250414"/>
            <a:ext cx="732878" cy="845242"/>
          </a:xfrm>
          <a:prstGeom prst="rect">
            <a:avLst/>
          </a:prstGeom>
        </p:spPr>
      </p:pic>
      <p:pic>
        <p:nvPicPr>
          <p:cNvPr id="22" name="Graphic 21" descr="Handshake with solid fill">
            <a:extLst>
              <a:ext uri="{FF2B5EF4-FFF2-40B4-BE49-F238E27FC236}">
                <a16:creationId xmlns:a16="http://schemas.microsoft.com/office/drawing/2014/main" id="{7F02F5FA-E1B2-B79A-361D-3367198A83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4156" y="1999311"/>
            <a:ext cx="754301" cy="754301"/>
          </a:xfrm>
          <a:prstGeom prst="rect">
            <a:avLst/>
          </a:prstGeom>
        </p:spPr>
      </p:pic>
      <p:pic>
        <p:nvPicPr>
          <p:cNvPr id="24" name="Graphic 23" descr="Transfer1 with solid fill">
            <a:extLst>
              <a:ext uri="{FF2B5EF4-FFF2-40B4-BE49-F238E27FC236}">
                <a16:creationId xmlns:a16="http://schemas.microsoft.com/office/drawing/2014/main" id="{9021EF3D-CFCF-1278-1129-10A8F46C09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21115" y="3791595"/>
            <a:ext cx="806643" cy="806643"/>
          </a:xfrm>
          <a:prstGeom prst="rect">
            <a:avLst/>
          </a:prstGeom>
        </p:spPr>
      </p:pic>
      <p:sp>
        <p:nvSpPr>
          <p:cNvPr id="26" name="TextBox 25">
            <a:extLst>
              <a:ext uri="{FF2B5EF4-FFF2-40B4-BE49-F238E27FC236}">
                <a16:creationId xmlns:a16="http://schemas.microsoft.com/office/drawing/2014/main" id="{7E0E7864-0F8D-379E-8F6F-E22B3E46BE7C}"/>
              </a:ext>
            </a:extLst>
          </p:cNvPr>
          <p:cNvSpPr txBox="1"/>
          <p:nvPr/>
        </p:nvSpPr>
        <p:spPr>
          <a:xfrm>
            <a:off x="335190" y="777974"/>
            <a:ext cx="11798071" cy="867930"/>
          </a:xfrm>
          <a:prstGeom prst="rect">
            <a:avLst/>
          </a:prstGeom>
          <a:noFill/>
        </p:spPr>
        <p:txBody>
          <a:bodyPr wrap="square">
            <a:spAutoFit/>
          </a:bodyPr>
          <a:lstStyle/>
          <a:p>
            <a:pPr marL="0" marR="0" lvl="0" indent="0" defTabSz="685800" rtl="0" eaLnBrk="1" fontAlgn="auto" latinLnBrk="0" hangingPunct="1">
              <a:lnSpc>
                <a:spcPct val="90000"/>
              </a:lnSpc>
              <a:spcBef>
                <a:spcPts val="0"/>
              </a:spcBef>
              <a:spcAft>
                <a:spcPts val="0"/>
              </a:spcAft>
              <a:buClrTx/>
              <a:buSzTx/>
              <a:buFontTx/>
              <a:buNone/>
              <a:tabLst/>
              <a:defRPr/>
            </a:pPr>
            <a:r>
              <a:rPr lang="en-US" sz="2000" b="1" dirty="0">
                <a:solidFill>
                  <a:srgbClr val="1AC604"/>
                </a:solidFill>
              </a:rPr>
              <a:t>Vision</a:t>
            </a:r>
            <a:r>
              <a:rPr lang="en-US" sz="1800" dirty="0"/>
              <a:t>: </a:t>
            </a:r>
            <a:r>
              <a:rPr lang="en-US" sz="1800" i="1" dirty="0"/>
              <a:t>Transform the Digital Sales organization to provide a world class customer success ethos that has the right strategy, infrastructure, processes &amp; go to market approach that supports the overall company vision and drives revenue, retention, and rock-solid customer relationship opportunities.</a:t>
            </a:r>
            <a:endParaRPr kumimoji="0" lang="en-US" sz="1200" i="1" u="none" strike="noStrike" kern="1200" cap="none" spc="0" normalizeH="0" baseline="0" noProof="0" dirty="0">
              <a:ln>
                <a:noFill/>
              </a:ln>
              <a:solidFill>
                <a:srgbClr val="FFFFFF"/>
              </a:solidFill>
              <a:effectLst/>
              <a:uLnTx/>
              <a:uFillTx/>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7093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79FCDD-DAA8-DE34-10BA-D44330DDB9A0}"/>
              </a:ext>
            </a:extLst>
          </p:cNvPr>
          <p:cNvSpPr>
            <a:spLocks noGrp="1"/>
          </p:cNvSpPr>
          <p:nvPr>
            <p:ph type="title" idx="4294967295"/>
          </p:nvPr>
        </p:nvSpPr>
        <p:spPr>
          <a:xfrm>
            <a:off x="224434" y="166706"/>
            <a:ext cx="10058400" cy="785813"/>
          </a:xfrm>
        </p:spPr>
        <p:txBody>
          <a:bodyPr/>
          <a:lstStyle/>
          <a:p>
            <a:r>
              <a:rPr lang="en-US" sz="4800" dirty="0">
                <a:solidFill>
                  <a:srgbClr val="C00000"/>
                </a:solidFill>
              </a:rPr>
              <a:t>Client Experience Programs Overview</a:t>
            </a:r>
            <a:endParaRPr lang="en-US" dirty="0"/>
          </a:p>
        </p:txBody>
      </p:sp>
      <p:sp>
        <p:nvSpPr>
          <p:cNvPr id="5" name="TextBox 4">
            <a:extLst>
              <a:ext uri="{FF2B5EF4-FFF2-40B4-BE49-F238E27FC236}">
                <a16:creationId xmlns:a16="http://schemas.microsoft.com/office/drawing/2014/main" id="{7B24365D-691C-E491-B437-7F3F214CB812}"/>
              </a:ext>
            </a:extLst>
          </p:cNvPr>
          <p:cNvSpPr txBox="1"/>
          <p:nvPr/>
        </p:nvSpPr>
        <p:spPr>
          <a:xfrm>
            <a:off x="1206580" y="2483885"/>
            <a:ext cx="4799555" cy="2277547"/>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Voice of Customer (</a:t>
            </a:r>
            <a:r>
              <a:rPr kumimoji="0" lang="en-US" altLang="ko-KR" sz="1600" b="1" i="0" u="none" strike="noStrike" kern="1200" cap="none" spc="0" normalizeH="0" baseline="0" noProof="0" dirty="0" err="1">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VoC</a:t>
            </a: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 Journey Research </a:t>
            </a:r>
          </a:p>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Developing and executing market research across the client journey &amp; supporting the full spectrum, from client- specific requests to business unit transactional surveys</a:t>
            </a:r>
          </a:p>
          <a:p>
            <a:pPr marL="171450" marR="0" lvl="0" indent="-1714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1"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Client: </a:t>
            </a: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(e.g., contractual obligations and end-user satisfaction studies)</a:t>
            </a:r>
          </a:p>
          <a:p>
            <a:pPr marL="171450" marR="0" lvl="0" indent="-1714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1"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Services: </a:t>
            </a: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(e.g., support services/ call center and implementation key touchpoints)</a:t>
            </a:r>
          </a:p>
          <a:p>
            <a:pPr marL="171450" marR="0" lvl="0" indent="-17145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400" b="1"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Product: </a:t>
            </a: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(e.g., pre and post feature analysis)</a:t>
            </a:r>
          </a:p>
        </p:txBody>
      </p:sp>
      <p:sp>
        <p:nvSpPr>
          <p:cNvPr id="6" name="TextBox 5">
            <a:extLst>
              <a:ext uri="{FF2B5EF4-FFF2-40B4-BE49-F238E27FC236}">
                <a16:creationId xmlns:a16="http://schemas.microsoft.com/office/drawing/2014/main" id="{B1D89C8A-05D1-5E8C-1C3C-B7B5D142D6B5}"/>
              </a:ext>
            </a:extLst>
          </p:cNvPr>
          <p:cNvSpPr txBox="1"/>
          <p:nvPr/>
        </p:nvSpPr>
        <p:spPr>
          <a:xfrm>
            <a:off x="7300800" y="2449488"/>
            <a:ext cx="4550185" cy="98488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Closing the Loop</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Ensuring both the business units and the overarching organization are communicating problem resolution efforts back to clients</a:t>
            </a:r>
          </a:p>
        </p:txBody>
      </p:sp>
      <p:sp>
        <p:nvSpPr>
          <p:cNvPr id="7" name="TextBox 6">
            <a:extLst>
              <a:ext uri="{FF2B5EF4-FFF2-40B4-BE49-F238E27FC236}">
                <a16:creationId xmlns:a16="http://schemas.microsoft.com/office/drawing/2014/main" id="{8FCE202B-5555-3949-0661-657D9D5687A4}"/>
              </a:ext>
            </a:extLst>
          </p:cNvPr>
          <p:cNvSpPr txBox="1"/>
          <p:nvPr/>
        </p:nvSpPr>
        <p:spPr>
          <a:xfrm>
            <a:off x="7300800" y="3879648"/>
            <a:ext cx="3910125" cy="1231106"/>
          </a:xfrm>
          <a:prstGeom prst="rect">
            <a:avLst/>
          </a:prstGeom>
          <a:noFill/>
        </p:spPr>
        <p:txBody>
          <a:bodyPr wrap="square" rtlCol="0">
            <a:spAutoFit/>
          </a:bodyPr>
          <a:lstStyle/>
          <a:p>
            <a:pPr fontAlgn="base">
              <a:spcBef>
                <a:spcPct val="0"/>
              </a:spcBef>
              <a:spcAft>
                <a:spcPct val="0"/>
              </a:spcAf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Enterprise Feedback Management platform </a:t>
            </a:r>
            <a:r>
              <a:rPr kumimoji="0" lang="en-US" altLang="ko-KR" sz="1600"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 </a:t>
            </a: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Tool used to standardize and centralize activities associated with client experience measurement</a:t>
            </a:r>
          </a:p>
        </p:txBody>
      </p:sp>
      <p:sp>
        <p:nvSpPr>
          <p:cNvPr id="8" name="TextBox 7">
            <a:extLst>
              <a:ext uri="{FF2B5EF4-FFF2-40B4-BE49-F238E27FC236}">
                <a16:creationId xmlns:a16="http://schemas.microsoft.com/office/drawing/2014/main" id="{9750D7F3-9903-9A28-C308-2066F0CABD96}"/>
              </a:ext>
            </a:extLst>
          </p:cNvPr>
          <p:cNvSpPr txBox="1"/>
          <p:nvPr/>
        </p:nvSpPr>
        <p:spPr>
          <a:xfrm>
            <a:off x="1196163" y="1289343"/>
            <a:ext cx="4524466" cy="769441"/>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Net Promotor Score (NPS) Pulse Surveys</a:t>
            </a:r>
          </a:p>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Providing quarterly corporate metric, comment analysis &amp; theme identification</a:t>
            </a:r>
          </a:p>
        </p:txBody>
      </p:sp>
      <p:sp>
        <p:nvSpPr>
          <p:cNvPr id="9" name="TextBox 8">
            <a:extLst>
              <a:ext uri="{FF2B5EF4-FFF2-40B4-BE49-F238E27FC236}">
                <a16:creationId xmlns:a16="http://schemas.microsoft.com/office/drawing/2014/main" id="{62A878F7-3D11-D279-3338-87255C149A34}"/>
              </a:ext>
            </a:extLst>
          </p:cNvPr>
          <p:cNvSpPr txBox="1"/>
          <p:nvPr/>
        </p:nvSpPr>
        <p:spPr>
          <a:xfrm>
            <a:off x="7339470" y="1208561"/>
            <a:ext cx="4194645" cy="984885"/>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CX Governance/Action Planning</a:t>
            </a:r>
            <a:r>
              <a:rPr kumimoji="0" lang="en-US" altLang="ko-KR" sz="1600"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 </a:t>
            </a:r>
            <a:endPar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Leading meetings to review client feedback and satisfaction metrics, address pain points, and craft plans to mitigate reoccurrence</a:t>
            </a:r>
          </a:p>
        </p:txBody>
      </p:sp>
      <p:sp>
        <p:nvSpPr>
          <p:cNvPr id="10" name="TextBox 9">
            <a:extLst>
              <a:ext uri="{FF2B5EF4-FFF2-40B4-BE49-F238E27FC236}">
                <a16:creationId xmlns:a16="http://schemas.microsoft.com/office/drawing/2014/main" id="{2E281FF4-FDBE-9365-E70F-2CFBC962A29A}"/>
              </a:ext>
            </a:extLst>
          </p:cNvPr>
          <p:cNvSpPr txBox="1"/>
          <p:nvPr/>
        </p:nvSpPr>
        <p:spPr>
          <a:xfrm>
            <a:off x="1242591" y="4944508"/>
            <a:ext cx="4853409" cy="984885"/>
          </a:xfrm>
          <a:prstGeom prst="rect">
            <a:avLst/>
          </a:prstGeom>
          <a:noFill/>
        </p:spPr>
        <p:txBody>
          <a:bodyPr wrap="square" rtlCol="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600" b="1"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rPr>
              <a:t>CX Analytics</a:t>
            </a:r>
            <a:endParaRPr kumimoji="0" lang="en-US" altLang="ko-KR" sz="1600" i="0" u="none" strike="noStrike" kern="1200" cap="none" spc="0" normalizeH="0" baseline="0" noProof="0" dirty="0">
              <a:ln>
                <a:noFill/>
              </a:ln>
              <a:solidFill>
                <a:schemeClr val="accent3">
                  <a:lumMod val="75000"/>
                </a:schemeClr>
              </a:solidFill>
              <a:effectLst/>
              <a:uLnTx/>
              <a:uFillTx/>
              <a:latin typeface="Montserrat" panose="00000500000000000000" pitchFamily="2" charset="0"/>
              <a:ea typeface="ＭＳ Ｐゴシック" pitchFamily="34" charset="-128"/>
              <a:cs typeface="Arial" pitchFamily="34" charset="0"/>
            </a:endParaRPr>
          </a:p>
          <a:p>
            <a:pPr marL="0" marR="0" lvl="0" indent="0"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dirty="0">
                <a:ln>
                  <a:noFill/>
                </a:ln>
                <a:solidFill>
                  <a:srgbClr val="5B6770"/>
                </a:solidFill>
                <a:effectLst/>
                <a:uLnTx/>
                <a:uFillTx/>
                <a:latin typeface="Montserrat" panose="00000500000000000000" pitchFamily="2" charset="0"/>
                <a:ea typeface="ＭＳ Ｐゴシック" pitchFamily="34" charset="-128"/>
                <a:cs typeface="Arial" pitchFamily="34" charset="0"/>
              </a:rPr>
              <a:t>Providing first-class analytics, data science and insights to help the business make better, faster and relevant CX data-driven decisions </a:t>
            </a:r>
          </a:p>
        </p:txBody>
      </p:sp>
      <p:grpSp>
        <p:nvGrpSpPr>
          <p:cNvPr id="54" name="Group 53">
            <a:extLst>
              <a:ext uri="{FF2B5EF4-FFF2-40B4-BE49-F238E27FC236}">
                <a16:creationId xmlns:a16="http://schemas.microsoft.com/office/drawing/2014/main" id="{6500841A-9FA0-755C-DD26-E5E49B18816E}"/>
              </a:ext>
            </a:extLst>
          </p:cNvPr>
          <p:cNvGrpSpPr/>
          <p:nvPr/>
        </p:nvGrpSpPr>
        <p:grpSpPr>
          <a:xfrm>
            <a:off x="6337525" y="2520286"/>
            <a:ext cx="914162" cy="914162"/>
            <a:chOff x="-1748875" y="-1838506"/>
            <a:chExt cx="914400" cy="914400"/>
          </a:xfrm>
        </p:grpSpPr>
        <p:sp>
          <p:nvSpPr>
            <p:cNvPr id="55" name="Oval 54">
              <a:extLst>
                <a:ext uri="{FF2B5EF4-FFF2-40B4-BE49-F238E27FC236}">
                  <a16:creationId xmlns:a16="http://schemas.microsoft.com/office/drawing/2014/main" id="{62BDBCE5-D846-9747-0E3B-93D2F06D8C7A}"/>
                </a:ext>
              </a:extLst>
            </p:cNvPr>
            <p:cNvSpPr/>
            <p:nvPr/>
          </p:nvSpPr>
          <p:spPr>
            <a:xfrm>
              <a:off x="-1748875" y="-1838506"/>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6" name="Picture 55" descr="Icon&#10;&#10;Description automatically generated">
              <a:extLst>
                <a:ext uri="{FF2B5EF4-FFF2-40B4-BE49-F238E27FC236}">
                  <a16:creationId xmlns:a16="http://schemas.microsoft.com/office/drawing/2014/main" id="{DBE42BA1-E9AC-AA14-3931-80CAA11AA3D6}"/>
                </a:ext>
              </a:extLst>
            </p:cNvPr>
            <p:cNvPicPr>
              <a:picLocks noChangeAspect="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1638668" y="-1570466"/>
              <a:ext cx="693986" cy="474572"/>
            </a:xfrm>
            <a:prstGeom prst="rect">
              <a:avLst/>
            </a:prstGeom>
            <a:ln>
              <a:noFill/>
            </a:ln>
          </p:spPr>
        </p:pic>
      </p:grpSp>
      <p:grpSp>
        <p:nvGrpSpPr>
          <p:cNvPr id="84" name="Group 83">
            <a:extLst>
              <a:ext uri="{FF2B5EF4-FFF2-40B4-BE49-F238E27FC236}">
                <a16:creationId xmlns:a16="http://schemas.microsoft.com/office/drawing/2014/main" id="{A3DB92DC-DD48-A51E-A6C3-A9F913126117}"/>
              </a:ext>
            </a:extLst>
          </p:cNvPr>
          <p:cNvGrpSpPr/>
          <p:nvPr/>
        </p:nvGrpSpPr>
        <p:grpSpPr>
          <a:xfrm>
            <a:off x="224434" y="4972614"/>
            <a:ext cx="914162" cy="914162"/>
            <a:chOff x="-1822522" y="772421"/>
            <a:chExt cx="914400" cy="914400"/>
          </a:xfrm>
        </p:grpSpPr>
        <p:sp>
          <p:nvSpPr>
            <p:cNvPr id="85" name="Oval 84">
              <a:extLst>
                <a:ext uri="{FF2B5EF4-FFF2-40B4-BE49-F238E27FC236}">
                  <a16:creationId xmlns:a16="http://schemas.microsoft.com/office/drawing/2014/main" id="{400D9967-F362-EC1A-1A68-C56D72C36596}"/>
                </a:ext>
              </a:extLst>
            </p:cNvPr>
            <p:cNvSpPr/>
            <p:nvPr/>
          </p:nvSpPr>
          <p:spPr>
            <a:xfrm>
              <a:off x="-1822522" y="772421"/>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6" name="Picture 85" descr="Icon&#10;&#10;Description automatically generated">
              <a:extLst>
                <a:ext uri="{FF2B5EF4-FFF2-40B4-BE49-F238E27FC236}">
                  <a16:creationId xmlns:a16="http://schemas.microsoft.com/office/drawing/2014/main" id="{EE44B53D-34E3-29B8-9010-62191ABB2BFC}"/>
                </a:ext>
              </a:extLst>
            </p:cNvPr>
            <p:cNvPicPr>
              <a:picLocks noChangeAspect="1"/>
            </p:cNvPicPr>
            <p:nvPr/>
          </p:nvPicPr>
          <p:blipFill>
            <a:blip r:embed="rId3">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1586889" y="882149"/>
              <a:ext cx="443135" cy="694944"/>
            </a:xfrm>
            <a:prstGeom prst="rect">
              <a:avLst/>
            </a:prstGeom>
            <a:ln>
              <a:noFill/>
            </a:ln>
          </p:spPr>
        </p:pic>
      </p:grpSp>
      <p:grpSp>
        <p:nvGrpSpPr>
          <p:cNvPr id="87" name="Group 86">
            <a:extLst>
              <a:ext uri="{FF2B5EF4-FFF2-40B4-BE49-F238E27FC236}">
                <a16:creationId xmlns:a16="http://schemas.microsoft.com/office/drawing/2014/main" id="{D80A493A-6BC6-4089-0CBC-8469C0C09FF3}"/>
              </a:ext>
            </a:extLst>
          </p:cNvPr>
          <p:cNvGrpSpPr/>
          <p:nvPr/>
        </p:nvGrpSpPr>
        <p:grpSpPr>
          <a:xfrm>
            <a:off x="230133" y="2522386"/>
            <a:ext cx="914162" cy="914162"/>
            <a:chOff x="815928" y="3149495"/>
            <a:chExt cx="914400" cy="914400"/>
          </a:xfrm>
        </p:grpSpPr>
        <p:sp>
          <p:nvSpPr>
            <p:cNvPr id="88" name="Oval 87">
              <a:extLst>
                <a:ext uri="{FF2B5EF4-FFF2-40B4-BE49-F238E27FC236}">
                  <a16:creationId xmlns:a16="http://schemas.microsoft.com/office/drawing/2014/main" id="{C6166F16-5B8E-B11B-ED6A-869C4C68FE44}"/>
                </a:ext>
              </a:extLst>
            </p:cNvPr>
            <p:cNvSpPr/>
            <p:nvPr/>
          </p:nvSpPr>
          <p:spPr>
            <a:xfrm>
              <a:off x="815928" y="3149495"/>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9" name="Picture 88" descr="A picture containing text, dishware, tableware, plate&#10;&#10;Description automatically generated">
              <a:extLst>
                <a:ext uri="{FF2B5EF4-FFF2-40B4-BE49-F238E27FC236}">
                  <a16:creationId xmlns:a16="http://schemas.microsoft.com/office/drawing/2014/main" id="{90E31776-E9DA-81B4-645A-2D5914ADBFAD}"/>
                </a:ext>
              </a:extLst>
            </p:cNvPr>
            <p:cNvPicPr>
              <a:picLocks noChangeAspect="1"/>
            </p:cNvPicPr>
            <p:nvPr/>
          </p:nvPicPr>
          <p:blipFill>
            <a:blip r:embed="rId4">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925827" y="3374955"/>
              <a:ext cx="694602" cy="463480"/>
            </a:xfrm>
            <a:prstGeom prst="rect">
              <a:avLst/>
            </a:prstGeom>
            <a:ln>
              <a:noFill/>
            </a:ln>
          </p:spPr>
        </p:pic>
      </p:grpSp>
      <p:grpSp>
        <p:nvGrpSpPr>
          <p:cNvPr id="90" name="Group 89">
            <a:extLst>
              <a:ext uri="{FF2B5EF4-FFF2-40B4-BE49-F238E27FC236}">
                <a16:creationId xmlns:a16="http://schemas.microsoft.com/office/drawing/2014/main" id="{F916C989-806C-76E8-E93A-FEAC2BA98187}"/>
              </a:ext>
            </a:extLst>
          </p:cNvPr>
          <p:cNvGrpSpPr/>
          <p:nvPr/>
        </p:nvGrpSpPr>
        <p:grpSpPr>
          <a:xfrm>
            <a:off x="6337524" y="3916592"/>
            <a:ext cx="914162" cy="914162"/>
            <a:chOff x="-1748875" y="-1838506"/>
            <a:chExt cx="914400" cy="914400"/>
          </a:xfrm>
        </p:grpSpPr>
        <p:sp>
          <p:nvSpPr>
            <p:cNvPr id="91" name="Oval 90">
              <a:extLst>
                <a:ext uri="{FF2B5EF4-FFF2-40B4-BE49-F238E27FC236}">
                  <a16:creationId xmlns:a16="http://schemas.microsoft.com/office/drawing/2014/main" id="{437B9725-19E8-1874-CA01-0B65C90DCCF4}"/>
                </a:ext>
              </a:extLst>
            </p:cNvPr>
            <p:cNvSpPr/>
            <p:nvPr/>
          </p:nvSpPr>
          <p:spPr>
            <a:xfrm>
              <a:off x="-1748875" y="-1838506"/>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92" name="Picture 91" descr="Icon&#10;&#10;Description automatically generated">
              <a:extLst>
                <a:ext uri="{FF2B5EF4-FFF2-40B4-BE49-F238E27FC236}">
                  <a16:creationId xmlns:a16="http://schemas.microsoft.com/office/drawing/2014/main" id="{6C3537CB-032E-FD3D-75A0-351C4A3ED09A}"/>
                </a:ext>
              </a:extLst>
            </p:cNvPr>
            <p:cNvPicPr>
              <a:picLocks noChangeAspect="1"/>
            </p:cNvPicPr>
            <p:nvPr/>
          </p:nvPicPr>
          <p:blipFill>
            <a:blip r:embed="rId5">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1599223" y="-1728299"/>
              <a:ext cx="615096" cy="693986"/>
            </a:xfrm>
            <a:prstGeom prst="rect">
              <a:avLst/>
            </a:prstGeom>
            <a:ln>
              <a:noFill/>
            </a:ln>
          </p:spPr>
        </p:pic>
      </p:grpSp>
      <p:grpSp>
        <p:nvGrpSpPr>
          <p:cNvPr id="93" name="Group 92">
            <a:extLst>
              <a:ext uri="{FF2B5EF4-FFF2-40B4-BE49-F238E27FC236}">
                <a16:creationId xmlns:a16="http://schemas.microsoft.com/office/drawing/2014/main" id="{9C225B5D-DF3B-2C98-376D-57927455DE18}"/>
              </a:ext>
            </a:extLst>
          </p:cNvPr>
          <p:cNvGrpSpPr/>
          <p:nvPr/>
        </p:nvGrpSpPr>
        <p:grpSpPr>
          <a:xfrm>
            <a:off x="6337524" y="1244172"/>
            <a:ext cx="914162" cy="914162"/>
            <a:chOff x="6414971" y="4528344"/>
            <a:chExt cx="914400" cy="914400"/>
          </a:xfrm>
        </p:grpSpPr>
        <p:sp>
          <p:nvSpPr>
            <p:cNvPr id="94" name="Oval 93">
              <a:extLst>
                <a:ext uri="{FF2B5EF4-FFF2-40B4-BE49-F238E27FC236}">
                  <a16:creationId xmlns:a16="http://schemas.microsoft.com/office/drawing/2014/main" id="{05AF6003-3FEE-FF0C-094B-B07B3546C117}"/>
                </a:ext>
              </a:extLst>
            </p:cNvPr>
            <p:cNvSpPr/>
            <p:nvPr/>
          </p:nvSpPr>
          <p:spPr>
            <a:xfrm>
              <a:off x="6414971" y="4528344"/>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95" name="Picture 94" descr="Icon&#10;&#10;Description automatically generated">
              <a:extLst>
                <a:ext uri="{FF2B5EF4-FFF2-40B4-BE49-F238E27FC236}">
                  <a16:creationId xmlns:a16="http://schemas.microsoft.com/office/drawing/2014/main" id="{3CD51EB8-DB6E-6E57-6733-16ACEC61F4D8}"/>
                </a:ext>
              </a:extLst>
            </p:cNvPr>
            <p:cNvPicPr>
              <a:picLocks noChangeAspect="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6566165" y="4652058"/>
              <a:ext cx="627201" cy="667512"/>
            </a:xfrm>
            <a:prstGeom prst="rect">
              <a:avLst/>
            </a:prstGeom>
            <a:ln>
              <a:noFill/>
            </a:ln>
          </p:spPr>
        </p:pic>
      </p:grpSp>
      <p:grpSp>
        <p:nvGrpSpPr>
          <p:cNvPr id="96" name="Group 95">
            <a:extLst>
              <a:ext uri="{FF2B5EF4-FFF2-40B4-BE49-F238E27FC236}">
                <a16:creationId xmlns:a16="http://schemas.microsoft.com/office/drawing/2014/main" id="{99B93C75-F545-4BA4-071D-9AF932BA2F36}"/>
              </a:ext>
            </a:extLst>
          </p:cNvPr>
          <p:cNvGrpSpPr/>
          <p:nvPr/>
        </p:nvGrpSpPr>
        <p:grpSpPr>
          <a:xfrm>
            <a:off x="238109" y="1216982"/>
            <a:ext cx="914162" cy="914162"/>
            <a:chOff x="6414972" y="1800714"/>
            <a:chExt cx="914400" cy="914400"/>
          </a:xfrm>
        </p:grpSpPr>
        <p:sp>
          <p:nvSpPr>
            <p:cNvPr id="97" name="Oval 96">
              <a:extLst>
                <a:ext uri="{FF2B5EF4-FFF2-40B4-BE49-F238E27FC236}">
                  <a16:creationId xmlns:a16="http://schemas.microsoft.com/office/drawing/2014/main" id="{AAD0EE5B-ADAE-4A7B-CB9B-D4DC32B0CF1A}"/>
                </a:ext>
              </a:extLst>
            </p:cNvPr>
            <p:cNvSpPr/>
            <p:nvPr/>
          </p:nvSpPr>
          <p:spPr>
            <a:xfrm>
              <a:off x="6414972" y="1800714"/>
              <a:ext cx="914400" cy="914400"/>
            </a:xfrm>
            <a:prstGeom prst="ellipse">
              <a:avLst/>
            </a:prstGeom>
            <a:solidFill>
              <a:schemeClr val="bg1"/>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98" name="Picture 97" descr="Icon&#10;&#10;Description automatically generated">
              <a:extLst>
                <a:ext uri="{FF2B5EF4-FFF2-40B4-BE49-F238E27FC236}">
                  <a16:creationId xmlns:a16="http://schemas.microsoft.com/office/drawing/2014/main" id="{0095F2C1-9521-7476-09D8-1BB1FF53651D}"/>
                </a:ext>
              </a:extLst>
            </p:cNvPr>
            <p:cNvPicPr>
              <a:picLocks noChangeAspect="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6526102" y="1977373"/>
              <a:ext cx="692138" cy="519564"/>
            </a:xfrm>
            <a:prstGeom prst="rect">
              <a:avLst/>
            </a:prstGeom>
            <a:ln>
              <a:noFill/>
            </a:ln>
          </p:spPr>
        </p:pic>
      </p:grpSp>
      <p:grpSp>
        <p:nvGrpSpPr>
          <p:cNvPr id="2" name="Group 1">
            <a:extLst>
              <a:ext uri="{FF2B5EF4-FFF2-40B4-BE49-F238E27FC236}">
                <a16:creationId xmlns:a16="http://schemas.microsoft.com/office/drawing/2014/main" id="{25E36D6C-C4E8-8873-B2DC-9293B159EEEE}"/>
              </a:ext>
            </a:extLst>
          </p:cNvPr>
          <p:cNvGrpSpPr/>
          <p:nvPr/>
        </p:nvGrpSpPr>
        <p:grpSpPr>
          <a:xfrm>
            <a:off x="6384215" y="5201858"/>
            <a:ext cx="1234755" cy="1122728"/>
            <a:chOff x="4998695" y="2634711"/>
            <a:chExt cx="1915807" cy="1893444"/>
          </a:xfrm>
          <a:solidFill>
            <a:schemeClr val="accent1">
              <a:lumMod val="75000"/>
            </a:schemeClr>
          </a:solidFill>
        </p:grpSpPr>
        <p:pic>
          <p:nvPicPr>
            <p:cNvPr id="4" name="Picture 3">
              <a:extLst>
                <a:ext uri="{FF2B5EF4-FFF2-40B4-BE49-F238E27FC236}">
                  <a16:creationId xmlns:a16="http://schemas.microsoft.com/office/drawing/2014/main" id="{8790D306-BCAA-7154-88FE-9445173F9452}"/>
                </a:ext>
              </a:extLst>
            </p:cNvPr>
            <p:cNvPicPr>
              <a:picLocks noChangeAspect="1"/>
            </p:cNvPicPr>
            <p:nvPr/>
          </p:nvPicPr>
          <p:blipFill>
            <a:blip r:embed="rId8"/>
            <a:stretch>
              <a:fillRect/>
            </a:stretch>
          </p:blipFill>
          <p:spPr>
            <a:xfrm>
              <a:off x="4998695" y="2634711"/>
              <a:ext cx="1915807" cy="1893444"/>
            </a:xfrm>
            <a:prstGeom prst="rect">
              <a:avLst/>
            </a:prstGeom>
            <a:grpFill/>
          </p:spPr>
        </p:pic>
        <p:sp>
          <p:nvSpPr>
            <p:cNvPr id="11" name="Oval 10">
              <a:extLst>
                <a:ext uri="{FF2B5EF4-FFF2-40B4-BE49-F238E27FC236}">
                  <a16:creationId xmlns:a16="http://schemas.microsoft.com/office/drawing/2014/main" id="{CC14FB6C-45F2-1C02-21FA-6230714FB1AA}"/>
                </a:ext>
              </a:extLst>
            </p:cNvPr>
            <p:cNvSpPr/>
            <p:nvPr/>
          </p:nvSpPr>
          <p:spPr>
            <a:xfrm>
              <a:off x="5474813" y="3081491"/>
              <a:ext cx="987806" cy="9568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12" name="Graphic 11" descr="Heart with pulse with solid fill">
              <a:extLst>
                <a:ext uri="{FF2B5EF4-FFF2-40B4-BE49-F238E27FC236}">
                  <a16:creationId xmlns:a16="http://schemas.microsoft.com/office/drawing/2014/main" id="{08DC58BF-B44F-0459-E447-E7F145EA63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82052" y="3184139"/>
              <a:ext cx="773328" cy="773328"/>
            </a:xfrm>
            <a:prstGeom prst="rect">
              <a:avLst/>
            </a:prstGeom>
          </p:spPr>
        </p:pic>
      </p:grpSp>
      <p:sp>
        <p:nvSpPr>
          <p:cNvPr id="13" name="TextBox 12">
            <a:extLst>
              <a:ext uri="{FF2B5EF4-FFF2-40B4-BE49-F238E27FC236}">
                <a16:creationId xmlns:a16="http://schemas.microsoft.com/office/drawing/2014/main" id="{F84D1852-6465-2E95-AC43-A7459F8FC69E}"/>
              </a:ext>
            </a:extLst>
          </p:cNvPr>
          <p:cNvSpPr txBox="1"/>
          <p:nvPr/>
        </p:nvSpPr>
        <p:spPr>
          <a:xfrm>
            <a:off x="7634589" y="5466779"/>
            <a:ext cx="3799605" cy="584775"/>
          </a:xfrm>
          <a:prstGeom prst="rect">
            <a:avLst/>
          </a:prstGeom>
          <a:noFill/>
        </p:spPr>
        <p:txBody>
          <a:bodyPr wrap="square">
            <a:spAutoFit/>
          </a:bodyPr>
          <a:lstStyle/>
          <a:p>
            <a:r>
              <a:rPr lang="en-US" altLang="ko-KR" sz="1600" b="1" dirty="0">
                <a:solidFill>
                  <a:schemeClr val="accent3">
                    <a:lumMod val="75000"/>
                  </a:schemeClr>
                </a:solidFill>
                <a:latin typeface="Montserrat" panose="00000500000000000000" pitchFamily="2" charset="0"/>
                <a:ea typeface="ＭＳ Ｐゴシック" pitchFamily="34" charset="-128"/>
                <a:cs typeface="Arial" pitchFamily="34" charset="0"/>
              </a:rPr>
              <a:t>Unified 4 pillar program for success </a:t>
            </a:r>
            <a:endParaRPr lang="en-US" sz="1600" b="1" dirty="0">
              <a:solidFill>
                <a:schemeClr val="accent3">
                  <a:lumMod val="75000"/>
                </a:schemeClr>
              </a:solidFill>
              <a:latin typeface="Montserrat" panose="00000500000000000000" pitchFamily="2" charset="0"/>
              <a:ea typeface="ＭＳ Ｐゴシック" pitchFamily="34" charset="-128"/>
              <a:cs typeface="Arial" pitchFamily="34" charset="0"/>
            </a:endParaRPr>
          </a:p>
        </p:txBody>
      </p:sp>
    </p:spTree>
    <p:extLst>
      <p:ext uri="{BB962C8B-B14F-4D97-AF65-F5344CB8AC3E}">
        <p14:creationId xmlns:p14="http://schemas.microsoft.com/office/powerpoint/2010/main" val="90937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2">
            <a:extLst>
              <a:ext uri="{FF2B5EF4-FFF2-40B4-BE49-F238E27FC236}">
                <a16:creationId xmlns:a16="http://schemas.microsoft.com/office/drawing/2014/main" id="{9414C2A0-6C8B-4EC3-81C3-6EC089FBDB51}"/>
              </a:ext>
            </a:extLst>
          </p:cNvPr>
          <p:cNvSpPr txBox="1">
            <a:spLocks/>
          </p:cNvSpPr>
          <p:nvPr/>
        </p:nvSpPr>
        <p:spPr>
          <a:xfrm>
            <a:off x="4934195" y="3520871"/>
            <a:ext cx="1275403" cy="369278"/>
          </a:xfrm>
          <a:prstGeom prst="rect">
            <a:avLst/>
          </a:prstGeom>
          <a:solidFill>
            <a:schemeClr val="bg1"/>
          </a:solidFill>
        </p:spPr>
        <p:txBody>
          <a:bodyPr vert="horz" lIns="0" tIns="0" rIns="0" bIns="0" rtlCol="0">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b="0" i="0" kern="1200">
                <a:solidFill>
                  <a:schemeClr val="tx1"/>
                </a:solidFill>
                <a:latin typeface="Montserrat" pitchFamily="2" charset="77"/>
                <a:ea typeface="+mn-ea"/>
                <a:cs typeface="+mn-cs"/>
              </a:defRPr>
            </a:lvl1pPr>
            <a:lvl2pPr marL="463550" indent="-237744" algn="l" defTabSz="914400" rtl="0" eaLnBrk="1" latinLnBrk="0" hangingPunct="1">
              <a:lnSpc>
                <a:spcPct val="100000"/>
              </a:lnSpc>
              <a:spcBef>
                <a:spcPts val="0"/>
              </a:spcBef>
              <a:buClr>
                <a:schemeClr val="tx1"/>
              </a:buClr>
              <a:buSzPct val="110000"/>
              <a:buFont typeface="Arial" panose="020B0604020202020204" pitchFamily="34" charset="0"/>
              <a:buChar char="•"/>
              <a:tabLst/>
              <a:defRPr sz="2000" b="0" i="0" kern="1200">
                <a:solidFill>
                  <a:schemeClr val="tx1"/>
                </a:solidFill>
                <a:latin typeface="Montserrat" pitchFamily="2" charset="77"/>
                <a:ea typeface="+mn-ea"/>
                <a:cs typeface="+mn-cs"/>
              </a:defRPr>
            </a:lvl2pPr>
            <a:lvl3pPr marL="750888" indent="-237744" algn="l" defTabSz="914400" rtl="0" eaLnBrk="1" latinLnBrk="0" hangingPunct="1">
              <a:lnSpc>
                <a:spcPct val="100000"/>
              </a:lnSpc>
              <a:spcBef>
                <a:spcPts val="0"/>
              </a:spcBef>
              <a:buClr>
                <a:schemeClr val="tx1"/>
              </a:buClr>
              <a:buSzPct val="110000"/>
              <a:buFont typeface="Arial" panose="020B0604020202020204" pitchFamily="34" charset="0"/>
              <a:buChar char="•"/>
              <a:tabLst/>
              <a:defRPr sz="1800" b="0" i="0" kern="1200">
                <a:solidFill>
                  <a:schemeClr val="tx1"/>
                </a:solidFill>
                <a:latin typeface="Montserrat" pitchFamily="2" charset="77"/>
                <a:ea typeface="+mn-ea"/>
                <a:cs typeface="+mn-cs"/>
              </a:defRPr>
            </a:lvl3pPr>
            <a:lvl4pPr marL="1031875" indent="-237744" algn="l" defTabSz="914400" rtl="0" eaLnBrk="1" latinLnBrk="0" hangingPunct="1">
              <a:lnSpc>
                <a:spcPct val="100000"/>
              </a:lnSpc>
              <a:spcBef>
                <a:spcPts val="0"/>
              </a:spcBef>
              <a:buClr>
                <a:schemeClr val="tx1"/>
              </a:buClr>
              <a:buSzPct val="110000"/>
              <a:buFont typeface="Arial" panose="020B0604020202020204" pitchFamily="34" charset="0"/>
              <a:buChar char="•"/>
              <a:tabLst/>
              <a:defRPr sz="1600" b="0" i="0" kern="1200">
                <a:solidFill>
                  <a:schemeClr val="tx1"/>
                </a:solidFill>
                <a:latin typeface="Montserrat" pitchFamily="2" charset="77"/>
                <a:ea typeface="+mn-ea"/>
                <a:cs typeface="+mn-cs"/>
              </a:defRPr>
            </a:lvl4pPr>
            <a:lvl5pPr marL="1322388" indent="-237744" algn="l" defTabSz="914400" rtl="0" eaLnBrk="1" latinLnBrk="0" hangingPunct="1">
              <a:lnSpc>
                <a:spcPct val="100000"/>
              </a:lnSpc>
              <a:spcBef>
                <a:spcPts val="0"/>
              </a:spcBef>
              <a:buClr>
                <a:schemeClr val="tx1"/>
              </a:buClr>
              <a:buSzPct val="110000"/>
              <a:buFont typeface="Arial" panose="020B0604020202020204" pitchFamily="34" charset="0"/>
              <a:buChar char="•"/>
              <a:tabLst/>
              <a:defRPr sz="1600" b="0" i="0" kern="1200">
                <a:solidFill>
                  <a:schemeClr val="tx1"/>
                </a:solidFill>
                <a:latin typeface="Montserrat" pitchFamily="2" charset="77"/>
                <a:ea typeface="+mn-ea"/>
                <a:cs typeface="+mn-cs"/>
              </a:defRPr>
            </a:lvl5pPr>
            <a:lvl6pPr marL="1666875" indent="-225425" algn="l" defTabSz="914400" rtl="0" eaLnBrk="1" latinLnBrk="0" hangingPunct="1">
              <a:lnSpc>
                <a:spcPct val="90000"/>
              </a:lnSpc>
              <a:spcBef>
                <a:spcPts val="0"/>
              </a:spcBef>
              <a:buFont typeface="Arial" panose="020B0604020202020204" pitchFamily="34" charset="0"/>
              <a:buChar char="•"/>
              <a:tabLst/>
              <a:defRPr sz="1600" b="0" i="0" kern="1200">
                <a:solidFill>
                  <a:schemeClr val="tx1"/>
                </a:solidFill>
                <a:latin typeface="Montserrat" pitchFamily="2" charset="77"/>
                <a:ea typeface="+mn-ea"/>
                <a:cs typeface="+mn-cs"/>
              </a:defRPr>
            </a:lvl6pPr>
            <a:lvl7pPr marL="1944688" indent="-237744" algn="l" defTabSz="914400" rtl="0" eaLnBrk="1" latinLnBrk="0" hangingPunct="1">
              <a:lnSpc>
                <a:spcPct val="100000"/>
              </a:lnSpc>
              <a:spcBef>
                <a:spcPts val="0"/>
              </a:spcBef>
              <a:buFont typeface="Arial" panose="020B0604020202020204" pitchFamily="34" charset="0"/>
              <a:buChar char="•"/>
              <a:tabLst/>
              <a:defRPr sz="1600" b="0" i="0" kern="1200">
                <a:solidFill>
                  <a:schemeClr val="tx1"/>
                </a:solidFill>
                <a:latin typeface="Montserrat" pitchFamily="2" charset="77"/>
                <a:ea typeface="+mn-ea"/>
                <a:cs typeface="+mn-cs"/>
              </a:defRPr>
            </a:lvl7pPr>
            <a:lvl8pPr marL="2235200" indent="-237744" algn="l" defTabSz="914400" rtl="0" eaLnBrk="1" latinLnBrk="0" hangingPunct="1">
              <a:lnSpc>
                <a:spcPct val="100000"/>
              </a:lnSpc>
              <a:spcBef>
                <a:spcPts val="0"/>
              </a:spcBef>
              <a:buFont typeface="Arial" panose="020B0604020202020204" pitchFamily="34" charset="0"/>
              <a:buChar char="•"/>
              <a:tabLst/>
              <a:defRPr sz="1600" b="0" i="0" kern="1200">
                <a:solidFill>
                  <a:schemeClr val="tx1"/>
                </a:solidFill>
                <a:latin typeface="Montserrat" pitchFamily="2" charset="77"/>
                <a:ea typeface="+mn-ea"/>
                <a:cs typeface="+mn-cs"/>
              </a:defRPr>
            </a:lvl8pPr>
            <a:lvl9pPr marL="466725" indent="0" algn="l" defTabSz="914400" rtl="0" eaLnBrk="1" latinLnBrk="0" hangingPunct="1">
              <a:lnSpc>
                <a:spcPct val="90000"/>
              </a:lnSpc>
              <a:spcBef>
                <a:spcPts val="500"/>
              </a:spcBef>
              <a:buClr>
                <a:schemeClr val="tx1"/>
              </a:buClr>
              <a:buSzPct val="100000"/>
              <a:buFont typeface="Arial" panose="020B0604020202020204" pitchFamily="34" charset="0"/>
              <a:buNone/>
              <a:tabLst/>
              <a:defRPr sz="1600" b="0" i="0" kern="1200">
                <a:solidFill>
                  <a:schemeClr val="tx1"/>
                </a:solidFill>
                <a:latin typeface="Montserrat" pitchFamily="2" charset="77"/>
                <a:ea typeface="+mn-ea"/>
                <a:cs typeface="+mn-cs"/>
              </a:defRPr>
            </a:lvl9pPr>
          </a:lstStyle>
          <a:p>
            <a:pPr algn="ctr"/>
            <a:r>
              <a:rPr lang="en-US" sz="1200" dirty="0"/>
              <a:t>Service &amp; Delivery</a:t>
            </a:r>
          </a:p>
        </p:txBody>
      </p:sp>
      <p:sp>
        <p:nvSpPr>
          <p:cNvPr id="2" name="Title 1"/>
          <p:cNvSpPr>
            <a:spLocks noGrp="1"/>
          </p:cNvSpPr>
          <p:nvPr>
            <p:ph type="title" idx="4294967295"/>
          </p:nvPr>
        </p:nvSpPr>
        <p:spPr>
          <a:xfrm>
            <a:off x="112900" y="815663"/>
            <a:ext cx="11301413" cy="439737"/>
          </a:xfrm>
        </p:spPr>
        <p:txBody>
          <a:bodyPr>
            <a:normAutofit fontScale="90000"/>
          </a:bodyPr>
          <a:lstStyle/>
          <a:p>
            <a:r>
              <a:rPr lang="en-US" dirty="0">
                <a:solidFill>
                  <a:srgbClr val="C00000"/>
                </a:solidFill>
              </a:rPr>
              <a:t>CLIENT JOURNEY – Creating “Micro-Journey’s” on Touchpoints – Mid to Long Term Plan</a:t>
            </a:r>
          </a:p>
        </p:txBody>
      </p:sp>
      <p:sp>
        <p:nvSpPr>
          <p:cNvPr id="3" name="Text Placeholder 2"/>
          <p:cNvSpPr>
            <a:spLocks noGrp="1"/>
          </p:cNvSpPr>
          <p:nvPr>
            <p:ph type="body" sz="quarter" idx="4294967295"/>
          </p:nvPr>
        </p:nvSpPr>
        <p:spPr>
          <a:xfrm>
            <a:off x="950093" y="1297917"/>
            <a:ext cx="10466388" cy="582612"/>
          </a:xfrm>
        </p:spPr>
        <p:txBody>
          <a:bodyPr>
            <a:noAutofit/>
          </a:bodyPr>
          <a:lstStyle/>
          <a:p>
            <a:r>
              <a:rPr lang="en-US" sz="1600" dirty="0"/>
              <a:t>VOC starts with tying feedback and operational information back to the journey for maximum impact</a:t>
            </a:r>
          </a:p>
        </p:txBody>
      </p:sp>
      <p:grpSp>
        <p:nvGrpSpPr>
          <p:cNvPr id="38" name="Group 37"/>
          <p:cNvGrpSpPr>
            <a:grpSpLocks noChangeAspect="1"/>
          </p:cNvGrpSpPr>
          <p:nvPr/>
        </p:nvGrpSpPr>
        <p:grpSpPr>
          <a:xfrm>
            <a:off x="856975" y="1962918"/>
            <a:ext cx="10254730" cy="4352015"/>
            <a:chOff x="231672" y="1953799"/>
            <a:chExt cx="8204810" cy="3482039"/>
          </a:xfrm>
        </p:grpSpPr>
        <p:sp>
          <p:nvSpPr>
            <p:cNvPr id="21" name="Freeform 20"/>
            <p:cNvSpPr/>
            <p:nvPr/>
          </p:nvSpPr>
          <p:spPr>
            <a:xfrm>
              <a:off x="822960" y="2049780"/>
              <a:ext cx="1790700" cy="845819"/>
            </a:xfrm>
            <a:custGeom>
              <a:avLst/>
              <a:gdLst>
                <a:gd name="connsiteX0" fmla="*/ 2065020 w 2065020"/>
                <a:gd name="connsiteY0" fmla="*/ 0 h 845820"/>
                <a:gd name="connsiteX1" fmla="*/ 0 w 2065020"/>
                <a:gd name="connsiteY1" fmla="*/ 0 h 845820"/>
                <a:gd name="connsiteX2" fmla="*/ 0 w 2065020"/>
                <a:gd name="connsiteY2" fmla="*/ 845820 h 845820"/>
                <a:gd name="connsiteX3" fmla="*/ 152400 w 2065020"/>
                <a:gd name="connsiteY3" fmla="*/ 845820 h 845820"/>
              </a:gdLst>
              <a:ahLst/>
              <a:cxnLst>
                <a:cxn ang="0">
                  <a:pos x="connsiteX0" y="connsiteY0"/>
                </a:cxn>
                <a:cxn ang="0">
                  <a:pos x="connsiteX1" y="connsiteY1"/>
                </a:cxn>
                <a:cxn ang="0">
                  <a:pos x="connsiteX2" y="connsiteY2"/>
                </a:cxn>
                <a:cxn ang="0">
                  <a:pos x="connsiteX3" y="connsiteY3"/>
                </a:cxn>
              </a:cxnLst>
              <a:rect l="l" t="t" r="r" b="b"/>
              <a:pathLst>
                <a:path w="2065020" h="845820">
                  <a:moveTo>
                    <a:pt x="2065020" y="0"/>
                  </a:moveTo>
                  <a:lnTo>
                    <a:pt x="0" y="0"/>
                  </a:lnTo>
                  <a:lnTo>
                    <a:pt x="0" y="845820"/>
                  </a:lnTo>
                  <a:lnTo>
                    <a:pt x="152400" y="845820"/>
                  </a:lnTo>
                </a:path>
              </a:pathLst>
            </a:custGeom>
            <a:noFill/>
            <a:ln w="12700" cap="flat" cmpd="sng" algn="ctr">
              <a:solidFill>
                <a:sysClr val="windowText" lastClr="000000">
                  <a:lumMod val="50000"/>
                  <a:lumOff val="50000"/>
                </a:sysClr>
              </a:solidFill>
              <a:prstDash val="sysDash"/>
              <a:miter lim="800000"/>
              <a:headEnd type="none" w="med" len="med"/>
              <a:tailEnd type="arrow" w="med" len="med"/>
            </a:ln>
            <a:effectLst/>
          </p:spPr>
          <p:txBody>
            <a:bodyPr rtlCol="0" anchor="ctr"/>
            <a:lstStyle/>
            <a:p>
              <a:pPr algn="ctr" defTabSz="685800">
                <a:defRPr/>
              </a:pPr>
              <a:endParaRPr lang="en-US" sz="1350" kern="0">
                <a:solidFill>
                  <a:prstClr val="white"/>
                </a:solidFill>
              </a:endParaRPr>
            </a:p>
          </p:txBody>
        </p:sp>
        <p:cxnSp>
          <p:nvCxnSpPr>
            <p:cNvPr id="22" name="Straight Connector 21"/>
            <p:cNvCxnSpPr/>
            <p:nvPr/>
          </p:nvCxnSpPr>
          <p:spPr>
            <a:xfrm>
              <a:off x="883920" y="2895600"/>
              <a:ext cx="609600" cy="0"/>
            </a:xfrm>
            <a:prstGeom prst="line">
              <a:avLst/>
            </a:prstGeom>
            <a:noFill/>
            <a:ln w="12700" cap="flat" cmpd="sng" algn="ctr">
              <a:solidFill>
                <a:sysClr val="windowText" lastClr="000000">
                  <a:lumMod val="50000"/>
                  <a:lumOff val="50000"/>
                </a:sysClr>
              </a:solidFill>
              <a:prstDash val="sysDash"/>
              <a:miter lim="800000"/>
            </a:ln>
            <a:effectLst/>
          </p:spPr>
        </p:cxnSp>
        <p:sp>
          <p:nvSpPr>
            <p:cNvPr id="23" name="Freeform 22"/>
            <p:cNvSpPr/>
            <p:nvPr/>
          </p:nvSpPr>
          <p:spPr>
            <a:xfrm>
              <a:off x="6435872" y="2087880"/>
              <a:ext cx="1587988" cy="807720"/>
            </a:xfrm>
            <a:custGeom>
              <a:avLst/>
              <a:gdLst>
                <a:gd name="connsiteX0" fmla="*/ 0 w 1958340"/>
                <a:gd name="connsiteY0" fmla="*/ 0 h 807720"/>
                <a:gd name="connsiteX1" fmla="*/ 1958340 w 1958340"/>
                <a:gd name="connsiteY1" fmla="*/ 0 h 807720"/>
                <a:gd name="connsiteX2" fmla="*/ 1958340 w 1958340"/>
                <a:gd name="connsiteY2" fmla="*/ 807720 h 807720"/>
                <a:gd name="connsiteX3" fmla="*/ 1729740 w 1958340"/>
                <a:gd name="connsiteY3" fmla="*/ 807720 h 807720"/>
              </a:gdLst>
              <a:ahLst/>
              <a:cxnLst>
                <a:cxn ang="0">
                  <a:pos x="connsiteX0" y="connsiteY0"/>
                </a:cxn>
                <a:cxn ang="0">
                  <a:pos x="connsiteX1" y="connsiteY1"/>
                </a:cxn>
                <a:cxn ang="0">
                  <a:pos x="connsiteX2" y="connsiteY2"/>
                </a:cxn>
                <a:cxn ang="0">
                  <a:pos x="connsiteX3" y="connsiteY3"/>
                </a:cxn>
              </a:cxnLst>
              <a:rect l="l" t="t" r="r" b="b"/>
              <a:pathLst>
                <a:path w="1958340" h="807720">
                  <a:moveTo>
                    <a:pt x="0" y="0"/>
                  </a:moveTo>
                  <a:lnTo>
                    <a:pt x="1958340" y="0"/>
                  </a:lnTo>
                  <a:lnTo>
                    <a:pt x="1958340" y="807720"/>
                  </a:lnTo>
                  <a:lnTo>
                    <a:pt x="1729740" y="807720"/>
                  </a:lnTo>
                </a:path>
              </a:pathLst>
            </a:custGeom>
            <a:noFill/>
            <a:ln w="12700" cap="flat" cmpd="sng" algn="ctr">
              <a:solidFill>
                <a:sysClr val="windowText" lastClr="000000">
                  <a:lumMod val="50000"/>
                  <a:lumOff val="50000"/>
                </a:sysClr>
              </a:solidFill>
              <a:prstDash val="sysDash"/>
              <a:miter lim="800000"/>
            </a:ln>
            <a:effectLst/>
          </p:spPr>
          <p:txBody>
            <a:bodyPr rtlCol="0" anchor="ctr"/>
            <a:lstStyle/>
            <a:p>
              <a:pPr algn="ctr" defTabSz="685800">
                <a:defRPr/>
              </a:pPr>
              <a:endParaRPr lang="en-US" sz="1350" kern="0">
                <a:solidFill>
                  <a:prstClr val="black"/>
                </a:solidFill>
              </a:endParaRPr>
            </a:p>
          </p:txBody>
        </p:sp>
        <p:cxnSp>
          <p:nvCxnSpPr>
            <p:cNvPr id="24" name="Straight Arrow Connector 23"/>
            <p:cNvCxnSpPr/>
            <p:nvPr/>
          </p:nvCxnSpPr>
          <p:spPr>
            <a:xfrm>
              <a:off x="7498080" y="2887980"/>
              <a:ext cx="441960" cy="0"/>
            </a:xfrm>
            <a:prstGeom prst="straightConnector1">
              <a:avLst/>
            </a:prstGeom>
            <a:noFill/>
            <a:ln w="12700" cap="flat" cmpd="sng" algn="ctr">
              <a:solidFill>
                <a:sysClr val="windowText" lastClr="000000">
                  <a:lumMod val="50000"/>
                  <a:lumOff val="50000"/>
                </a:sysClr>
              </a:solidFill>
              <a:prstDash val="sysDash"/>
              <a:miter lim="800000"/>
              <a:headEnd type="none" w="med" len="med"/>
              <a:tailEnd type="arrow" w="med" len="med"/>
            </a:ln>
            <a:effectLst/>
          </p:spPr>
        </p:cxnSp>
        <p:sp>
          <p:nvSpPr>
            <p:cNvPr id="25" name="Rectangle 24"/>
            <p:cNvSpPr/>
            <p:nvPr/>
          </p:nvSpPr>
          <p:spPr>
            <a:xfrm>
              <a:off x="1303020" y="2407920"/>
              <a:ext cx="1249680" cy="617220"/>
            </a:xfrm>
            <a:prstGeom prst="rect">
              <a:avLst/>
            </a:prstGeom>
            <a:solidFill>
              <a:schemeClr val="tx1">
                <a:lumMod val="50000"/>
                <a:lumOff val="50000"/>
              </a:schemeClr>
            </a:solidFill>
            <a:ln w="12700" cap="flat" cmpd="sng" algn="ctr">
              <a:noFill/>
              <a:prstDash val="solid"/>
              <a:miter lim="800000"/>
            </a:ln>
            <a:effectLst/>
          </p:spPr>
          <p:txBody>
            <a:bodyPr rtlCol="0" anchor="ctr"/>
            <a:lstStyle/>
            <a:p>
              <a:pPr algn="ctr" defTabSz="685800">
                <a:defRPr/>
              </a:pPr>
              <a:r>
                <a:rPr lang="en-US" sz="1200" kern="0" dirty="0">
                  <a:solidFill>
                    <a:schemeClr val="bg1"/>
                  </a:solidFill>
                </a:rPr>
                <a:t>AWARENESS</a:t>
              </a:r>
            </a:p>
          </p:txBody>
        </p:sp>
        <p:sp>
          <p:nvSpPr>
            <p:cNvPr id="26" name="Rectangle 25"/>
            <p:cNvSpPr/>
            <p:nvPr/>
          </p:nvSpPr>
          <p:spPr>
            <a:xfrm>
              <a:off x="2613660" y="2407920"/>
              <a:ext cx="1249680" cy="617220"/>
            </a:xfrm>
            <a:prstGeom prst="rect">
              <a:avLst/>
            </a:prstGeom>
            <a:solidFill>
              <a:schemeClr val="tx1">
                <a:lumMod val="50000"/>
                <a:lumOff val="50000"/>
              </a:schemeClr>
            </a:solidFill>
            <a:ln w="12700" cap="flat" cmpd="sng" algn="ctr">
              <a:noFill/>
              <a:prstDash val="solid"/>
              <a:miter lim="800000"/>
            </a:ln>
            <a:effectLst/>
          </p:spPr>
          <p:txBody>
            <a:bodyPr rtlCol="0" anchor="ctr"/>
            <a:lstStyle/>
            <a:p>
              <a:pPr algn="ctr" defTabSz="685800">
                <a:defRPr/>
              </a:pPr>
              <a:r>
                <a:rPr lang="en-US" sz="1200" kern="0" dirty="0">
                  <a:solidFill>
                    <a:schemeClr val="bg1"/>
                  </a:solidFill>
                </a:rPr>
                <a:t>CONSIDERATION</a:t>
              </a:r>
            </a:p>
          </p:txBody>
        </p:sp>
        <p:sp>
          <p:nvSpPr>
            <p:cNvPr id="27" name="Rectangle 26"/>
            <p:cNvSpPr/>
            <p:nvPr/>
          </p:nvSpPr>
          <p:spPr>
            <a:xfrm>
              <a:off x="3924300" y="2407920"/>
              <a:ext cx="1249680" cy="617220"/>
            </a:xfrm>
            <a:prstGeom prst="rect">
              <a:avLst/>
            </a:prstGeom>
            <a:solidFill>
              <a:schemeClr val="tx1">
                <a:lumMod val="50000"/>
                <a:lumOff val="50000"/>
              </a:schemeClr>
            </a:solidFill>
            <a:ln w="12700" cap="flat" cmpd="sng" algn="ctr">
              <a:noFill/>
              <a:prstDash val="solid"/>
              <a:miter lim="800000"/>
            </a:ln>
            <a:effectLst/>
          </p:spPr>
          <p:txBody>
            <a:bodyPr rtlCol="0" anchor="ctr"/>
            <a:lstStyle/>
            <a:p>
              <a:pPr algn="ctr" defTabSz="685800">
                <a:defRPr/>
              </a:pPr>
              <a:r>
                <a:rPr lang="en-US" sz="1200" kern="0" dirty="0">
                  <a:solidFill>
                    <a:schemeClr val="bg1"/>
                  </a:solidFill>
                </a:rPr>
                <a:t>PURCHASE</a:t>
              </a:r>
            </a:p>
          </p:txBody>
        </p:sp>
        <p:sp>
          <p:nvSpPr>
            <p:cNvPr id="28" name="Rectangle 27"/>
            <p:cNvSpPr/>
            <p:nvPr/>
          </p:nvSpPr>
          <p:spPr>
            <a:xfrm>
              <a:off x="5234940" y="2407920"/>
              <a:ext cx="1249680" cy="617220"/>
            </a:xfrm>
            <a:prstGeom prst="rect">
              <a:avLst/>
            </a:prstGeom>
            <a:solidFill>
              <a:schemeClr val="tx1">
                <a:lumMod val="50000"/>
                <a:lumOff val="50000"/>
              </a:schemeClr>
            </a:solidFill>
            <a:ln w="12700" cap="flat" cmpd="sng" algn="ctr">
              <a:noFill/>
              <a:prstDash val="solid"/>
              <a:miter lim="800000"/>
            </a:ln>
            <a:effectLst/>
          </p:spPr>
          <p:txBody>
            <a:bodyPr rtlCol="0" anchor="ctr"/>
            <a:lstStyle/>
            <a:p>
              <a:pPr algn="ctr" defTabSz="685800">
                <a:defRPr/>
              </a:pPr>
              <a:r>
                <a:rPr lang="en-US" sz="1200" kern="0" dirty="0">
                  <a:solidFill>
                    <a:schemeClr val="bg1"/>
                  </a:solidFill>
                </a:rPr>
                <a:t>RETENTION</a:t>
              </a:r>
            </a:p>
          </p:txBody>
        </p:sp>
        <p:sp>
          <p:nvSpPr>
            <p:cNvPr id="29" name="Rectangle 28"/>
            <p:cNvSpPr/>
            <p:nvPr/>
          </p:nvSpPr>
          <p:spPr>
            <a:xfrm>
              <a:off x="6545580" y="2407920"/>
              <a:ext cx="1249680" cy="617220"/>
            </a:xfrm>
            <a:prstGeom prst="rect">
              <a:avLst/>
            </a:prstGeom>
            <a:solidFill>
              <a:schemeClr val="tx1">
                <a:lumMod val="50000"/>
                <a:lumOff val="50000"/>
              </a:schemeClr>
            </a:solidFill>
            <a:ln w="12700" cap="flat" cmpd="sng" algn="ctr">
              <a:noFill/>
              <a:prstDash val="solid"/>
              <a:miter lim="800000"/>
            </a:ln>
            <a:effectLst/>
          </p:spPr>
          <p:txBody>
            <a:bodyPr rtlCol="0" anchor="ctr"/>
            <a:lstStyle/>
            <a:p>
              <a:pPr algn="ctr" defTabSz="685800">
                <a:defRPr/>
              </a:pPr>
              <a:r>
                <a:rPr lang="en-US" sz="1200" kern="0" dirty="0">
                  <a:solidFill>
                    <a:schemeClr val="bg1"/>
                  </a:solidFill>
                </a:rPr>
                <a:t>ADVOCACY</a:t>
              </a:r>
            </a:p>
          </p:txBody>
        </p:sp>
        <p:sp>
          <p:nvSpPr>
            <p:cNvPr id="30" name="TextBox 29"/>
            <p:cNvSpPr txBox="1"/>
            <p:nvPr/>
          </p:nvSpPr>
          <p:spPr>
            <a:xfrm>
              <a:off x="2741146" y="1953799"/>
              <a:ext cx="3504218" cy="369377"/>
            </a:xfrm>
            <a:prstGeom prst="rect">
              <a:avLst/>
            </a:prstGeom>
            <a:noFill/>
          </p:spPr>
          <p:txBody>
            <a:bodyPr wrap="none" rtlCol="0">
              <a:spAutoFit/>
            </a:bodyPr>
            <a:lstStyle/>
            <a:p>
              <a:pPr algn="ctr" defTabSz="685800">
                <a:defRPr/>
              </a:pPr>
              <a:r>
                <a:rPr lang="en-US" sz="2400" kern="0" dirty="0">
                  <a:solidFill>
                    <a:prstClr val="black"/>
                  </a:solidFill>
                </a:rPr>
                <a:t>The Traditional Client Journey:</a:t>
              </a:r>
            </a:p>
          </p:txBody>
        </p:sp>
        <p:sp>
          <p:nvSpPr>
            <p:cNvPr id="31" name="Freeform 30"/>
            <p:cNvSpPr/>
            <p:nvPr/>
          </p:nvSpPr>
          <p:spPr>
            <a:xfrm>
              <a:off x="7532381" y="3642500"/>
              <a:ext cx="419100" cy="480060"/>
            </a:xfrm>
            <a:custGeom>
              <a:avLst/>
              <a:gdLst>
                <a:gd name="connsiteX0" fmla="*/ 0 w 419100"/>
                <a:gd name="connsiteY0" fmla="*/ 480060 h 480060"/>
                <a:gd name="connsiteX1" fmla="*/ 419100 w 419100"/>
                <a:gd name="connsiteY1" fmla="*/ 480060 h 480060"/>
                <a:gd name="connsiteX2" fmla="*/ 419100 w 419100"/>
                <a:gd name="connsiteY2" fmla="*/ 0 h 480060"/>
              </a:gdLst>
              <a:ahLst/>
              <a:cxnLst>
                <a:cxn ang="0">
                  <a:pos x="connsiteX0" y="connsiteY0"/>
                </a:cxn>
                <a:cxn ang="0">
                  <a:pos x="connsiteX1" y="connsiteY1"/>
                </a:cxn>
                <a:cxn ang="0">
                  <a:pos x="connsiteX2" y="connsiteY2"/>
                </a:cxn>
              </a:cxnLst>
              <a:rect l="l" t="t" r="r" b="b"/>
              <a:pathLst>
                <a:path w="419100" h="480060">
                  <a:moveTo>
                    <a:pt x="0" y="480060"/>
                  </a:moveTo>
                  <a:lnTo>
                    <a:pt x="419100" y="480060"/>
                  </a:lnTo>
                  <a:lnTo>
                    <a:pt x="419100" y="0"/>
                  </a:lnTo>
                </a:path>
              </a:pathLst>
            </a:custGeom>
            <a:noFill/>
            <a:ln w="12700" cap="flat" cmpd="sng" algn="ctr">
              <a:solidFill>
                <a:sysClr val="windowText" lastClr="000000">
                  <a:lumMod val="50000"/>
                  <a:lumOff val="50000"/>
                </a:sysClr>
              </a:solidFill>
              <a:prstDash val="sysDash"/>
              <a:miter lim="800000"/>
              <a:headEnd type="none" w="med" len="med"/>
              <a:tailEnd type="arrow" w="med" len="med"/>
            </a:ln>
            <a:effectLst/>
          </p:spPr>
          <p:txBody>
            <a:bodyPr rtlCol="0" anchor="ctr"/>
            <a:lstStyle/>
            <a:p>
              <a:pPr algn="ctr" defTabSz="685800">
                <a:defRPr/>
              </a:pPr>
              <a:endParaRPr lang="en-US" sz="1350" kern="0">
                <a:solidFill>
                  <a:prstClr val="white"/>
                </a:solidFill>
              </a:endParaRPr>
            </a:p>
          </p:txBody>
        </p:sp>
        <p:sp>
          <p:nvSpPr>
            <p:cNvPr id="32" name="Freeform 31"/>
            <p:cNvSpPr/>
            <p:nvPr/>
          </p:nvSpPr>
          <p:spPr>
            <a:xfrm>
              <a:off x="1211580" y="3573920"/>
              <a:ext cx="342900" cy="495300"/>
            </a:xfrm>
            <a:custGeom>
              <a:avLst/>
              <a:gdLst>
                <a:gd name="connsiteX0" fmla="*/ 0 w 342900"/>
                <a:gd name="connsiteY0" fmla="*/ 0 h 495300"/>
                <a:gd name="connsiteX1" fmla="*/ 0 w 342900"/>
                <a:gd name="connsiteY1" fmla="*/ 495300 h 495300"/>
                <a:gd name="connsiteX2" fmla="*/ 342900 w 342900"/>
                <a:gd name="connsiteY2" fmla="*/ 495300 h 495300"/>
              </a:gdLst>
              <a:ahLst/>
              <a:cxnLst>
                <a:cxn ang="0">
                  <a:pos x="connsiteX0" y="connsiteY0"/>
                </a:cxn>
                <a:cxn ang="0">
                  <a:pos x="connsiteX1" y="connsiteY1"/>
                </a:cxn>
                <a:cxn ang="0">
                  <a:pos x="connsiteX2" y="connsiteY2"/>
                </a:cxn>
              </a:cxnLst>
              <a:rect l="l" t="t" r="r" b="b"/>
              <a:pathLst>
                <a:path w="342900" h="495300">
                  <a:moveTo>
                    <a:pt x="0" y="0"/>
                  </a:moveTo>
                  <a:lnTo>
                    <a:pt x="0" y="495300"/>
                  </a:lnTo>
                  <a:lnTo>
                    <a:pt x="342900" y="495300"/>
                  </a:lnTo>
                </a:path>
              </a:pathLst>
            </a:custGeom>
            <a:noFill/>
            <a:ln w="12700" cap="flat" cmpd="sng" algn="ctr">
              <a:solidFill>
                <a:sysClr val="windowText" lastClr="000000">
                  <a:lumMod val="50000"/>
                  <a:lumOff val="50000"/>
                </a:sysClr>
              </a:solidFill>
              <a:prstDash val="sysDash"/>
              <a:miter lim="800000"/>
              <a:headEnd type="none" w="med" len="med"/>
              <a:tailEnd type="arrow" w="med" len="med"/>
            </a:ln>
            <a:effectLst/>
          </p:spPr>
          <p:txBody>
            <a:bodyPr rtlCol="0" anchor="ctr"/>
            <a:lstStyle/>
            <a:p>
              <a:pPr algn="ctr" defTabSz="685800">
                <a:defRPr/>
              </a:pPr>
              <a:endParaRPr lang="en-US" sz="1350" kern="0">
                <a:solidFill>
                  <a:prstClr val="white"/>
                </a:solidFill>
              </a:endParaRPr>
            </a:p>
          </p:txBody>
        </p:sp>
        <p:sp>
          <p:nvSpPr>
            <p:cNvPr id="33" name="TextBox 32"/>
            <p:cNvSpPr txBox="1"/>
            <p:nvPr/>
          </p:nvSpPr>
          <p:spPr>
            <a:xfrm>
              <a:off x="231672" y="4869460"/>
              <a:ext cx="8204810" cy="566378"/>
            </a:xfrm>
            <a:prstGeom prst="rect">
              <a:avLst/>
            </a:prstGeom>
            <a:noFill/>
          </p:spPr>
          <p:txBody>
            <a:bodyPr wrap="none" rtlCol="0">
              <a:spAutoFit/>
            </a:bodyPr>
            <a:lstStyle/>
            <a:p>
              <a:pPr algn="ctr" defTabSz="685800">
                <a:defRPr/>
              </a:pPr>
              <a:r>
                <a:rPr lang="en-US" sz="2000" kern="0" dirty="0"/>
                <a:t>It’s really about building relationships by knowing what drives an exceptional</a:t>
              </a:r>
            </a:p>
            <a:p>
              <a:pPr algn="ctr" defTabSz="685800">
                <a:defRPr/>
              </a:pPr>
              <a:r>
                <a:rPr lang="en-US" sz="2000" kern="0" dirty="0"/>
                <a:t> client experience and quickly addressing pain points along their journey</a:t>
              </a:r>
            </a:p>
          </p:txBody>
        </p:sp>
        <p:sp>
          <p:nvSpPr>
            <p:cNvPr id="34" name="Chevron 33"/>
            <p:cNvSpPr/>
            <p:nvPr/>
          </p:nvSpPr>
          <p:spPr>
            <a:xfrm>
              <a:off x="1737359" y="3778885"/>
              <a:ext cx="1478280" cy="670560"/>
            </a:xfrm>
            <a:prstGeom prst="chevron">
              <a:avLst>
                <a:gd name="adj" fmla="val 28409"/>
              </a:avLst>
            </a:prstGeom>
            <a:solidFill>
              <a:schemeClr val="accent1">
                <a:lumMod val="60000"/>
                <a:lumOff val="40000"/>
              </a:schemeClr>
            </a:solidFill>
            <a:ln w="12700" cap="flat" cmpd="sng" algn="ctr">
              <a:noFill/>
              <a:prstDash val="solid"/>
              <a:miter lim="800000"/>
            </a:ln>
            <a:effectLst/>
          </p:spPr>
          <p:txBody>
            <a:bodyPr rtlCol="0" anchor="ctr"/>
            <a:lstStyle/>
            <a:p>
              <a:pPr algn="ctr" defTabSz="685800">
                <a:defRPr/>
              </a:pPr>
              <a:r>
                <a:rPr lang="en-US" sz="1350" kern="0" dirty="0">
                  <a:solidFill>
                    <a:schemeClr val="bg1"/>
                  </a:solidFill>
                </a:rPr>
                <a:t>FORM</a:t>
              </a:r>
            </a:p>
          </p:txBody>
        </p:sp>
        <p:sp>
          <p:nvSpPr>
            <p:cNvPr id="35" name="Chevron 34"/>
            <p:cNvSpPr/>
            <p:nvPr/>
          </p:nvSpPr>
          <p:spPr>
            <a:xfrm>
              <a:off x="3093719" y="3778885"/>
              <a:ext cx="1478280" cy="670560"/>
            </a:xfrm>
            <a:prstGeom prst="chevron">
              <a:avLst>
                <a:gd name="adj" fmla="val 28409"/>
              </a:avLst>
            </a:prstGeom>
            <a:solidFill>
              <a:schemeClr val="accent2">
                <a:lumMod val="60000"/>
                <a:lumOff val="40000"/>
              </a:schemeClr>
            </a:solidFill>
            <a:ln w="12700" cap="flat" cmpd="sng" algn="ctr">
              <a:noFill/>
              <a:prstDash val="solid"/>
              <a:miter lim="800000"/>
            </a:ln>
            <a:effectLst/>
          </p:spPr>
          <p:txBody>
            <a:bodyPr rtlCol="0" anchor="ctr"/>
            <a:lstStyle/>
            <a:p>
              <a:pPr algn="ctr" defTabSz="685800">
                <a:defRPr/>
              </a:pPr>
              <a:r>
                <a:rPr lang="en-US" sz="1350" kern="0" dirty="0">
                  <a:solidFill>
                    <a:prstClr val="white"/>
                  </a:solidFill>
                </a:rPr>
                <a:t>GROW</a:t>
              </a:r>
            </a:p>
          </p:txBody>
        </p:sp>
        <p:sp>
          <p:nvSpPr>
            <p:cNvPr id="36" name="Chevron 35"/>
            <p:cNvSpPr/>
            <p:nvPr/>
          </p:nvSpPr>
          <p:spPr>
            <a:xfrm>
              <a:off x="4450079" y="3778885"/>
              <a:ext cx="1478280" cy="670560"/>
            </a:xfrm>
            <a:prstGeom prst="chevron">
              <a:avLst>
                <a:gd name="adj" fmla="val 28409"/>
              </a:avLst>
            </a:prstGeom>
            <a:solidFill>
              <a:schemeClr val="accent1"/>
            </a:solidFill>
            <a:ln w="12700" cap="flat" cmpd="sng" algn="ctr">
              <a:noFill/>
              <a:prstDash val="solid"/>
              <a:miter lim="800000"/>
            </a:ln>
            <a:effectLst/>
          </p:spPr>
          <p:txBody>
            <a:bodyPr rtlCol="0" anchor="ctr"/>
            <a:lstStyle/>
            <a:p>
              <a:pPr algn="ctr" defTabSz="685800">
                <a:defRPr/>
              </a:pPr>
              <a:r>
                <a:rPr lang="en-US" sz="1350" kern="0" dirty="0">
                  <a:solidFill>
                    <a:prstClr val="white"/>
                  </a:solidFill>
                </a:rPr>
                <a:t>FOSTER</a:t>
              </a:r>
            </a:p>
          </p:txBody>
        </p:sp>
        <p:sp>
          <p:nvSpPr>
            <p:cNvPr id="37" name="Chevron 36"/>
            <p:cNvSpPr/>
            <p:nvPr/>
          </p:nvSpPr>
          <p:spPr>
            <a:xfrm>
              <a:off x="5806439" y="3778885"/>
              <a:ext cx="1478280" cy="670560"/>
            </a:xfrm>
            <a:prstGeom prst="chevron">
              <a:avLst>
                <a:gd name="adj" fmla="val 28409"/>
              </a:avLst>
            </a:prstGeom>
            <a:solidFill>
              <a:schemeClr val="accent1">
                <a:lumMod val="75000"/>
              </a:schemeClr>
            </a:solidFill>
            <a:ln w="12700" cap="flat" cmpd="sng" algn="ctr">
              <a:noFill/>
              <a:prstDash val="solid"/>
              <a:miter lim="800000"/>
            </a:ln>
            <a:effectLst/>
          </p:spPr>
          <p:txBody>
            <a:bodyPr rtlCol="0" anchor="ctr"/>
            <a:lstStyle/>
            <a:p>
              <a:pPr algn="ctr" defTabSz="685800">
                <a:defRPr/>
              </a:pPr>
              <a:r>
                <a:rPr lang="en-US" sz="1350" kern="0" dirty="0">
                  <a:solidFill>
                    <a:prstClr val="white"/>
                  </a:solidFill>
                </a:rPr>
                <a:t>SOLIDIFY</a:t>
              </a:r>
            </a:p>
          </p:txBody>
        </p:sp>
      </p:grpSp>
      <p:sp>
        <p:nvSpPr>
          <p:cNvPr id="40" name="Flowchart: Collate 39">
            <a:extLst>
              <a:ext uri="{FF2B5EF4-FFF2-40B4-BE49-F238E27FC236}">
                <a16:creationId xmlns:a16="http://schemas.microsoft.com/office/drawing/2014/main" id="{85054771-F7EB-43BC-BD64-2E3B5371F955}"/>
              </a:ext>
            </a:extLst>
          </p:cNvPr>
          <p:cNvSpPr/>
          <p:nvPr/>
        </p:nvSpPr>
        <p:spPr bwMode="auto">
          <a:xfrm>
            <a:off x="7072191" y="3271447"/>
            <a:ext cx="1638094" cy="867479"/>
          </a:xfrm>
          <a:prstGeom prst="flowChartCollate">
            <a:avLst/>
          </a:prstGeom>
          <a:solidFill>
            <a:schemeClr val="tx2">
              <a:lumMod val="10000"/>
              <a:lumOff val="9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41" name="TextBox 40">
            <a:extLst>
              <a:ext uri="{FF2B5EF4-FFF2-40B4-BE49-F238E27FC236}">
                <a16:creationId xmlns:a16="http://schemas.microsoft.com/office/drawing/2014/main" id="{B7DEB28C-6B09-4F06-B55C-2D4CDDA64ED0}"/>
              </a:ext>
            </a:extLst>
          </p:cNvPr>
          <p:cNvSpPr txBox="1"/>
          <p:nvPr/>
        </p:nvSpPr>
        <p:spPr>
          <a:xfrm>
            <a:off x="2582385" y="3897424"/>
            <a:ext cx="6121152" cy="369332"/>
          </a:xfrm>
          <a:prstGeom prst="rect">
            <a:avLst/>
          </a:prstGeom>
          <a:noFill/>
        </p:spPr>
        <p:txBody>
          <a:bodyPr wrap="square">
            <a:spAutoFit/>
          </a:bodyPr>
          <a:lstStyle/>
          <a:p>
            <a:r>
              <a:rPr lang="en-US" sz="1800" b="1" kern="0" dirty="0">
                <a:solidFill>
                  <a:srgbClr val="C00000"/>
                </a:solidFill>
              </a:rPr>
              <a:t>Micro- Journey Event</a:t>
            </a:r>
            <a:endParaRPr lang="en-US" b="1" dirty="0">
              <a:solidFill>
                <a:srgbClr val="C00000"/>
              </a:solidFill>
            </a:endParaRPr>
          </a:p>
        </p:txBody>
      </p:sp>
      <p:cxnSp>
        <p:nvCxnSpPr>
          <p:cNvPr id="6" name="Straight Arrow Connector 5">
            <a:extLst>
              <a:ext uri="{FF2B5EF4-FFF2-40B4-BE49-F238E27FC236}">
                <a16:creationId xmlns:a16="http://schemas.microsoft.com/office/drawing/2014/main" id="{68D37913-81FF-4E76-BB3B-32E729938B22}"/>
              </a:ext>
            </a:extLst>
          </p:cNvPr>
          <p:cNvCxnSpPr/>
          <p:nvPr/>
        </p:nvCxnSpPr>
        <p:spPr>
          <a:xfrm>
            <a:off x="5984340" y="3682623"/>
            <a:ext cx="27073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26AA4C9-5994-4EA3-A209-577CCD441C3C}"/>
              </a:ext>
            </a:extLst>
          </p:cNvPr>
          <p:cNvPicPr>
            <a:picLocks noChangeAspect="1"/>
          </p:cNvPicPr>
          <p:nvPr/>
        </p:nvPicPr>
        <p:blipFill>
          <a:blip r:embed="rId2"/>
          <a:stretch>
            <a:fillRect/>
          </a:stretch>
        </p:blipFill>
        <p:spPr>
          <a:xfrm>
            <a:off x="6281705" y="3378781"/>
            <a:ext cx="3579016" cy="602738"/>
          </a:xfrm>
          <a:prstGeom prst="rect">
            <a:avLst/>
          </a:prstGeom>
        </p:spPr>
      </p:pic>
    </p:spTree>
    <p:extLst>
      <p:ext uri="{BB962C8B-B14F-4D97-AF65-F5344CB8AC3E}">
        <p14:creationId xmlns:p14="http://schemas.microsoft.com/office/powerpoint/2010/main" val="3975132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84EE-602C-425C-4AE2-8DCCF5D0E02B}"/>
              </a:ext>
            </a:extLst>
          </p:cNvPr>
          <p:cNvSpPr>
            <a:spLocks noGrp="1"/>
          </p:cNvSpPr>
          <p:nvPr>
            <p:ph type="title"/>
          </p:nvPr>
        </p:nvSpPr>
        <p:spPr>
          <a:xfrm>
            <a:off x="211102" y="-195661"/>
            <a:ext cx="11582966" cy="1114333"/>
          </a:xfrm>
        </p:spPr>
        <p:txBody>
          <a:bodyPr>
            <a:normAutofit/>
          </a:bodyPr>
          <a:lstStyle/>
          <a:p>
            <a:r>
              <a:rPr lang="en-US" sz="4100" dirty="0">
                <a:solidFill>
                  <a:srgbClr val="C00000"/>
                </a:solidFill>
              </a:rPr>
              <a:t>CX</a:t>
            </a:r>
            <a:r>
              <a:rPr lang="en-US" sz="4000" b="1" dirty="0">
                <a:solidFill>
                  <a:srgbClr val="5C6770"/>
                </a:solidFill>
                <a:latin typeface="+mn-lt"/>
              </a:rPr>
              <a:t> </a:t>
            </a:r>
            <a:r>
              <a:rPr lang="en-US" sz="4100" dirty="0">
                <a:solidFill>
                  <a:srgbClr val="C00000"/>
                </a:solidFill>
              </a:rPr>
              <a:t>Analytics – Long Term Plan</a:t>
            </a:r>
          </a:p>
        </p:txBody>
      </p:sp>
      <p:sp>
        <p:nvSpPr>
          <p:cNvPr id="18" name="TextBox 17">
            <a:extLst>
              <a:ext uri="{FF2B5EF4-FFF2-40B4-BE49-F238E27FC236}">
                <a16:creationId xmlns:a16="http://schemas.microsoft.com/office/drawing/2014/main" id="{6DE64645-E372-C861-A803-81ED8697B87E}"/>
              </a:ext>
            </a:extLst>
          </p:cNvPr>
          <p:cNvSpPr txBox="1"/>
          <p:nvPr/>
        </p:nvSpPr>
        <p:spPr>
          <a:xfrm>
            <a:off x="887319" y="3720576"/>
            <a:ext cx="2219703" cy="307777"/>
          </a:xfrm>
          <a:prstGeom prst="rect">
            <a:avLst/>
          </a:prstGeom>
          <a:noFill/>
        </p:spPr>
        <p:txBody>
          <a:bodyPr wrap="square" lIns="0" rtlCol="0" anchor="ctr">
            <a:spAutoFit/>
          </a:bodyPr>
          <a:lstStyle/>
          <a:p>
            <a:pPr algn="ctr"/>
            <a:r>
              <a:rPr lang="en-US" altLang="ko-KR" sz="1400" b="1">
                <a:solidFill>
                  <a:schemeClr val="bg1"/>
                </a:solidFill>
                <a:latin typeface="+mj-lt"/>
                <a:cs typeface="Arial" pitchFamily="34" charset="0"/>
              </a:rPr>
              <a:t>Insights</a:t>
            </a:r>
          </a:p>
        </p:txBody>
      </p:sp>
      <p:sp>
        <p:nvSpPr>
          <p:cNvPr id="24" name="TextBox 23">
            <a:extLst>
              <a:ext uri="{FF2B5EF4-FFF2-40B4-BE49-F238E27FC236}">
                <a16:creationId xmlns:a16="http://schemas.microsoft.com/office/drawing/2014/main" id="{9BCDDAE4-875B-584A-189C-7B9F6670BFC9}"/>
              </a:ext>
            </a:extLst>
          </p:cNvPr>
          <p:cNvSpPr txBox="1"/>
          <p:nvPr/>
        </p:nvSpPr>
        <p:spPr>
          <a:xfrm>
            <a:off x="186778" y="1320126"/>
            <a:ext cx="6229633" cy="2585323"/>
          </a:xfrm>
          <a:prstGeom prst="rect">
            <a:avLst/>
          </a:prstGeom>
          <a:solidFill>
            <a:schemeClr val="bg1"/>
          </a:solidFill>
        </p:spPr>
        <p:txBody>
          <a:bodyPr wrap="square" lIns="91440" tIns="45720" rIns="91440" bIns="45720" anchor="t">
            <a:spAutoFit/>
          </a:bodyPr>
          <a:lstStyle/>
          <a:p>
            <a:pPr>
              <a:defRPr/>
            </a:pPr>
            <a:r>
              <a:rPr lang="en-US" dirty="0">
                <a:solidFill>
                  <a:srgbClr val="5C6770"/>
                </a:solidFill>
                <a:latin typeface="+mj-lt"/>
                <a:cs typeface="Arial"/>
              </a:rPr>
              <a:t>Providing </a:t>
            </a:r>
            <a:r>
              <a:rPr lang="en-US" sz="1800" dirty="0">
                <a:solidFill>
                  <a:srgbClr val="5C6770"/>
                </a:solidFill>
                <a:latin typeface="+mj-lt"/>
                <a:cs typeface="Arial"/>
              </a:rPr>
              <a:t>first-class analytics, data science and insights capabilities in supporting CX initiatives</a:t>
            </a:r>
          </a:p>
          <a:p>
            <a:pPr>
              <a:defRPr/>
            </a:pPr>
            <a:endParaRPr lang="en-US" sz="1800" dirty="0">
              <a:solidFill>
                <a:srgbClr val="5C6770"/>
              </a:solidFill>
              <a:latin typeface="+mj-lt"/>
              <a:cs typeface="Arial"/>
            </a:endParaRPr>
          </a:p>
          <a:p>
            <a:pPr>
              <a:defRPr/>
            </a:pPr>
            <a:r>
              <a:rPr lang="en-US" dirty="0">
                <a:solidFill>
                  <a:srgbClr val="5C6770"/>
                </a:solidFill>
                <a:latin typeface="+mj-lt"/>
              </a:rPr>
              <a:t>Helping to be a CX competitive leader by he</a:t>
            </a:r>
            <a:r>
              <a:rPr lang="en-US" sz="1800" dirty="0">
                <a:solidFill>
                  <a:srgbClr val="5C6770"/>
                </a:solidFill>
                <a:latin typeface="+mj-lt"/>
                <a:cs typeface="Arial"/>
              </a:rPr>
              <a:t>lping the business make better, faster and relevant data-driven decisions</a:t>
            </a:r>
          </a:p>
          <a:p>
            <a:pPr>
              <a:defRPr/>
            </a:pPr>
            <a:r>
              <a:rPr lang="en-US" sz="1800" dirty="0">
                <a:solidFill>
                  <a:srgbClr val="5C6770"/>
                </a:solidFill>
                <a:latin typeface="+mj-lt"/>
                <a:cs typeface="Arial"/>
              </a:rPr>
              <a:t> </a:t>
            </a:r>
            <a:endParaRPr lang="en-US" sz="1800" b="1" i="1" dirty="0">
              <a:solidFill>
                <a:srgbClr val="5C6770"/>
              </a:solidFill>
              <a:latin typeface="+mj-lt"/>
            </a:endParaRPr>
          </a:p>
          <a:p>
            <a:pPr>
              <a:defRPr/>
            </a:pPr>
            <a:r>
              <a:rPr lang="en-US" sz="1800" dirty="0">
                <a:solidFill>
                  <a:srgbClr val="5C6770"/>
                </a:solidFill>
                <a:latin typeface="+mj-lt"/>
              </a:rPr>
              <a:t>History of supporting over 30+ business </a:t>
            </a:r>
            <a:r>
              <a:rPr lang="en-US" dirty="0">
                <a:solidFill>
                  <a:srgbClr val="5C6770"/>
                </a:solidFill>
                <a:latin typeface="+mj-lt"/>
              </a:rPr>
              <a:t>groups</a:t>
            </a:r>
            <a:r>
              <a:rPr lang="en-US" sz="1800" dirty="0">
                <a:solidFill>
                  <a:srgbClr val="5C6770"/>
                </a:solidFill>
                <a:latin typeface="+mj-lt"/>
              </a:rPr>
              <a:t> with CX analysis needs</a:t>
            </a:r>
            <a:endParaRPr lang="en-US" sz="1800" b="1" i="1" dirty="0">
              <a:solidFill>
                <a:srgbClr val="5C6770"/>
              </a:solidFill>
              <a:latin typeface="+mj-lt"/>
            </a:endParaRPr>
          </a:p>
          <a:p>
            <a:pPr>
              <a:defRPr/>
            </a:pPr>
            <a:endParaRPr lang="en-US" sz="1800" b="1" dirty="0">
              <a:solidFill>
                <a:srgbClr val="5C6770"/>
              </a:solidFill>
              <a:latin typeface="+mj-lt"/>
            </a:endParaRPr>
          </a:p>
        </p:txBody>
      </p:sp>
      <p:sp>
        <p:nvSpPr>
          <p:cNvPr id="3" name="TextBox 2">
            <a:extLst>
              <a:ext uri="{FF2B5EF4-FFF2-40B4-BE49-F238E27FC236}">
                <a16:creationId xmlns:a16="http://schemas.microsoft.com/office/drawing/2014/main" id="{9528DECF-6427-C2B5-C5FE-85869A9F1348}"/>
              </a:ext>
            </a:extLst>
          </p:cNvPr>
          <p:cNvSpPr txBox="1"/>
          <p:nvPr/>
        </p:nvSpPr>
        <p:spPr>
          <a:xfrm>
            <a:off x="6961466" y="734006"/>
            <a:ext cx="4759341" cy="369332"/>
          </a:xfrm>
          <a:prstGeom prst="rect">
            <a:avLst/>
          </a:prstGeom>
          <a:noFill/>
        </p:spPr>
        <p:txBody>
          <a:bodyPr wrap="square" lIns="0" tIns="0" rIns="0" bIns="0" rtlCol="0">
            <a:spAutoFit/>
          </a:bodyPr>
          <a:lstStyle/>
          <a:p>
            <a:pPr algn="ctr"/>
            <a:r>
              <a:rPr lang="en-US" sz="2400" dirty="0">
                <a:solidFill>
                  <a:schemeClr val="tx2"/>
                </a:solidFill>
                <a:latin typeface="Montserrat" pitchFamily="2" charset="77"/>
              </a:rPr>
              <a:t>Analytics Maturity Model</a:t>
            </a:r>
          </a:p>
        </p:txBody>
      </p:sp>
      <p:grpSp>
        <p:nvGrpSpPr>
          <p:cNvPr id="77" name="Group 76">
            <a:extLst>
              <a:ext uri="{FF2B5EF4-FFF2-40B4-BE49-F238E27FC236}">
                <a16:creationId xmlns:a16="http://schemas.microsoft.com/office/drawing/2014/main" id="{566089B1-1534-BB7B-F930-3C95228414B9}"/>
              </a:ext>
            </a:extLst>
          </p:cNvPr>
          <p:cNvGrpSpPr/>
          <p:nvPr/>
        </p:nvGrpSpPr>
        <p:grpSpPr>
          <a:xfrm>
            <a:off x="7176280" y="4617022"/>
            <a:ext cx="2352668" cy="1764758"/>
            <a:chOff x="17000631" y="8426751"/>
            <a:chExt cx="2686646" cy="2015280"/>
          </a:xfrm>
        </p:grpSpPr>
        <p:pic>
          <p:nvPicPr>
            <p:cNvPr id="37" name="Picture 36">
              <a:extLst>
                <a:ext uri="{FF2B5EF4-FFF2-40B4-BE49-F238E27FC236}">
                  <a16:creationId xmlns:a16="http://schemas.microsoft.com/office/drawing/2014/main" id="{BCE6E4FA-E40F-D2F8-071C-08D634F6B699}"/>
                </a:ext>
              </a:extLst>
            </p:cNvPr>
            <p:cNvPicPr>
              <a:picLocks noChangeAspect="1"/>
            </p:cNvPicPr>
            <p:nvPr/>
          </p:nvPicPr>
          <p:blipFill rotWithShape="1">
            <a:blip r:embed="rId2"/>
            <a:srcRect l="19494" t="7104"/>
            <a:stretch/>
          </p:blipFill>
          <p:spPr>
            <a:xfrm>
              <a:off x="17334425" y="8853718"/>
              <a:ext cx="2100492" cy="1588313"/>
            </a:xfrm>
            <a:prstGeom prst="rect">
              <a:avLst/>
            </a:prstGeom>
            <a:ln>
              <a:solidFill>
                <a:schemeClr val="tx1"/>
              </a:solidFill>
            </a:ln>
            <a:effectLst>
              <a:outerShdw blurRad="50800" dist="38100" dir="8100000" algn="tr" rotWithShape="0">
                <a:prstClr val="black">
                  <a:alpha val="40000"/>
                </a:prstClr>
              </a:outerShdw>
            </a:effectLst>
          </p:spPr>
        </p:pic>
        <p:sp>
          <p:nvSpPr>
            <p:cNvPr id="38" name="TextBox 37">
              <a:extLst>
                <a:ext uri="{FF2B5EF4-FFF2-40B4-BE49-F238E27FC236}">
                  <a16:creationId xmlns:a16="http://schemas.microsoft.com/office/drawing/2014/main" id="{CA29E28A-7F8D-EC60-C8A0-BCEC5B5D17A2}"/>
                </a:ext>
              </a:extLst>
            </p:cNvPr>
            <p:cNvSpPr txBox="1"/>
            <p:nvPr/>
          </p:nvSpPr>
          <p:spPr>
            <a:xfrm>
              <a:off x="17000631" y="8426751"/>
              <a:ext cx="2686646" cy="210881"/>
            </a:xfrm>
            <a:prstGeom prst="rect">
              <a:avLst/>
            </a:prstGeom>
            <a:noFill/>
          </p:spPr>
          <p:txBody>
            <a:bodyPr wrap="square" lIns="0" tIns="0" rIns="0" bIns="0" rtlCol="0">
              <a:spAutoFit/>
            </a:bodyPr>
            <a:lstStyle/>
            <a:p>
              <a:pPr algn="ctr"/>
              <a:r>
                <a:rPr lang="en-US" sz="1200">
                  <a:solidFill>
                    <a:schemeClr val="tx2"/>
                  </a:solidFill>
                  <a:latin typeface="Montserrat" pitchFamily="2" charset="77"/>
                </a:rPr>
                <a:t>Client Cluster/Segmentation</a:t>
              </a:r>
            </a:p>
          </p:txBody>
        </p:sp>
      </p:grpSp>
      <p:pic>
        <p:nvPicPr>
          <p:cNvPr id="23" name="Picture 22">
            <a:extLst>
              <a:ext uri="{FF2B5EF4-FFF2-40B4-BE49-F238E27FC236}">
                <a16:creationId xmlns:a16="http://schemas.microsoft.com/office/drawing/2014/main" id="{79C48D24-522A-4AB6-D588-BF386CC36624}"/>
              </a:ext>
            </a:extLst>
          </p:cNvPr>
          <p:cNvPicPr>
            <a:picLocks noChangeAspect="1"/>
          </p:cNvPicPr>
          <p:nvPr/>
        </p:nvPicPr>
        <p:blipFill rotWithShape="1">
          <a:blip r:embed="rId3"/>
          <a:srcRect/>
          <a:stretch/>
        </p:blipFill>
        <p:spPr>
          <a:xfrm>
            <a:off x="6446142" y="1185437"/>
            <a:ext cx="5054887" cy="2885690"/>
          </a:xfrm>
          <a:prstGeom prst="rect">
            <a:avLst/>
          </a:prstGeom>
        </p:spPr>
      </p:pic>
      <p:grpSp>
        <p:nvGrpSpPr>
          <p:cNvPr id="75" name="Group 74">
            <a:extLst>
              <a:ext uri="{FF2B5EF4-FFF2-40B4-BE49-F238E27FC236}">
                <a16:creationId xmlns:a16="http://schemas.microsoft.com/office/drawing/2014/main" id="{80F3C9EB-9D88-AF7A-1F4A-359ABFA0F951}"/>
              </a:ext>
            </a:extLst>
          </p:cNvPr>
          <p:cNvGrpSpPr/>
          <p:nvPr/>
        </p:nvGrpSpPr>
        <p:grpSpPr>
          <a:xfrm>
            <a:off x="9642101" y="4617022"/>
            <a:ext cx="2256437" cy="1725797"/>
            <a:chOff x="17010239" y="5483583"/>
            <a:chExt cx="2521256" cy="1928340"/>
          </a:xfrm>
        </p:grpSpPr>
        <p:pic>
          <p:nvPicPr>
            <p:cNvPr id="26" name="Picture 25">
              <a:extLst>
                <a:ext uri="{FF2B5EF4-FFF2-40B4-BE49-F238E27FC236}">
                  <a16:creationId xmlns:a16="http://schemas.microsoft.com/office/drawing/2014/main" id="{DA3D8440-CF72-4396-CD87-F7CB4236A290}"/>
                </a:ext>
              </a:extLst>
            </p:cNvPr>
            <p:cNvPicPr>
              <a:picLocks noChangeAspect="1"/>
            </p:cNvPicPr>
            <p:nvPr/>
          </p:nvPicPr>
          <p:blipFill>
            <a:blip r:embed="rId4"/>
            <a:stretch>
              <a:fillRect/>
            </a:stretch>
          </p:blipFill>
          <p:spPr>
            <a:xfrm>
              <a:off x="17070771" y="5888010"/>
              <a:ext cx="2460724" cy="1523913"/>
            </a:xfrm>
            <a:prstGeom prst="rect">
              <a:avLst/>
            </a:prstGeom>
          </p:spPr>
        </p:pic>
        <p:sp>
          <p:nvSpPr>
            <p:cNvPr id="31" name="TextBox 30">
              <a:extLst>
                <a:ext uri="{FF2B5EF4-FFF2-40B4-BE49-F238E27FC236}">
                  <a16:creationId xmlns:a16="http://schemas.microsoft.com/office/drawing/2014/main" id="{8ECA55E0-C4AC-B9AC-D102-B85038955C46}"/>
                </a:ext>
              </a:extLst>
            </p:cNvPr>
            <p:cNvSpPr txBox="1"/>
            <p:nvPr/>
          </p:nvSpPr>
          <p:spPr>
            <a:xfrm>
              <a:off x="17010239" y="5483583"/>
              <a:ext cx="2402254" cy="206339"/>
            </a:xfrm>
            <a:prstGeom prst="rect">
              <a:avLst/>
            </a:prstGeom>
            <a:noFill/>
          </p:spPr>
          <p:txBody>
            <a:bodyPr wrap="square" lIns="0" tIns="0" rIns="0" bIns="0" rtlCol="0">
              <a:spAutoFit/>
            </a:bodyPr>
            <a:lstStyle/>
            <a:p>
              <a:pPr algn="ctr"/>
              <a:r>
                <a:rPr lang="en-US" sz="1200">
                  <a:solidFill>
                    <a:schemeClr val="tx2"/>
                  </a:solidFill>
                  <a:latin typeface="Montserrat" pitchFamily="2" charset="77"/>
                </a:rPr>
                <a:t>NPS ML Prediction Model</a:t>
              </a:r>
            </a:p>
          </p:txBody>
        </p:sp>
      </p:grpSp>
      <p:grpSp>
        <p:nvGrpSpPr>
          <p:cNvPr id="76" name="Group 75">
            <a:extLst>
              <a:ext uri="{FF2B5EF4-FFF2-40B4-BE49-F238E27FC236}">
                <a16:creationId xmlns:a16="http://schemas.microsoft.com/office/drawing/2014/main" id="{AFAEBB46-D509-5CE9-081C-9BD384CC28AA}"/>
              </a:ext>
            </a:extLst>
          </p:cNvPr>
          <p:cNvGrpSpPr/>
          <p:nvPr/>
        </p:nvGrpSpPr>
        <p:grpSpPr>
          <a:xfrm>
            <a:off x="4770451" y="4627664"/>
            <a:ext cx="2309813" cy="1565658"/>
            <a:chOff x="13295460" y="8258061"/>
            <a:chExt cx="3069718" cy="2080741"/>
          </a:xfrm>
        </p:grpSpPr>
        <p:sp>
          <p:nvSpPr>
            <p:cNvPr id="60" name="TextBox 59">
              <a:extLst>
                <a:ext uri="{FF2B5EF4-FFF2-40B4-BE49-F238E27FC236}">
                  <a16:creationId xmlns:a16="http://schemas.microsoft.com/office/drawing/2014/main" id="{FDE07D38-8F34-3AC6-AB20-253E74C192DE}"/>
                </a:ext>
              </a:extLst>
            </p:cNvPr>
            <p:cNvSpPr txBox="1"/>
            <p:nvPr/>
          </p:nvSpPr>
          <p:spPr>
            <a:xfrm>
              <a:off x="13347874" y="8258061"/>
              <a:ext cx="2686646" cy="245419"/>
            </a:xfrm>
            <a:prstGeom prst="rect">
              <a:avLst/>
            </a:prstGeom>
            <a:noFill/>
          </p:spPr>
          <p:txBody>
            <a:bodyPr wrap="square" lIns="0" tIns="0" rIns="0" bIns="0" rtlCol="0">
              <a:spAutoFit/>
            </a:bodyPr>
            <a:lstStyle/>
            <a:p>
              <a:r>
                <a:rPr lang="en-US" sz="1200">
                  <a:solidFill>
                    <a:schemeClr val="tx2"/>
                  </a:solidFill>
                  <a:latin typeface="Montserrat" pitchFamily="2" charset="77"/>
                </a:rPr>
                <a:t>Client Journey Maps</a:t>
              </a:r>
            </a:p>
          </p:txBody>
        </p:sp>
        <p:grpSp>
          <p:nvGrpSpPr>
            <p:cNvPr id="63" name="Group 62">
              <a:extLst>
                <a:ext uri="{FF2B5EF4-FFF2-40B4-BE49-F238E27FC236}">
                  <a16:creationId xmlns:a16="http://schemas.microsoft.com/office/drawing/2014/main" id="{7934480A-37AF-0A3D-07B6-B14F70E7EDEB}"/>
                </a:ext>
              </a:extLst>
            </p:cNvPr>
            <p:cNvGrpSpPr/>
            <p:nvPr/>
          </p:nvGrpSpPr>
          <p:grpSpPr>
            <a:xfrm>
              <a:off x="13295460" y="8749591"/>
              <a:ext cx="3069718" cy="1589211"/>
              <a:chOff x="3077317" y="5313488"/>
              <a:chExt cx="3069718" cy="1589211"/>
            </a:xfrm>
          </p:grpSpPr>
          <p:pic>
            <p:nvPicPr>
              <p:cNvPr id="61" name="Picture 60">
                <a:extLst>
                  <a:ext uri="{FF2B5EF4-FFF2-40B4-BE49-F238E27FC236}">
                    <a16:creationId xmlns:a16="http://schemas.microsoft.com/office/drawing/2014/main" id="{D5042C5A-D111-34C3-83B0-87C45B6C44A9}"/>
                  </a:ext>
                </a:extLst>
              </p:cNvPr>
              <p:cNvPicPr>
                <a:picLocks noChangeAspect="1"/>
              </p:cNvPicPr>
              <p:nvPr/>
            </p:nvPicPr>
            <p:blipFill>
              <a:blip r:embed="rId5"/>
              <a:stretch>
                <a:fillRect/>
              </a:stretch>
            </p:blipFill>
            <p:spPr>
              <a:xfrm>
                <a:off x="3077317" y="5313488"/>
                <a:ext cx="2911837" cy="1123664"/>
              </a:xfrm>
              <a:prstGeom prst="rect">
                <a:avLst/>
              </a:prstGeom>
              <a:ln>
                <a:noFill/>
              </a:ln>
              <a:effectLst>
                <a:outerShdw blurRad="190500" algn="tl" rotWithShape="0">
                  <a:srgbClr val="000000">
                    <a:alpha val="70000"/>
                  </a:srgbClr>
                </a:outerShdw>
              </a:effectLst>
            </p:spPr>
          </p:pic>
          <p:pic>
            <p:nvPicPr>
              <p:cNvPr id="62" name="Picture 61">
                <a:extLst>
                  <a:ext uri="{FF2B5EF4-FFF2-40B4-BE49-F238E27FC236}">
                    <a16:creationId xmlns:a16="http://schemas.microsoft.com/office/drawing/2014/main" id="{61684C15-4451-D188-8131-4A54AA5A5F83}"/>
                  </a:ext>
                </a:extLst>
              </p:cNvPr>
              <p:cNvPicPr>
                <a:picLocks noChangeAspect="1"/>
              </p:cNvPicPr>
              <p:nvPr/>
            </p:nvPicPr>
            <p:blipFill>
              <a:blip r:embed="rId6"/>
              <a:stretch>
                <a:fillRect/>
              </a:stretch>
            </p:blipFill>
            <p:spPr>
              <a:xfrm>
                <a:off x="3282586" y="5788366"/>
                <a:ext cx="2864449" cy="1114333"/>
              </a:xfrm>
              <a:prstGeom prst="rect">
                <a:avLst/>
              </a:prstGeom>
              <a:ln>
                <a:noFill/>
              </a:ln>
              <a:effectLst>
                <a:outerShdw blurRad="190500" algn="tl" rotWithShape="0">
                  <a:srgbClr val="000000">
                    <a:alpha val="70000"/>
                  </a:srgbClr>
                </a:outerShdw>
              </a:effectLst>
            </p:spPr>
          </p:pic>
        </p:grpSp>
      </p:grpSp>
      <p:grpSp>
        <p:nvGrpSpPr>
          <p:cNvPr id="79" name="Group 78">
            <a:extLst>
              <a:ext uri="{FF2B5EF4-FFF2-40B4-BE49-F238E27FC236}">
                <a16:creationId xmlns:a16="http://schemas.microsoft.com/office/drawing/2014/main" id="{AC87C6D4-9C6D-864F-5FB4-5FDBE5252FCC}"/>
              </a:ext>
            </a:extLst>
          </p:cNvPr>
          <p:cNvGrpSpPr/>
          <p:nvPr/>
        </p:nvGrpSpPr>
        <p:grpSpPr>
          <a:xfrm>
            <a:off x="134019" y="4617022"/>
            <a:ext cx="2074329" cy="1822647"/>
            <a:chOff x="2221749" y="4944012"/>
            <a:chExt cx="2074329" cy="1822647"/>
          </a:xfrm>
        </p:grpSpPr>
        <p:pic>
          <p:nvPicPr>
            <p:cNvPr id="21" name="Picture 20">
              <a:extLst>
                <a:ext uri="{FF2B5EF4-FFF2-40B4-BE49-F238E27FC236}">
                  <a16:creationId xmlns:a16="http://schemas.microsoft.com/office/drawing/2014/main" id="{76F1788F-A5E2-271D-79D1-BE934D713C45}"/>
                </a:ext>
              </a:extLst>
            </p:cNvPr>
            <p:cNvPicPr>
              <a:picLocks noChangeAspect="1"/>
            </p:cNvPicPr>
            <p:nvPr/>
          </p:nvPicPr>
          <p:blipFill>
            <a:blip r:embed="rId7"/>
            <a:stretch>
              <a:fillRect/>
            </a:stretch>
          </p:blipFill>
          <p:spPr>
            <a:xfrm>
              <a:off x="2221749" y="5324507"/>
              <a:ext cx="1758316" cy="1442152"/>
            </a:xfrm>
            <a:prstGeom prst="rect">
              <a:avLst/>
            </a:prstGeom>
            <a:effectLst>
              <a:outerShdw blurRad="50800" dist="38100" dir="2700000" algn="tl" rotWithShape="0">
                <a:prstClr val="black">
                  <a:alpha val="40000"/>
                </a:prstClr>
              </a:outerShdw>
            </a:effectLst>
          </p:spPr>
        </p:pic>
        <p:sp>
          <p:nvSpPr>
            <p:cNvPr id="78" name="TextBox 77">
              <a:extLst>
                <a:ext uri="{FF2B5EF4-FFF2-40B4-BE49-F238E27FC236}">
                  <a16:creationId xmlns:a16="http://schemas.microsoft.com/office/drawing/2014/main" id="{C6874109-F2B9-1EB3-A69E-A5C5D979687D}"/>
                </a:ext>
              </a:extLst>
            </p:cNvPr>
            <p:cNvSpPr txBox="1"/>
            <p:nvPr/>
          </p:nvSpPr>
          <p:spPr>
            <a:xfrm>
              <a:off x="2274508" y="4944012"/>
              <a:ext cx="2021570" cy="184666"/>
            </a:xfrm>
            <a:prstGeom prst="rect">
              <a:avLst/>
            </a:prstGeom>
            <a:noFill/>
          </p:spPr>
          <p:txBody>
            <a:bodyPr wrap="square" lIns="0" tIns="0" rIns="0" bIns="0" rtlCol="0">
              <a:spAutoFit/>
            </a:bodyPr>
            <a:lstStyle/>
            <a:p>
              <a:r>
                <a:rPr lang="en-US" sz="1200">
                  <a:solidFill>
                    <a:schemeClr val="tx2"/>
                  </a:solidFill>
                  <a:latin typeface="Montserrat" pitchFamily="2" charset="77"/>
                </a:rPr>
                <a:t>CX + OX Analysis</a:t>
              </a:r>
            </a:p>
          </p:txBody>
        </p:sp>
      </p:grpSp>
      <p:grpSp>
        <p:nvGrpSpPr>
          <p:cNvPr id="83" name="Group 82">
            <a:extLst>
              <a:ext uri="{FF2B5EF4-FFF2-40B4-BE49-F238E27FC236}">
                <a16:creationId xmlns:a16="http://schemas.microsoft.com/office/drawing/2014/main" id="{A099DB29-BCF2-2989-4593-9AA8CFBD20D0}"/>
              </a:ext>
            </a:extLst>
          </p:cNvPr>
          <p:cNvGrpSpPr/>
          <p:nvPr/>
        </p:nvGrpSpPr>
        <p:grpSpPr>
          <a:xfrm>
            <a:off x="2245415" y="4617022"/>
            <a:ext cx="2172377" cy="1737740"/>
            <a:chOff x="2201044" y="5009137"/>
            <a:chExt cx="2172377" cy="1737740"/>
          </a:xfrm>
        </p:grpSpPr>
        <p:sp>
          <p:nvSpPr>
            <p:cNvPr id="80" name="TextBox 79">
              <a:extLst>
                <a:ext uri="{FF2B5EF4-FFF2-40B4-BE49-F238E27FC236}">
                  <a16:creationId xmlns:a16="http://schemas.microsoft.com/office/drawing/2014/main" id="{F75CEB72-1471-C7ED-662D-E74DD88BE225}"/>
                </a:ext>
              </a:extLst>
            </p:cNvPr>
            <p:cNvSpPr txBox="1"/>
            <p:nvPr/>
          </p:nvSpPr>
          <p:spPr>
            <a:xfrm>
              <a:off x="2276448" y="5009137"/>
              <a:ext cx="2021570" cy="184666"/>
            </a:xfrm>
            <a:prstGeom prst="rect">
              <a:avLst/>
            </a:prstGeom>
            <a:noFill/>
          </p:spPr>
          <p:txBody>
            <a:bodyPr wrap="square" lIns="0" tIns="0" rIns="0" bIns="0" rtlCol="0">
              <a:spAutoFit/>
            </a:bodyPr>
            <a:lstStyle/>
            <a:p>
              <a:r>
                <a:rPr lang="en-US" sz="1200">
                  <a:solidFill>
                    <a:schemeClr val="tx2"/>
                  </a:solidFill>
                  <a:latin typeface="Montserrat" pitchFamily="2" charset="77"/>
                </a:rPr>
                <a:t>Pre/Post Analysis</a:t>
              </a:r>
            </a:p>
          </p:txBody>
        </p:sp>
        <p:pic>
          <p:nvPicPr>
            <p:cNvPr id="82" name="Picture 81">
              <a:extLst>
                <a:ext uri="{FF2B5EF4-FFF2-40B4-BE49-F238E27FC236}">
                  <a16:creationId xmlns:a16="http://schemas.microsoft.com/office/drawing/2014/main" id="{FA3D20C4-00CE-6DA1-FF1A-5675DE52E14C}"/>
                </a:ext>
              </a:extLst>
            </p:cNvPr>
            <p:cNvPicPr>
              <a:picLocks noChangeAspect="1"/>
            </p:cNvPicPr>
            <p:nvPr/>
          </p:nvPicPr>
          <p:blipFill>
            <a:blip r:embed="rId8"/>
            <a:stretch>
              <a:fillRect/>
            </a:stretch>
          </p:blipFill>
          <p:spPr>
            <a:xfrm>
              <a:off x="2201044" y="5383027"/>
              <a:ext cx="2172377" cy="1363850"/>
            </a:xfrm>
            <a:prstGeom prst="rect">
              <a:avLst/>
            </a:prstGeom>
            <a:effectLst>
              <a:outerShdw blurRad="50800" dist="38100" dir="8100000" algn="tr" rotWithShape="0">
                <a:prstClr val="black">
                  <a:alpha val="40000"/>
                </a:prstClr>
              </a:outerShdw>
            </a:effectLst>
          </p:spPr>
        </p:pic>
      </p:grpSp>
      <p:sp>
        <p:nvSpPr>
          <p:cNvPr id="87" name="Arrow: Right 86">
            <a:extLst>
              <a:ext uri="{FF2B5EF4-FFF2-40B4-BE49-F238E27FC236}">
                <a16:creationId xmlns:a16="http://schemas.microsoft.com/office/drawing/2014/main" id="{DDB9C6FD-1B00-4EAD-D56C-4CE328678A8E}"/>
              </a:ext>
            </a:extLst>
          </p:cNvPr>
          <p:cNvSpPr/>
          <p:nvPr/>
        </p:nvSpPr>
        <p:spPr>
          <a:xfrm>
            <a:off x="90259" y="4477930"/>
            <a:ext cx="12016676" cy="433761"/>
          </a:xfrm>
          <a:prstGeom prst="rightArrow">
            <a:avLst/>
          </a:prstGeom>
          <a:solidFill>
            <a:schemeClr val="accent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3E40D6E6-CFD2-428A-D437-06DBC59E01D1}"/>
              </a:ext>
            </a:extLst>
          </p:cNvPr>
          <p:cNvSpPr txBox="1"/>
          <p:nvPr/>
        </p:nvSpPr>
        <p:spPr>
          <a:xfrm>
            <a:off x="4028971" y="4235325"/>
            <a:ext cx="3752851" cy="276999"/>
          </a:xfrm>
          <a:prstGeom prst="rect">
            <a:avLst/>
          </a:prstGeom>
          <a:noFill/>
        </p:spPr>
        <p:txBody>
          <a:bodyPr wrap="square" lIns="0" tIns="0" rIns="0" bIns="0" rtlCol="0">
            <a:spAutoFit/>
          </a:bodyPr>
          <a:lstStyle/>
          <a:p>
            <a:pPr algn="ctr"/>
            <a:r>
              <a:rPr lang="en-US">
                <a:solidFill>
                  <a:schemeClr val="tx2"/>
                </a:solidFill>
                <a:latin typeface="Montserrat" pitchFamily="2" charset="77"/>
              </a:rPr>
              <a:t>CX Analytics Maturity</a:t>
            </a:r>
          </a:p>
        </p:txBody>
      </p:sp>
    </p:spTree>
    <p:extLst>
      <p:ext uri="{BB962C8B-B14F-4D97-AF65-F5344CB8AC3E}">
        <p14:creationId xmlns:p14="http://schemas.microsoft.com/office/powerpoint/2010/main" val="669972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601B805-B786-946D-72F5-808FF44559E4}"/>
              </a:ext>
            </a:extLst>
          </p:cNvPr>
          <p:cNvSpPr>
            <a:spLocks noGrp="1"/>
          </p:cNvSpPr>
          <p:nvPr>
            <p:ph type="title" idx="4294967295"/>
          </p:nvPr>
        </p:nvSpPr>
        <p:spPr>
          <a:xfrm>
            <a:off x="0" y="-526220"/>
            <a:ext cx="11968293" cy="1449387"/>
          </a:xfrm>
        </p:spPr>
        <p:txBody>
          <a:bodyPr/>
          <a:lstStyle/>
          <a:p>
            <a:r>
              <a:rPr lang="en-US" dirty="0">
                <a:solidFill>
                  <a:srgbClr val="C00000"/>
                </a:solidFill>
              </a:rPr>
              <a:t>NPS – Bain’s Inner and Outer Loops – </a:t>
            </a:r>
            <a:r>
              <a:rPr lang="en-US" sz="2800" dirty="0">
                <a:solidFill>
                  <a:srgbClr val="C00000"/>
                </a:solidFill>
              </a:rPr>
              <a:t>Mid to Long Term Plan</a:t>
            </a:r>
            <a:endParaRPr lang="en-US" dirty="0">
              <a:solidFill>
                <a:srgbClr val="C00000"/>
              </a:solidFill>
            </a:endParaRPr>
          </a:p>
        </p:txBody>
      </p:sp>
      <p:sp>
        <p:nvSpPr>
          <p:cNvPr id="6" name="TextBox 5">
            <a:extLst>
              <a:ext uri="{FF2B5EF4-FFF2-40B4-BE49-F238E27FC236}">
                <a16:creationId xmlns:a16="http://schemas.microsoft.com/office/drawing/2014/main" id="{19AC2303-2B58-429C-879A-C6367D36F58B}"/>
              </a:ext>
            </a:extLst>
          </p:cNvPr>
          <p:cNvSpPr txBox="1"/>
          <p:nvPr/>
        </p:nvSpPr>
        <p:spPr>
          <a:xfrm>
            <a:off x="1476969" y="5745864"/>
            <a:ext cx="8933259" cy="923330"/>
          </a:xfrm>
          <a:prstGeom prst="rect">
            <a:avLst/>
          </a:prstGeom>
          <a:noFill/>
        </p:spPr>
        <p:txBody>
          <a:bodyPr wrap="square" lIns="0" tIns="0" rIns="0" bIns="0" rtlCol="0" anchor="t">
            <a:spAutoFit/>
          </a:bodyPr>
          <a:lstStyle/>
          <a:p>
            <a:pPr algn="ctr"/>
            <a:r>
              <a:rPr lang="en-US" sz="2000" dirty="0">
                <a:latin typeface="Arial" panose="020B0604020202020204" pitchFamily="34" charset="0"/>
                <a:cs typeface="Arial" panose="020B0604020202020204" pitchFamily="34" charset="0"/>
              </a:rPr>
              <a:t>T</a:t>
            </a:r>
            <a:r>
              <a:rPr lang="en-US" sz="2000" b="0" dirty="0">
                <a:latin typeface="Arial" panose="020B0604020202020204" pitchFamily="34" charset="0"/>
                <a:cs typeface="Arial" panose="020B0604020202020204" pitchFamily="34" charset="0"/>
              </a:rPr>
              <a:t>he </a:t>
            </a:r>
            <a:r>
              <a:rPr lang="en-US" sz="2000" b="1" dirty="0">
                <a:solidFill>
                  <a:srgbClr val="FF0000"/>
                </a:solidFill>
                <a:latin typeface="Arial" panose="020B0604020202020204" pitchFamily="34" charset="0"/>
                <a:cs typeface="Arial" panose="020B0604020202020204" pitchFamily="34" charset="0"/>
              </a:rPr>
              <a:t>Inner Loop</a:t>
            </a:r>
            <a:r>
              <a:rPr lang="en-US" sz="2000" b="0" dirty="0">
                <a:latin typeface="Arial" panose="020B0604020202020204" pitchFamily="34" charset="0"/>
                <a:cs typeface="Arial" panose="020B0604020202020204" pitchFamily="34" charset="0"/>
              </a:rPr>
              <a:t>, promotes individual or team learning, while the </a:t>
            </a:r>
            <a:r>
              <a:rPr lang="en-US" sz="2000" b="1" dirty="0">
                <a:solidFill>
                  <a:srgbClr val="FF0000"/>
                </a:solidFill>
                <a:latin typeface="Arial" panose="020B0604020202020204" pitchFamily="34" charset="0"/>
                <a:cs typeface="Arial" panose="020B0604020202020204" pitchFamily="34" charset="0"/>
              </a:rPr>
              <a:t>Outer Loop </a:t>
            </a:r>
            <a:r>
              <a:rPr lang="en-US" sz="2000" b="0" dirty="0">
                <a:latin typeface="Arial" panose="020B0604020202020204" pitchFamily="34" charset="0"/>
                <a:cs typeface="Arial" panose="020B0604020202020204" pitchFamily="34" charset="0"/>
              </a:rPr>
              <a:t>supports improvements that go beyond individuals or teams</a:t>
            </a:r>
          </a:p>
          <a:p>
            <a:pPr algn="l"/>
            <a:endParaRPr lang="en-US" sz="2000" dirty="0"/>
          </a:p>
        </p:txBody>
      </p:sp>
      <p:pic>
        <p:nvPicPr>
          <p:cNvPr id="7" name="Picture 6">
            <a:extLst>
              <a:ext uri="{FF2B5EF4-FFF2-40B4-BE49-F238E27FC236}">
                <a16:creationId xmlns:a16="http://schemas.microsoft.com/office/drawing/2014/main" id="{A4D8C673-9228-4661-A9BC-3C3A9F2581C5}"/>
              </a:ext>
            </a:extLst>
          </p:cNvPr>
          <p:cNvPicPr>
            <a:picLocks noChangeAspect="1"/>
          </p:cNvPicPr>
          <p:nvPr/>
        </p:nvPicPr>
        <p:blipFill>
          <a:blip r:embed="rId2"/>
          <a:stretch>
            <a:fillRect/>
          </a:stretch>
        </p:blipFill>
        <p:spPr>
          <a:xfrm>
            <a:off x="1904998" y="1589044"/>
            <a:ext cx="8077200" cy="4047949"/>
          </a:xfrm>
          <a:prstGeom prst="rect">
            <a:avLst/>
          </a:prstGeom>
        </p:spPr>
      </p:pic>
      <p:sp>
        <p:nvSpPr>
          <p:cNvPr id="5" name="Text Placeholder 2">
            <a:extLst>
              <a:ext uri="{FF2B5EF4-FFF2-40B4-BE49-F238E27FC236}">
                <a16:creationId xmlns:a16="http://schemas.microsoft.com/office/drawing/2014/main" id="{7F55D858-EA6C-8820-12B3-334304147D7B}"/>
              </a:ext>
            </a:extLst>
          </p:cNvPr>
          <p:cNvSpPr txBox="1">
            <a:spLocks/>
          </p:cNvSpPr>
          <p:nvPr/>
        </p:nvSpPr>
        <p:spPr>
          <a:xfrm>
            <a:off x="169178" y="1145506"/>
            <a:ext cx="8382000" cy="58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r>
              <a:rPr lang="en-US" dirty="0"/>
              <a:t>Establish Governance Process</a:t>
            </a:r>
          </a:p>
        </p:txBody>
      </p:sp>
    </p:spTree>
    <p:extLst>
      <p:ext uri="{BB962C8B-B14F-4D97-AF65-F5344CB8AC3E}">
        <p14:creationId xmlns:p14="http://schemas.microsoft.com/office/powerpoint/2010/main" val="105652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BainBulletsConfiguration" hidden="1"/>
          <p:cNvSpPr txBox="1"/>
          <p:nvPr/>
        </p:nvSpPr>
        <p:spPr>
          <a:xfrm>
            <a:off x="1713599" y="78932"/>
            <a:ext cx="8029268" cy="107722"/>
          </a:xfrm>
          <a:prstGeom prst="rect">
            <a:avLst/>
          </a:prstGeom>
          <a:noFill/>
        </p:spPr>
        <p:txBody>
          <a:bodyPr vert="horz" wrap="square" lIns="41293" rIns="41293" rtlCol="0">
            <a:spAutoFit/>
          </a:bodyPr>
          <a:lstStyle/>
          <a:p>
            <a:pPr defTabSz="448164"/>
            <a:r>
              <a:rPr lang="en-US" sz="100">
                <a:solidFill>
                  <a:srgbClr val="FFFFFF"/>
                </a:solidFill>
              </a:rPr>
              <a:t>97_84</a:t>
            </a:r>
          </a:p>
        </p:txBody>
      </p:sp>
      <p:sp>
        <p:nvSpPr>
          <p:cNvPr id="29" name="Title 1">
            <a:extLst>
              <a:ext uri="{FF2B5EF4-FFF2-40B4-BE49-F238E27FC236}">
                <a16:creationId xmlns:a16="http://schemas.microsoft.com/office/drawing/2014/main" id="{5CE2B78E-87DF-2AB2-B93F-FEDB207EE795}"/>
              </a:ext>
            </a:extLst>
          </p:cNvPr>
          <p:cNvSpPr txBox="1">
            <a:spLocks/>
          </p:cNvSpPr>
          <p:nvPr/>
        </p:nvSpPr>
        <p:spPr>
          <a:xfrm>
            <a:off x="106250" y="-14960"/>
            <a:ext cx="11582966" cy="1114333"/>
          </a:xfrm>
          <a:prstGeom prst="rect">
            <a:avLst/>
          </a:prstGeom>
        </p:spPr>
        <p:txBody>
          <a:bodyPr vert="horz" lIns="0" tIns="45720" rIns="91440" bIns="45720" rtlCol="0" anchor="ctr">
            <a:noAutofit/>
          </a:bodyPr>
          <a:lstStyle>
            <a:lvl1pPr algn="l" defTabSz="914400" rtl="0" eaLnBrk="1" latinLnBrk="0" hangingPunct="1">
              <a:lnSpc>
                <a:spcPct val="90000"/>
              </a:lnSpc>
              <a:spcBef>
                <a:spcPct val="0"/>
              </a:spcBef>
              <a:buNone/>
              <a:defRPr sz="3600" b="0" i="0" kern="1200">
                <a:solidFill>
                  <a:schemeClr val="tx1"/>
                </a:solidFill>
                <a:latin typeface="Montserrat Light" pitchFamily="2" charset="77"/>
                <a:ea typeface="+mj-ea"/>
                <a:cs typeface="+mj-cs"/>
              </a:defRPr>
            </a:lvl1pPr>
          </a:lstStyle>
          <a:p>
            <a:r>
              <a:rPr lang="en-US" sz="4100" spc="-50" dirty="0">
                <a:solidFill>
                  <a:srgbClr val="C00000"/>
                </a:solidFill>
                <a:latin typeface="+mj-lt"/>
              </a:rPr>
              <a:t>CX</a:t>
            </a:r>
            <a:r>
              <a:rPr lang="en-US" b="1" dirty="0">
                <a:solidFill>
                  <a:srgbClr val="5C6770"/>
                </a:solidFill>
                <a:latin typeface="+mn-lt"/>
              </a:rPr>
              <a:t> </a:t>
            </a:r>
            <a:r>
              <a:rPr lang="en-US" sz="4100" spc="-50" dirty="0">
                <a:solidFill>
                  <a:srgbClr val="C00000"/>
                </a:solidFill>
                <a:latin typeface="+mj-lt"/>
              </a:rPr>
              <a:t>Governance and Action Planning</a:t>
            </a:r>
          </a:p>
        </p:txBody>
      </p:sp>
      <p:sp>
        <p:nvSpPr>
          <p:cNvPr id="32" name="TextBox 31">
            <a:extLst>
              <a:ext uri="{FF2B5EF4-FFF2-40B4-BE49-F238E27FC236}">
                <a16:creationId xmlns:a16="http://schemas.microsoft.com/office/drawing/2014/main" id="{FD67BEF6-F7F4-AC19-9777-3CF1D3D84A6F}"/>
              </a:ext>
            </a:extLst>
          </p:cNvPr>
          <p:cNvSpPr txBox="1"/>
          <p:nvPr/>
        </p:nvSpPr>
        <p:spPr>
          <a:xfrm>
            <a:off x="260244" y="1000462"/>
            <a:ext cx="8615315" cy="646331"/>
          </a:xfrm>
          <a:prstGeom prst="rect">
            <a:avLst/>
          </a:prstGeom>
          <a:noFill/>
        </p:spPr>
        <p:txBody>
          <a:bodyPr wrap="square">
            <a:spAutoFit/>
          </a:bodyPr>
          <a:lstStyle/>
          <a:p>
            <a:pPr>
              <a:defRPr/>
            </a:pPr>
            <a:r>
              <a:rPr lang="en-US" b="1">
                <a:latin typeface="+mj-lt"/>
                <a:cs typeface="Arial"/>
              </a:rPr>
              <a:t>We’ve deployed Bain and Company’s “Inner and Outer Loop” methodology for improving NPS/Client satisfaction with 8  different business units</a:t>
            </a:r>
          </a:p>
        </p:txBody>
      </p:sp>
      <p:grpSp>
        <p:nvGrpSpPr>
          <p:cNvPr id="6" name="Group 5">
            <a:extLst>
              <a:ext uri="{FF2B5EF4-FFF2-40B4-BE49-F238E27FC236}">
                <a16:creationId xmlns:a16="http://schemas.microsoft.com/office/drawing/2014/main" id="{05E36514-240C-9EA1-DBEA-8F68D39FDDAE}"/>
              </a:ext>
            </a:extLst>
          </p:cNvPr>
          <p:cNvGrpSpPr/>
          <p:nvPr/>
        </p:nvGrpSpPr>
        <p:grpSpPr>
          <a:xfrm>
            <a:off x="8920065" y="-17234"/>
            <a:ext cx="2598126" cy="2443193"/>
            <a:chOff x="9144754" y="-2302"/>
            <a:chExt cx="2709586" cy="2602541"/>
          </a:xfrm>
        </p:grpSpPr>
        <p:pic>
          <p:nvPicPr>
            <p:cNvPr id="7" name="Picture 6">
              <a:extLst>
                <a:ext uri="{FF2B5EF4-FFF2-40B4-BE49-F238E27FC236}">
                  <a16:creationId xmlns:a16="http://schemas.microsoft.com/office/drawing/2014/main" id="{E676D7D0-A080-92E3-5240-969B823FFB02}"/>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334821">
              <a:off x="9144754" y="-2302"/>
              <a:ext cx="2709586" cy="2602541"/>
            </a:xfrm>
            <a:prstGeom prst="rect">
              <a:avLst/>
            </a:prstGeom>
            <a:effectLst/>
          </p:spPr>
        </p:pic>
        <p:sp>
          <p:nvSpPr>
            <p:cNvPr id="8" name="TextBox 7">
              <a:extLst>
                <a:ext uri="{FF2B5EF4-FFF2-40B4-BE49-F238E27FC236}">
                  <a16:creationId xmlns:a16="http://schemas.microsoft.com/office/drawing/2014/main" id="{5CB2D61C-2722-2B72-4A7B-09282DD289F6}"/>
                </a:ext>
              </a:extLst>
            </p:cNvPr>
            <p:cNvSpPr txBox="1"/>
            <p:nvPr/>
          </p:nvSpPr>
          <p:spPr>
            <a:xfrm>
              <a:off x="9844570" y="1146518"/>
              <a:ext cx="1381004" cy="180317"/>
            </a:xfrm>
            <a:prstGeom prst="rect">
              <a:avLst/>
            </a:prstGeom>
            <a:noFill/>
          </p:spPr>
          <p:txBody>
            <a:bodyPr wrap="square" lIns="0" tIns="0" rIns="0" bIns="0" rtlCol="0">
              <a:spAutoFit/>
            </a:bodyPr>
            <a:lstStyle/>
            <a:p>
              <a:pPr algn="ctr"/>
              <a:r>
                <a:rPr lang="en-US" sz="1100" b="1" dirty="0">
                  <a:solidFill>
                    <a:srgbClr val="C00000"/>
                  </a:solidFill>
                  <a:latin typeface="Montserrat" pitchFamily="2" charset="77"/>
                </a:rPr>
                <a:t>Inner Loop</a:t>
              </a:r>
              <a:endParaRPr lang="en-US" sz="1200" b="1" dirty="0">
                <a:solidFill>
                  <a:srgbClr val="C00000"/>
                </a:solidFill>
                <a:latin typeface="Montserrat" pitchFamily="2" charset="77"/>
              </a:endParaRPr>
            </a:p>
          </p:txBody>
        </p:sp>
      </p:grpSp>
      <p:sp>
        <p:nvSpPr>
          <p:cNvPr id="9" name="TextBox 8">
            <a:extLst>
              <a:ext uri="{FF2B5EF4-FFF2-40B4-BE49-F238E27FC236}">
                <a16:creationId xmlns:a16="http://schemas.microsoft.com/office/drawing/2014/main" id="{EEB2CEB0-500A-1924-77FF-185AAE39AF7C}"/>
              </a:ext>
            </a:extLst>
          </p:cNvPr>
          <p:cNvSpPr txBox="1"/>
          <p:nvPr/>
        </p:nvSpPr>
        <p:spPr>
          <a:xfrm>
            <a:off x="575753" y="2531752"/>
            <a:ext cx="5011532" cy="1107996"/>
          </a:xfrm>
          <a:prstGeom prst="rect">
            <a:avLst/>
          </a:prstGeom>
          <a:noFill/>
        </p:spPr>
        <p:txBody>
          <a:bodyPr wrap="square" lIns="0" tIns="0" rIns="0" bIns="0" rtlCol="0">
            <a:spAutoFit/>
          </a:bodyPr>
          <a:lstStyle/>
          <a:p>
            <a:pPr algn="ctr"/>
            <a:r>
              <a:rPr lang="en-US" dirty="0"/>
              <a:t>Clients surveyed throughout the implementation journey allowing project teams to react quickly to any dissatisfaction</a:t>
            </a:r>
          </a:p>
        </p:txBody>
      </p:sp>
      <p:pic>
        <p:nvPicPr>
          <p:cNvPr id="3" name="Picture 2">
            <a:extLst>
              <a:ext uri="{FF2B5EF4-FFF2-40B4-BE49-F238E27FC236}">
                <a16:creationId xmlns:a16="http://schemas.microsoft.com/office/drawing/2014/main" id="{4658C02B-D5BA-645D-998F-BFA94034B7F7}"/>
              </a:ext>
            </a:extLst>
          </p:cNvPr>
          <p:cNvPicPr>
            <a:picLocks noChangeAspect="1"/>
          </p:cNvPicPr>
          <p:nvPr/>
        </p:nvPicPr>
        <p:blipFill rotWithShape="1">
          <a:blip r:embed="rId4"/>
          <a:srcRect t="16040"/>
          <a:stretch/>
        </p:blipFill>
        <p:spPr>
          <a:xfrm>
            <a:off x="5504794" y="3761063"/>
            <a:ext cx="6580956" cy="2409989"/>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6707610-E428-1B2B-57A3-08C403821BAF}"/>
              </a:ext>
            </a:extLst>
          </p:cNvPr>
          <p:cNvPicPr>
            <a:picLocks noChangeAspect="1"/>
          </p:cNvPicPr>
          <p:nvPr/>
        </p:nvPicPr>
        <p:blipFill rotWithShape="1">
          <a:blip r:embed="rId5">
            <a:extLst>
              <a:ext uri="{BEBA8EAE-BF5A-486C-A8C5-ECC9F3942E4B}">
                <a14:imgProps xmlns:a14="http://schemas.microsoft.com/office/drawing/2010/main">
                  <a14:imgLayer r:embed="rId6">
                    <a14:imgEffect>
                      <a14:sharpenSoften amount="50000"/>
                    </a14:imgEffect>
                  </a14:imgLayer>
                </a14:imgProps>
              </a:ext>
            </a:extLst>
          </a:blip>
          <a:srcRect l="4847" t="12408" r="6374"/>
          <a:stretch/>
        </p:blipFill>
        <p:spPr>
          <a:xfrm>
            <a:off x="106250" y="3759576"/>
            <a:ext cx="5327040" cy="2346432"/>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B2C86846-B890-2725-3B90-A5B31107A016}"/>
              </a:ext>
            </a:extLst>
          </p:cNvPr>
          <p:cNvSpPr txBox="1"/>
          <p:nvPr/>
        </p:nvSpPr>
        <p:spPr>
          <a:xfrm>
            <a:off x="6096000" y="2762585"/>
            <a:ext cx="4923485" cy="646331"/>
          </a:xfrm>
          <a:prstGeom prst="rect">
            <a:avLst/>
          </a:prstGeom>
          <a:noFill/>
        </p:spPr>
        <p:txBody>
          <a:bodyPr wrap="square">
            <a:spAutoFit/>
          </a:bodyPr>
          <a:lstStyle/>
          <a:p>
            <a:pPr algn="ctr">
              <a:defRPr/>
            </a:pPr>
            <a:r>
              <a:rPr lang="en-US"/>
              <a:t>Leaders identify common pain points and enact plans to mitigate root cause</a:t>
            </a:r>
          </a:p>
        </p:txBody>
      </p:sp>
    </p:spTree>
    <p:extLst>
      <p:ext uri="{BB962C8B-B14F-4D97-AF65-F5344CB8AC3E}">
        <p14:creationId xmlns:p14="http://schemas.microsoft.com/office/powerpoint/2010/main" val="1493040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ntagon 13">
            <a:extLst>
              <a:ext uri="{FF2B5EF4-FFF2-40B4-BE49-F238E27FC236}">
                <a16:creationId xmlns:a16="http://schemas.microsoft.com/office/drawing/2014/main" id="{DF647E03-F578-F98F-90EB-CAF52372355F}"/>
              </a:ext>
            </a:extLst>
          </p:cNvPr>
          <p:cNvSpPr/>
          <p:nvPr/>
        </p:nvSpPr>
        <p:spPr>
          <a:xfrm rot="5400000">
            <a:off x="3915329" y="323424"/>
            <a:ext cx="790147" cy="2516364"/>
          </a:xfrm>
          <a:prstGeom prst="homePlate">
            <a:avLst>
              <a:gd name="adj" fmla="val 2122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3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Implementation</a:t>
            </a:r>
          </a:p>
        </p:txBody>
      </p:sp>
      <p:sp>
        <p:nvSpPr>
          <p:cNvPr id="4" name="Pentagon 13">
            <a:extLst>
              <a:ext uri="{FF2B5EF4-FFF2-40B4-BE49-F238E27FC236}">
                <a16:creationId xmlns:a16="http://schemas.microsoft.com/office/drawing/2014/main" id="{E18BF850-D4C0-E758-5C97-5E597191A47C}"/>
              </a:ext>
            </a:extLst>
          </p:cNvPr>
          <p:cNvSpPr/>
          <p:nvPr/>
        </p:nvSpPr>
        <p:spPr>
          <a:xfrm rot="5400000">
            <a:off x="6763441" y="323425"/>
            <a:ext cx="790147" cy="2516364"/>
          </a:xfrm>
          <a:prstGeom prst="homePlate">
            <a:avLst>
              <a:gd name="adj" fmla="val 2122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3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Service</a:t>
            </a:r>
          </a:p>
        </p:txBody>
      </p:sp>
      <p:sp>
        <p:nvSpPr>
          <p:cNvPr id="5" name="Pentagon 13">
            <a:extLst>
              <a:ext uri="{FF2B5EF4-FFF2-40B4-BE49-F238E27FC236}">
                <a16:creationId xmlns:a16="http://schemas.microsoft.com/office/drawing/2014/main" id="{16399526-1779-2B57-4DCB-750FC4620DBF}"/>
              </a:ext>
            </a:extLst>
          </p:cNvPr>
          <p:cNvSpPr/>
          <p:nvPr/>
        </p:nvSpPr>
        <p:spPr>
          <a:xfrm rot="5400000">
            <a:off x="9650715" y="323424"/>
            <a:ext cx="790148" cy="2516364"/>
          </a:xfrm>
          <a:prstGeom prst="homePlate">
            <a:avLst>
              <a:gd name="adj" fmla="val 2122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3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Success</a:t>
            </a:r>
          </a:p>
        </p:txBody>
      </p:sp>
      <p:grpSp>
        <p:nvGrpSpPr>
          <p:cNvPr id="7" name="Group 6">
            <a:extLst>
              <a:ext uri="{FF2B5EF4-FFF2-40B4-BE49-F238E27FC236}">
                <a16:creationId xmlns:a16="http://schemas.microsoft.com/office/drawing/2014/main" id="{7A259568-8F0A-539D-C680-774E05E0CC5C}"/>
              </a:ext>
            </a:extLst>
          </p:cNvPr>
          <p:cNvGrpSpPr/>
          <p:nvPr/>
        </p:nvGrpSpPr>
        <p:grpSpPr>
          <a:xfrm>
            <a:off x="4158999" y="1229371"/>
            <a:ext cx="302808" cy="304142"/>
            <a:chOff x="7718425" y="3248025"/>
            <a:chExt cx="360363" cy="361951"/>
          </a:xfrm>
          <a:solidFill>
            <a:schemeClr val="bg1"/>
          </a:solidFill>
        </p:grpSpPr>
        <p:sp>
          <p:nvSpPr>
            <p:cNvPr id="8" name="Freeform 63">
              <a:extLst>
                <a:ext uri="{FF2B5EF4-FFF2-40B4-BE49-F238E27FC236}">
                  <a16:creationId xmlns:a16="http://schemas.microsoft.com/office/drawing/2014/main" id="{F40098DD-7E66-83B7-ADE8-5DDF86EBB885}"/>
                </a:ext>
              </a:extLst>
            </p:cNvPr>
            <p:cNvSpPr>
              <a:spLocks/>
            </p:cNvSpPr>
            <p:nvPr/>
          </p:nvSpPr>
          <p:spPr bwMode="auto">
            <a:xfrm>
              <a:off x="7718425" y="3248025"/>
              <a:ext cx="360363" cy="331788"/>
            </a:xfrm>
            <a:custGeom>
              <a:avLst/>
              <a:gdLst>
                <a:gd name="T0" fmla="*/ 20 w 96"/>
                <a:gd name="T1" fmla="*/ 88 h 88"/>
                <a:gd name="T2" fmla="*/ 8 w 96"/>
                <a:gd name="T3" fmla="*/ 75 h 88"/>
                <a:gd name="T4" fmla="*/ 17 w 96"/>
                <a:gd name="T5" fmla="*/ 65 h 88"/>
                <a:gd name="T6" fmla="*/ 2 w 96"/>
                <a:gd name="T7" fmla="*/ 56 h 88"/>
                <a:gd name="T8" fmla="*/ 0 w 96"/>
                <a:gd name="T9" fmla="*/ 42 h 88"/>
                <a:gd name="T10" fmla="*/ 13 w 96"/>
                <a:gd name="T11" fmla="*/ 40 h 88"/>
                <a:gd name="T12" fmla="*/ 8 w 96"/>
                <a:gd name="T13" fmla="*/ 23 h 88"/>
                <a:gd name="T14" fmla="*/ 8 w 96"/>
                <a:gd name="T15" fmla="*/ 20 h 88"/>
                <a:gd name="T16" fmla="*/ 23 w 96"/>
                <a:gd name="T17" fmla="*/ 8 h 88"/>
                <a:gd name="T18" fmla="*/ 40 w 96"/>
                <a:gd name="T19" fmla="*/ 13 h 88"/>
                <a:gd name="T20" fmla="*/ 42 w 96"/>
                <a:gd name="T21" fmla="*/ 0 h 88"/>
                <a:gd name="T22" fmla="*/ 56 w 96"/>
                <a:gd name="T23" fmla="*/ 2 h 88"/>
                <a:gd name="T24" fmla="*/ 65 w 96"/>
                <a:gd name="T25" fmla="*/ 17 h 88"/>
                <a:gd name="T26" fmla="*/ 76 w 96"/>
                <a:gd name="T27" fmla="*/ 8 h 88"/>
                <a:gd name="T28" fmla="*/ 88 w 96"/>
                <a:gd name="T29" fmla="*/ 21 h 88"/>
                <a:gd name="T30" fmla="*/ 79 w 96"/>
                <a:gd name="T31" fmla="*/ 31 h 88"/>
                <a:gd name="T32" fmla="*/ 94 w 96"/>
                <a:gd name="T33" fmla="*/ 40 h 88"/>
                <a:gd name="T34" fmla="*/ 96 w 96"/>
                <a:gd name="T35" fmla="*/ 54 h 88"/>
                <a:gd name="T36" fmla="*/ 83 w 96"/>
                <a:gd name="T37" fmla="*/ 56 h 88"/>
                <a:gd name="T38" fmla="*/ 88 w 96"/>
                <a:gd name="T39" fmla="*/ 73 h 88"/>
                <a:gd name="T40" fmla="*/ 76 w 96"/>
                <a:gd name="T41" fmla="*/ 88 h 88"/>
                <a:gd name="T42" fmla="*/ 64 w 96"/>
                <a:gd name="T43" fmla="*/ 78 h 88"/>
                <a:gd name="T44" fmla="*/ 67 w 96"/>
                <a:gd name="T45" fmla="*/ 76 h 88"/>
                <a:gd name="T46" fmla="*/ 83 w 96"/>
                <a:gd name="T47" fmla="*/ 75 h 88"/>
                <a:gd name="T48" fmla="*/ 75 w 96"/>
                <a:gd name="T49" fmla="*/ 65 h 88"/>
                <a:gd name="T50" fmla="*/ 81 w 96"/>
                <a:gd name="T51" fmla="*/ 52 h 88"/>
                <a:gd name="T52" fmla="*/ 92 w 96"/>
                <a:gd name="T53" fmla="*/ 44 h 88"/>
                <a:gd name="T54" fmla="*/ 79 w 96"/>
                <a:gd name="T55" fmla="*/ 42 h 88"/>
                <a:gd name="T56" fmla="*/ 76 w 96"/>
                <a:gd name="T57" fmla="*/ 29 h 88"/>
                <a:gd name="T58" fmla="*/ 75 w 96"/>
                <a:gd name="T59" fmla="*/ 13 h 88"/>
                <a:gd name="T60" fmla="*/ 65 w 96"/>
                <a:gd name="T61" fmla="*/ 21 h 88"/>
                <a:gd name="T62" fmla="*/ 52 w 96"/>
                <a:gd name="T63" fmla="*/ 15 h 88"/>
                <a:gd name="T64" fmla="*/ 44 w 96"/>
                <a:gd name="T65" fmla="*/ 4 h 88"/>
                <a:gd name="T66" fmla="*/ 42 w 96"/>
                <a:gd name="T67" fmla="*/ 17 h 88"/>
                <a:gd name="T68" fmla="*/ 29 w 96"/>
                <a:gd name="T69" fmla="*/ 20 h 88"/>
                <a:gd name="T70" fmla="*/ 13 w 96"/>
                <a:gd name="T71" fmla="*/ 21 h 88"/>
                <a:gd name="T72" fmla="*/ 21 w 96"/>
                <a:gd name="T73" fmla="*/ 31 h 88"/>
                <a:gd name="T74" fmla="*/ 15 w 96"/>
                <a:gd name="T75" fmla="*/ 44 h 88"/>
                <a:gd name="T76" fmla="*/ 4 w 96"/>
                <a:gd name="T77" fmla="*/ 52 h 88"/>
                <a:gd name="T78" fmla="*/ 17 w 96"/>
                <a:gd name="T79" fmla="*/ 54 h 88"/>
                <a:gd name="T80" fmla="*/ 20 w 96"/>
                <a:gd name="T81" fmla="*/ 67 h 88"/>
                <a:gd name="T82" fmla="*/ 21 w 96"/>
                <a:gd name="T83" fmla="*/ 83 h 88"/>
                <a:gd name="T84" fmla="*/ 32 w 96"/>
                <a:gd name="T85" fmla="*/ 76 h 88"/>
                <a:gd name="T86" fmla="*/ 23 w 96"/>
                <a:gd name="T8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88">
                  <a:moveTo>
                    <a:pt x="21" y="88"/>
                  </a:moveTo>
                  <a:cubicBezTo>
                    <a:pt x="21" y="88"/>
                    <a:pt x="20" y="88"/>
                    <a:pt x="20" y="88"/>
                  </a:cubicBezTo>
                  <a:cubicBezTo>
                    <a:pt x="8" y="76"/>
                    <a:pt x="8" y="76"/>
                    <a:pt x="8" y="76"/>
                  </a:cubicBezTo>
                  <a:cubicBezTo>
                    <a:pt x="8" y="76"/>
                    <a:pt x="8" y="75"/>
                    <a:pt x="8" y="75"/>
                  </a:cubicBezTo>
                  <a:cubicBezTo>
                    <a:pt x="8" y="74"/>
                    <a:pt x="8" y="74"/>
                    <a:pt x="8" y="73"/>
                  </a:cubicBezTo>
                  <a:cubicBezTo>
                    <a:pt x="17" y="65"/>
                    <a:pt x="17" y="65"/>
                    <a:pt x="17" y="65"/>
                  </a:cubicBezTo>
                  <a:cubicBezTo>
                    <a:pt x="15" y="63"/>
                    <a:pt x="14" y="59"/>
                    <a:pt x="13" y="56"/>
                  </a:cubicBezTo>
                  <a:cubicBezTo>
                    <a:pt x="2" y="56"/>
                    <a:pt x="2" y="56"/>
                    <a:pt x="2" y="56"/>
                  </a:cubicBezTo>
                  <a:cubicBezTo>
                    <a:pt x="1" y="56"/>
                    <a:pt x="0" y="55"/>
                    <a:pt x="0" y="54"/>
                  </a:cubicBezTo>
                  <a:cubicBezTo>
                    <a:pt x="0" y="42"/>
                    <a:pt x="0" y="42"/>
                    <a:pt x="0" y="42"/>
                  </a:cubicBezTo>
                  <a:cubicBezTo>
                    <a:pt x="0" y="41"/>
                    <a:pt x="1" y="40"/>
                    <a:pt x="2" y="40"/>
                  </a:cubicBezTo>
                  <a:cubicBezTo>
                    <a:pt x="13" y="40"/>
                    <a:pt x="13" y="40"/>
                    <a:pt x="13" y="40"/>
                  </a:cubicBezTo>
                  <a:cubicBezTo>
                    <a:pt x="14" y="37"/>
                    <a:pt x="15" y="33"/>
                    <a:pt x="17" y="31"/>
                  </a:cubicBezTo>
                  <a:cubicBezTo>
                    <a:pt x="8" y="23"/>
                    <a:pt x="8" y="23"/>
                    <a:pt x="8" y="23"/>
                  </a:cubicBezTo>
                  <a:cubicBezTo>
                    <a:pt x="8" y="22"/>
                    <a:pt x="8" y="22"/>
                    <a:pt x="8" y="21"/>
                  </a:cubicBezTo>
                  <a:cubicBezTo>
                    <a:pt x="8" y="21"/>
                    <a:pt x="8" y="20"/>
                    <a:pt x="8" y="20"/>
                  </a:cubicBezTo>
                  <a:cubicBezTo>
                    <a:pt x="20" y="8"/>
                    <a:pt x="20" y="8"/>
                    <a:pt x="20" y="8"/>
                  </a:cubicBezTo>
                  <a:cubicBezTo>
                    <a:pt x="20" y="8"/>
                    <a:pt x="22" y="8"/>
                    <a:pt x="23" y="8"/>
                  </a:cubicBezTo>
                  <a:cubicBezTo>
                    <a:pt x="31" y="17"/>
                    <a:pt x="31" y="17"/>
                    <a:pt x="31" y="17"/>
                  </a:cubicBezTo>
                  <a:cubicBezTo>
                    <a:pt x="33" y="15"/>
                    <a:pt x="37" y="14"/>
                    <a:pt x="40" y="13"/>
                  </a:cubicBezTo>
                  <a:cubicBezTo>
                    <a:pt x="40" y="2"/>
                    <a:pt x="40" y="2"/>
                    <a:pt x="40" y="2"/>
                  </a:cubicBezTo>
                  <a:cubicBezTo>
                    <a:pt x="40" y="1"/>
                    <a:pt x="41" y="0"/>
                    <a:pt x="42" y="0"/>
                  </a:cubicBezTo>
                  <a:cubicBezTo>
                    <a:pt x="54" y="0"/>
                    <a:pt x="54" y="0"/>
                    <a:pt x="54" y="0"/>
                  </a:cubicBezTo>
                  <a:cubicBezTo>
                    <a:pt x="55" y="0"/>
                    <a:pt x="56" y="1"/>
                    <a:pt x="56" y="2"/>
                  </a:cubicBezTo>
                  <a:cubicBezTo>
                    <a:pt x="56" y="13"/>
                    <a:pt x="56" y="13"/>
                    <a:pt x="56" y="13"/>
                  </a:cubicBezTo>
                  <a:cubicBezTo>
                    <a:pt x="59" y="14"/>
                    <a:pt x="63" y="15"/>
                    <a:pt x="65" y="17"/>
                  </a:cubicBezTo>
                  <a:cubicBezTo>
                    <a:pt x="73" y="8"/>
                    <a:pt x="73" y="8"/>
                    <a:pt x="73" y="8"/>
                  </a:cubicBezTo>
                  <a:cubicBezTo>
                    <a:pt x="74" y="8"/>
                    <a:pt x="75" y="8"/>
                    <a:pt x="76" y="8"/>
                  </a:cubicBezTo>
                  <a:cubicBezTo>
                    <a:pt x="88" y="20"/>
                    <a:pt x="88" y="20"/>
                    <a:pt x="88" y="20"/>
                  </a:cubicBezTo>
                  <a:cubicBezTo>
                    <a:pt x="88" y="20"/>
                    <a:pt x="88" y="21"/>
                    <a:pt x="88" y="21"/>
                  </a:cubicBezTo>
                  <a:cubicBezTo>
                    <a:pt x="88" y="22"/>
                    <a:pt x="88" y="22"/>
                    <a:pt x="88" y="23"/>
                  </a:cubicBezTo>
                  <a:cubicBezTo>
                    <a:pt x="79" y="31"/>
                    <a:pt x="79" y="31"/>
                    <a:pt x="79" y="31"/>
                  </a:cubicBezTo>
                  <a:cubicBezTo>
                    <a:pt x="81" y="33"/>
                    <a:pt x="82" y="37"/>
                    <a:pt x="83" y="40"/>
                  </a:cubicBezTo>
                  <a:cubicBezTo>
                    <a:pt x="94" y="40"/>
                    <a:pt x="94" y="40"/>
                    <a:pt x="94" y="40"/>
                  </a:cubicBezTo>
                  <a:cubicBezTo>
                    <a:pt x="95" y="40"/>
                    <a:pt x="96" y="41"/>
                    <a:pt x="96" y="42"/>
                  </a:cubicBezTo>
                  <a:cubicBezTo>
                    <a:pt x="96" y="54"/>
                    <a:pt x="96" y="54"/>
                    <a:pt x="96" y="54"/>
                  </a:cubicBezTo>
                  <a:cubicBezTo>
                    <a:pt x="96" y="55"/>
                    <a:pt x="95" y="56"/>
                    <a:pt x="94" y="56"/>
                  </a:cubicBezTo>
                  <a:cubicBezTo>
                    <a:pt x="83" y="56"/>
                    <a:pt x="83" y="56"/>
                    <a:pt x="83" y="56"/>
                  </a:cubicBezTo>
                  <a:cubicBezTo>
                    <a:pt x="82" y="59"/>
                    <a:pt x="81" y="63"/>
                    <a:pt x="79" y="65"/>
                  </a:cubicBezTo>
                  <a:cubicBezTo>
                    <a:pt x="88" y="73"/>
                    <a:pt x="88" y="73"/>
                    <a:pt x="88" y="73"/>
                  </a:cubicBezTo>
                  <a:cubicBezTo>
                    <a:pt x="88" y="74"/>
                    <a:pt x="88" y="76"/>
                    <a:pt x="88" y="76"/>
                  </a:cubicBezTo>
                  <a:cubicBezTo>
                    <a:pt x="76" y="88"/>
                    <a:pt x="76" y="88"/>
                    <a:pt x="76" y="88"/>
                  </a:cubicBezTo>
                  <a:cubicBezTo>
                    <a:pt x="76" y="88"/>
                    <a:pt x="74" y="88"/>
                    <a:pt x="73" y="88"/>
                  </a:cubicBezTo>
                  <a:cubicBezTo>
                    <a:pt x="64" y="78"/>
                    <a:pt x="64" y="78"/>
                    <a:pt x="64" y="78"/>
                  </a:cubicBezTo>
                  <a:cubicBezTo>
                    <a:pt x="63" y="78"/>
                    <a:pt x="63" y="76"/>
                    <a:pt x="64" y="76"/>
                  </a:cubicBezTo>
                  <a:cubicBezTo>
                    <a:pt x="65" y="75"/>
                    <a:pt x="66" y="75"/>
                    <a:pt x="67" y="76"/>
                  </a:cubicBezTo>
                  <a:cubicBezTo>
                    <a:pt x="75" y="83"/>
                    <a:pt x="75" y="83"/>
                    <a:pt x="75" y="83"/>
                  </a:cubicBezTo>
                  <a:cubicBezTo>
                    <a:pt x="83" y="75"/>
                    <a:pt x="83" y="75"/>
                    <a:pt x="83" y="75"/>
                  </a:cubicBezTo>
                  <a:cubicBezTo>
                    <a:pt x="76" y="67"/>
                    <a:pt x="76" y="67"/>
                    <a:pt x="76" y="67"/>
                  </a:cubicBezTo>
                  <a:cubicBezTo>
                    <a:pt x="75" y="66"/>
                    <a:pt x="75" y="65"/>
                    <a:pt x="75" y="65"/>
                  </a:cubicBezTo>
                  <a:cubicBezTo>
                    <a:pt x="77" y="62"/>
                    <a:pt x="79" y="56"/>
                    <a:pt x="79" y="54"/>
                  </a:cubicBezTo>
                  <a:cubicBezTo>
                    <a:pt x="79" y="53"/>
                    <a:pt x="80" y="52"/>
                    <a:pt x="81" y="52"/>
                  </a:cubicBezTo>
                  <a:cubicBezTo>
                    <a:pt x="92" y="52"/>
                    <a:pt x="92" y="52"/>
                    <a:pt x="92" y="52"/>
                  </a:cubicBezTo>
                  <a:cubicBezTo>
                    <a:pt x="92" y="44"/>
                    <a:pt x="92" y="44"/>
                    <a:pt x="92" y="44"/>
                  </a:cubicBezTo>
                  <a:cubicBezTo>
                    <a:pt x="81" y="44"/>
                    <a:pt x="81" y="44"/>
                    <a:pt x="81" y="44"/>
                  </a:cubicBezTo>
                  <a:cubicBezTo>
                    <a:pt x="80" y="44"/>
                    <a:pt x="79" y="43"/>
                    <a:pt x="79" y="42"/>
                  </a:cubicBezTo>
                  <a:cubicBezTo>
                    <a:pt x="79" y="40"/>
                    <a:pt x="77" y="34"/>
                    <a:pt x="75" y="31"/>
                  </a:cubicBezTo>
                  <a:cubicBezTo>
                    <a:pt x="75" y="31"/>
                    <a:pt x="75" y="30"/>
                    <a:pt x="76" y="29"/>
                  </a:cubicBezTo>
                  <a:cubicBezTo>
                    <a:pt x="83" y="21"/>
                    <a:pt x="83" y="21"/>
                    <a:pt x="83" y="21"/>
                  </a:cubicBezTo>
                  <a:cubicBezTo>
                    <a:pt x="75" y="13"/>
                    <a:pt x="75" y="13"/>
                    <a:pt x="75" y="13"/>
                  </a:cubicBezTo>
                  <a:cubicBezTo>
                    <a:pt x="67" y="20"/>
                    <a:pt x="67" y="20"/>
                    <a:pt x="67" y="20"/>
                  </a:cubicBezTo>
                  <a:cubicBezTo>
                    <a:pt x="66" y="21"/>
                    <a:pt x="65" y="21"/>
                    <a:pt x="65" y="21"/>
                  </a:cubicBezTo>
                  <a:cubicBezTo>
                    <a:pt x="62" y="19"/>
                    <a:pt x="57" y="18"/>
                    <a:pt x="54" y="17"/>
                  </a:cubicBezTo>
                  <a:cubicBezTo>
                    <a:pt x="53" y="17"/>
                    <a:pt x="52" y="16"/>
                    <a:pt x="52" y="15"/>
                  </a:cubicBezTo>
                  <a:cubicBezTo>
                    <a:pt x="52" y="4"/>
                    <a:pt x="52" y="4"/>
                    <a:pt x="52" y="4"/>
                  </a:cubicBezTo>
                  <a:cubicBezTo>
                    <a:pt x="44" y="4"/>
                    <a:pt x="44" y="4"/>
                    <a:pt x="44" y="4"/>
                  </a:cubicBezTo>
                  <a:cubicBezTo>
                    <a:pt x="44" y="15"/>
                    <a:pt x="44" y="15"/>
                    <a:pt x="44" y="15"/>
                  </a:cubicBezTo>
                  <a:cubicBezTo>
                    <a:pt x="44" y="16"/>
                    <a:pt x="43" y="17"/>
                    <a:pt x="42" y="17"/>
                  </a:cubicBezTo>
                  <a:cubicBezTo>
                    <a:pt x="39" y="18"/>
                    <a:pt x="34" y="19"/>
                    <a:pt x="31" y="21"/>
                  </a:cubicBezTo>
                  <a:cubicBezTo>
                    <a:pt x="31" y="21"/>
                    <a:pt x="30" y="21"/>
                    <a:pt x="29" y="20"/>
                  </a:cubicBezTo>
                  <a:cubicBezTo>
                    <a:pt x="21" y="13"/>
                    <a:pt x="21" y="13"/>
                    <a:pt x="21" y="13"/>
                  </a:cubicBezTo>
                  <a:cubicBezTo>
                    <a:pt x="13" y="21"/>
                    <a:pt x="13" y="21"/>
                    <a:pt x="13" y="21"/>
                  </a:cubicBezTo>
                  <a:cubicBezTo>
                    <a:pt x="20" y="29"/>
                    <a:pt x="20" y="29"/>
                    <a:pt x="20" y="29"/>
                  </a:cubicBezTo>
                  <a:cubicBezTo>
                    <a:pt x="21" y="30"/>
                    <a:pt x="21" y="31"/>
                    <a:pt x="21" y="31"/>
                  </a:cubicBezTo>
                  <a:cubicBezTo>
                    <a:pt x="19" y="34"/>
                    <a:pt x="17" y="40"/>
                    <a:pt x="17" y="42"/>
                  </a:cubicBezTo>
                  <a:cubicBezTo>
                    <a:pt x="17" y="43"/>
                    <a:pt x="16" y="44"/>
                    <a:pt x="15" y="44"/>
                  </a:cubicBezTo>
                  <a:cubicBezTo>
                    <a:pt x="4" y="44"/>
                    <a:pt x="4" y="44"/>
                    <a:pt x="4" y="44"/>
                  </a:cubicBezTo>
                  <a:cubicBezTo>
                    <a:pt x="4" y="52"/>
                    <a:pt x="4" y="52"/>
                    <a:pt x="4" y="52"/>
                  </a:cubicBezTo>
                  <a:cubicBezTo>
                    <a:pt x="15" y="52"/>
                    <a:pt x="15" y="52"/>
                    <a:pt x="15" y="52"/>
                  </a:cubicBezTo>
                  <a:cubicBezTo>
                    <a:pt x="16" y="52"/>
                    <a:pt x="17" y="53"/>
                    <a:pt x="17" y="54"/>
                  </a:cubicBezTo>
                  <a:cubicBezTo>
                    <a:pt x="17" y="56"/>
                    <a:pt x="19" y="62"/>
                    <a:pt x="21" y="65"/>
                  </a:cubicBezTo>
                  <a:cubicBezTo>
                    <a:pt x="21" y="65"/>
                    <a:pt x="21" y="66"/>
                    <a:pt x="20" y="67"/>
                  </a:cubicBezTo>
                  <a:cubicBezTo>
                    <a:pt x="13" y="75"/>
                    <a:pt x="13" y="75"/>
                    <a:pt x="13" y="75"/>
                  </a:cubicBezTo>
                  <a:cubicBezTo>
                    <a:pt x="21" y="83"/>
                    <a:pt x="21" y="83"/>
                    <a:pt x="21" y="83"/>
                  </a:cubicBezTo>
                  <a:cubicBezTo>
                    <a:pt x="29" y="76"/>
                    <a:pt x="29" y="76"/>
                    <a:pt x="29" y="76"/>
                  </a:cubicBezTo>
                  <a:cubicBezTo>
                    <a:pt x="30" y="75"/>
                    <a:pt x="31" y="75"/>
                    <a:pt x="32" y="76"/>
                  </a:cubicBezTo>
                  <a:cubicBezTo>
                    <a:pt x="33" y="76"/>
                    <a:pt x="33" y="78"/>
                    <a:pt x="32" y="78"/>
                  </a:cubicBezTo>
                  <a:cubicBezTo>
                    <a:pt x="23" y="88"/>
                    <a:pt x="23" y="88"/>
                    <a:pt x="23" y="88"/>
                  </a:cubicBezTo>
                  <a:cubicBezTo>
                    <a:pt x="22" y="88"/>
                    <a:pt x="22" y="88"/>
                    <a:pt x="2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64">
              <a:extLst>
                <a:ext uri="{FF2B5EF4-FFF2-40B4-BE49-F238E27FC236}">
                  <a16:creationId xmlns:a16="http://schemas.microsoft.com/office/drawing/2014/main" id="{7FC50248-58AF-01C3-F297-A51CBD4C9C59}"/>
                </a:ext>
              </a:extLst>
            </p:cNvPr>
            <p:cNvSpPr>
              <a:spLocks/>
            </p:cNvSpPr>
            <p:nvPr/>
          </p:nvSpPr>
          <p:spPr bwMode="auto">
            <a:xfrm>
              <a:off x="7869238" y="3549650"/>
              <a:ext cx="60325" cy="15875"/>
            </a:xfrm>
            <a:custGeom>
              <a:avLst/>
              <a:gdLst>
                <a:gd name="T0" fmla="*/ 14 w 16"/>
                <a:gd name="T1" fmla="*/ 4 h 4"/>
                <a:gd name="T2" fmla="*/ 2 w 16"/>
                <a:gd name="T3" fmla="*/ 4 h 4"/>
                <a:gd name="T4" fmla="*/ 0 w 16"/>
                <a:gd name="T5" fmla="*/ 2 h 4"/>
                <a:gd name="T6" fmla="*/ 2 w 16"/>
                <a:gd name="T7" fmla="*/ 0 h 4"/>
                <a:gd name="T8" fmla="*/ 14 w 16"/>
                <a:gd name="T9" fmla="*/ 0 h 4"/>
                <a:gd name="T10" fmla="*/ 16 w 16"/>
                <a:gd name="T11" fmla="*/ 2 h 4"/>
                <a:gd name="T12" fmla="*/ 14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4"/>
                  </a:moveTo>
                  <a:cubicBezTo>
                    <a:pt x="2" y="4"/>
                    <a:pt x="2" y="4"/>
                    <a:pt x="2" y="4"/>
                  </a:cubicBezTo>
                  <a:cubicBezTo>
                    <a:pt x="1" y="4"/>
                    <a:pt x="0" y="3"/>
                    <a:pt x="0" y="2"/>
                  </a:cubicBezTo>
                  <a:cubicBezTo>
                    <a:pt x="0" y="1"/>
                    <a:pt x="1" y="0"/>
                    <a:pt x="2" y="0"/>
                  </a:cubicBezTo>
                  <a:cubicBezTo>
                    <a:pt x="14" y="0"/>
                    <a:pt x="14" y="0"/>
                    <a:pt x="14" y="0"/>
                  </a:cubicBezTo>
                  <a:cubicBezTo>
                    <a:pt x="15" y="0"/>
                    <a:pt x="16" y="1"/>
                    <a:pt x="16" y="2"/>
                  </a:cubicBezTo>
                  <a:cubicBezTo>
                    <a:pt x="16" y="3"/>
                    <a:pt x="15" y="4"/>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65">
              <a:extLst>
                <a:ext uri="{FF2B5EF4-FFF2-40B4-BE49-F238E27FC236}">
                  <a16:creationId xmlns:a16="http://schemas.microsoft.com/office/drawing/2014/main" id="{72ACC759-C8BC-3895-C300-5DF073905803}"/>
                </a:ext>
              </a:extLst>
            </p:cNvPr>
            <p:cNvSpPr>
              <a:spLocks/>
            </p:cNvSpPr>
            <p:nvPr/>
          </p:nvSpPr>
          <p:spPr bwMode="auto">
            <a:xfrm>
              <a:off x="7869238" y="3579813"/>
              <a:ext cx="60325" cy="30163"/>
            </a:xfrm>
            <a:custGeom>
              <a:avLst/>
              <a:gdLst>
                <a:gd name="T0" fmla="*/ 14 w 16"/>
                <a:gd name="T1" fmla="*/ 0 h 8"/>
                <a:gd name="T2" fmla="*/ 2 w 16"/>
                <a:gd name="T3" fmla="*/ 0 h 8"/>
                <a:gd name="T4" fmla="*/ 0 w 16"/>
                <a:gd name="T5" fmla="*/ 2 h 8"/>
                <a:gd name="T6" fmla="*/ 2 w 16"/>
                <a:gd name="T7" fmla="*/ 4 h 8"/>
                <a:gd name="T8" fmla="*/ 6 w 16"/>
                <a:gd name="T9" fmla="*/ 4 h 8"/>
                <a:gd name="T10" fmla="*/ 6 w 16"/>
                <a:gd name="T11" fmla="*/ 6 h 8"/>
                <a:gd name="T12" fmla="*/ 8 w 16"/>
                <a:gd name="T13" fmla="*/ 8 h 8"/>
                <a:gd name="T14" fmla="*/ 10 w 16"/>
                <a:gd name="T15" fmla="*/ 6 h 8"/>
                <a:gd name="T16" fmla="*/ 10 w 16"/>
                <a:gd name="T17" fmla="*/ 4 h 8"/>
                <a:gd name="T18" fmla="*/ 14 w 16"/>
                <a:gd name="T19" fmla="*/ 4 h 8"/>
                <a:gd name="T20" fmla="*/ 16 w 16"/>
                <a:gd name="T21" fmla="*/ 2 h 8"/>
                <a:gd name="T22" fmla="*/ 14 w 16"/>
                <a:gd name="T23"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8">
                  <a:moveTo>
                    <a:pt x="14" y="0"/>
                  </a:moveTo>
                  <a:cubicBezTo>
                    <a:pt x="2" y="0"/>
                    <a:pt x="2" y="0"/>
                    <a:pt x="2" y="0"/>
                  </a:cubicBezTo>
                  <a:cubicBezTo>
                    <a:pt x="1" y="0"/>
                    <a:pt x="0" y="1"/>
                    <a:pt x="0" y="2"/>
                  </a:cubicBezTo>
                  <a:cubicBezTo>
                    <a:pt x="0" y="3"/>
                    <a:pt x="1" y="4"/>
                    <a:pt x="2" y="4"/>
                  </a:cubicBezTo>
                  <a:cubicBezTo>
                    <a:pt x="6" y="4"/>
                    <a:pt x="6" y="4"/>
                    <a:pt x="6" y="4"/>
                  </a:cubicBezTo>
                  <a:cubicBezTo>
                    <a:pt x="6" y="6"/>
                    <a:pt x="6" y="6"/>
                    <a:pt x="6" y="6"/>
                  </a:cubicBezTo>
                  <a:cubicBezTo>
                    <a:pt x="6" y="7"/>
                    <a:pt x="7" y="8"/>
                    <a:pt x="8" y="8"/>
                  </a:cubicBezTo>
                  <a:cubicBezTo>
                    <a:pt x="9" y="8"/>
                    <a:pt x="10" y="7"/>
                    <a:pt x="10" y="6"/>
                  </a:cubicBezTo>
                  <a:cubicBezTo>
                    <a:pt x="10" y="4"/>
                    <a:pt x="10" y="4"/>
                    <a:pt x="10"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66">
              <a:extLst>
                <a:ext uri="{FF2B5EF4-FFF2-40B4-BE49-F238E27FC236}">
                  <a16:creationId xmlns:a16="http://schemas.microsoft.com/office/drawing/2014/main" id="{2084E6BE-9ED3-D96A-4A32-2BC22850648F}"/>
                </a:ext>
              </a:extLst>
            </p:cNvPr>
            <p:cNvSpPr>
              <a:spLocks/>
            </p:cNvSpPr>
            <p:nvPr/>
          </p:nvSpPr>
          <p:spPr bwMode="auto">
            <a:xfrm>
              <a:off x="7805738" y="3338513"/>
              <a:ext cx="187325" cy="196850"/>
            </a:xfrm>
            <a:custGeom>
              <a:avLst/>
              <a:gdLst>
                <a:gd name="T0" fmla="*/ 25 w 50"/>
                <a:gd name="T1" fmla="*/ 0 h 52"/>
                <a:gd name="T2" fmla="*/ 0 w 50"/>
                <a:gd name="T3" fmla="*/ 24 h 52"/>
                <a:gd name="T4" fmla="*/ 17 w 50"/>
                <a:gd name="T5" fmla="*/ 47 h 52"/>
                <a:gd name="T6" fmla="*/ 17 w 50"/>
                <a:gd name="T7" fmla="*/ 50 h 52"/>
                <a:gd name="T8" fmla="*/ 19 w 50"/>
                <a:gd name="T9" fmla="*/ 52 h 52"/>
                <a:gd name="T10" fmla="*/ 31 w 50"/>
                <a:gd name="T11" fmla="*/ 52 h 52"/>
                <a:gd name="T12" fmla="*/ 33 w 50"/>
                <a:gd name="T13" fmla="*/ 50 h 52"/>
                <a:gd name="T14" fmla="*/ 33 w 50"/>
                <a:gd name="T15" fmla="*/ 47 h 52"/>
                <a:gd name="T16" fmla="*/ 50 w 50"/>
                <a:gd name="T17" fmla="*/ 24 h 52"/>
                <a:gd name="T18" fmla="*/ 25 w 50"/>
                <a:gd name="T1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2">
                  <a:moveTo>
                    <a:pt x="25" y="0"/>
                  </a:moveTo>
                  <a:cubicBezTo>
                    <a:pt x="11" y="0"/>
                    <a:pt x="0" y="11"/>
                    <a:pt x="0" y="24"/>
                  </a:cubicBezTo>
                  <a:cubicBezTo>
                    <a:pt x="0" y="34"/>
                    <a:pt x="7" y="43"/>
                    <a:pt x="17" y="47"/>
                  </a:cubicBezTo>
                  <a:cubicBezTo>
                    <a:pt x="17" y="50"/>
                    <a:pt x="17" y="50"/>
                    <a:pt x="17" y="50"/>
                  </a:cubicBezTo>
                  <a:cubicBezTo>
                    <a:pt x="17" y="51"/>
                    <a:pt x="18" y="52"/>
                    <a:pt x="19" y="52"/>
                  </a:cubicBezTo>
                  <a:cubicBezTo>
                    <a:pt x="31" y="52"/>
                    <a:pt x="31" y="52"/>
                    <a:pt x="31" y="52"/>
                  </a:cubicBezTo>
                  <a:cubicBezTo>
                    <a:pt x="32" y="52"/>
                    <a:pt x="33" y="51"/>
                    <a:pt x="33" y="50"/>
                  </a:cubicBezTo>
                  <a:cubicBezTo>
                    <a:pt x="33" y="47"/>
                    <a:pt x="33" y="47"/>
                    <a:pt x="33" y="47"/>
                  </a:cubicBezTo>
                  <a:cubicBezTo>
                    <a:pt x="43" y="43"/>
                    <a:pt x="50" y="34"/>
                    <a:pt x="50" y="24"/>
                  </a:cubicBezTo>
                  <a:cubicBezTo>
                    <a:pt x="50" y="11"/>
                    <a:pt x="39"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Freeform 8">
            <a:extLst>
              <a:ext uri="{FF2B5EF4-FFF2-40B4-BE49-F238E27FC236}">
                <a16:creationId xmlns:a16="http://schemas.microsoft.com/office/drawing/2014/main" id="{554836F1-62DE-06C5-6E1E-FA10B5345D3E}"/>
              </a:ext>
            </a:extLst>
          </p:cNvPr>
          <p:cNvSpPr>
            <a:spLocks/>
          </p:cNvSpPr>
          <p:nvPr/>
        </p:nvSpPr>
        <p:spPr bwMode="auto">
          <a:xfrm>
            <a:off x="7012217" y="1236786"/>
            <a:ext cx="292594" cy="291327"/>
          </a:xfrm>
          <a:custGeom>
            <a:avLst/>
            <a:gdLst>
              <a:gd name="T0" fmla="*/ 91 w 98"/>
              <a:gd name="T1" fmla="*/ 66 h 97"/>
              <a:gd name="T2" fmla="*/ 73 w 98"/>
              <a:gd name="T3" fmla="*/ 62 h 97"/>
              <a:gd name="T4" fmla="*/ 60 w 98"/>
              <a:gd name="T5" fmla="*/ 49 h 97"/>
              <a:gd name="T6" fmla="*/ 73 w 98"/>
              <a:gd name="T7" fmla="*/ 36 h 97"/>
              <a:gd name="T8" fmla="*/ 79 w 98"/>
              <a:gd name="T9" fmla="*/ 37 h 97"/>
              <a:gd name="T10" fmla="*/ 91 w 98"/>
              <a:gd name="T11" fmla="*/ 32 h 97"/>
              <a:gd name="T12" fmla="*/ 95 w 98"/>
              <a:gd name="T13" fmla="*/ 13 h 97"/>
              <a:gd name="T14" fmla="*/ 94 w 98"/>
              <a:gd name="T15" fmla="*/ 11 h 97"/>
              <a:gd name="T16" fmla="*/ 92 w 98"/>
              <a:gd name="T17" fmla="*/ 12 h 97"/>
              <a:gd name="T18" fmla="*/ 85 w 98"/>
              <a:gd name="T19" fmla="*/ 19 h 97"/>
              <a:gd name="T20" fmla="*/ 79 w 98"/>
              <a:gd name="T21" fmla="*/ 19 h 97"/>
              <a:gd name="T22" fmla="*/ 79 w 98"/>
              <a:gd name="T23" fmla="*/ 13 h 97"/>
              <a:gd name="T24" fmla="*/ 86 w 98"/>
              <a:gd name="T25" fmla="*/ 6 h 97"/>
              <a:gd name="T26" fmla="*/ 87 w 98"/>
              <a:gd name="T27" fmla="*/ 4 h 97"/>
              <a:gd name="T28" fmla="*/ 86 w 98"/>
              <a:gd name="T29" fmla="*/ 3 h 97"/>
              <a:gd name="T30" fmla="*/ 79 w 98"/>
              <a:gd name="T31" fmla="*/ 1 h 97"/>
              <a:gd name="T32" fmla="*/ 66 w 98"/>
              <a:gd name="T33" fmla="*/ 7 h 97"/>
              <a:gd name="T34" fmla="*/ 62 w 98"/>
              <a:gd name="T35" fmla="*/ 25 h 97"/>
              <a:gd name="T36" fmla="*/ 49 w 98"/>
              <a:gd name="T37" fmla="*/ 38 h 97"/>
              <a:gd name="T38" fmla="*/ 36 w 98"/>
              <a:gd name="T39" fmla="*/ 25 h 97"/>
              <a:gd name="T40" fmla="*/ 32 w 98"/>
              <a:gd name="T41" fmla="*/ 7 h 97"/>
              <a:gd name="T42" fmla="*/ 13 w 98"/>
              <a:gd name="T43" fmla="*/ 3 h 97"/>
              <a:gd name="T44" fmla="*/ 11 w 98"/>
              <a:gd name="T45" fmla="*/ 4 h 97"/>
              <a:gd name="T46" fmla="*/ 12 w 98"/>
              <a:gd name="T47" fmla="*/ 6 h 97"/>
              <a:gd name="T48" fmla="*/ 19 w 98"/>
              <a:gd name="T49" fmla="*/ 13 h 97"/>
              <a:gd name="T50" fmla="*/ 19 w 98"/>
              <a:gd name="T51" fmla="*/ 19 h 97"/>
              <a:gd name="T52" fmla="*/ 13 w 98"/>
              <a:gd name="T53" fmla="*/ 19 h 97"/>
              <a:gd name="T54" fmla="*/ 6 w 98"/>
              <a:gd name="T55" fmla="*/ 12 h 97"/>
              <a:gd name="T56" fmla="*/ 4 w 98"/>
              <a:gd name="T57" fmla="*/ 11 h 97"/>
              <a:gd name="T58" fmla="*/ 3 w 98"/>
              <a:gd name="T59" fmla="*/ 13 h 97"/>
              <a:gd name="T60" fmla="*/ 7 w 98"/>
              <a:gd name="T61" fmla="*/ 32 h 97"/>
              <a:gd name="T62" fmla="*/ 25 w 98"/>
              <a:gd name="T63" fmla="*/ 36 h 97"/>
              <a:gd name="T64" fmla="*/ 38 w 98"/>
              <a:gd name="T65" fmla="*/ 49 h 97"/>
              <a:gd name="T66" fmla="*/ 25 w 98"/>
              <a:gd name="T67" fmla="*/ 62 h 97"/>
              <a:gd name="T68" fmla="*/ 19 w 98"/>
              <a:gd name="T69" fmla="*/ 61 h 97"/>
              <a:gd name="T70" fmla="*/ 7 w 98"/>
              <a:gd name="T71" fmla="*/ 66 h 97"/>
              <a:gd name="T72" fmla="*/ 3 w 98"/>
              <a:gd name="T73" fmla="*/ 86 h 97"/>
              <a:gd name="T74" fmla="*/ 4 w 98"/>
              <a:gd name="T75" fmla="*/ 87 h 97"/>
              <a:gd name="T76" fmla="*/ 6 w 98"/>
              <a:gd name="T77" fmla="*/ 86 h 97"/>
              <a:gd name="T78" fmla="*/ 13 w 98"/>
              <a:gd name="T79" fmla="*/ 79 h 97"/>
              <a:gd name="T80" fmla="*/ 19 w 98"/>
              <a:gd name="T81" fmla="*/ 79 h 97"/>
              <a:gd name="T82" fmla="*/ 19 w 98"/>
              <a:gd name="T83" fmla="*/ 85 h 97"/>
              <a:gd name="T84" fmla="*/ 12 w 98"/>
              <a:gd name="T85" fmla="*/ 92 h 97"/>
              <a:gd name="T86" fmla="*/ 11 w 98"/>
              <a:gd name="T87" fmla="*/ 94 h 97"/>
              <a:gd name="T88" fmla="*/ 13 w 98"/>
              <a:gd name="T89" fmla="*/ 95 h 97"/>
              <a:gd name="T90" fmla="*/ 20 w 98"/>
              <a:gd name="T91" fmla="*/ 97 h 97"/>
              <a:gd name="T92" fmla="*/ 20 w 98"/>
              <a:gd name="T93" fmla="*/ 97 h 97"/>
              <a:gd name="T94" fmla="*/ 32 w 98"/>
              <a:gd name="T95" fmla="*/ 91 h 97"/>
              <a:gd name="T96" fmla="*/ 36 w 98"/>
              <a:gd name="T97" fmla="*/ 73 h 97"/>
              <a:gd name="T98" fmla="*/ 49 w 98"/>
              <a:gd name="T99" fmla="*/ 60 h 97"/>
              <a:gd name="T100" fmla="*/ 62 w 98"/>
              <a:gd name="T101" fmla="*/ 73 h 97"/>
              <a:gd name="T102" fmla="*/ 66 w 98"/>
              <a:gd name="T103" fmla="*/ 91 h 97"/>
              <a:gd name="T104" fmla="*/ 79 w 98"/>
              <a:gd name="T105" fmla="*/ 97 h 97"/>
              <a:gd name="T106" fmla="*/ 86 w 98"/>
              <a:gd name="T107" fmla="*/ 95 h 97"/>
              <a:gd name="T108" fmla="*/ 87 w 98"/>
              <a:gd name="T109" fmla="*/ 94 h 97"/>
              <a:gd name="T110" fmla="*/ 86 w 98"/>
              <a:gd name="T111" fmla="*/ 92 h 97"/>
              <a:gd name="T112" fmla="*/ 79 w 98"/>
              <a:gd name="T113" fmla="*/ 85 h 97"/>
              <a:gd name="T114" fmla="*/ 79 w 98"/>
              <a:gd name="T115" fmla="*/ 79 h 97"/>
              <a:gd name="T116" fmla="*/ 85 w 98"/>
              <a:gd name="T117" fmla="*/ 79 h 97"/>
              <a:gd name="T118" fmla="*/ 92 w 98"/>
              <a:gd name="T119" fmla="*/ 86 h 97"/>
              <a:gd name="T120" fmla="*/ 94 w 98"/>
              <a:gd name="T121" fmla="*/ 87 h 97"/>
              <a:gd name="T122" fmla="*/ 95 w 98"/>
              <a:gd name="T123" fmla="*/ 86 h 97"/>
              <a:gd name="T124" fmla="*/ 91 w 98"/>
              <a:gd name="T125" fmla="*/ 6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8" h="97">
                <a:moveTo>
                  <a:pt x="91" y="66"/>
                </a:moveTo>
                <a:cubicBezTo>
                  <a:pt x="87" y="61"/>
                  <a:pt x="79" y="59"/>
                  <a:pt x="73" y="62"/>
                </a:cubicBezTo>
                <a:cubicBezTo>
                  <a:pt x="60" y="49"/>
                  <a:pt x="60" y="49"/>
                  <a:pt x="60" y="49"/>
                </a:cubicBezTo>
                <a:cubicBezTo>
                  <a:pt x="73" y="36"/>
                  <a:pt x="73" y="36"/>
                  <a:pt x="73" y="36"/>
                </a:cubicBezTo>
                <a:cubicBezTo>
                  <a:pt x="75" y="37"/>
                  <a:pt x="77" y="37"/>
                  <a:pt x="79" y="37"/>
                </a:cubicBezTo>
                <a:cubicBezTo>
                  <a:pt x="84" y="37"/>
                  <a:pt x="88" y="35"/>
                  <a:pt x="91" y="32"/>
                </a:cubicBezTo>
                <a:cubicBezTo>
                  <a:pt x="97" y="27"/>
                  <a:pt x="98" y="19"/>
                  <a:pt x="95" y="13"/>
                </a:cubicBezTo>
                <a:cubicBezTo>
                  <a:pt x="95" y="12"/>
                  <a:pt x="94" y="11"/>
                  <a:pt x="94" y="11"/>
                </a:cubicBezTo>
                <a:cubicBezTo>
                  <a:pt x="93" y="11"/>
                  <a:pt x="92" y="11"/>
                  <a:pt x="92" y="12"/>
                </a:cubicBezTo>
                <a:cubicBezTo>
                  <a:pt x="85" y="19"/>
                  <a:pt x="85" y="19"/>
                  <a:pt x="85" y="19"/>
                </a:cubicBezTo>
                <a:cubicBezTo>
                  <a:pt x="79" y="19"/>
                  <a:pt x="79" y="19"/>
                  <a:pt x="79" y="19"/>
                </a:cubicBezTo>
                <a:cubicBezTo>
                  <a:pt x="79" y="13"/>
                  <a:pt x="79" y="13"/>
                  <a:pt x="79" y="13"/>
                </a:cubicBezTo>
                <a:cubicBezTo>
                  <a:pt x="86" y="6"/>
                  <a:pt x="86" y="6"/>
                  <a:pt x="86" y="6"/>
                </a:cubicBezTo>
                <a:cubicBezTo>
                  <a:pt x="87" y="5"/>
                  <a:pt x="87" y="5"/>
                  <a:pt x="87" y="4"/>
                </a:cubicBezTo>
                <a:cubicBezTo>
                  <a:pt x="87" y="4"/>
                  <a:pt x="86" y="3"/>
                  <a:pt x="86" y="3"/>
                </a:cubicBezTo>
                <a:cubicBezTo>
                  <a:pt x="83" y="2"/>
                  <a:pt x="81" y="1"/>
                  <a:pt x="79" y="1"/>
                </a:cubicBezTo>
                <a:cubicBezTo>
                  <a:pt x="74" y="1"/>
                  <a:pt x="69" y="3"/>
                  <a:pt x="66" y="7"/>
                </a:cubicBezTo>
                <a:cubicBezTo>
                  <a:pt x="61" y="11"/>
                  <a:pt x="59" y="19"/>
                  <a:pt x="62" y="25"/>
                </a:cubicBezTo>
                <a:cubicBezTo>
                  <a:pt x="49" y="38"/>
                  <a:pt x="49" y="38"/>
                  <a:pt x="49" y="38"/>
                </a:cubicBezTo>
                <a:cubicBezTo>
                  <a:pt x="36" y="25"/>
                  <a:pt x="36" y="25"/>
                  <a:pt x="36" y="25"/>
                </a:cubicBezTo>
                <a:cubicBezTo>
                  <a:pt x="39" y="19"/>
                  <a:pt x="37" y="11"/>
                  <a:pt x="32" y="7"/>
                </a:cubicBezTo>
                <a:cubicBezTo>
                  <a:pt x="27" y="1"/>
                  <a:pt x="19" y="0"/>
                  <a:pt x="13" y="3"/>
                </a:cubicBezTo>
                <a:cubicBezTo>
                  <a:pt x="12" y="3"/>
                  <a:pt x="11" y="4"/>
                  <a:pt x="11" y="4"/>
                </a:cubicBezTo>
                <a:cubicBezTo>
                  <a:pt x="11" y="5"/>
                  <a:pt x="11" y="6"/>
                  <a:pt x="12" y="6"/>
                </a:cubicBezTo>
                <a:cubicBezTo>
                  <a:pt x="19" y="13"/>
                  <a:pt x="19" y="13"/>
                  <a:pt x="19" y="13"/>
                </a:cubicBezTo>
                <a:cubicBezTo>
                  <a:pt x="19" y="19"/>
                  <a:pt x="19" y="19"/>
                  <a:pt x="19" y="19"/>
                </a:cubicBezTo>
                <a:cubicBezTo>
                  <a:pt x="13" y="19"/>
                  <a:pt x="13" y="19"/>
                  <a:pt x="13" y="19"/>
                </a:cubicBezTo>
                <a:cubicBezTo>
                  <a:pt x="6" y="12"/>
                  <a:pt x="6" y="12"/>
                  <a:pt x="6" y="12"/>
                </a:cubicBezTo>
                <a:cubicBezTo>
                  <a:pt x="6" y="11"/>
                  <a:pt x="5" y="11"/>
                  <a:pt x="4" y="11"/>
                </a:cubicBezTo>
                <a:cubicBezTo>
                  <a:pt x="4" y="11"/>
                  <a:pt x="3" y="12"/>
                  <a:pt x="3" y="13"/>
                </a:cubicBezTo>
                <a:cubicBezTo>
                  <a:pt x="0" y="19"/>
                  <a:pt x="1" y="27"/>
                  <a:pt x="7" y="32"/>
                </a:cubicBezTo>
                <a:cubicBezTo>
                  <a:pt x="11" y="37"/>
                  <a:pt x="19" y="39"/>
                  <a:pt x="25" y="36"/>
                </a:cubicBezTo>
                <a:cubicBezTo>
                  <a:pt x="38" y="49"/>
                  <a:pt x="38" y="49"/>
                  <a:pt x="38" y="49"/>
                </a:cubicBezTo>
                <a:cubicBezTo>
                  <a:pt x="25" y="62"/>
                  <a:pt x="25" y="62"/>
                  <a:pt x="25" y="62"/>
                </a:cubicBezTo>
                <a:cubicBezTo>
                  <a:pt x="23" y="61"/>
                  <a:pt x="21" y="61"/>
                  <a:pt x="19" y="61"/>
                </a:cubicBezTo>
                <a:cubicBezTo>
                  <a:pt x="14" y="61"/>
                  <a:pt x="10" y="63"/>
                  <a:pt x="7" y="66"/>
                </a:cubicBezTo>
                <a:cubicBezTo>
                  <a:pt x="1" y="71"/>
                  <a:pt x="0" y="79"/>
                  <a:pt x="3" y="86"/>
                </a:cubicBezTo>
                <a:cubicBezTo>
                  <a:pt x="3" y="86"/>
                  <a:pt x="4" y="87"/>
                  <a:pt x="4" y="87"/>
                </a:cubicBezTo>
                <a:cubicBezTo>
                  <a:pt x="5" y="87"/>
                  <a:pt x="6" y="87"/>
                  <a:pt x="6" y="86"/>
                </a:cubicBezTo>
                <a:cubicBezTo>
                  <a:pt x="13" y="79"/>
                  <a:pt x="13" y="79"/>
                  <a:pt x="13" y="79"/>
                </a:cubicBezTo>
                <a:cubicBezTo>
                  <a:pt x="19" y="79"/>
                  <a:pt x="19" y="79"/>
                  <a:pt x="19" y="79"/>
                </a:cubicBezTo>
                <a:cubicBezTo>
                  <a:pt x="19" y="85"/>
                  <a:pt x="19" y="85"/>
                  <a:pt x="19" y="85"/>
                </a:cubicBezTo>
                <a:cubicBezTo>
                  <a:pt x="12" y="92"/>
                  <a:pt x="12" y="92"/>
                  <a:pt x="12" y="92"/>
                </a:cubicBezTo>
                <a:cubicBezTo>
                  <a:pt x="11" y="92"/>
                  <a:pt x="11" y="93"/>
                  <a:pt x="11" y="94"/>
                </a:cubicBezTo>
                <a:cubicBezTo>
                  <a:pt x="11" y="94"/>
                  <a:pt x="12" y="95"/>
                  <a:pt x="13" y="95"/>
                </a:cubicBezTo>
                <a:cubicBezTo>
                  <a:pt x="15" y="96"/>
                  <a:pt x="17" y="97"/>
                  <a:pt x="20" y="97"/>
                </a:cubicBezTo>
                <a:cubicBezTo>
                  <a:pt x="20" y="97"/>
                  <a:pt x="20" y="97"/>
                  <a:pt x="20" y="97"/>
                </a:cubicBezTo>
                <a:cubicBezTo>
                  <a:pt x="24" y="97"/>
                  <a:pt x="29" y="95"/>
                  <a:pt x="32" y="91"/>
                </a:cubicBezTo>
                <a:cubicBezTo>
                  <a:pt x="37" y="87"/>
                  <a:pt x="39" y="79"/>
                  <a:pt x="36" y="73"/>
                </a:cubicBezTo>
                <a:cubicBezTo>
                  <a:pt x="49" y="60"/>
                  <a:pt x="49" y="60"/>
                  <a:pt x="49" y="60"/>
                </a:cubicBezTo>
                <a:cubicBezTo>
                  <a:pt x="62" y="73"/>
                  <a:pt x="62" y="73"/>
                  <a:pt x="62" y="73"/>
                </a:cubicBezTo>
                <a:cubicBezTo>
                  <a:pt x="59" y="79"/>
                  <a:pt x="61" y="87"/>
                  <a:pt x="66" y="91"/>
                </a:cubicBezTo>
                <a:cubicBezTo>
                  <a:pt x="69" y="95"/>
                  <a:pt x="74" y="97"/>
                  <a:pt x="79" y="97"/>
                </a:cubicBezTo>
                <a:cubicBezTo>
                  <a:pt x="81" y="97"/>
                  <a:pt x="83" y="96"/>
                  <a:pt x="86" y="95"/>
                </a:cubicBezTo>
                <a:cubicBezTo>
                  <a:pt x="86" y="95"/>
                  <a:pt x="87" y="94"/>
                  <a:pt x="87" y="94"/>
                </a:cubicBezTo>
                <a:cubicBezTo>
                  <a:pt x="87" y="93"/>
                  <a:pt x="87" y="92"/>
                  <a:pt x="86" y="92"/>
                </a:cubicBezTo>
                <a:cubicBezTo>
                  <a:pt x="79" y="85"/>
                  <a:pt x="79" y="85"/>
                  <a:pt x="79" y="85"/>
                </a:cubicBezTo>
                <a:cubicBezTo>
                  <a:pt x="79" y="79"/>
                  <a:pt x="79" y="79"/>
                  <a:pt x="79" y="79"/>
                </a:cubicBezTo>
                <a:cubicBezTo>
                  <a:pt x="85" y="79"/>
                  <a:pt x="85" y="79"/>
                  <a:pt x="85" y="79"/>
                </a:cubicBezTo>
                <a:cubicBezTo>
                  <a:pt x="92" y="86"/>
                  <a:pt x="92" y="86"/>
                  <a:pt x="92" y="86"/>
                </a:cubicBezTo>
                <a:cubicBezTo>
                  <a:pt x="92" y="87"/>
                  <a:pt x="93" y="87"/>
                  <a:pt x="94" y="87"/>
                </a:cubicBezTo>
                <a:cubicBezTo>
                  <a:pt x="94" y="87"/>
                  <a:pt x="95" y="86"/>
                  <a:pt x="95" y="86"/>
                </a:cubicBezTo>
                <a:cubicBezTo>
                  <a:pt x="98" y="79"/>
                  <a:pt x="97" y="71"/>
                  <a:pt x="91" y="6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06663154-1A09-0233-48E3-BCC358422D5F}"/>
              </a:ext>
            </a:extLst>
          </p:cNvPr>
          <p:cNvGrpSpPr/>
          <p:nvPr/>
        </p:nvGrpSpPr>
        <p:grpSpPr>
          <a:xfrm>
            <a:off x="9910111" y="1245841"/>
            <a:ext cx="271357" cy="273770"/>
            <a:chOff x="5554663" y="5051425"/>
            <a:chExt cx="357187" cy="360363"/>
          </a:xfrm>
          <a:solidFill>
            <a:schemeClr val="bg1"/>
          </a:solidFill>
        </p:grpSpPr>
        <p:sp>
          <p:nvSpPr>
            <p:cNvPr id="14" name="Freeform 140">
              <a:extLst>
                <a:ext uri="{FF2B5EF4-FFF2-40B4-BE49-F238E27FC236}">
                  <a16:creationId xmlns:a16="http://schemas.microsoft.com/office/drawing/2014/main" id="{70CD1AC5-44DB-4AC2-2A4B-2F32C0C6AA21}"/>
                </a:ext>
              </a:extLst>
            </p:cNvPr>
            <p:cNvSpPr>
              <a:spLocks/>
            </p:cNvSpPr>
            <p:nvPr/>
          </p:nvSpPr>
          <p:spPr bwMode="auto">
            <a:xfrm>
              <a:off x="5768975" y="5257800"/>
              <a:ext cx="142875" cy="153988"/>
            </a:xfrm>
            <a:custGeom>
              <a:avLst/>
              <a:gdLst>
                <a:gd name="T0" fmla="*/ 37 w 38"/>
                <a:gd name="T1" fmla="*/ 26 h 41"/>
                <a:gd name="T2" fmla="*/ 23 w 38"/>
                <a:gd name="T3" fmla="*/ 0 h 41"/>
                <a:gd name="T4" fmla="*/ 20 w 38"/>
                <a:gd name="T5" fmla="*/ 1 h 41"/>
                <a:gd name="T6" fmla="*/ 21 w 38"/>
                <a:gd name="T7" fmla="*/ 9 h 41"/>
                <a:gd name="T8" fmla="*/ 20 w 38"/>
                <a:gd name="T9" fmla="*/ 11 h 41"/>
                <a:gd name="T10" fmla="*/ 18 w 38"/>
                <a:gd name="T11" fmla="*/ 11 h 41"/>
                <a:gd name="T12" fmla="*/ 10 w 38"/>
                <a:gd name="T13" fmla="*/ 11 h 41"/>
                <a:gd name="T14" fmla="*/ 8 w 38"/>
                <a:gd name="T15" fmla="*/ 18 h 41"/>
                <a:gd name="T16" fmla="*/ 6 w 38"/>
                <a:gd name="T17" fmla="*/ 20 h 41"/>
                <a:gd name="T18" fmla="*/ 4 w 38"/>
                <a:gd name="T19" fmla="*/ 20 h 41"/>
                <a:gd name="T20" fmla="*/ 0 w 38"/>
                <a:gd name="T21" fmla="*/ 17 h 41"/>
                <a:gd name="T22" fmla="*/ 13 w 38"/>
                <a:gd name="T23" fmla="*/ 40 h 41"/>
                <a:gd name="T24" fmla="*/ 15 w 38"/>
                <a:gd name="T25" fmla="*/ 41 h 41"/>
                <a:gd name="T26" fmla="*/ 15 w 38"/>
                <a:gd name="T27" fmla="*/ 41 h 41"/>
                <a:gd name="T28" fmla="*/ 17 w 38"/>
                <a:gd name="T29" fmla="*/ 40 h 41"/>
                <a:gd name="T30" fmla="*/ 22 w 38"/>
                <a:gd name="T31" fmla="*/ 27 h 41"/>
                <a:gd name="T32" fmla="*/ 35 w 38"/>
                <a:gd name="T33" fmla="*/ 29 h 41"/>
                <a:gd name="T34" fmla="*/ 37 w 38"/>
                <a:gd name="T35" fmla="*/ 28 h 41"/>
                <a:gd name="T36" fmla="*/ 37 w 38"/>
                <a:gd name="T37"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41">
                  <a:moveTo>
                    <a:pt x="37" y="26"/>
                  </a:moveTo>
                  <a:cubicBezTo>
                    <a:pt x="23" y="0"/>
                    <a:pt x="23" y="0"/>
                    <a:pt x="23" y="0"/>
                  </a:cubicBezTo>
                  <a:cubicBezTo>
                    <a:pt x="20" y="1"/>
                    <a:pt x="20" y="1"/>
                    <a:pt x="20" y="1"/>
                  </a:cubicBezTo>
                  <a:cubicBezTo>
                    <a:pt x="21" y="9"/>
                    <a:pt x="21" y="9"/>
                    <a:pt x="21" y="9"/>
                  </a:cubicBezTo>
                  <a:cubicBezTo>
                    <a:pt x="21" y="10"/>
                    <a:pt x="21" y="10"/>
                    <a:pt x="20" y="11"/>
                  </a:cubicBezTo>
                  <a:cubicBezTo>
                    <a:pt x="20" y="11"/>
                    <a:pt x="19" y="11"/>
                    <a:pt x="18" y="11"/>
                  </a:cubicBezTo>
                  <a:cubicBezTo>
                    <a:pt x="10" y="11"/>
                    <a:pt x="10" y="11"/>
                    <a:pt x="10" y="11"/>
                  </a:cubicBezTo>
                  <a:cubicBezTo>
                    <a:pt x="8" y="18"/>
                    <a:pt x="8" y="18"/>
                    <a:pt x="8" y="18"/>
                  </a:cubicBezTo>
                  <a:cubicBezTo>
                    <a:pt x="8" y="19"/>
                    <a:pt x="7" y="20"/>
                    <a:pt x="6" y="20"/>
                  </a:cubicBezTo>
                  <a:cubicBezTo>
                    <a:pt x="6" y="20"/>
                    <a:pt x="5" y="20"/>
                    <a:pt x="4" y="20"/>
                  </a:cubicBezTo>
                  <a:cubicBezTo>
                    <a:pt x="0" y="17"/>
                    <a:pt x="0" y="17"/>
                    <a:pt x="0" y="17"/>
                  </a:cubicBezTo>
                  <a:cubicBezTo>
                    <a:pt x="13" y="40"/>
                    <a:pt x="13" y="40"/>
                    <a:pt x="13" y="40"/>
                  </a:cubicBezTo>
                  <a:cubicBezTo>
                    <a:pt x="14" y="41"/>
                    <a:pt x="14" y="41"/>
                    <a:pt x="15" y="41"/>
                  </a:cubicBezTo>
                  <a:cubicBezTo>
                    <a:pt x="15" y="41"/>
                    <a:pt x="15" y="41"/>
                    <a:pt x="15" y="41"/>
                  </a:cubicBezTo>
                  <a:cubicBezTo>
                    <a:pt x="16" y="41"/>
                    <a:pt x="17" y="40"/>
                    <a:pt x="17" y="40"/>
                  </a:cubicBezTo>
                  <a:cubicBezTo>
                    <a:pt x="22" y="27"/>
                    <a:pt x="22" y="27"/>
                    <a:pt x="22" y="27"/>
                  </a:cubicBezTo>
                  <a:cubicBezTo>
                    <a:pt x="35" y="29"/>
                    <a:pt x="35" y="29"/>
                    <a:pt x="35" y="29"/>
                  </a:cubicBezTo>
                  <a:cubicBezTo>
                    <a:pt x="36" y="29"/>
                    <a:pt x="37" y="29"/>
                    <a:pt x="37" y="28"/>
                  </a:cubicBezTo>
                  <a:cubicBezTo>
                    <a:pt x="38" y="27"/>
                    <a:pt x="38" y="27"/>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141">
              <a:extLst>
                <a:ext uri="{FF2B5EF4-FFF2-40B4-BE49-F238E27FC236}">
                  <a16:creationId xmlns:a16="http://schemas.microsoft.com/office/drawing/2014/main" id="{6576651B-ECC5-8062-55E5-F2FF7192A704}"/>
                </a:ext>
              </a:extLst>
            </p:cNvPr>
            <p:cNvSpPr>
              <a:spLocks/>
            </p:cNvSpPr>
            <p:nvPr/>
          </p:nvSpPr>
          <p:spPr bwMode="auto">
            <a:xfrm>
              <a:off x="5554663" y="5257800"/>
              <a:ext cx="142875" cy="153988"/>
            </a:xfrm>
            <a:custGeom>
              <a:avLst/>
              <a:gdLst>
                <a:gd name="T0" fmla="*/ 33 w 38"/>
                <a:gd name="T1" fmla="*/ 20 h 41"/>
                <a:gd name="T2" fmla="*/ 31 w 38"/>
                <a:gd name="T3" fmla="*/ 20 h 41"/>
                <a:gd name="T4" fmla="*/ 30 w 38"/>
                <a:gd name="T5" fmla="*/ 18 h 41"/>
                <a:gd name="T6" fmla="*/ 28 w 38"/>
                <a:gd name="T7" fmla="*/ 11 h 41"/>
                <a:gd name="T8" fmla="*/ 20 w 38"/>
                <a:gd name="T9" fmla="*/ 11 h 41"/>
                <a:gd name="T10" fmla="*/ 18 w 38"/>
                <a:gd name="T11" fmla="*/ 11 h 41"/>
                <a:gd name="T12" fmla="*/ 17 w 38"/>
                <a:gd name="T13" fmla="*/ 9 h 41"/>
                <a:gd name="T14" fmla="*/ 18 w 38"/>
                <a:gd name="T15" fmla="*/ 1 h 41"/>
                <a:gd name="T16" fmla="*/ 15 w 38"/>
                <a:gd name="T17" fmla="*/ 0 h 41"/>
                <a:gd name="T18" fmla="*/ 0 w 38"/>
                <a:gd name="T19" fmla="*/ 26 h 41"/>
                <a:gd name="T20" fmla="*/ 0 w 38"/>
                <a:gd name="T21" fmla="*/ 28 h 41"/>
                <a:gd name="T22" fmla="*/ 2 w 38"/>
                <a:gd name="T23" fmla="*/ 29 h 41"/>
                <a:gd name="T24" fmla="*/ 16 w 38"/>
                <a:gd name="T25" fmla="*/ 27 h 41"/>
                <a:gd name="T26" fmla="*/ 21 w 38"/>
                <a:gd name="T27" fmla="*/ 40 h 41"/>
                <a:gd name="T28" fmla="*/ 23 w 38"/>
                <a:gd name="T29" fmla="*/ 41 h 41"/>
                <a:gd name="T30" fmla="*/ 23 w 38"/>
                <a:gd name="T31" fmla="*/ 41 h 41"/>
                <a:gd name="T32" fmla="*/ 24 w 38"/>
                <a:gd name="T33" fmla="*/ 40 h 41"/>
                <a:gd name="T34" fmla="*/ 38 w 38"/>
                <a:gd name="T35" fmla="*/ 17 h 41"/>
                <a:gd name="T36" fmla="*/ 33 w 38"/>
                <a:gd name="T37" fmla="*/ 2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41">
                  <a:moveTo>
                    <a:pt x="33" y="20"/>
                  </a:moveTo>
                  <a:cubicBezTo>
                    <a:pt x="33" y="20"/>
                    <a:pt x="32" y="20"/>
                    <a:pt x="31" y="20"/>
                  </a:cubicBezTo>
                  <a:cubicBezTo>
                    <a:pt x="31" y="20"/>
                    <a:pt x="30" y="19"/>
                    <a:pt x="30" y="18"/>
                  </a:cubicBezTo>
                  <a:cubicBezTo>
                    <a:pt x="28" y="11"/>
                    <a:pt x="28" y="11"/>
                    <a:pt x="28" y="11"/>
                  </a:cubicBezTo>
                  <a:cubicBezTo>
                    <a:pt x="20" y="11"/>
                    <a:pt x="20" y="11"/>
                    <a:pt x="20" y="11"/>
                  </a:cubicBezTo>
                  <a:cubicBezTo>
                    <a:pt x="19" y="11"/>
                    <a:pt x="18" y="11"/>
                    <a:pt x="18" y="11"/>
                  </a:cubicBezTo>
                  <a:cubicBezTo>
                    <a:pt x="17" y="10"/>
                    <a:pt x="17" y="10"/>
                    <a:pt x="17" y="9"/>
                  </a:cubicBezTo>
                  <a:cubicBezTo>
                    <a:pt x="18" y="1"/>
                    <a:pt x="18" y="1"/>
                    <a:pt x="18" y="1"/>
                  </a:cubicBezTo>
                  <a:cubicBezTo>
                    <a:pt x="15" y="0"/>
                    <a:pt x="15" y="0"/>
                    <a:pt x="15" y="0"/>
                  </a:cubicBezTo>
                  <a:cubicBezTo>
                    <a:pt x="0" y="26"/>
                    <a:pt x="0" y="26"/>
                    <a:pt x="0" y="26"/>
                  </a:cubicBezTo>
                  <a:cubicBezTo>
                    <a:pt x="0" y="27"/>
                    <a:pt x="0" y="27"/>
                    <a:pt x="0" y="28"/>
                  </a:cubicBezTo>
                  <a:cubicBezTo>
                    <a:pt x="1" y="29"/>
                    <a:pt x="2" y="29"/>
                    <a:pt x="2" y="29"/>
                  </a:cubicBezTo>
                  <a:cubicBezTo>
                    <a:pt x="16" y="27"/>
                    <a:pt x="16" y="27"/>
                    <a:pt x="16" y="27"/>
                  </a:cubicBezTo>
                  <a:cubicBezTo>
                    <a:pt x="21" y="40"/>
                    <a:pt x="21" y="40"/>
                    <a:pt x="21" y="40"/>
                  </a:cubicBezTo>
                  <a:cubicBezTo>
                    <a:pt x="21" y="40"/>
                    <a:pt x="22" y="41"/>
                    <a:pt x="23" y="41"/>
                  </a:cubicBezTo>
                  <a:cubicBezTo>
                    <a:pt x="23" y="41"/>
                    <a:pt x="23" y="41"/>
                    <a:pt x="23" y="41"/>
                  </a:cubicBezTo>
                  <a:cubicBezTo>
                    <a:pt x="23" y="41"/>
                    <a:pt x="24" y="41"/>
                    <a:pt x="24" y="40"/>
                  </a:cubicBezTo>
                  <a:cubicBezTo>
                    <a:pt x="38" y="17"/>
                    <a:pt x="38" y="17"/>
                    <a:pt x="38" y="17"/>
                  </a:cubicBezTo>
                  <a:lnTo>
                    <a:pt x="3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142">
              <a:extLst>
                <a:ext uri="{FF2B5EF4-FFF2-40B4-BE49-F238E27FC236}">
                  <a16:creationId xmlns:a16="http://schemas.microsoft.com/office/drawing/2014/main" id="{FF846A71-B785-106B-7C00-52B54A6E9CFD}"/>
                </a:ext>
              </a:extLst>
            </p:cNvPr>
            <p:cNvSpPr>
              <a:spLocks noEditPoints="1"/>
            </p:cNvSpPr>
            <p:nvPr/>
          </p:nvSpPr>
          <p:spPr bwMode="auto">
            <a:xfrm>
              <a:off x="5595938" y="5051425"/>
              <a:ext cx="271463" cy="271463"/>
            </a:xfrm>
            <a:custGeom>
              <a:avLst/>
              <a:gdLst>
                <a:gd name="T0" fmla="*/ 72 w 72"/>
                <a:gd name="T1" fmla="*/ 34 h 72"/>
                <a:gd name="T2" fmla="*/ 70 w 72"/>
                <a:gd name="T3" fmla="*/ 24 h 72"/>
                <a:gd name="T4" fmla="*/ 68 w 72"/>
                <a:gd name="T5" fmla="*/ 21 h 72"/>
                <a:gd name="T6" fmla="*/ 62 w 72"/>
                <a:gd name="T7" fmla="*/ 12 h 72"/>
                <a:gd name="T8" fmla="*/ 60 w 72"/>
                <a:gd name="T9" fmla="*/ 10 h 72"/>
                <a:gd name="T10" fmla="*/ 51 w 72"/>
                <a:gd name="T11" fmla="*/ 4 h 72"/>
                <a:gd name="T12" fmla="*/ 48 w 72"/>
                <a:gd name="T13" fmla="*/ 3 h 72"/>
                <a:gd name="T14" fmla="*/ 38 w 72"/>
                <a:gd name="T15" fmla="*/ 1 h 72"/>
                <a:gd name="T16" fmla="*/ 30 w 72"/>
                <a:gd name="T17" fmla="*/ 6 h 72"/>
                <a:gd name="T18" fmla="*/ 23 w 72"/>
                <a:gd name="T19" fmla="*/ 3 h 72"/>
                <a:gd name="T20" fmla="*/ 19 w 72"/>
                <a:gd name="T21" fmla="*/ 11 h 72"/>
                <a:gd name="T22" fmla="*/ 11 w 72"/>
                <a:gd name="T23" fmla="*/ 11 h 72"/>
                <a:gd name="T24" fmla="*/ 11 w 72"/>
                <a:gd name="T25" fmla="*/ 19 h 72"/>
                <a:gd name="T26" fmla="*/ 3 w 72"/>
                <a:gd name="T27" fmla="*/ 22 h 72"/>
                <a:gd name="T28" fmla="*/ 6 w 72"/>
                <a:gd name="T29" fmla="*/ 30 h 72"/>
                <a:gd name="T30" fmla="*/ 0 w 72"/>
                <a:gd name="T31" fmla="*/ 36 h 72"/>
                <a:gd name="T32" fmla="*/ 6 w 72"/>
                <a:gd name="T33" fmla="*/ 42 h 72"/>
                <a:gd name="T34" fmla="*/ 3 w 72"/>
                <a:gd name="T35" fmla="*/ 50 h 72"/>
                <a:gd name="T36" fmla="*/ 11 w 72"/>
                <a:gd name="T37" fmla="*/ 53 h 72"/>
                <a:gd name="T38" fmla="*/ 11 w 72"/>
                <a:gd name="T39" fmla="*/ 61 h 72"/>
                <a:gd name="T40" fmla="*/ 19 w 72"/>
                <a:gd name="T41" fmla="*/ 61 h 72"/>
                <a:gd name="T42" fmla="*/ 23 w 72"/>
                <a:gd name="T43" fmla="*/ 69 h 72"/>
                <a:gd name="T44" fmla="*/ 30 w 72"/>
                <a:gd name="T45" fmla="*/ 66 h 72"/>
                <a:gd name="T46" fmla="*/ 36 w 72"/>
                <a:gd name="T47" fmla="*/ 72 h 72"/>
                <a:gd name="T48" fmla="*/ 42 w 72"/>
                <a:gd name="T49" fmla="*/ 66 h 72"/>
                <a:gd name="T50" fmla="*/ 50 w 72"/>
                <a:gd name="T51" fmla="*/ 69 h 72"/>
                <a:gd name="T52" fmla="*/ 53 w 72"/>
                <a:gd name="T53" fmla="*/ 61 h 72"/>
                <a:gd name="T54" fmla="*/ 62 w 72"/>
                <a:gd name="T55" fmla="*/ 61 h 72"/>
                <a:gd name="T56" fmla="*/ 62 w 72"/>
                <a:gd name="T57" fmla="*/ 53 h 72"/>
                <a:gd name="T58" fmla="*/ 70 w 72"/>
                <a:gd name="T59" fmla="*/ 50 h 72"/>
                <a:gd name="T60" fmla="*/ 66 w 72"/>
                <a:gd name="T61" fmla="*/ 42 h 72"/>
                <a:gd name="T62" fmla="*/ 72 w 72"/>
                <a:gd name="T63" fmla="*/ 36 h 72"/>
                <a:gd name="T64" fmla="*/ 35 w 72"/>
                <a:gd name="T65" fmla="*/ 48 h 72"/>
                <a:gd name="T66" fmla="*/ 34 w 72"/>
                <a:gd name="T67" fmla="*/ 49 h 72"/>
                <a:gd name="T68" fmla="*/ 22 w 72"/>
                <a:gd name="T69" fmla="*/ 37 h 72"/>
                <a:gd name="T70" fmla="*/ 25 w 72"/>
                <a:gd name="T71" fmla="*/ 35 h 72"/>
                <a:gd name="T72" fmla="*/ 48 w 72"/>
                <a:gd name="T73" fmla="*/ 24 h 72"/>
                <a:gd name="T74" fmla="*/ 51 w 72"/>
                <a:gd name="T75" fmla="*/ 2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 h="72">
                  <a:moveTo>
                    <a:pt x="72" y="36"/>
                  </a:moveTo>
                  <a:cubicBezTo>
                    <a:pt x="72" y="35"/>
                    <a:pt x="72" y="35"/>
                    <a:pt x="72" y="34"/>
                  </a:cubicBezTo>
                  <a:cubicBezTo>
                    <a:pt x="66" y="30"/>
                    <a:pt x="66" y="30"/>
                    <a:pt x="66" y="30"/>
                  </a:cubicBezTo>
                  <a:cubicBezTo>
                    <a:pt x="70" y="24"/>
                    <a:pt x="70" y="24"/>
                    <a:pt x="70" y="24"/>
                  </a:cubicBezTo>
                  <a:cubicBezTo>
                    <a:pt x="70" y="23"/>
                    <a:pt x="70" y="23"/>
                    <a:pt x="70" y="22"/>
                  </a:cubicBezTo>
                  <a:cubicBezTo>
                    <a:pt x="69" y="22"/>
                    <a:pt x="69" y="21"/>
                    <a:pt x="68" y="21"/>
                  </a:cubicBezTo>
                  <a:cubicBezTo>
                    <a:pt x="62" y="19"/>
                    <a:pt x="62" y="19"/>
                    <a:pt x="62" y="19"/>
                  </a:cubicBezTo>
                  <a:cubicBezTo>
                    <a:pt x="62" y="12"/>
                    <a:pt x="62" y="12"/>
                    <a:pt x="62" y="12"/>
                  </a:cubicBezTo>
                  <a:cubicBezTo>
                    <a:pt x="62" y="12"/>
                    <a:pt x="62" y="11"/>
                    <a:pt x="62" y="11"/>
                  </a:cubicBezTo>
                  <a:cubicBezTo>
                    <a:pt x="61" y="10"/>
                    <a:pt x="61" y="10"/>
                    <a:pt x="60" y="10"/>
                  </a:cubicBezTo>
                  <a:cubicBezTo>
                    <a:pt x="53" y="11"/>
                    <a:pt x="53" y="11"/>
                    <a:pt x="53" y="11"/>
                  </a:cubicBezTo>
                  <a:cubicBezTo>
                    <a:pt x="51" y="4"/>
                    <a:pt x="51" y="4"/>
                    <a:pt x="51" y="4"/>
                  </a:cubicBezTo>
                  <a:cubicBezTo>
                    <a:pt x="51" y="3"/>
                    <a:pt x="51" y="3"/>
                    <a:pt x="50" y="3"/>
                  </a:cubicBezTo>
                  <a:cubicBezTo>
                    <a:pt x="50" y="3"/>
                    <a:pt x="49" y="3"/>
                    <a:pt x="48" y="3"/>
                  </a:cubicBezTo>
                  <a:cubicBezTo>
                    <a:pt x="42" y="6"/>
                    <a:pt x="42" y="6"/>
                    <a:pt x="42" y="6"/>
                  </a:cubicBezTo>
                  <a:cubicBezTo>
                    <a:pt x="38" y="1"/>
                    <a:pt x="38" y="1"/>
                    <a:pt x="38" y="1"/>
                  </a:cubicBezTo>
                  <a:cubicBezTo>
                    <a:pt x="37" y="0"/>
                    <a:pt x="36" y="0"/>
                    <a:pt x="35" y="1"/>
                  </a:cubicBezTo>
                  <a:cubicBezTo>
                    <a:pt x="30" y="6"/>
                    <a:pt x="30" y="6"/>
                    <a:pt x="30" y="6"/>
                  </a:cubicBezTo>
                  <a:cubicBezTo>
                    <a:pt x="24" y="3"/>
                    <a:pt x="24" y="3"/>
                    <a:pt x="24" y="3"/>
                  </a:cubicBezTo>
                  <a:cubicBezTo>
                    <a:pt x="24" y="3"/>
                    <a:pt x="23" y="3"/>
                    <a:pt x="23" y="3"/>
                  </a:cubicBezTo>
                  <a:cubicBezTo>
                    <a:pt x="22" y="3"/>
                    <a:pt x="22" y="3"/>
                    <a:pt x="21" y="4"/>
                  </a:cubicBezTo>
                  <a:cubicBezTo>
                    <a:pt x="19" y="11"/>
                    <a:pt x="19" y="11"/>
                    <a:pt x="19" y="11"/>
                  </a:cubicBezTo>
                  <a:cubicBezTo>
                    <a:pt x="12" y="10"/>
                    <a:pt x="12" y="10"/>
                    <a:pt x="12" y="10"/>
                  </a:cubicBezTo>
                  <a:cubicBezTo>
                    <a:pt x="12" y="10"/>
                    <a:pt x="11" y="10"/>
                    <a:pt x="11" y="11"/>
                  </a:cubicBezTo>
                  <a:cubicBezTo>
                    <a:pt x="10" y="11"/>
                    <a:pt x="10" y="12"/>
                    <a:pt x="10" y="12"/>
                  </a:cubicBezTo>
                  <a:cubicBezTo>
                    <a:pt x="11" y="19"/>
                    <a:pt x="11" y="19"/>
                    <a:pt x="11" y="19"/>
                  </a:cubicBezTo>
                  <a:cubicBezTo>
                    <a:pt x="4" y="21"/>
                    <a:pt x="4" y="21"/>
                    <a:pt x="4" y="21"/>
                  </a:cubicBezTo>
                  <a:cubicBezTo>
                    <a:pt x="4" y="21"/>
                    <a:pt x="3" y="22"/>
                    <a:pt x="3" y="22"/>
                  </a:cubicBezTo>
                  <a:cubicBezTo>
                    <a:pt x="3" y="23"/>
                    <a:pt x="3" y="23"/>
                    <a:pt x="3" y="24"/>
                  </a:cubicBezTo>
                  <a:cubicBezTo>
                    <a:pt x="6" y="30"/>
                    <a:pt x="6" y="30"/>
                    <a:pt x="6" y="30"/>
                  </a:cubicBezTo>
                  <a:cubicBezTo>
                    <a:pt x="1" y="34"/>
                    <a:pt x="1" y="34"/>
                    <a:pt x="1" y="34"/>
                  </a:cubicBezTo>
                  <a:cubicBezTo>
                    <a:pt x="1" y="35"/>
                    <a:pt x="0" y="35"/>
                    <a:pt x="0" y="36"/>
                  </a:cubicBezTo>
                  <a:cubicBezTo>
                    <a:pt x="0" y="37"/>
                    <a:pt x="1" y="37"/>
                    <a:pt x="1" y="38"/>
                  </a:cubicBezTo>
                  <a:cubicBezTo>
                    <a:pt x="6" y="42"/>
                    <a:pt x="6" y="42"/>
                    <a:pt x="6" y="42"/>
                  </a:cubicBezTo>
                  <a:cubicBezTo>
                    <a:pt x="3" y="48"/>
                    <a:pt x="3" y="48"/>
                    <a:pt x="3" y="48"/>
                  </a:cubicBezTo>
                  <a:cubicBezTo>
                    <a:pt x="3" y="49"/>
                    <a:pt x="3" y="49"/>
                    <a:pt x="3" y="50"/>
                  </a:cubicBezTo>
                  <a:cubicBezTo>
                    <a:pt x="3" y="50"/>
                    <a:pt x="4" y="51"/>
                    <a:pt x="4" y="51"/>
                  </a:cubicBezTo>
                  <a:cubicBezTo>
                    <a:pt x="11" y="53"/>
                    <a:pt x="11" y="53"/>
                    <a:pt x="11" y="53"/>
                  </a:cubicBezTo>
                  <a:cubicBezTo>
                    <a:pt x="10" y="60"/>
                    <a:pt x="10" y="60"/>
                    <a:pt x="10" y="60"/>
                  </a:cubicBezTo>
                  <a:cubicBezTo>
                    <a:pt x="10" y="60"/>
                    <a:pt x="10" y="61"/>
                    <a:pt x="11" y="61"/>
                  </a:cubicBezTo>
                  <a:cubicBezTo>
                    <a:pt x="11" y="62"/>
                    <a:pt x="12" y="62"/>
                    <a:pt x="12" y="62"/>
                  </a:cubicBezTo>
                  <a:cubicBezTo>
                    <a:pt x="19" y="61"/>
                    <a:pt x="19" y="61"/>
                    <a:pt x="19" y="61"/>
                  </a:cubicBezTo>
                  <a:cubicBezTo>
                    <a:pt x="21" y="68"/>
                    <a:pt x="21" y="68"/>
                    <a:pt x="21" y="68"/>
                  </a:cubicBezTo>
                  <a:cubicBezTo>
                    <a:pt x="22" y="69"/>
                    <a:pt x="22" y="69"/>
                    <a:pt x="23" y="69"/>
                  </a:cubicBezTo>
                  <a:cubicBezTo>
                    <a:pt x="23" y="69"/>
                    <a:pt x="24" y="69"/>
                    <a:pt x="24" y="69"/>
                  </a:cubicBezTo>
                  <a:cubicBezTo>
                    <a:pt x="30" y="66"/>
                    <a:pt x="30" y="66"/>
                    <a:pt x="30" y="66"/>
                  </a:cubicBezTo>
                  <a:cubicBezTo>
                    <a:pt x="35" y="71"/>
                    <a:pt x="35" y="71"/>
                    <a:pt x="35" y="71"/>
                  </a:cubicBezTo>
                  <a:cubicBezTo>
                    <a:pt x="35" y="72"/>
                    <a:pt x="36" y="72"/>
                    <a:pt x="36" y="72"/>
                  </a:cubicBezTo>
                  <a:cubicBezTo>
                    <a:pt x="37" y="72"/>
                    <a:pt x="38" y="72"/>
                    <a:pt x="38" y="71"/>
                  </a:cubicBezTo>
                  <a:cubicBezTo>
                    <a:pt x="42" y="66"/>
                    <a:pt x="42" y="66"/>
                    <a:pt x="42" y="66"/>
                  </a:cubicBezTo>
                  <a:cubicBezTo>
                    <a:pt x="48" y="69"/>
                    <a:pt x="48" y="69"/>
                    <a:pt x="48" y="69"/>
                  </a:cubicBezTo>
                  <a:cubicBezTo>
                    <a:pt x="49" y="69"/>
                    <a:pt x="50" y="69"/>
                    <a:pt x="50" y="69"/>
                  </a:cubicBezTo>
                  <a:cubicBezTo>
                    <a:pt x="51" y="69"/>
                    <a:pt x="51" y="69"/>
                    <a:pt x="51" y="68"/>
                  </a:cubicBezTo>
                  <a:cubicBezTo>
                    <a:pt x="53" y="61"/>
                    <a:pt x="53" y="61"/>
                    <a:pt x="53" y="61"/>
                  </a:cubicBezTo>
                  <a:cubicBezTo>
                    <a:pt x="60" y="62"/>
                    <a:pt x="60" y="62"/>
                    <a:pt x="60" y="62"/>
                  </a:cubicBezTo>
                  <a:cubicBezTo>
                    <a:pt x="61" y="62"/>
                    <a:pt x="61" y="62"/>
                    <a:pt x="62" y="61"/>
                  </a:cubicBezTo>
                  <a:cubicBezTo>
                    <a:pt x="62" y="61"/>
                    <a:pt x="62" y="60"/>
                    <a:pt x="62" y="60"/>
                  </a:cubicBezTo>
                  <a:cubicBezTo>
                    <a:pt x="62" y="53"/>
                    <a:pt x="62" y="53"/>
                    <a:pt x="62" y="53"/>
                  </a:cubicBezTo>
                  <a:cubicBezTo>
                    <a:pt x="68" y="51"/>
                    <a:pt x="68" y="51"/>
                    <a:pt x="68" y="51"/>
                  </a:cubicBezTo>
                  <a:cubicBezTo>
                    <a:pt x="69" y="51"/>
                    <a:pt x="69" y="50"/>
                    <a:pt x="70" y="50"/>
                  </a:cubicBezTo>
                  <a:cubicBezTo>
                    <a:pt x="70" y="49"/>
                    <a:pt x="70" y="49"/>
                    <a:pt x="70" y="48"/>
                  </a:cubicBezTo>
                  <a:cubicBezTo>
                    <a:pt x="66" y="42"/>
                    <a:pt x="66" y="42"/>
                    <a:pt x="66" y="42"/>
                  </a:cubicBezTo>
                  <a:cubicBezTo>
                    <a:pt x="72" y="38"/>
                    <a:pt x="72" y="38"/>
                    <a:pt x="72" y="38"/>
                  </a:cubicBezTo>
                  <a:cubicBezTo>
                    <a:pt x="72" y="37"/>
                    <a:pt x="72" y="37"/>
                    <a:pt x="72" y="36"/>
                  </a:cubicBezTo>
                  <a:close/>
                  <a:moveTo>
                    <a:pt x="51" y="27"/>
                  </a:moveTo>
                  <a:cubicBezTo>
                    <a:pt x="35" y="48"/>
                    <a:pt x="35" y="48"/>
                    <a:pt x="35" y="48"/>
                  </a:cubicBezTo>
                  <a:cubicBezTo>
                    <a:pt x="35" y="48"/>
                    <a:pt x="34" y="49"/>
                    <a:pt x="34" y="49"/>
                  </a:cubicBezTo>
                  <a:cubicBezTo>
                    <a:pt x="34" y="49"/>
                    <a:pt x="34" y="49"/>
                    <a:pt x="34" y="49"/>
                  </a:cubicBezTo>
                  <a:cubicBezTo>
                    <a:pt x="33" y="49"/>
                    <a:pt x="33" y="48"/>
                    <a:pt x="32" y="48"/>
                  </a:cubicBezTo>
                  <a:cubicBezTo>
                    <a:pt x="22" y="37"/>
                    <a:pt x="22" y="37"/>
                    <a:pt x="22" y="37"/>
                  </a:cubicBezTo>
                  <a:cubicBezTo>
                    <a:pt x="21" y="37"/>
                    <a:pt x="21" y="35"/>
                    <a:pt x="22" y="35"/>
                  </a:cubicBezTo>
                  <a:cubicBezTo>
                    <a:pt x="22" y="34"/>
                    <a:pt x="24" y="34"/>
                    <a:pt x="25" y="35"/>
                  </a:cubicBezTo>
                  <a:cubicBezTo>
                    <a:pt x="34" y="44"/>
                    <a:pt x="34" y="44"/>
                    <a:pt x="34" y="44"/>
                  </a:cubicBezTo>
                  <a:cubicBezTo>
                    <a:pt x="48" y="24"/>
                    <a:pt x="48" y="24"/>
                    <a:pt x="48" y="24"/>
                  </a:cubicBezTo>
                  <a:cubicBezTo>
                    <a:pt x="49" y="23"/>
                    <a:pt x="50" y="23"/>
                    <a:pt x="51" y="24"/>
                  </a:cubicBezTo>
                  <a:cubicBezTo>
                    <a:pt x="52" y="24"/>
                    <a:pt x="52" y="26"/>
                    <a:pt x="5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0" name="Title 1">
            <a:extLst>
              <a:ext uri="{FF2B5EF4-FFF2-40B4-BE49-F238E27FC236}">
                <a16:creationId xmlns:a16="http://schemas.microsoft.com/office/drawing/2014/main" id="{F0C0ACBE-C59B-F5B7-E883-F53B53F7742E}"/>
              </a:ext>
            </a:extLst>
          </p:cNvPr>
          <p:cNvSpPr txBox="1">
            <a:spLocks/>
          </p:cNvSpPr>
          <p:nvPr/>
        </p:nvSpPr>
        <p:spPr>
          <a:xfrm>
            <a:off x="540070" y="230077"/>
            <a:ext cx="11111859" cy="590931"/>
          </a:xfrm>
          <a:prstGeom prst="rect">
            <a:avLst/>
          </a:prstGeom>
        </p:spPr>
        <p:txBody>
          <a:bodyPr vert="horz" wrap="square" lIns="0" tIns="45720" rIns="0" bIns="45720" rtlCol="0" anchor="t">
            <a:spAutoFit/>
          </a:bodyPr>
          <a:lstStyle>
            <a:lvl1pPr algn="l" defTabSz="914400" rtl="0" eaLnBrk="1" latinLnBrk="0" hangingPunct="1">
              <a:lnSpc>
                <a:spcPct val="90000"/>
              </a:lnSpc>
              <a:spcBef>
                <a:spcPct val="0"/>
              </a:spcBef>
              <a:buNone/>
              <a:defRPr lang="id-ID" sz="2800" b="1" kern="1200" dirty="0">
                <a:solidFill>
                  <a:schemeClr val="accent4"/>
                </a:solidFill>
                <a:latin typeface="+mj-lt"/>
                <a:ea typeface="+mj-ea"/>
                <a:cs typeface="+mj-cs"/>
              </a:defRPr>
            </a:lvl1pPr>
          </a:lstStyle>
          <a:p>
            <a:pPr marR="0" lvl="0" indent="0" fontAlgn="auto">
              <a:spcAft>
                <a:spcPts val="0"/>
              </a:spcAft>
              <a:buClrTx/>
              <a:buSzTx/>
              <a:tabLst/>
              <a:defRPr/>
            </a:pPr>
            <a:r>
              <a:rPr lang="en-US" sz="3600" spc="-50" dirty="0">
                <a:solidFill>
                  <a:srgbClr val="C00000"/>
                </a:solidFill>
              </a:rPr>
              <a:t>Client Service &amp; Delivery Journey– Client Interaction Model</a:t>
            </a:r>
          </a:p>
        </p:txBody>
      </p:sp>
      <p:cxnSp>
        <p:nvCxnSpPr>
          <p:cNvPr id="21" name="Straight Connector 20">
            <a:extLst>
              <a:ext uri="{FF2B5EF4-FFF2-40B4-BE49-F238E27FC236}">
                <a16:creationId xmlns:a16="http://schemas.microsoft.com/office/drawing/2014/main" id="{E1D7A974-5BF5-B57D-5145-E69B891BD088}"/>
              </a:ext>
            </a:extLst>
          </p:cNvPr>
          <p:cNvCxnSpPr/>
          <p:nvPr/>
        </p:nvCxnSpPr>
        <p:spPr>
          <a:xfrm>
            <a:off x="120770" y="3727478"/>
            <a:ext cx="11857341"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F4E08B82-1862-6820-6D85-8366DEA0F316}"/>
              </a:ext>
            </a:extLst>
          </p:cNvPr>
          <p:cNvGrpSpPr/>
          <p:nvPr/>
        </p:nvGrpSpPr>
        <p:grpSpPr>
          <a:xfrm>
            <a:off x="3079750" y="2065836"/>
            <a:ext cx="8230889" cy="3185341"/>
            <a:chOff x="3406849" y="2074161"/>
            <a:chExt cx="8230889" cy="3365212"/>
          </a:xfrm>
        </p:grpSpPr>
        <p:sp>
          <p:nvSpPr>
            <p:cNvPr id="26" name="Rectangle 25">
              <a:extLst>
                <a:ext uri="{FF2B5EF4-FFF2-40B4-BE49-F238E27FC236}">
                  <a16:creationId xmlns:a16="http://schemas.microsoft.com/office/drawing/2014/main" id="{E9BC1640-EEBF-A21A-5619-C63EB6D921C4}"/>
                </a:ext>
              </a:extLst>
            </p:cNvPr>
            <p:cNvSpPr/>
            <p:nvPr/>
          </p:nvSpPr>
          <p:spPr>
            <a:xfrm>
              <a:off x="3406849" y="2074161"/>
              <a:ext cx="2515630" cy="174708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Basic Standard Imp Milestones achieved to transfer to Service</a:t>
              </a:r>
            </a:p>
            <a:p>
              <a:pPr marL="342900" marR="0" lvl="0" indent="-342900" defTabSz="914400" rtl="0" eaLnBrk="1" fontAlgn="auto" latinLnBrk="0" hangingPunct="1">
                <a:lnSpc>
                  <a:spcPct val="100000"/>
                </a:lnSpc>
                <a:spcBef>
                  <a:spcPts val="0"/>
                </a:spcBef>
                <a:spcAft>
                  <a:spcPts val="0"/>
                </a:spcAft>
                <a:buClrTx/>
                <a:buSzTx/>
                <a:buFont typeface="+mj-lt"/>
                <a:buAutoNum type="arabicPeriod"/>
                <a:tabLst/>
                <a:defRPr/>
              </a:pPr>
              <a:r>
                <a:rPr lang="en-US" sz="1400" dirty="0">
                  <a:solidFill>
                    <a:prstClr val="white"/>
                  </a:solidFill>
                  <a:latin typeface="Calibri" panose="020F0502020204030204"/>
                </a:rPr>
                <a:t>Launch</a:t>
              </a:r>
            </a:p>
            <a:p>
              <a:pPr marL="342900" marR="0" lvl="0" indent="-342900"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Discovery</a:t>
              </a:r>
            </a:p>
            <a:p>
              <a:pPr marL="342900" marR="0" lvl="0" indent="-342900" defTabSz="914400" rtl="0" eaLnBrk="1" fontAlgn="auto" latinLnBrk="0" hangingPunct="1">
                <a:lnSpc>
                  <a:spcPct val="100000"/>
                </a:lnSpc>
                <a:spcBef>
                  <a:spcPts val="0"/>
                </a:spcBef>
                <a:spcAft>
                  <a:spcPts val="0"/>
                </a:spcAft>
                <a:buClrTx/>
                <a:buSzTx/>
                <a:buFont typeface="+mj-lt"/>
                <a:buAutoNum type="arabicPeriod"/>
                <a:tabLst/>
                <a:defRPr/>
              </a:pPr>
              <a:r>
                <a:rPr lang="en-US" sz="1400" dirty="0">
                  <a:solidFill>
                    <a:prstClr val="white"/>
                  </a:solidFill>
                  <a:latin typeface="Calibri" panose="020F0502020204030204"/>
                </a:rPr>
                <a:t>Setup</a:t>
              </a:r>
            </a:p>
            <a:p>
              <a:pPr marL="342900" marR="0" lvl="0" indent="-342900"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Test </a:t>
              </a:r>
            </a:p>
            <a:p>
              <a:pPr marL="342900" marR="0" lvl="0" indent="-342900" defTabSz="914400" rtl="0" eaLnBrk="1" fontAlgn="auto" latinLnBrk="0" hangingPunct="1">
                <a:lnSpc>
                  <a:spcPct val="100000"/>
                </a:lnSpc>
                <a:spcBef>
                  <a:spcPts val="0"/>
                </a:spcBef>
                <a:spcAft>
                  <a:spcPts val="0"/>
                </a:spcAft>
                <a:buClrTx/>
                <a:buSzTx/>
                <a:buFont typeface="+mj-lt"/>
                <a:buAutoNum type="arabicPeriod"/>
                <a:tabLst/>
                <a:defRPr/>
              </a:pPr>
              <a:r>
                <a:rPr lang="en-US" sz="1400" dirty="0">
                  <a:solidFill>
                    <a:prstClr val="white"/>
                  </a:solidFill>
                  <a:latin typeface="Calibri" panose="020F0502020204030204"/>
                </a:rPr>
                <a:t>Go-live</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70087272-945A-907C-5738-18A85C14EF7F}"/>
                </a:ext>
              </a:extLst>
            </p:cNvPr>
            <p:cNvSpPr/>
            <p:nvPr/>
          </p:nvSpPr>
          <p:spPr>
            <a:xfrm>
              <a:off x="3406849" y="3821243"/>
              <a:ext cx="2515630" cy="161813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Gold Standard Imp – High touch with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Additional fee</a:t>
              </a:r>
            </a:p>
          </p:txBody>
        </p:sp>
        <p:sp>
          <p:nvSpPr>
            <p:cNvPr id="29" name="Rectangle 28">
              <a:extLst>
                <a:ext uri="{FF2B5EF4-FFF2-40B4-BE49-F238E27FC236}">
                  <a16:creationId xmlns:a16="http://schemas.microsoft.com/office/drawing/2014/main" id="{887C19BB-9389-35F2-DB0C-2C4C08A44DC9}"/>
                </a:ext>
              </a:extLst>
            </p:cNvPr>
            <p:cNvSpPr/>
            <p:nvPr/>
          </p:nvSpPr>
          <p:spPr>
            <a:xfrm>
              <a:off x="6255329" y="2074161"/>
              <a:ext cx="1350759" cy="18269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sng" strike="noStrike" kern="1200" cap="none" spc="0" normalizeH="0" baseline="0" noProof="0" dirty="0">
                  <a:ln>
                    <a:noFill/>
                  </a:ln>
                  <a:solidFill>
                    <a:prstClr val="white"/>
                  </a:solidFill>
                  <a:effectLst/>
                  <a:uLnTx/>
                  <a:uFillTx/>
                  <a:latin typeface="Calibri" panose="020F0502020204030204"/>
                  <a:ea typeface="+mn-ea"/>
                  <a:cs typeface="+mn-cs"/>
                </a:rPr>
                <a:t>Tier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white"/>
                  </a:solidFill>
                  <a:latin typeface="Calibri" panose="020F0502020204030204"/>
                </a:rPr>
                <a:t>Back to the basics</a:t>
              </a:r>
            </a:p>
            <a:p>
              <a:pPr marL="228600" marR="0" lvl="0" indent="-228600" defTabSz="914400" rtl="0" eaLnBrk="1" fontAlgn="auto" latinLnBrk="0" hangingPunct="1">
                <a:lnSpc>
                  <a:spcPct val="100000"/>
                </a:lnSpc>
                <a:spcBef>
                  <a:spcPts val="0"/>
                </a:spcBef>
                <a:spcAft>
                  <a:spcPts val="0"/>
                </a:spcAft>
                <a:buClrTx/>
                <a:buSzTx/>
                <a:buAutoNum type="arabicParenR"/>
                <a:tabLst/>
                <a:defRPr/>
              </a:pPr>
              <a:r>
                <a:rPr lang="en-US" sz="1200" dirty="0">
                  <a:solidFill>
                    <a:prstClr val="white"/>
                  </a:solidFill>
                  <a:latin typeface="Calibri" panose="020F0502020204030204"/>
                </a:rPr>
                <a:t>High Tech touch</a:t>
              </a:r>
            </a:p>
            <a:p>
              <a:pPr marL="228600" marR="0" lvl="0" indent="-228600" defTabSz="914400" rtl="0" eaLnBrk="1" fontAlgn="auto" latinLnBrk="0" hangingPunct="1">
                <a:lnSpc>
                  <a:spcPct val="100000"/>
                </a:lnSpc>
                <a:spcBef>
                  <a:spcPts val="0"/>
                </a:spcBef>
                <a:spcAft>
                  <a:spcPts val="0"/>
                </a:spcAft>
                <a:buClrTx/>
                <a:buSzTx/>
                <a:buAutoNum type="arabicParenR"/>
                <a:tabLst/>
                <a:defRPr/>
              </a:pPr>
              <a:r>
                <a:rPr lang="en-US" sz="1200" dirty="0">
                  <a:solidFill>
                    <a:prstClr val="white"/>
                  </a:solidFill>
                  <a:latin typeface="Calibri" panose="020F0502020204030204"/>
                </a:rPr>
                <a:t>Self-Service</a:t>
              </a:r>
            </a:p>
            <a:p>
              <a:pPr marL="228600" marR="0" lvl="0" indent="-228600" defTabSz="914400" rtl="0" eaLnBrk="1" fontAlgn="auto" latinLnBrk="0" hangingPunct="1">
                <a:lnSpc>
                  <a:spcPct val="100000"/>
                </a:lnSpc>
                <a:spcBef>
                  <a:spcPts val="0"/>
                </a:spcBef>
                <a:spcAft>
                  <a:spcPts val="0"/>
                </a:spcAft>
                <a:buClrTx/>
                <a:buSzTx/>
                <a:buAutoNum type="arabicParenR"/>
                <a:tabLst/>
                <a:defRPr/>
              </a:pPr>
              <a:r>
                <a:rPr lang="en-US" sz="1200" dirty="0">
                  <a:solidFill>
                    <a:prstClr val="white"/>
                  </a:solidFill>
                  <a:latin typeface="Calibri" panose="020F0502020204030204"/>
                </a:rPr>
                <a:t>Low agent interaction</a:t>
              </a:r>
              <a:endParaRPr lang="en-US" sz="1600" dirty="0">
                <a:solidFill>
                  <a:prstClr val="white"/>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5887F09-71D2-91A6-A62E-1217367D17E8}"/>
                </a:ext>
              </a:extLst>
            </p:cNvPr>
            <p:cNvSpPr/>
            <p:nvPr/>
          </p:nvSpPr>
          <p:spPr>
            <a:xfrm>
              <a:off x="9122108" y="2083288"/>
              <a:ext cx="2515630" cy="1737953"/>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Tech touch – Feedback through surveys – Close loop communication addressing frequent issues</a:t>
              </a:r>
            </a:p>
          </p:txBody>
        </p:sp>
        <p:sp>
          <p:nvSpPr>
            <p:cNvPr id="32" name="Rectangle 31">
              <a:extLst>
                <a:ext uri="{FF2B5EF4-FFF2-40B4-BE49-F238E27FC236}">
                  <a16:creationId xmlns:a16="http://schemas.microsoft.com/office/drawing/2014/main" id="{169EC06F-87D8-BF5A-6303-4D635BB9834A}"/>
                </a:ext>
              </a:extLst>
            </p:cNvPr>
            <p:cNvSpPr/>
            <p:nvPr/>
          </p:nvSpPr>
          <p:spPr>
            <a:xfrm>
              <a:off x="9122108" y="3821241"/>
              <a:ext cx="2515630" cy="161167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Med - High </a:t>
              </a:r>
              <a:r>
                <a:rPr lang="en-US" sz="1600" dirty="0">
                  <a:solidFill>
                    <a:prstClr val="white"/>
                  </a:solidFill>
                  <a:latin typeface="Calibri" panose="020F0502020204030204"/>
                </a:rPr>
                <a:t>T</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ouch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Surprise and Delight</a:t>
              </a:r>
            </a:p>
          </p:txBody>
        </p:sp>
        <p:sp>
          <p:nvSpPr>
            <p:cNvPr id="33" name="Rectangle 32">
              <a:extLst>
                <a:ext uri="{FF2B5EF4-FFF2-40B4-BE49-F238E27FC236}">
                  <a16:creationId xmlns:a16="http://schemas.microsoft.com/office/drawing/2014/main" id="{5034267B-C19A-F0E5-210E-9EE1854F7C33}"/>
                </a:ext>
              </a:extLst>
            </p:cNvPr>
            <p:cNvSpPr/>
            <p:nvPr/>
          </p:nvSpPr>
          <p:spPr>
            <a:xfrm>
              <a:off x="7540332" y="2074161"/>
              <a:ext cx="1230627" cy="1826982"/>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sng" strike="noStrike" kern="1200" cap="none" spc="0" normalizeH="0" baseline="0" noProof="0" dirty="0">
                  <a:ln>
                    <a:noFill/>
                  </a:ln>
                  <a:solidFill>
                    <a:prstClr val="white"/>
                  </a:solidFill>
                  <a:effectLst/>
                  <a:uLnTx/>
                  <a:uFillTx/>
                  <a:latin typeface="Calibri" panose="020F0502020204030204"/>
                  <a:ea typeface="+mn-ea"/>
                  <a:cs typeface="+mn-cs"/>
                </a:rPr>
                <a:t>Tier 2</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Advanced or project based requests</a:t>
              </a:r>
            </a:p>
            <a:p>
              <a:pPr marL="0" marR="0" lvl="0" indent="0" defTabSz="914400" rtl="0" eaLnBrk="1" fontAlgn="auto" latinLnBrk="0" hangingPunct="1">
                <a:lnSpc>
                  <a:spcPct val="100000"/>
                </a:lnSpc>
                <a:spcBef>
                  <a:spcPts val="0"/>
                </a:spcBef>
                <a:spcAft>
                  <a:spcPts val="0"/>
                </a:spcAft>
                <a:buClrTx/>
                <a:buSzTx/>
                <a:buFontTx/>
                <a:buNone/>
                <a:tabLst/>
                <a:defRPr/>
              </a:pPr>
              <a:r>
                <a:rPr lang="en-US" sz="1200" dirty="0">
                  <a:solidFill>
                    <a:prstClr val="white"/>
                  </a:solidFill>
                  <a:latin typeface="Calibri" panose="020F0502020204030204"/>
                </a:rPr>
                <a:t>1) Med- high touch multi channel</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 name="Pentagon 13">
            <a:extLst>
              <a:ext uri="{FF2B5EF4-FFF2-40B4-BE49-F238E27FC236}">
                <a16:creationId xmlns:a16="http://schemas.microsoft.com/office/drawing/2014/main" id="{8D7091D9-B8BA-5A43-2E19-66B53E112096}"/>
              </a:ext>
            </a:extLst>
          </p:cNvPr>
          <p:cNvSpPr/>
          <p:nvPr/>
        </p:nvSpPr>
        <p:spPr>
          <a:xfrm>
            <a:off x="768599" y="2469296"/>
            <a:ext cx="1671209" cy="2516364"/>
          </a:xfrm>
          <a:prstGeom prst="homePlate">
            <a:avLst>
              <a:gd name="adj" fmla="val 2122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3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Sales</a:t>
            </a:r>
          </a:p>
        </p:txBody>
      </p:sp>
      <p:grpSp>
        <p:nvGrpSpPr>
          <p:cNvPr id="17" name="Group 16">
            <a:extLst>
              <a:ext uri="{FF2B5EF4-FFF2-40B4-BE49-F238E27FC236}">
                <a16:creationId xmlns:a16="http://schemas.microsoft.com/office/drawing/2014/main" id="{AB462C3F-ABFD-D3DA-1BF4-56CE6C45C709}"/>
              </a:ext>
            </a:extLst>
          </p:cNvPr>
          <p:cNvGrpSpPr/>
          <p:nvPr/>
        </p:nvGrpSpPr>
        <p:grpSpPr>
          <a:xfrm>
            <a:off x="1056007" y="3493540"/>
            <a:ext cx="360363" cy="346075"/>
            <a:chOff x="7718425" y="3248025"/>
            <a:chExt cx="360363" cy="346075"/>
          </a:xfrm>
          <a:solidFill>
            <a:schemeClr val="bg1"/>
          </a:solidFill>
        </p:grpSpPr>
        <p:sp>
          <p:nvSpPr>
            <p:cNvPr id="18" name="Freeform 138">
              <a:extLst>
                <a:ext uri="{FF2B5EF4-FFF2-40B4-BE49-F238E27FC236}">
                  <a16:creationId xmlns:a16="http://schemas.microsoft.com/office/drawing/2014/main" id="{78E8E30D-3377-4E60-AE35-43BBFD8329C3}"/>
                </a:ext>
              </a:extLst>
            </p:cNvPr>
            <p:cNvSpPr>
              <a:spLocks noEditPoints="1"/>
            </p:cNvSpPr>
            <p:nvPr/>
          </p:nvSpPr>
          <p:spPr bwMode="auto">
            <a:xfrm>
              <a:off x="7913688" y="3429000"/>
              <a:ext cx="165100" cy="165100"/>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20 h 44"/>
                <a:gd name="T12" fmla="*/ 29 w 44"/>
                <a:gd name="T13" fmla="*/ 26 h 44"/>
                <a:gd name="T14" fmla="*/ 24 w 44"/>
                <a:gd name="T15" fmla="*/ 33 h 44"/>
                <a:gd name="T16" fmla="*/ 24 w 44"/>
                <a:gd name="T17" fmla="*/ 34 h 44"/>
                <a:gd name="T18" fmla="*/ 22 w 44"/>
                <a:gd name="T19" fmla="*/ 36 h 44"/>
                <a:gd name="T20" fmla="*/ 20 w 44"/>
                <a:gd name="T21" fmla="*/ 34 h 44"/>
                <a:gd name="T22" fmla="*/ 20 w 44"/>
                <a:gd name="T23" fmla="*/ 33 h 44"/>
                <a:gd name="T24" fmla="*/ 15 w 44"/>
                <a:gd name="T25" fmla="*/ 26 h 44"/>
                <a:gd name="T26" fmla="*/ 17 w 44"/>
                <a:gd name="T27" fmla="*/ 24 h 44"/>
                <a:gd name="T28" fmla="*/ 19 w 44"/>
                <a:gd name="T29" fmla="*/ 26 h 44"/>
                <a:gd name="T30" fmla="*/ 22 w 44"/>
                <a:gd name="T31" fmla="*/ 29 h 44"/>
                <a:gd name="T32" fmla="*/ 25 w 44"/>
                <a:gd name="T33" fmla="*/ 26 h 44"/>
                <a:gd name="T34" fmla="*/ 22 w 44"/>
                <a:gd name="T35" fmla="*/ 24 h 44"/>
                <a:gd name="T36" fmla="*/ 15 w 44"/>
                <a:gd name="T37" fmla="*/ 17 h 44"/>
                <a:gd name="T38" fmla="*/ 20 w 44"/>
                <a:gd name="T39" fmla="*/ 11 h 44"/>
                <a:gd name="T40" fmla="*/ 20 w 44"/>
                <a:gd name="T41" fmla="*/ 9 h 44"/>
                <a:gd name="T42" fmla="*/ 22 w 44"/>
                <a:gd name="T43" fmla="*/ 7 h 44"/>
                <a:gd name="T44" fmla="*/ 24 w 44"/>
                <a:gd name="T45" fmla="*/ 9 h 44"/>
                <a:gd name="T46" fmla="*/ 24 w 44"/>
                <a:gd name="T47" fmla="*/ 11 h 44"/>
                <a:gd name="T48" fmla="*/ 29 w 44"/>
                <a:gd name="T49" fmla="*/ 17 h 44"/>
                <a:gd name="T50" fmla="*/ 27 w 44"/>
                <a:gd name="T51" fmla="*/ 19 h 44"/>
                <a:gd name="T52" fmla="*/ 25 w 44"/>
                <a:gd name="T53" fmla="*/ 17 h 44"/>
                <a:gd name="T54" fmla="*/ 22 w 44"/>
                <a:gd name="T55" fmla="*/ 14 h 44"/>
                <a:gd name="T56" fmla="*/ 19 w 44"/>
                <a:gd name="T57" fmla="*/ 17 h 44"/>
                <a:gd name="T58" fmla="*/ 22 w 44"/>
                <a:gd name="T59"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20"/>
                  </a:moveTo>
                  <a:cubicBezTo>
                    <a:pt x="26" y="20"/>
                    <a:pt x="29" y="23"/>
                    <a:pt x="29" y="26"/>
                  </a:cubicBezTo>
                  <a:cubicBezTo>
                    <a:pt x="29" y="29"/>
                    <a:pt x="27" y="32"/>
                    <a:pt x="24" y="33"/>
                  </a:cubicBezTo>
                  <a:cubicBezTo>
                    <a:pt x="24" y="34"/>
                    <a:pt x="24" y="34"/>
                    <a:pt x="24" y="34"/>
                  </a:cubicBezTo>
                  <a:cubicBezTo>
                    <a:pt x="24" y="35"/>
                    <a:pt x="23" y="36"/>
                    <a:pt x="22" y="36"/>
                  </a:cubicBezTo>
                  <a:cubicBezTo>
                    <a:pt x="21" y="36"/>
                    <a:pt x="20" y="35"/>
                    <a:pt x="20" y="34"/>
                  </a:cubicBezTo>
                  <a:cubicBezTo>
                    <a:pt x="20" y="33"/>
                    <a:pt x="20" y="33"/>
                    <a:pt x="20" y="33"/>
                  </a:cubicBezTo>
                  <a:cubicBezTo>
                    <a:pt x="17" y="32"/>
                    <a:pt x="15" y="29"/>
                    <a:pt x="15" y="26"/>
                  </a:cubicBezTo>
                  <a:cubicBezTo>
                    <a:pt x="15" y="25"/>
                    <a:pt x="16" y="24"/>
                    <a:pt x="17" y="24"/>
                  </a:cubicBezTo>
                  <a:cubicBezTo>
                    <a:pt x="18" y="24"/>
                    <a:pt x="19" y="25"/>
                    <a:pt x="19" y="26"/>
                  </a:cubicBezTo>
                  <a:cubicBezTo>
                    <a:pt x="19" y="28"/>
                    <a:pt x="21" y="29"/>
                    <a:pt x="22" y="29"/>
                  </a:cubicBezTo>
                  <a:cubicBezTo>
                    <a:pt x="23" y="29"/>
                    <a:pt x="25" y="28"/>
                    <a:pt x="25" y="26"/>
                  </a:cubicBezTo>
                  <a:cubicBezTo>
                    <a:pt x="25" y="25"/>
                    <a:pt x="23" y="24"/>
                    <a:pt x="22" y="24"/>
                  </a:cubicBezTo>
                  <a:cubicBezTo>
                    <a:pt x="18" y="24"/>
                    <a:pt x="15" y="21"/>
                    <a:pt x="15" y="17"/>
                  </a:cubicBezTo>
                  <a:cubicBezTo>
                    <a:pt x="15" y="14"/>
                    <a:pt x="17" y="12"/>
                    <a:pt x="20" y="11"/>
                  </a:cubicBezTo>
                  <a:cubicBezTo>
                    <a:pt x="20" y="9"/>
                    <a:pt x="20" y="9"/>
                    <a:pt x="20" y="9"/>
                  </a:cubicBezTo>
                  <a:cubicBezTo>
                    <a:pt x="20" y="8"/>
                    <a:pt x="21" y="7"/>
                    <a:pt x="22" y="7"/>
                  </a:cubicBezTo>
                  <a:cubicBezTo>
                    <a:pt x="23" y="7"/>
                    <a:pt x="24" y="8"/>
                    <a:pt x="24" y="9"/>
                  </a:cubicBezTo>
                  <a:cubicBezTo>
                    <a:pt x="24" y="11"/>
                    <a:pt x="24" y="11"/>
                    <a:pt x="24" y="11"/>
                  </a:cubicBezTo>
                  <a:cubicBezTo>
                    <a:pt x="27" y="12"/>
                    <a:pt x="29" y="14"/>
                    <a:pt x="29" y="17"/>
                  </a:cubicBezTo>
                  <a:cubicBezTo>
                    <a:pt x="29" y="18"/>
                    <a:pt x="28" y="19"/>
                    <a:pt x="27" y="19"/>
                  </a:cubicBezTo>
                  <a:cubicBezTo>
                    <a:pt x="26" y="19"/>
                    <a:pt x="25" y="18"/>
                    <a:pt x="25" y="17"/>
                  </a:cubicBezTo>
                  <a:cubicBezTo>
                    <a:pt x="25" y="16"/>
                    <a:pt x="23" y="14"/>
                    <a:pt x="22" y="14"/>
                  </a:cubicBezTo>
                  <a:cubicBezTo>
                    <a:pt x="21" y="14"/>
                    <a:pt x="19" y="16"/>
                    <a:pt x="19" y="17"/>
                  </a:cubicBezTo>
                  <a:cubicBezTo>
                    <a:pt x="19" y="19"/>
                    <a:pt x="21" y="20"/>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139">
              <a:extLst>
                <a:ext uri="{FF2B5EF4-FFF2-40B4-BE49-F238E27FC236}">
                  <a16:creationId xmlns:a16="http://schemas.microsoft.com/office/drawing/2014/main" id="{CF451776-CF2E-D669-D077-972CD1C6CC8E}"/>
                </a:ext>
              </a:extLst>
            </p:cNvPr>
            <p:cNvSpPr>
              <a:spLocks/>
            </p:cNvSpPr>
            <p:nvPr/>
          </p:nvSpPr>
          <p:spPr bwMode="auto">
            <a:xfrm>
              <a:off x="7718425" y="3248025"/>
              <a:ext cx="214313" cy="301625"/>
            </a:xfrm>
            <a:custGeom>
              <a:avLst/>
              <a:gdLst>
                <a:gd name="T0" fmla="*/ 48 w 57"/>
                <a:gd name="T1" fmla="*/ 70 h 80"/>
                <a:gd name="T2" fmla="*/ 56 w 57"/>
                <a:gd name="T3" fmla="*/ 51 h 80"/>
                <a:gd name="T4" fmla="*/ 56 w 57"/>
                <a:gd name="T5" fmla="*/ 51 h 80"/>
                <a:gd name="T6" fmla="*/ 51 w 57"/>
                <a:gd name="T7" fmla="*/ 50 h 80"/>
                <a:gd name="T8" fmla="*/ 48 w 57"/>
                <a:gd name="T9" fmla="*/ 49 h 80"/>
                <a:gd name="T10" fmla="*/ 48 w 57"/>
                <a:gd name="T11" fmla="*/ 41 h 80"/>
                <a:gd name="T12" fmla="*/ 54 w 57"/>
                <a:gd name="T13" fmla="*/ 29 h 80"/>
                <a:gd name="T14" fmla="*/ 56 w 57"/>
                <a:gd name="T15" fmla="*/ 24 h 80"/>
                <a:gd name="T16" fmla="*/ 54 w 57"/>
                <a:gd name="T17" fmla="*/ 19 h 80"/>
                <a:gd name="T18" fmla="*/ 56 w 57"/>
                <a:gd name="T19" fmla="*/ 8 h 80"/>
                <a:gd name="T20" fmla="*/ 41 w 57"/>
                <a:gd name="T21" fmla="*/ 0 h 80"/>
                <a:gd name="T22" fmla="*/ 27 w 57"/>
                <a:gd name="T23" fmla="*/ 6 h 80"/>
                <a:gd name="T24" fmla="*/ 22 w 57"/>
                <a:gd name="T25" fmla="*/ 8 h 80"/>
                <a:gd name="T26" fmla="*/ 22 w 57"/>
                <a:gd name="T27" fmla="*/ 19 h 80"/>
                <a:gd name="T28" fmla="*/ 20 w 57"/>
                <a:gd name="T29" fmla="*/ 20 h 80"/>
                <a:gd name="T30" fmla="*/ 20 w 57"/>
                <a:gd name="T31" fmla="*/ 24 h 80"/>
                <a:gd name="T32" fmla="*/ 22 w 57"/>
                <a:gd name="T33" fmla="*/ 29 h 80"/>
                <a:gd name="T34" fmla="*/ 28 w 57"/>
                <a:gd name="T35" fmla="*/ 41 h 80"/>
                <a:gd name="T36" fmla="*/ 28 w 57"/>
                <a:gd name="T37" fmla="*/ 49 h 80"/>
                <a:gd name="T38" fmla="*/ 20 w 57"/>
                <a:gd name="T39" fmla="*/ 51 h 80"/>
                <a:gd name="T40" fmla="*/ 2 w 57"/>
                <a:gd name="T41" fmla="*/ 61 h 80"/>
                <a:gd name="T42" fmla="*/ 0 w 57"/>
                <a:gd name="T43" fmla="*/ 78 h 80"/>
                <a:gd name="T44" fmla="*/ 1 w 57"/>
                <a:gd name="T45" fmla="*/ 79 h 80"/>
                <a:gd name="T46" fmla="*/ 2 w 57"/>
                <a:gd name="T47" fmla="*/ 80 h 80"/>
                <a:gd name="T48" fmla="*/ 50 w 57"/>
                <a:gd name="T49" fmla="*/ 80 h 80"/>
                <a:gd name="T50" fmla="*/ 48 w 57"/>
                <a:gd name="T51" fmla="*/ 7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7" h="80">
                  <a:moveTo>
                    <a:pt x="48" y="70"/>
                  </a:moveTo>
                  <a:cubicBezTo>
                    <a:pt x="48" y="63"/>
                    <a:pt x="51" y="56"/>
                    <a:pt x="56" y="51"/>
                  </a:cubicBezTo>
                  <a:cubicBezTo>
                    <a:pt x="56" y="51"/>
                    <a:pt x="56" y="51"/>
                    <a:pt x="56" y="51"/>
                  </a:cubicBezTo>
                  <a:cubicBezTo>
                    <a:pt x="51" y="50"/>
                    <a:pt x="51" y="50"/>
                    <a:pt x="51" y="50"/>
                  </a:cubicBezTo>
                  <a:cubicBezTo>
                    <a:pt x="50" y="49"/>
                    <a:pt x="49" y="49"/>
                    <a:pt x="48" y="49"/>
                  </a:cubicBezTo>
                  <a:cubicBezTo>
                    <a:pt x="48" y="41"/>
                    <a:pt x="48" y="41"/>
                    <a:pt x="48" y="41"/>
                  </a:cubicBezTo>
                  <a:cubicBezTo>
                    <a:pt x="50" y="40"/>
                    <a:pt x="54" y="37"/>
                    <a:pt x="54" y="29"/>
                  </a:cubicBezTo>
                  <a:cubicBezTo>
                    <a:pt x="55" y="28"/>
                    <a:pt x="56" y="26"/>
                    <a:pt x="56" y="24"/>
                  </a:cubicBezTo>
                  <a:cubicBezTo>
                    <a:pt x="56" y="22"/>
                    <a:pt x="56" y="20"/>
                    <a:pt x="54" y="19"/>
                  </a:cubicBezTo>
                  <a:cubicBezTo>
                    <a:pt x="55" y="16"/>
                    <a:pt x="57" y="12"/>
                    <a:pt x="56" y="8"/>
                  </a:cubicBezTo>
                  <a:cubicBezTo>
                    <a:pt x="55" y="2"/>
                    <a:pt x="47" y="0"/>
                    <a:pt x="41" y="0"/>
                  </a:cubicBezTo>
                  <a:cubicBezTo>
                    <a:pt x="36" y="0"/>
                    <a:pt x="29" y="2"/>
                    <a:pt x="27" y="6"/>
                  </a:cubicBezTo>
                  <a:cubicBezTo>
                    <a:pt x="24" y="6"/>
                    <a:pt x="22" y="7"/>
                    <a:pt x="22" y="8"/>
                  </a:cubicBezTo>
                  <a:cubicBezTo>
                    <a:pt x="20" y="11"/>
                    <a:pt x="21" y="15"/>
                    <a:pt x="22" y="19"/>
                  </a:cubicBezTo>
                  <a:cubicBezTo>
                    <a:pt x="21" y="19"/>
                    <a:pt x="21" y="20"/>
                    <a:pt x="20" y="20"/>
                  </a:cubicBezTo>
                  <a:cubicBezTo>
                    <a:pt x="20" y="21"/>
                    <a:pt x="20" y="23"/>
                    <a:pt x="20" y="24"/>
                  </a:cubicBezTo>
                  <a:cubicBezTo>
                    <a:pt x="20" y="27"/>
                    <a:pt x="21" y="29"/>
                    <a:pt x="22" y="29"/>
                  </a:cubicBezTo>
                  <a:cubicBezTo>
                    <a:pt x="22" y="37"/>
                    <a:pt x="26" y="40"/>
                    <a:pt x="28" y="41"/>
                  </a:cubicBezTo>
                  <a:cubicBezTo>
                    <a:pt x="28" y="49"/>
                    <a:pt x="28" y="49"/>
                    <a:pt x="28" y="49"/>
                  </a:cubicBezTo>
                  <a:cubicBezTo>
                    <a:pt x="26" y="50"/>
                    <a:pt x="23" y="50"/>
                    <a:pt x="20" y="51"/>
                  </a:cubicBezTo>
                  <a:cubicBezTo>
                    <a:pt x="11" y="54"/>
                    <a:pt x="4" y="57"/>
                    <a:pt x="2" y="61"/>
                  </a:cubicBezTo>
                  <a:cubicBezTo>
                    <a:pt x="0" y="67"/>
                    <a:pt x="0" y="78"/>
                    <a:pt x="0" y="78"/>
                  </a:cubicBezTo>
                  <a:cubicBezTo>
                    <a:pt x="0" y="79"/>
                    <a:pt x="0" y="79"/>
                    <a:pt x="1" y="79"/>
                  </a:cubicBezTo>
                  <a:cubicBezTo>
                    <a:pt x="1" y="80"/>
                    <a:pt x="1" y="80"/>
                    <a:pt x="2" y="80"/>
                  </a:cubicBezTo>
                  <a:cubicBezTo>
                    <a:pt x="50" y="80"/>
                    <a:pt x="50" y="80"/>
                    <a:pt x="50" y="80"/>
                  </a:cubicBezTo>
                  <a:cubicBezTo>
                    <a:pt x="49" y="77"/>
                    <a:pt x="48" y="74"/>
                    <a:pt x="48"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37" name="Picture 36">
            <a:extLst>
              <a:ext uri="{FF2B5EF4-FFF2-40B4-BE49-F238E27FC236}">
                <a16:creationId xmlns:a16="http://schemas.microsoft.com/office/drawing/2014/main" id="{08B920AC-E789-469D-982C-84F5B74619C2}"/>
              </a:ext>
            </a:extLst>
          </p:cNvPr>
          <p:cNvPicPr>
            <a:picLocks noChangeAspect="1"/>
          </p:cNvPicPr>
          <p:nvPr/>
        </p:nvPicPr>
        <p:blipFill>
          <a:blip r:embed="rId2"/>
          <a:stretch>
            <a:fillRect/>
          </a:stretch>
        </p:blipFill>
        <p:spPr>
          <a:xfrm>
            <a:off x="5842730" y="3826058"/>
            <a:ext cx="2697847" cy="2072321"/>
          </a:xfrm>
          <a:prstGeom prst="rect">
            <a:avLst/>
          </a:prstGeom>
        </p:spPr>
      </p:pic>
      <p:sp>
        <p:nvSpPr>
          <p:cNvPr id="38" name="Rectangle 37">
            <a:extLst>
              <a:ext uri="{FF2B5EF4-FFF2-40B4-BE49-F238E27FC236}">
                <a16:creationId xmlns:a16="http://schemas.microsoft.com/office/drawing/2014/main" id="{1CBDC499-69F0-408A-9842-BA9D7697E872}"/>
              </a:ext>
            </a:extLst>
          </p:cNvPr>
          <p:cNvSpPr/>
          <p:nvPr/>
        </p:nvSpPr>
        <p:spPr>
          <a:xfrm>
            <a:off x="5771626" y="914400"/>
            <a:ext cx="2860646" cy="525989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3277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itle 3">
            <a:extLst>
              <a:ext uri="{FF2B5EF4-FFF2-40B4-BE49-F238E27FC236}">
                <a16:creationId xmlns:a16="http://schemas.microsoft.com/office/drawing/2014/main" id="{8D937AA3-0F1B-4F6A-913C-D33657C2D6AC}"/>
              </a:ext>
            </a:extLst>
          </p:cNvPr>
          <p:cNvSpPr txBox="1">
            <a:spLocks/>
          </p:cNvSpPr>
          <p:nvPr/>
        </p:nvSpPr>
        <p:spPr>
          <a:xfrm>
            <a:off x="343497" y="165067"/>
            <a:ext cx="11111859" cy="978729"/>
          </a:xfrm>
          <a:prstGeom prst="rect">
            <a:avLst/>
          </a:prstGeom>
        </p:spPr>
        <p:txBody>
          <a:bodyPr vert="horz" wrap="square" lIns="0" tIns="45720" rIns="0" bIns="45720" rtlCol="0" anchor="t">
            <a:spAutoFit/>
          </a:bodyPr>
          <a:lstStyle>
            <a:lvl1pPr algn="l" defTabSz="914400" rtl="0" eaLnBrk="1" latinLnBrk="0" hangingPunct="1">
              <a:lnSpc>
                <a:spcPct val="90000"/>
              </a:lnSpc>
              <a:spcBef>
                <a:spcPct val="0"/>
              </a:spcBef>
              <a:buNone/>
              <a:defRPr lang="id-ID" sz="2800" b="1" kern="1200" dirty="0">
                <a:solidFill>
                  <a:schemeClr val="accent4"/>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600" spc="-50" dirty="0">
                <a:solidFill>
                  <a:srgbClr val="C00000"/>
                </a:solidFill>
              </a:rPr>
              <a:t>Delivering Scalable Growth and Operational Excellence</a:t>
            </a:r>
            <a:br>
              <a:rPr kumimoji="0" lang="en-US" sz="2800" b="1" i="0" u="none" strike="noStrike" kern="1200" cap="none" spc="0" normalizeH="0" baseline="0" noProof="0" dirty="0">
                <a:ln>
                  <a:noFill/>
                </a:ln>
                <a:solidFill>
                  <a:srgbClr val="F47421"/>
                </a:solidFill>
                <a:effectLst/>
                <a:uLnTx/>
                <a:uFillTx/>
                <a:latin typeface="Calibri" panose="020F0502020204030204"/>
                <a:ea typeface="+mj-ea"/>
                <a:cs typeface="+mj-cs"/>
              </a:rPr>
            </a:br>
            <a:endParaRPr kumimoji="0" lang="en-US" sz="2800" b="1" i="0" u="none" strike="noStrike" kern="1200" cap="none" spc="0" normalizeH="0" baseline="0" noProof="0" dirty="0">
              <a:ln>
                <a:noFill/>
              </a:ln>
              <a:solidFill>
                <a:srgbClr val="F47421"/>
              </a:solidFill>
              <a:effectLst/>
              <a:uLnTx/>
              <a:uFillTx/>
              <a:latin typeface="Calibri" panose="020F0502020204030204"/>
              <a:ea typeface="+mj-ea"/>
              <a:cs typeface="+mj-cs"/>
            </a:endParaRPr>
          </a:p>
        </p:txBody>
      </p:sp>
      <p:sp>
        <p:nvSpPr>
          <p:cNvPr id="180" name="Text Placeholder 4">
            <a:extLst>
              <a:ext uri="{FF2B5EF4-FFF2-40B4-BE49-F238E27FC236}">
                <a16:creationId xmlns:a16="http://schemas.microsoft.com/office/drawing/2014/main" id="{34954B64-2A82-44A3-B728-CAB1794F9468}"/>
              </a:ext>
            </a:extLst>
          </p:cNvPr>
          <p:cNvSpPr txBox="1">
            <a:spLocks/>
          </p:cNvSpPr>
          <p:nvPr/>
        </p:nvSpPr>
        <p:spPr>
          <a:xfrm>
            <a:off x="546739" y="835754"/>
            <a:ext cx="11111858" cy="1051570"/>
          </a:xfrm>
          <a:prstGeom prst="rect">
            <a:avLst/>
          </a:prstGeom>
        </p:spPr>
        <p:txBody>
          <a:bodyPr vert="horz" wrap="square" lIns="0" tIns="45720" rIns="0" bIns="45720" rtlCol="0" anchor="t">
            <a:spAutoFit/>
          </a:bodyPr>
          <a:lstStyle>
            <a:lvl1pPr marL="0" indent="0" algn="l" defTabSz="914400" rtl="0" eaLnBrk="1" latinLnBrk="0" hangingPunct="1">
              <a:lnSpc>
                <a:spcPct val="90000"/>
              </a:lnSpc>
              <a:spcBef>
                <a:spcPts val="1000"/>
              </a:spcBef>
              <a:buClr>
                <a:schemeClr val="accent4"/>
              </a:buClr>
              <a:buFont typeface="Calibri" panose="020F0502020204030204" pitchFamily="34" charset="0"/>
              <a:buNone/>
              <a:defRPr lang="en-US" sz="2000" kern="1200" smtClean="0">
                <a:solidFill>
                  <a:schemeClr val="accent3"/>
                </a:solidFill>
                <a:latin typeface="+mj-lt"/>
                <a:ea typeface="+mj-ea"/>
                <a:cs typeface="+mj-cs"/>
              </a:defRPr>
            </a:lvl1pPr>
            <a:lvl2pPr marL="228600" indent="0" algn="l" defTabSz="914400" rtl="0" eaLnBrk="1" latinLnBrk="0" hangingPunct="1">
              <a:lnSpc>
                <a:spcPct val="90000"/>
              </a:lnSpc>
              <a:spcBef>
                <a:spcPts val="500"/>
              </a:spcBef>
              <a:buClr>
                <a:schemeClr val="accent4"/>
              </a:buClr>
              <a:buFont typeface="Calibri" panose="020F0502020204030204" pitchFamily="34" charset="0"/>
              <a:buNone/>
              <a:defRPr lang="en-US" sz="18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4"/>
              </a:buClr>
              <a:buFont typeface="Calibri" panose="020F0502020204030204"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Calibri" panose="020F0502020204030204"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4"/>
              </a:buClr>
              <a:buFont typeface="Calibri" panose="020F0502020204030204" pitchFamily="34" charset="0"/>
              <a:buChar char="›"/>
              <a:defRPr lang="id-ID"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47421"/>
              </a:buClr>
              <a:buSzTx/>
              <a:buFont typeface="Calibri" panose="020F0502020204030204" pitchFamily="34" charset="0"/>
              <a:buNone/>
              <a:tabLst/>
              <a:defRPr/>
            </a:pPr>
            <a:r>
              <a:rPr kumimoji="0" lang="en-US" sz="2000" b="0" i="0" u="none" strike="noStrike" kern="1200" cap="none" spc="0" normalizeH="0" baseline="0" noProof="0" dirty="0">
                <a:ln>
                  <a:noFill/>
                </a:ln>
                <a:solidFill>
                  <a:srgbClr val="6D6E71"/>
                </a:solidFill>
                <a:effectLst/>
                <a:uLnTx/>
                <a:uFillTx/>
                <a:latin typeface="Calibri" panose="020F0502020204030204"/>
                <a:ea typeface="+mj-ea"/>
                <a:cs typeface="+mj-cs"/>
              </a:rPr>
              <a:t>Our objective is to improve service levels and transactional NPS within a scalable model by maximizing additional channels (chat bots, web), intelligent skills-based routing and an operational design to service.</a:t>
            </a:r>
          </a:p>
          <a:p>
            <a:pPr marL="0" marR="0" lvl="0" indent="0" algn="l" defTabSz="914400" rtl="0" eaLnBrk="1" fontAlgn="auto" latinLnBrk="0" hangingPunct="1">
              <a:lnSpc>
                <a:spcPct val="90000"/>
              </a:lnSpc>
              <a:spcBef>
                <a:spcPts val="1000"/>
              </a:spcBef>
              <a:spcAft>
                <a:spcPts val="0"/>
              </a:spcAft>
              <a:buClr>
                <a:srgbClr val="F47421"/>
              </a:buClr>
              <a:buSzTx/>
              <a:buFont typeface="Calibri" panose="020F0502020204030204" pitchFamily="34" charset="0"/>
              <a:buNone/>
              <a:tabLst/>
              <a:defRPr/>
            </a:pPr>
            <a:endParaRPr kumimoji="0" lang="en-US" sz="2000" b="0" i="0" u="none" strike="noStrike" kern="1200" cap="none" spc="0" normalizeH="0" baseline="0" noProof="0" dirty="0">
              <a:ln>
                <a:noFill/>
              </a:ln>
              <a:solidFill>
                <a:srgbClr val="6D6E71"/>
              </a:solidFill>
              <a:effectLst/>
              <a:uLnTx/>
              <a:uFillTx/>
              <a:latin typeface="Calibri" panose="020F0502020204030204"/>
              <a:ea typeface="+mj-ea"/>
              <a:cs typeface="+mj-cs"/>
            </a:endParaRPr>
          </a:p>
        </p:txBody>
      </p:sp>
      <p:sp>
        <p:nvSpPr>
          <p:cNvPr id="181" name="Arrow: Pentagon 180">
            <a:extLst>
              <a:ext uri="{FF2B5EF4-FFF2-40B4-BE49-F238E27FC236}">
                <a16:creationId xmlns:a16="http://schemas.microsoft.com/office/drawing/2014/main" id="{488498E4-5DB2-4919-B775-DA4141739B85}"/>
              </a:ext>
            </a:extLst>
          </p:cNvPr>
          <p:cNvSpPr/>
          <p:nvPr/>
        </p:nvSpPr>
        <p:spPr>
          <a:xfrm rot="5400000">
            <a:off x="1154716" y="1037048"/>
            <a:ext cx="852437" cy="2114980"/>
          </a:xfrm>
          <a:prstGeom prst="homePlate">
            <a:avLst>
              <a:gd name="adj" fmla="val 26338"/>
            </a:avLst>
          </a:prstGeom>
          <a:solidFill>
            <a:sysClr val="window" lastClr="FFFFFF">
              <a:lumMod val="95000"/>
            </a:sysClr>
          </a:solidFill>
          <a:ln w="12700" cap="flat" cmpd="sng" algn="ctr">
            <a:noFill/>
            <a:prstDash val="solid"/>
            <a:miter lim="800000"/>
          </a:ln>
          <a:effectLst/>
        </p:spPr>
        <p:txBody>
          <a:bodyPr vert="vert270"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t>Customer contacts Support using their preferred channel</a:t>
            </a:r>
          </a:p>
        </p:txBody>
      </p:sp>
      <p:sp>
        <p:nvSpPr>
          <p:cNvPr id="182" name="Arrow: Pentagon 181">
            <a:extLst>
              <a:ext uri="{FF2B5EF4-FFF2-40B4-BE49-F238E27FC236}">
                <a16:creationId xmlns:a16="http://schemas.microsoft.com/office/drawing/2014/main" id="{B1E4CA0E-3037-44BC-9172-984DADF75A79}"/>
              </a:ext>
            </a:extLst>
          </p:cNvPr>
          <p:cNvSpPr/>
          <p:nvPr/>
        </p:nvSpPr>
        <p:spPr>
          <a:xfrm rot="5400000">
            <a:off x="4161439" y="1037050"/>
            <a:ext cx="852439" cy="2114980"/>
          </a:xfrm>
          <a:prstGeom prst="homePlate">
            <a:avLst>
              <a:gd name="adj" fmla="val 26338"/>
            </a:avLst>
          </a:prstGeom>
          <a:solidFill>
            <a:sysClr val="window" lastClr="FFFFFF">
              <a:lumMod val="95000"/>
            </a:sysClr>
          </a:solidFill>
          <a:ln w="12700" cap="flat" cmpd="sng" algn="ctr">
            <a:noFill/>
            <a:prstDash val="solid"/>
            <a:miter lim="800000"/>
          </a:ln>
          <a:effectLst/>
        </p:spPr>
        <p:txBody>
          <a:bodyPr vert="vert270"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t>Customer and their  need are identified in the </a:t>
            </a:r>
            <a:b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br>
            <a: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t>system</a:t>
            </a:r>
          </a:p>
        </p:txBody>
      </p:sp>
      <p:sp>
        <p:nvSpPr>
          <p:cNvPr id="183" name="Arrow: Pentagon 182">
            <a:extLst>
              <a:ext uri="{FF2B5EF4-FFF2-40B4-BE49-F238E27FC236}">
                <a16:creationId xmlns:a16="http://schemas.microsoft.com/office/drawing/2014/main" id="{E3BE14C0-BAFE-40CB-A019-A75F9C375E0C}"/>
              </a:ext>
            </a:extLst>
          </p:cNvPr>
          <p:cNvSpPr/>
          <p:nvPr/>
        </p:nvSpPr>
        <p:spPr>
          <a:xfrm rot="5400000">
            <a:off x="7168163" y="1037051"/>
            <a:ext cx="852439" cy="2114980"/>
          </a:xfrm>
          <a:prstGeom prst="homePlate">
            <a:avLst>
              <a:gd name="adj" fmla="val 26338"/>
            </a:avLst>
          </a:prstGeom>
          <a:solidFill>
            <a:sysClr val="window" lastClr="FFFFFF">
              <a:lumMod val="95000"/>
            </a:sysClr>
          </a:solidFill>
          <a:ln w="12700" cap="flat" cmpd="sng" algn="ctr">
            <a:noFill/>
            <a:prstDash val="solid"/>
            <a:miter lim="800000"/>
          </a:ln>
          <a:effectLst/>
        </p:spPr>
        <p:txBody>
          <a:bodyPr vert="vert270"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t>Interaction is routed to a queue based on customer’s need</a:t>
            </a:r>
          </a:p>
        </p:txBody>
      </p:sp>
      <p:sp>
        <p:nvSpPr>
          <p:cNvPr id="184" name="Arrow: Pentagon 183">
            <a:extLst>
              <a:ext uri="{FF2B5EF4-FFF2-40B4-BE49-F238E27FC236}">
                <a16:creationId xmlns:a16="http://schemas.microsoft.com/office/drawing/2014/main" id="{5D4E2385-51F9-4D51-B292-88C37564C83B}"/>
              </a:ext>
            </a:extLst>
          </p:cNvPr>
          <p:cNvSpPr/>
          <p:nvPr/>
        </p:nvSpPr>
        <p:spPr>
          <a:xfrm rot="5400000">
            <a:off x="10174887" y="1037052"/>
            <a:ext cx="852439" cy="2114980"/>
          </a:xfrm>
          <a:prstGeom prst="homePlate">
            <a:avLst>
              <a:gd name="adj" fmla="val 26338"/>
            </a:avLst>
          </a:prstGeom>
          <a:solidFill>
            <a:sysClr val="window" lastClr="FFFFFF">
              <a:lumMod val="95000"/>
            </a:sysClr>
          </a:solidFill>
          <a:ln w="12700" cap="flat" cmpd="sng" algn="ctr">
            <a:noFill/>
            <a:prstDash val="solid"/>
            <a:miter lim="800000"/>
          </a:ln>
          <a:effectLst/>
        </p:spPr>
        <p:txBody>
          <a:bodyPr vert="vert270"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3">
                    <a:lumMod val="75000"/>
                  </a:schemeClr>
                </a:solidFill>
                <a:effectLst/>
                <a:uLnTx/>
                <a:uFillTx/>
                <a:latin typeface="Calibri" panose="020F0502020204030204"/>
                <a:ea typeface="+mn-ea"/>
                <a:cs typeface="+mn-cs"/>
              </a:rPr>
              <a:t>Interaction is assigned based on agents skill 1st and availability 2nd</a:t>
            </a:r>
          </a:p>
        </p:txBody>
      </p:sp>
      <p:sp>
        <p:nvSpPr>
          <p:cNvPr id="185" name="Cylinder 184">
            <a:extLst>
              <a:ext uri="{FF2B5EF4-FFF2-40B4-BE49-F238E27FC236}">
                <a16:creationId xmlns:a16="http://schemas.microsoft.com/office/drawing/2014/main" id="{4F4C99D8-10B5-46E2-86AE-F4FA695B7A37}"/>
              </a:ext>
            </a:extLst>
          </p:cNvPr>
          <p:cNvSpPr/>
          <p:nvPr/>
        </p:nvSpPr>
        <p:spPr>
          <a:xfrm>
            <a:off x="3587829" y="5452164"/>
            <a:ext cx="1999660" cy="821932"/>
          </a:xfrm>
          <a:prstGeom prst="can">
            <a:avLst>
              <a:gd name="adj" fmla="val 35808"/>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86" name="Cylinder 185">
            <a:extLst>
              <a:ext uri="{FF2B5EF4-FFF2-40B4-BE49-F238E27FC236}">
                <a16:creationId xmlns:a16="http://schemas.microsoft.com/office/drawing/2014/main" id="{C4BE516F-F364-4A61-AB86-4F7B6CC96696}"/>
              </a:ext>
            </a:extLst>
          </p:cNvPr>
          <p:cNvSpPr/>
          <p:nvPr/>
        </p:nvSpPr>
        <p:spPr>
          <a:xfrm>
            <a:off x="3587829" y="2693950"/>
            <a:ext cx="1999660" cy="2128216"/>
          </a:xfrm>
          <a:prstGeom prst="can">
            <a:avLst>
              <a:gd name="adj" fmla="val 25064"/>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87" name="TextBox 186">
            <a:extLst>
              <a:ext uri="{FF2B5EF4-FFF2-40B4-BE49-F238E27FC236}">
                <a16:creationId xmlns:a16="http://schemas.microsoft.com/office/drawing/2014/main" id="{2BA705D0-DC38-4F91-9783-B754C3AD0C83}"/>
              </a:ext>
            </a:extLst>
          </p:cNvPr>
          <p:cNvSpPr txBox="1"/>
          <p:nvPr/>
        </p:nvSpPr>
        <p:spPr>
          <a:xfrm>
            <a:off x="3861321" y="2726102"/>
            <a:ext cx="1452676" cy="430887"/>
          </a:xfrm>
          <a:prstGeom prst="rect">
            <a:avLst/>
          </a:prstGeom>
          <a:noFill/>
          <a:ln w="28575">
            <a:noFill/>
          </a:ln>
        </p:spPr>
        <p:txBody>
          <a:bodyPr wrap="square" lIns="0" tIns="0" rIns="0" bIns="0" rtlCol="0">
            <a:spAutoFit/>
          </a:bodyPr>
          <a:lstStyle/>
          <a:p>
            <a:pPr algn="ctr">
              <a:spcBef>
                <a:spcPts val="200"/>
              </a:spcBef>
              <a:spcAft>
                <a:spcPts val="200"/>
              </a:spcAft>
              <a:buClr>
                <a:srgbClr val="F47421"/>
              </a:buClr>
              <a:defRPr/>
            </a:pPr>
            <a:r>
              <a:rPr lang="en-US" sz="1400" b="1" dirty="0">
                <a:solidFill>
                  <a:prstClr val="white"/>
                </a:solidFill>
                <a:latin typeface="Calibri" panose="020F0502020204030204" pitchFamily="34" charset="0"/>
                <a:cs typeface="Calibri" panose="020F0502020204030204" pitchFamily="34" charset="0"/>
              </a:rPr>
              <a:t>I have a question about…</a:t>
            </a:r>
          </a:p>
        </p:txBody>
      </p:sp>
      <p:grpSp>
        <p:nvGrpSpPr>
          <p:cNvPr id="188" name="Group 187">
            <a:extLst>
              <a:ext uri="{FF2B5EF4-FFF2-40B4-BE49-F238E27FC236}">
                <a16:creationId xmlns:a16="http://schemas.microsoft.com/office/drawing/2014/main" id="{DCFC296C-5C8F-4F8F-BF48-C4BA85C2FD13}"/>
              </a:ext>
            </a:extLst>
          </p:cNvPr>
          <p:cNvGrpSpPr/>
          <p:nvPr/>
        </p:nvGrpSpPr>
        <p:grpSpPr>
          <a:xfrm>
            <a:off x="3748160" y="3280953"/>
            <a:ext cx="1665490" cy="260779"/>
            <a:chOff x="3472048" y="3375036"/>
            <a:chExt cx="2185459" cy="273420"/>
          </a:xfrm>
        </p:grpSpPr>
        <p:sp>
          <p:nvSpPr>
            <p:cNvPr id="189" name="Rectangle: Rounded Corners 188">
              <a:extLst>
                <a:ext uri="{FF2B5EF4-FFF2-40B4-BE49-F238E27FC236}">
                  <a16:creationId xmlns:a16="http://schemas.microsoft.com/office/drawing/2014/main" id="{C5972A15-867C-4C80-8AC8-19540400B691}"/>
                </a:ext>
              </a:extLst>
            </p:cNvPr>
            <p:cNvSpPr/>
            <p:nvPr/>
          </p:nvSpPr>
          <p:spPr>
            <a:xfrm>
              <a:off x="3472048" y="3375036"/>
              <a:ext cx="744460"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Benefits</a:t>
              </a:r>
            </a:p>
          </p:txBody>
        </p:sp>
        <p:sp>
          <p:nvSpPr>
            <p:cNvPr id="190" name="Rectangle: Rounded Corners 189">
              <a:extLst>
                <a:ext uri="{FF2B5EF4-FFF2-40B4-BE49-F238E27FC236}">
                  <a16:creationId xmlns:a16="http://schemas.microsoft.com/office/drawing/2014/main" id="{02F13F31-85DE-48F3-9F34-3EED9A4411A5}"/>
                </a:ext>
              </a:extLst>
            </p:cNvPr>
            <p:cNvSpPr/>
            <p:nvPr/>
          </p:nvSpPr>
          <p:spPr>
            <a:xfrm>
              <a:off x="4309079" y="3375036"/>
              <a:ext cx="705828"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payroll</a:t>
              </a:r>
            </a:p>
          </p:txBody>
        </p:sp>
        <p:sp>
          <p:nvSpPr>
            <p:cNvPr id="191" name="Rectangle: Rounded Corners 190">
              <a:extLst>
                <a:ext uri="{FF2B5EF4-FFF2-40B4-BE49-F238E27FC236}">
                  <a16:creationId xmlns:a16="http://schemas.microsoft.com/office/drawing/2014/main" id="{3A158AA6-C358-4787-A2E0-671D95A88952}"/>
                </a:ext>
              </a:extLst>
            </p:cNvPr>
            <p:cNvSpPr/>
            <p:nvPr/>
          </p:nvSpPr>
          <p:spPr>
            <a:xfrm>
              <a:off x="5107477" y="3375036"/>
              <a:ext cx="550030"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LMS</a:t>
              </a:r>
            </a:p>
          </p:txBody>
        </p:sp>
      </p:grpSp>
      <p:grpSp>
        <p:nvGrpSpPr>
          <p:cNvPr id="192" name="Group 191">
            <a:extLst>
              <a:ext uri="{FF2B5EF4-FFF2-40B4-BE49-F238E27FC236}">
                <a16:creationId xmlns:a16="http://schemas.microsoft.com/office/drawing/2014/main" id="{F47E1E6D-0C83-43C2-9A7D-006E05D790E0}"/>
              </a:ext>
            </a:extLst>
          </p:cNvPr>
          <p:cNvGrpSpPr/>
          <p:nvPr/>
        </p:nvGrpSpPr>
        <p:grpSpPr>
          <a:xfrm>
            <a:off x="3754413" y="3639021"/>
            <a:ext cx="1659240" cy="260779"/>
            <a:chOff x="3837843" y="3698250"/>
            <a:chExt cx="2161911" cy="273420"/>
          </a:xfrm>
        </p:grpSpPr>
        <p:sp>
          <p:nvSpPr>
            <p:cNvPr id="193" name="Rectangle: Rounded Corners 192">
              <a:extLst>
                <a:ext uri="{FF2B5EF4-FFF2-40B4-BE49-F238E27FC236}">
                  <a16:creationId xmlns:a16="http://schemas.microsoft.com/office/drawing/2014/main" id="{D0DCDC2F-2985-46F9-9B39-0A217776921E}"/>
                </a:ext>
              </a:extLst>
            </p:cNvPr>
            <p:cNvSpPr/>
            <p:nvPr/>
          </p:nvSpPr>
          <p:spPr>
            <a:xfrm>
              <a:off x="3837843" y="3698250"/>
              <a:ext cx="898554"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Scheduling</a:t>
              </a:r>
            </a:p>
          </p:txBody>
        </p:sp>
        <p:sp>
          <p:nvSpPr>
            <p:cNvPr id="194" name="Rectangle: Rounded Corners 193">
              <a:extLst>
                <a:ext uri="{FF2B5EF4-FFF2-40B4-BE49-F238E27FC236}">
                  <a16:creationId xmlns:a16="http://schemas.microsoft.com/office/drawing/2014/main" id="{1DF4A2CE-EB05-46F7-8DE5-4B35B34FB070}"/>
                </a:ext>
              </a:extLst>
            </p:cNvPr>
            <p:cNvSpPr/>
            <p:nvPr/>
          </p:nvSpPr>
          <p:spPr>
            <a:xfrm>
              <a:off x="4824820" y="3698250"/>
              <a:ext cx="543256"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W2’s</a:t>
              </a:r>
            </a:p>
          </p:txBody>
        </p:sp>
        <p:sp>
          <p:nvSpPr>
            <p:cNvPr id="195" name="Rectangle: Rounded Corners 194">
              <a:extLst>
                <a:ext uri="{FF2B5EF4-FFF2-40B4-BE49-F238E27FC236}">
                  <a16:creationId xmlns:a16="http://schemas.microsoft.com/office/drawing/2014/main" id="{DF1228F2-4083-4F19-961B-D3C772271FF6}"/>
                </a:ext>
              </a:extLst>
            </p:cNvPr>
            <p:cNvSpPr/>
            <p:nvPr/>
          </p:nvSpPr>
          <p:spPr>
            <a:xfrm>
              <a:off x="5456500" y="3698250"/>
              <a:ext cx="543254"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GL</a:t>
              </a:r>
            </a:p>
          </p:txBody>
        </p:sp>
      </p:grpSp>
      <p:grpSp>
        <p:nvGrpSpPr>
          <p:cNvPr id="196" name="Group 195">
            <a:extLst>
              <a:ext uri="{FF2B5EF4-FFF2-40B4-BE49-F238E27FC236}">
                <a16:creationId xmlns:a16="http://schemas.microsoft.com/office/drawing/2014/main" id="{B0D26EAF-BB8F-451C-BD1A-9B3B35D02054}"/>
              </a:ext>
            </a:extLst>
          </p:cNvPr>
          <p:cNvGrpSpPr/>
          <p:nvPr/>
        </p:nvGrpSpPr>
        <p:grpSpPr>
          <a:xfrm>
            <a:off x="3754413" y="3997089"/>
            <a:ext cx="1659240" cy="260779"/>
            <a:chOff x="4302724" y="4119329"/>
            <a:chExt cx="1575135" cy="273420"/>
          </a:xfrm>
        </p:grpSpPr>
        <p:sp>
          <p:nvSpPr>
            <p:cNvPr id="197" name="Rectangle: Rounded Corners 196">
              <a:extLst>
                <a:ext uri="{FF2B5EF4-FFF2-40B4-BE49-F238E27FC236}">
                  <a16:creationId xmlns:a16="http://schemas.microsoft.com/office/drawing/2014/main" id="{A8E36C7B-EB05-4F08-BDDA-AC231C97A047}"/>
                </a:ext>
              </a:extLst>
            </p:cNvPr>
            <p:cNvSpPr/>
            <p:nvPr/>
          </p:nvSpPr>
          <p:spPr>
            <a:xfrm>
              <a:off x="4302724" y="4119329"/>
              <a:ext cx="744460"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Time Clocks</a:t>
              </a:r>
            </a:p>
          </p:txBody>
        </p:sp>
        <p:sp>
          <p:nvSpPr>
            <p:cNvPr id="198" name="Rectangle: Rounded Corners 197">
              <a:extLst>
                <a:ext uri="{FF2B5EF4-FFF2-40B4-BE49-F238E27FC236}">
                  <a16:creationId xmlns:a16="http://schemas.microsoft.com/office/drawing/2014/main" id="{B0F53134-16AD-4733-8B01-0E40BDA929FB}"/>
                </a:ext>
              </a:extLst>
            </p:cNvPr>
            <p:cNvSpPr/>
            <p:nvPr/>
          </p:nvSpPr>
          <p:spPr>
            <a:xfrm>
              <a:off x="5133399" y="4119329"/>
              <a:ext cx="744460"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Wage Garn</a:t>
              </a:r>
            </a:p>
          </p:txBody>
        </p:sp>
      </p:grpSp>
      <p:grpSp>
        <p:nvGrpSpPr>
          <p:cNvPr id="199" name="Group 198">
            <a:extLst>
              <a:ext uri="{FF2B5EF4-FFF2-40B4-BE49-F238E27FC236}">
                <a16:creationId xmlns:a16="http://schemas.microsoft.com/office/drawing/2014/main" id="{4737C93A-0D0E-46D8-84FE-DACEECC62580}"/>
              </a:ext>
            </a:extLst>
          </p:cNvPr>
          <p:cNvGrpSpPr/>
          <p:nvPr/>
        </p:nvGrpSpPr>
        <p:grpSpPr>
          <a:xfrm>
            <a:off x="3754413" y="4355158"/>
            <a:ext cx="1659236" cy="260779"/>
            <a:chOff x="3887386" y="4459010"/>
            <a:chExt cx="2161907" cy="273420"/>
          </a:xfrm>
        </p:grpSpPr>
        <p:sp>
          <p:nvSpPr>
            <p:cNvPr id="200" name="Rectangle: Rounded Corners 199">
              <a:extLst>
                <a:ext uri="{FF2B5EF4-FFF2-40B4-BE49-F238E27FC236}">
                  <a16:creationId xmlns:a16="http://schemas.microsoft.com/office/drawing/2014/main" id="{67C2DE9D-DE52-4E94-A4B7-DBB732C180AF}"/>
                </a:ext>
              </a:extLst>
            </p:cNvPr>
            <p:cNvSpPr/>
            <p:nvPr/>
          </p:nvSpPr>
          <p:spPr>
            <a:xfrm>
              <a:off x="3887386" y="4459010"/>
              <a:ext cx="744460"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Taxes</a:t>
              </a:r>
            </a:p>
          </p:txBody>
        </p:sp>
        <p:sp>
          <p:nvSpPr>
            <p:cNvPr id="201" name="Rectangle: Rounded Corners 200">
              <a:extLst>
                <a:ext uri="{FF2B5EF4-FFF2-40B4-BE49-F238E27FC236}">
                  <a16:creationId xmlns:a16="http://schemas.microsoft.com/office/drawing/2014/main" id="{C537B9E1-E57E-4282-9FB6-0E07DE8C7F64}"/>
                </a:ext>
              </a:extLst>
            </p:cNvPr>
            <p:cNvSpPr/>
            <p:nvPr/>
          </p:nvSpPr>
          <p:spPr>
            <a:xfrm>
              <a:off x="4718059" y="4459010"/>
              <a:ext cx="1331234" cy="273420"/>
            </a:xfrm>
            <a:prstGeom prst="roundRect">
              <a:avLst/>
            </a:prstGeom>
            <a:solidFill>
              <a:srgbClr val="6D6E7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Worker’s Comp</a:t>
              </a:r>
            </a:p>
          </p:txBody>
        </p:sp>
      </p:grpSp>
      <p:sp>
        <p:nvSpPr>
          <p:cNvPr id="202" name="TextBox 201">
            <a:extLst>
              <a:ext uri="{FF2B5EF4-FFF2-40B4-BE49-F238E27FC236}">
                <a16:creationId xmlns:a16="http://schemas.microsoft.com/office/drawing/2014/main" id="{2CD7CA16-C1D0-4926-BE6F-E1B652059647}"/>
              </a:ext>
            </a:extLst>
          </p:cNvPr>
          <p:cNvSpPr txBox="1"/>
          <p:nvPr/>
        </p:nvSpPr>
        <p:spPr>
          <a:xfrm>
            <a:off x="3668071" y="5789142"/>
            <a:ext cx="1839178" cy="430887"/>
          </a:xfrm>
          <a:prstGeom prst="rect">
            <a:avLst/>
          </a:prstGeom>
          <a:noFill/>
          <a:ln w="28575">
            <a:noFill/>
          </a:ln>
        </p:spPr>
        <p:txBody>
          <a:bodyPr wrap="square" lIns="0" tIns="0" rIns="0" bIns="0" rtlCol="0">
            <a:spAutoFit/>
          </a:bodyPr>
          <a:lstStyle/>
          <a:p>
            <a:pPr algn="ctr">
              <a:spcBef>
                <a:spcPts val="200"/>
              </a:spcBef>
              <a:spcAft>
                <a:spcPts val="200"/>
              </a:spcAft>
              <a:buClr>
                <a:srgbClr val="F47421"/>
              </a:buClr>
              <a:defRPr/>
            </a:pPr>
            <a:r>
              <a:rPr lang="en-US" sz="1400" b="1" dirty="0">
                <a:solidFill>
                  <a:prstClr val="white"/>
                </a:solidFill>
                <a:latin typeface="Calibri" panose="020F0502020204030204" pitchFamily="34" charset="0"/>
                <a:cs typeface="Calibri" panose="020F0502020204030204" pitchFamily="34" charset="0"/>
              </a:rPr>
              <a:t>I am high revenue or</a:t>
            </a:r>
            <a:br>
              <a:rPr lang="en-US" sz="1400" b="1" dirty="0">
                <a:solidFill>
                  <a:prstClr val="white"/>
                </a:solidFill>
                <a:latin typeface="Calibri" panose="020F0502020204030204" pitchFamily="34" charset="0"/>
                <a:cs typeface="Calibri" panose="020F0502020204030204" pitchFamily="34" charset="0"/>
              </a:rPr>
            </a:br>
            <a:r>
              <a:rPr lang="en-US" sz="1400" b="1" dirty="0">
                <a:solidFill>
                  <a:prstClr val="white"/>
                </a:solidFill>
                <a:latin typeface="Calibri" panose="020F0502020204030204" pitchFamily="34" charset="0"/>
                <a:cs typeface="Calibri" panose="020F0502020204030204" pitchFamily="34" charset="0"/>
              </a:rPr>
              <a:t> at risk…</a:t>
            </a:r>
          </a:p>
        </p:txBody>
      </p:sp>
      <p:grpSp>
        <p:nvGrpSpPr>
          <p:cNvPr id="203" name="Group 202">
            <a:extLst>
              <a:ext uri="{FF2B5EF4-FFF2-40B4-BE49-F238E27FC236}">
                <a16:creationId xmlns:a16="http://schemas.microsoft.com/office/drawing/2014/main" id="{5EF8309A-991F-42D9-9B63-5B326C19E46E}"/>
              </a:ext>
            </a:extLst>
          </p:cNvPr>
          <p:cNvGrpSpPr/>
          <p:nvPr/>
        </p:nvGrpSpPr>
        <p:grpSpPr>
          <a:xfrm>
            <a:off x="4113251" y="4789126"/>
            <a:ext cx="948817" cy="688581"/>
            <a:chOff x="4212766" y="4582937"/>
            <a:chExt cx="948817" cy="879527"/>
          </a:xfrm>
        </p:grpSpPr>
        <p:cxnSp>
          <p:nvCxnSpPr>
            <p:cNvPr id="204" name="Straight Connector 203">
              <a:extLst>
                <a:ext uri="{FF2B5EF4-FFF2-40B4-BE49-F238E27FC236}">
                  <a16:creationId xmlns:a16="http://schemas.microsoft.com/office/drawing/2014/main" id="{612E67E7-8898-4D41-A701-B199EA2E0AD1}"/>
                </a:ext>
              </a:extLst>
            </p:cNvPr>
            <p:cNvCxnSpPr>
              <a:cxnSpLocks/>
            </p:cNvCxnSpPr>
            <p:nvPr/>
          </p:nvCxnSpPr>
          <p:spPr>
            <a:xfrm>
              <a:off x="4212766" y="4582937"/>
              <a:ext cx="0" cy="879527"/>
            </a:xfrm>
            <a:prstGeom prst="line">
              <a:avLst/>
            </a:prstGeom>
            <a:noFill/>
            <a:ln w="19050" cap="flat" cmpd="sng" algn="ctr">
              <a:solidFill>
                <a:srgbClr val="6D6E71"/>
              </a:solidFill>
              <a:prstDash val="sysDash"/>
              <a:miter lim="800000"/>
            </a:ln>
            <a:effectLst/>
          </p:spPr>
        </p:cxnSp>
        <p:cxnSp>
          <p:nvCxnSpPr>
            <p:cNvPr id="205" name="Straight Connector 204">
              <a:extLst>
                <a:ext uri="{FF2B5EF4-FFF2-40B4-BE49-F238E27FC236}">
                  <a16:creationId xmlns:a16="http://schemas.microsoft.com/office/drawing/2014/main" id="{22222712-15E3-468E-A8F1-FB52C07094A3}"/>
                </a:ext>
              </a:extLst>
            </p:cNvPr>
            <p:cNvCxnSpPr>
              <a:cxnSpLocks/>
              <a:stCxn id="186" idx="3"/>
              <a:endCxn id="185" idx="1"/>
            </p:cNvCxnSpPr>
            <p:nvPr/>
          </p:nvCxnSpPr>
          <p:spPr>
            <a:xfrm>
              <a:off x="4687174" y="4625139"/>
              <a:ext cx="0" cy="804699"/>
            </a:xfrm>
            <a:prstGeom prst="line">
              <a:avLst/>
            </a:prstGeom>
            <a:noFill/>
            <a:ln w="19050" cap="flat" cmpd="sng" algn="ctr">
              <a:solidFill>
                <a:srgbClr val="6D6E71"/>
              </a:solidFill>
              <a:prstDash val="sysDash"/>
              <a:miter lim="800000"/>
            </a:ln>
            <a:effectLst/>
          </p:spPr>
        </p:cxnSp>
        <p:cxnSp>
          <p:nvCxnSpPr>
            <p:cNvPr id="206" name="Straight Connector 205">
              <a:extLst>
                <a:ext uri="{FF2B5EF4-FFF2-40B4-BE49-F238E27FC236}">
                  <a16:creationId xmlns:a16="http://schemas.microsoft.com/office/drawing/2014/main" id="{1AF35825-B4F8-452F-9662-0247A21A0371}"/>
                </a:ext>
              </a:extLst>
            </p:cNvPr>
            <p:cNvCxnSpPr>
              <a:cxnSpLocks/>
            </p:cNvCxnSpPr>
            <p:nvPr/>
          </p:nvCxnSpPr>
          <p:spPr>
            <a:xfrm>
              <a:off x="5161583" y="4595928"/>
              <a:ext cx="0" cy="866536"/>
            </a:xfrm>
            <a:prstGeom prst="line">
              <a:avLst/>
            </a:prstGeom>
            <a:noFill/>
            <a:ln w="19050" cap="flat" cmpd="sng" algn="ctr">
              <a:solidFill>
                <a:srgbClr val="6D6E71"/>
              </a:solidFill>
              <a:prstDash val="sysDash"/>
              <a:miter lim="800000"/>
            </a:ln>
            <a:effectLst/>
          </p:spPr>
        </p:cxnSp>
      </p:grpSp>
      <p:sp>
        <p:nvSpPr>
          <p:cNvPr id="207" name="Rectangle 206">
            <a:extLst>
              <a:ext uri="{FF2B5EF4-FFF2-40B4-BE49-F238E27FC236}">
                <a16:creationId xmlns:a16="http://schemas.microsoft.com/office/drawing/2014/main" id="{97C10772-2A6C-4B46-812B-7F06E896FB50}"/>
              </a:ext>
            </a:extLst>
          </p:cNvPr>
          <p:cNvSpPr/>
          <p:nvPr/>
        </p:nvSpPr>
        <p:spPr>
          <a:xfrm>
            <a:off x="6537718" y="2693950"/>
            <a:ext cx="2113330" cy="318617"/>
          </a:xfrm>
          <a:prstGeom prst="rect">
            <a:avLst/>
          </a:prstGeom>
          <a:solidFill>
            <a:schemeClr val="accent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Payroll Basic</a:t>
            </a:r>
          </a:p>
        </p:txBody>
      </p:sp>
      <p:sp>
        <p:nvSpPr>
          <p:cNvPr id="208" name="Rectangle 207">
            <a:extLst>
              <a:ext uri="{FF2B5EF4-FFF2-40B4-BE49-F238E27FC236}">
                <a16:creationId xmlns:a16="http://schemas.microsoft.com/office/drawing/2014/main" id="{E7C47FB5-468E-4B2E-A9A4-A4726324C965}"/>
              </a:ext>
            </a:extLst>
          </p:cNvPr>
          <p:cNvSpPr/>
          <p:nvPr/>
        </p:nvSpPr>
        <p:spPr>
          <a:xfrm>
            <a:off x="6537718" y="5115996"/>
            <a:ext cx="2113330" cy="318617"/>
          </a:xfrm>
          <a:prstGeom prst="rect">
            <a:avLst/>
          </a:prstGeom>
          <a:solidFill>
            <a:srgbClr val="9D9FA2"/>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New Clients</a:t>
            </a:r>
          </a:p>
        </p:txBody>
      </p:sp>
      <p:sp>
        <p:nvSpPr>
          <p:cNvPr id="209" name="Rectangle 208">
            <a:extLst>
              <a:ext uri="{FF2B5EF4-FFF2-40B4-BE49-F238E27FC236}">
                <a16:creationId xmlns:a16="http://schemas.microsoft.com/office/drawing/2014/main" id="{25029F35-CEE1-4EE7-9BFC-029E8C95377F}"/>
              </a:ext>
            </a:extLst>
          </p:cNvPr>
          <p:cNvSpPr/>
          <p:nvPr/>
        </p:nvSpPr>
        <p:spPr>
          <a:xfrm>
            <a:off x="6537718" y="4510486"/>
            <a:ext cx="2113330" cy="318617"/>
          </a:xfrm>
          <a:prstGeom prst="rect">
            <a:avLst/>
          </a:prstGeom>
          <a:solidFill>
            <a:schemeClr val="accent1">
              <a:lumMod val="75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Multi-Product Gold</a:t>
            </a:r>
          </a:p>
        </p:txBody>
      </p:sp>
      <p:sp>
        <p:nvSpPr>
          <p:cNvPr id="210" name="Rectangle 209">
            <a:extLst>
              <a:ext uri="{FF2B5EF4-FFF2-40B4-BE49-F238E27FC236}">
                <a16:creationId xmlns:a16="http://schemas.microsoft.com/office/drawing/2014/main" id="{5DB77183-1F1E-418B-92E0-D71F05293666}"/>
              </a:ext>
            </a:extLst>
          </p:cNvPr>
          <p:cNvSpPr/>
          <p:nvPr/>
        </p:nvSpPr>
        <p:spPr>
          <a:xfrm>
            <a:off x="6537718" y="3904974"/>
            <a:ext cx="2113330" cy="318617"/>
          </a:xfrm>
          <a:prstGeom prst="rect">
            <a:avLst/>
          </a:prstGeom>
          <a:solidFill>
            <a:schemeClr val="tx2">
              <a:lumMod val="75000"/>
              <a:lumOff val="25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Multi-Product Basic</a:t>
            </a:r>
          </a:p>
        </p:txBody>
      </p:sp>
      <p:sp>
        <p:nvSpPr>
          <p:cNvPr id="211" name="Rectangle 210">
            <a:extLst>
              <a:ext uri="{FF2B5EF4-FFF2-40B4-BE49-F238E27FC236}">
                <a16:creationId xmlns:a16="http://schemas.microsoft.com/office/drawing/2014/main" id="{3094C435-C5A1-4304-ABF9-FC32362E2690}"/>
              </a:ext>
            </a:extLst>
          </p:cNvPr>
          <p:cNvSpPr/>
          <p:nvPr/>
        </p:nvSpPr>
        <p:spPr>
          <a:xfrm>
            <a:off x="6537718" y="3299462"/>
            <a:ext cx="2113330" cy="318617"/>
          </a:xfrm>
          <a:prstGeom prst="rect">
            <a:avLst/>
          </a:prstGeom>
          <a:solidFill>
            <a:schemeClr val="accent3">
              <a:lumMod val="75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Payroll </a:t>
            </a:r>
            <a:r>
              <a:rPr lang="en-US" sz="1400" kern="0" dirty="0">
                <a:solidFill>
                  <a:prstClr val="white"/>
                </a:solidFill>
                <a:latin typeface="Calibri" panose="020F0502020204030204"/>
              </a:rPr>
              <a:t>Gold</a:t>
            </a:r>
            <a:endPar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nvGrpSpPr>
          <p:cNvPr id="212" name="Group 211">
            <a:extLst>
              <a:ext uri="{FF2B5EF4-FFF2-40B4-BE49-F238E27FC236}">
                <a16:creationId xmlns:a16="http://schemas.microsoft.com/office/drawing/2014/main" id="{1114DDE2-6166-4BFA-A28C-A4B09590ADF2}"/>
              </a:ext>
            </a:extLst>
          </p:cNvPr>
          <p:cNvGrpSpPr/>
          <p:nvPr/>
        </p:nvGrpSpPr>
        <p:grpSpPr>
          <a:xfrm>
            <a:off x="9637128" y="2665006"/>
            <a:ext cx="1927959" cy="490971"/>
            <a:chOff x="9546792" y="2679280"/>
            <a:chExt cx="1927959" cy="490971"/>
          </a:xfrm>
          <a:solidFill>
            <a:schemeClr val="accent1"/>
          </a:solidFill>
        </p:grpSpPr>
        <p:grpSp>
          <p:nvGrpSpPr>
            <p:cNvPr id="213" name="Group 212">
              <a:extLst>
                <a:ext uri="{FF2B5EF4-FFF2-40B4-BE49-F238E27FC236}">
                  <a16:creationId xmlns:a16="http://schemas.microsoft.com/office/drawing/2014/main" id="{E70B67F3-9A58-4056-B562-AECE6F7BF942}"/>
                </a:ext>
              </a:extLst>
            </p:cNvPr>
            <p:cNvGrpSpPr/>
            <p:nvPr/>
          </p:nvGrpSpPr>
          <p:grpSpPr>
            <a:xfrm>
              <a:off x="9546792" y="2679280"/>
              <a:ext cx="553724" cy="490971"/>
              <a:chOff x="9546792" y="2679280"/>
              <a:chExt cx="553724" cy="490971"/>
            </a:xfrm>
            <a:grpFill/>
          </p:grpSpPr>
          <p:grpSp>
            <p:nvGrpSpPr>
              <p:cNvPr id="226" name="Group 225">
                <a:extLst>
                  <a:ext uri="{FF2B5EF4-FFF2-40B4-BE49-F238E27FC236}">
                    <a16:creationId xmlns:a16="http://schemas.microsoft.com/office/drawing/2014/main" id="{F46C8296-E8DB-4FDF-B5CF-B21FE0EF069B}"/>
                  </a:ext>
                </a:extLst>
              </p:cNvPr>
              <p:cNvGrpSpPr/>
              <p:nvPr/>
            </p:nvGrpSpPr>
            <p:grpSpPr>
              <a:xfrm>
                <a:off x="9656523" y="2679280"/>
                <a:ext cx="334262" cy="335734"/>
                <a:chOff x="7718425" y="2524125"/>
                <a:chExt cx="360363" cy="361950"/>
              </a:xfrm>
              <a:grpFill/>
            </p:grpSpPr>
            <p:sp>
              <p:nvSpPr>
                <p:cNvPr id="228" name="Freeform 103">
                  <a:extLst>
                    <a:ext uri="{FF2B5EF4-FFF2-40B4-BE49-F238E27FC236}">
                      <a16:creationId xmlns:a16="http://schemas.microsoft.com/office/drawing/2014/main" id="{2CB4F255-289D-41B1-A938-758D5C1E898C}"/>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29" name="Freeform 104">
                  <a:extLst>
                    <a:ext uri="{FF2B5EF4-FFF2-40B4-BE49-F238E27FC236}">
                      <a16:creationId xmlns:a16="http://schemas.microsoft.com/office/drawing/2014/main" id="{F22DD7FF-6E8B-4DBA-A6B2-6372638C77EB}"/>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30" name="Freeform 105">
                  <a:extLst>
                    <a:ext uri="{FF2B5EF4-FFF2-40B4-BE49-F238E27FC236}">
                      <a16:creationId xmlns:a16="http://schemas.microsoft.com/office/drawing/2014/main" id="{6ABC448F-D0A9-4A89-B43F-20783BE473A9}"/>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27" name="TextBox 226">
                <a:extLst>
                  <a:ext uri="{FF2B5EF4-FFF2-40B4-BE49-F238E27FC236}">
                    <a16:creationId xmlns:a16="http://schemas.microsoft.com/office/drawing/2014/main" id="{89E23394-B8F8-42E1-A0A4-D89ABCD05CA0}"/>
                  </a:ext>
                </a:extLst>
              </p:cNvPr>
              <p:cNvSpPr txBox="1"/>
              <p:nvPr/>
            </p:nvSpPr>
            <p:spPr>
              <a:xfrm>
                <a:off x="9546792" y="3047140"/>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a:t>
                </a:r>
              </a:p>
            </p:txBody>
          </p:sp>
        </p:grpSp>
        <p:grpSp>
          <p:nvGrpSpPr>
            <p:cNvPr id="214" name="Group 213">
              <a:extLst>
                <a:ext uri="{FF2B5EF4-FFF2-40B4-BE49-F238E27FC236}">
                  <a16:creationId xmlns:a16="http://schemas.microsoft.com/office/drawing/2014/main" id="{624FD6FA-4F5C-477E-B708-FD54655B3ED3}"/>
                </a:ext>
              </a:extLst>
            </p:cNvPr>
            <p:cNvGrpSpPr/>
            <p:nvPr/>
          </p:nvGrpSpPr>
          <p:grpSpPr>
            <a:xfrm>
              <a:off x="10233909" y="2679280"/>
              <a:ext cx="553724" cy="490971"/>
              <a:chOff x="9546792" y="2679280"/>
              <a:chExt cx="553724" cy="490971"/>
            </a:xfrm>
            <a:grpFill/>
          </p:grpSpPr>
          <p:grpSp>
            <p:nvGrpSpPr>
              <p:cNvPr id="221" name="Group 220">
                <a:extLst>
                  <a:ext uri="{FF2B5EF4-FFF2-40B4-BE49-F238E27FC236}">
                    <a16:creationId xmlns:a16="http://schemas.microsoft.com/office/drawing/2014/main" id="{D08B47CA-1469-4CA0-BD46-DFF71D83EECC}"/>
                  </a:ext>
                </a:extLst>
              </p:cNvPr>
              <p:cNvGrpSpPr/>
              <p:nvPr/>
            </p:nvGrpSpPr>
            <p:grpSpPr>
              <a:xfrm>
                <a:off x="9656523" y="2679280"/>
                <a:ext cx="334262" cy="335734"/>
                <a:chOff x="7718425" y="2524125"/>
                <a:chExt cx="360363" cy="361950"/>
              </a:xfrm>
              <a:grpFill/>
            </p:grpSpPr>
            <p:sp>
              <p:nvSpPr>
                <p:cNvPr id="223" name="Freeform 103">
                  <a:extLst>
                    <a:ext uri="{FF2B5EF4-FFF2-40B4-BE49-F238E27FC236}">
                      <a16:creationId xmlns:a16="http://schemas.microsoft.com/office/drawing/2014/main" id="{595942E7-EBA5-402E-8E1C-47E968BB6E97}"/>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24" name="Freeform 104">
                  <a:extLst>
                    <a:ext uri="{FF2B5EF4-FFF2-40B4-BE49-F238E27FC236}">
                      <a16:creationId xmlns:a16="http://schemas.microsoft.com/office/drawing/2014/main" id="{F56F04B8-AB2B-494D-BA3E-33385D977A11}"/>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25" name="Freeform 105">
                  <a:extLst>
                    <a:ext uri="{FF2B5EF4-FFF2-40B4-BE49-F238E27FC236}">
                      <a16:creationId xmlns:a16="http://schemas.microsoft.com/office/drawing/2014/main" id="{FE159CC7-9A87-47A7-AFC5-D5E5D9E429DC}"/>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22" name="TextBox 221">
                <a:extLst>
                  <a:ext uri="{FF2B5EF4-FFF2-40B4-BE49-F238E27FC236}">
                    <a16:creationId xmlns:a16="http://schemas.microsoft.com/office/drawing/2014/main" id="{35CD8871-C363-4727-AB55-3C560B17C744}"/>
                  </a:ext>
                </a:extLst>
              </p:cNvPr>
              <p:cNvSpPr txBox="1"/>
              <p:nvPr/>
            </p:nvSpPr>
            <p:spPr>
              <a:xfrm>
                <a:off x="9546792" y="3047140"/>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Chat + Email</a:t>
                </a:r>
              </a:p>
            </p:txBody>
          </p:sp>
        </p:grpSp>
        <p:grpSp>
          <p:nvGrpSpPr>
            <p:cNvPr id="215" name="Group 214">
              <a:extLst>
                <a:ext uri="{FF2B5EF4-FFF2-40B4-BE49-F238E27FC236}">
                  <a16:creationId xmlns:a16="http://schemas.microsoft.com/office/drawing/2014/main" id="{C44DD587-EEE8-4D0D-AF84-E2BC82C98EFE}"/>
                </a:ext>
              </a:extLst>
            </p:cNvPr>
            <p:cNvGrpSpPr/>
            <p:nvPr/>
          </p:nvGrpSpPr>
          <p:grpSpPr>
            <a:xfrm>
              <a:off x="10921027" y="2679280"/>
              <a:ext cx="553724" cy="490971"/>
              <a:chOff x="9546792" y="2679280"/>
              <a:chExt cx="553724" cy="490971"/>
            </a:xfrm>
            <a:grpFill/>
          </p:grpSpPr>
          <p:grpSp>
            <p:nvGrpSpPr>
              <p:cNvPr id="216" name="Group 215">
                <a:extLst>
                  <a:ext uri="{FF2B5EF4-FFF2-40B4-BE49-F238E27FC236}">
                    <a16:creationId xmlns:a16="http://schemas.microsoft.com/office/drawing/2014/main" id="{AE678098-037D-4D9C-86FD-B743495BABEC}"/>
                  </a:ext>
                </a:extLst>
              </p:cNvPr>
              <p:cNvGrpSpPr/>
              <p:nvPr/>
            </p:nvGrpSpPr>
            <p:grpSpPr>
              <a:xfrm>
                <a:off x="9656523" y="2679280"/>
                <a:ext cx="334262" cy="335734"/>
                <a:chOff x="7718425" y="2524125"/>
                <a:chExt cx="360363" cy="361950"/>
              </a:xfrm>
              <a:grpFill/>
            </p:grpSpPr>
            <p:sp>
              <p:nvSpPr>
                <p:cNvPr id="218" name="Freeform 103">
                  <a:extLst>
                    <a:ext uri="{FF2B5EF4-FFF2-40B4-BE49-F238E27FC236}">
                      <a16:creationId xmlns:a16="http://schemas.microsoft.com/office/drawing/2014/main" id="{3200B380-1515-4665-9FBC-9C86169A1EE2}"/>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19" name="Freeform 104">
                  <a:extLst>
                    <a:ext uri="{FF2B5EF4-FFF2-40B4-BE49-F238E27FC236}">
                      <a16:creationId xmlns:a16="http://schemas.microsoft.com/office/drawing/2014/main" id="{FD0B9800-FADE-443C-9415-7F3FB447C9CB}"/>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20" name="Freeform 105">
                  <a:extLst>
                    <a:ext uri="{FF2B5EF4-FFF2-40B4-BE49-F238E27FC236}">
                      <a16:creationId xmlns:a16="http://schemas.microsoft.com/office/drawing/2014/main" id="{E67048C6-B47B-4880-8DAB-153E6DCB4893}"/>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17" name="TextBox 216">
                <a:extLst>
                  <a:ext uri="{FF2B5EF4-FFF2-40B4-BE49-F238E27FC236}">
                    <a16:creationId xmlns:a16="http://schemas.microsoft.com/office/drawing/2014/main" id="{77A1A7F1-95D8-4D3D-8A44-F10132796497}"/>
                  </a:ext>
                </a:extLst>
              </p:cNvPr>
              <p:cNvSpPr txBox="1"/>
              <p:nvPr/>
            </p:nvSpPr>
            <p:spPr>
              <a:xfrm>
                <a:off x="9546792" y="3047140"/>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Phone</a:t>
                </a:r>
              </a:p>
            </p:txBody>
          </p:sp>
        </p:grpSp>
      </p:grpSp>
      <p:grpSp>
        <p:nvGrpSpPr>
          <p:cNvPr id="231" name="Group 230">
            <a:extLst>
              <a:ext uri="{FF2B5EF4-FFF2-40B4-BE49-F238E27FC236}">
                <a16:creationId xmlns:a16="http://schemas.microsoft.com/office/drawing/2014/main" id="{C397431F-04D2-45E0-B4AD-4788236E6F7B}"/>
              </a:ext>
            </a:extLst>
          </p:cNvPr>
          <p:cNvGrpSpPr/>
          <p:nvPr/>
        </p:nvGrpSpPr>
        <p:grpSpPr>
          <a:xfrm>
            <a:off x="9637128" y="3197543"/>
            <a:ext cx="1927959" cy="614081"/>
            <a:chOff x="9637128" y="3299462"/>
            <a:chExt cx="1927959" cy="614081"/>
          </a:xfrm>
          <a:solidFill>
            <a:schemeClr val="accent3">
              <a:lumMod val="75000"/>
            </a:schemeClr>
          </a:solidFill>
        </p:grpSpPr>
        <p:grpSp>
          <p:nvGrpSpPr>
            <p:cNvPr id="232" name="Group 231">
              <a:extLst>
                <a:ext uri="{FF2B5EF4-FFF2-40B4-BE49-F238E27FC236}">
                  <a16:creationId xmlns:a16="http://schemas.microsoft.com/office/drawing/2014/main" id="{CC6F7E3A-3836-4828-8938-46F26C4C7374}"/>
                </a:ext>
              </a:extLst>
            </p:cNvPr>
            <p:cNvGrpSpPr/>
            <p:nvPr/>
          </p:nvGrpSpPr>
          <p:grpSpPr>
            <a:xfrm>
              <a:off x="9746859" y="3299462"/>
              <a:ext cx="334262" cy="335734"/>
              <a:chOff x="7718425" y="2524125"/>
              <a:chExt cx="360363" cy="361950"/>
            </a:xfrm>
            <a:grpFill/>
          </p:grpSpPr>
          <p:sp>
            <p:nvSpPr>
              <p:cNvPr id="244" name="Freeform 103">
                <a:extLst>
                  <a:ext uri="{FF2B5EF4-FFF2-40B4-BE49-F238E27FC236}">
                    <a16:creationId xmlns:a16="http://schemas.microsoft.com/office/drawing/2014/main" id="{C573B255-C1A6-4115-829D-D8024763E2E0}"/>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45" name="Freeform 104">
                <a:extLst>
                  <a:ext uri="{FF2B5EF4-FFF2-40B4-BE49-F238E27FC236}">
                    <a16:creationId xmlns:a16="http://schemas.microsoft.com/office/drawing/2014/main" id="{02685698-918A-4E26-BD19-9DE5DEB62E3F}"/>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46" name="Freeform 105">
                <a:extLst>
                  <a:ext uri="{FF2B5EF4-FFF2-40B4-BE49-F238E27FC236}">
                    <a16:creationId xmlns:a16="http://schemas.microsoft.com/office/drawing/2014/main" id="{AD5EEA3F-8F46-457B-B0B4-A2774B7BC040}"/>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33" name="TextBox 232">
              <a:extLst>
                <a:ext uri="{FF2B5EF4-FFF2-40B4-BE49-F238E27FC236}">
                  <a16:creationId xmlns:a16="http://schemas.microsoft.com/office/drawing/2014/main" id="{0641AB06-4EF8-4906-818F-264DCF8772E7}"/>
                </a:ext>
              </a:extLst>
            </p:cNvPr>
            <p:cNvSpPr txBox="1"/>
            <p:nvPr/>
          </p:nvSpPr>
          <p:spPr>
            <a:xfrm>
              <a:off x="9637128" y="3667322"/>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 + Chat</a:t>
              </a:r>
            </a:p>
          </p:txBody>
        </p:sp>
        <p:grpSp>
          <p:nvGrpSpPr>
            <p:cNvPr id="234" name="Group 233">
              <a:extLst>
                <a:ext uri="{FF2B5EF4-FFF2-40B4-BE49-F238E27FC236}">
                  <a16:creationId xmlns:a16="http://schemas.microsoft.com/office/drawing/2014/main" id="{EB7FB3DD-743A-499C-B09E-A0784386AC9A}"/>
                </a:ext>
              </a:extLst>
            </p:cNvPr>
            <p:cNvGrpSpPr/>
            <p:nvPr/>
          </p:nvGrpSpPr>
          <p:grpSpPr>
            <a:xfrm>
              <a:off x="10433976" y="3299462"/>
              <a:ext cx="334262" cy="335734"/>
              <a:chOff x="7718425" y="2524125"/>
              <a:chExt cx="360363" cy="361950"/>
            </a:xfrm>
            <a:grpFill/>
          </p:grpSpPr>
          <p:sp>
            <p:nvSpPr>
              <p:cNvPr id="241" name="Freeform 103">
                <a:extLst>
                  <a:ext uri="{FF2B5EF4-FFF2-40B4-BE49-F238E27FC236}">
                    <a16:creationId xmlns:a16="http://schemas.microsoft.com/office/drawing/2014/main" id="{D35BAB3D-3122-4E66-A51B-41258AB587BB}"/>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42" name="Freeform 104">
                <a:extLst>
                  <a:ext uri="{FF2B5EF4-FFF2-40B4-BE49-F238E27FC236}">
                    <a16:creationId xmlns:a16="http://schemas.microsoft.com/office/drawing/2014/main" id="{C5A0372F-6FD6-423C-A1F7-81136906D699}"/>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43" name="Freeform 105">
                <a:extLst>
                  <a:ext uri="{FF2B5EF4-FFF2-40B4-BE49-F238E27FC236}">
                    <a16:creationId xmlns:a16="http://schemas.microsoft.com/office/drawing/2014/main" id="{AA789803-FE07-40A6-9F58-83CC9A3E456B}"/>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35" name="TextBox 234">
              <a:extLst>
                <a:ext uri="{FF2B5EF4-FFF2-40B4-BE49-F238E27FC236}">
                  <a16:creationId xmlns:a16="http://schemas.microsoft.com/office/drawing/2014/main" id="{7F8C9ED3-8099-4DEA-900E-D106C11F3104}"/>
                </a:ext>
              </a:extLst>
            </p:cNvPr>
            <p:cNvSpPr txBox="1"/>
            <p:nvPr/>
          </p:nvSpPr>
          <p:spPr>
            <a:xfrm>
              <a:off x="10324245" y="3667322"/>
              <a:ext cx="553724" cy="24622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 + Chat + Email</a:t>
              </a:r>
            </a:p>
          </p:txBody>
        </p:sp>
        <p:grpSp>
          <p:nvGrpSpPr>
            <p:cNvPr id="236" name="Group 235">
              <a:extLst>
                <a:ext uri="{FF2B5EF4-FFF2-40B4-BE49-F238E27FC236}">
                  <a16:creationId xmlns:a16="http://schemas.microsoft.com/office/drawing/2014/main" id="{6821813D-BF94-4037-9CD9-269C6BA57613}"/>
                </a:ext>
              </a:extLst>
            </p:cNvPr>
            <p:cNvGrpSpPr/>
            <p:nvPr/>
          </p:nvGrpSpPr>
          <p:grpSpPr>
            <a:xfrm>
              <a:off x="11121094" y="3299462"/>
              <a:ext cx="334262" cy="335734"/>
              <a:chOff x="7718425" y="2524125"/>
              <a:chExt cx="360363" cy="361950"/>
            </a:xfrm>
            <a:grpFill/>
          </p:grpSpPr>
          <p:sp>
            <p:nvSpPr>
              <p:cNvPr id="238" name="Freeform 103">
                <a:extLst>
                  <a:ext uri="{FF2B5EF4-FFF2-40B4-BE49-F238E27FC236}">
                    <a16:creationId xmlns:a16="http://schemas.microsoft.com/office/drawing/2014/main" id="{B1C9B2BD-E41E-46D9-93BD-6229E351CFCE}"/>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39" name="Freeform 104">
                <a:extLst>
                  <a:ext uri="{FF2B5EF4-FFF2-40B4-BE49-F238E27FC236}">
                    <a16:creationId xmlns:a16="http://schemas.microsoft.com/office/drawing/2014/main" id="{2A5908FB-AAD6-4462-B760-B486CE30D111}"/>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40" name="Freeform 105">
                <a:extLst>
                  <a:ext uri="{FF2B5EF4-FFF2-40B4-BE49-F238E27FC236}">
                    <a16:creationId xmlns:a16="http://schemas.microsoft.com/office/drawing/2014/main" id="{C8563B09-C376-49BA-95D3-4EE9FF80A323}"/>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sp>
          <p:nvSpPr>
            <p:cNvPr id="237" name="TextBox 236">
              <a:extLst>
                <a:ext uri="{FF2B5EF4-FFF2-40B4-BE49-F238E27FC236}">
                  <a16:creationId xmlns:a16="http://schemas.microsoft.com/office/drawing/2014/main" id="{76DF0BCF-36C8-4C29-83CC-29571B8CD4E7}"/>
                </a:ext>
              </a:extLst>
            </p:cNvPr>
            <p:cNvSpPr txBox="1"/>
            <p:nvPr/>
          </p:nvSpPr>
          <p:spPr>
            <a:xfrm>
              <a:off x="11011363" y="3667322"/>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 Phone</a:t>
              </a:r>
            </a:p>
          </p:txBody>
        </p:sp>
      </p:grpSp>
      <p:grpSp>
        <p:nvGrpSpPr>
          <p:cNvPr id="247" name="Group 246">
            <a:extLst>
              <a:ext uri="{FF2B5EF4-FFF2-40B4-BE49-F238E27FC236}">
                <a16:creationId xmlns:a16="http://schemas.microsoft.com/office/drawing/2014/main" id="{73541CF0-B5DC-4E3F-8ACF-73AB34873568}"/>
              </a:ext>
            </a:extLst>
          </p:cNvPr>
          <p:cNvGrpSpPr/>
          <p:nvPr/>
        </p:nvGrpSpPr>
        <p:grpSpPr>
          <a:xfrm>
            <a:off x="9637128" y="3868587"/>
            <a:ext cx="1961724" cy="614081"/>
            <a:chOff x="9637128" y="3904974"/>
            <a:chExt cx="1961724" cy="614081"/>
          </a:xfrm>
          <a:solidFill>
            <a:schemeClr val="tx2">
              <a:lumMod val="75000"/>
              <a:lumOff val="25000"/>
            </a:schemeClr>
          </a:solidFill>
        </p:grpSpPr>
        <p:grpSp>
          <p:nvGrpSpPr>
            <p:cNvPr id="248" name="Group 247">
              <a:extLst>
                <a:ext uri="{FF2B5EF4-FFF2-40B4-BE49-F238E27FC236}">
                  <a16:creationId xmlns:a16="http://schemas.microsoft.com/office/drawing/2014/main" id="{F77A0484-144B-4083-9961-412B219A2F4A}"/>
                </a:ext>
              </a:extLst>
            </p:cNvPr>
            <p:cNvGrpSpPr/>
            <p:nvPr/>
          </p:nvGrpSpPr>
          <p:grpSpPr>
            <a:xfrm>
              <a:off x="9746859" y="3904974"/>
              <a:ext cx="334262" cy="335734"/>
              <a:chOff x="7718425" y="2524125"/>
              <a:chExt cx="360363" cy="361950"/>
            </a:xfrm>
            <a:grpFill/>
          </p:grpSpPr>
          <p:sp>
            <p:nvSpPr>
              <p:cNvPr id="260" name="Freeform 103">
                <a:extLst>
                  <a:ext uri="{FF2B5EF4-FFF2-40B4-BE49-F238E27FC236}">
                    <a16:creationId xmlns:a16="http://schemas.microsoft.com/office/drawing/2014/main" id="{51BACDD2-C480-430F-8F60-E41526E3BD30}"/>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61" name="Freeform 104">
                <a:extLst>
                  <a:ext uri="{FF2B5EF4-FFF2-40B4-BE49-F238E27FC236}">
                    <a16:creationId xmlns:a16="http://schemas.microsoft.com/office/drawing/2014/main" id="{40F13946-E0EB-43A2-ABF6-F211F57DBBA6}"/>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62" name="Freeform 105">
                <a:extLst>
                  <a:ext uri="{FF2B5EF4-FFF2-40B4-BE49-F238E27FC236}">
                    <a16:creationId xmlns:a16="http://schemas.microsoft.com/office/drawing/2014/main" id="{63F4D053-135A-49EF-A8C6-B709617ADE2B}"/>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49" name="TextBox 248">
              <a:extLst>
                <a:ext uri="{FF2B5EF4-FFF2-40B4-BE49-F238E27FC236}">
                  <a16:creationId xmlns:a16="http://schemas.microsoft.com/office/drawing/2014/main" id="{6F3F4613-54B9-4C18-A088-923E79F455A4}"/>
                </a:ext>
              </a:extLst>
            </p:cNvPr>
            <p:cNvSpPr txBox="1"/>
            <p:nvPr/>
          </p:nvSpPr>
          <p:spPr>
            <a:xfrm>
              <a:off x="9637128" y="4272834"/>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a:t>
              </a:r>
            </a:p>
          </p:txBody>
        </p:sp>
        <p:grpSp>
          <p:nvGrpSpPr>
            <p:cNvPr id="250" name="Group 249">
              <a:extLst>
                <a:ext uri="{FF2B5EF4-FFF2-40B4-BE49-F238E27FC236}">
                  <a16:creationId xmlns:a16="http://schemas.microsoft.com/office/drawing/2014/main" id="{71287A7E-A31E-407F-B45C-8097B2070A6C}"/>
                </a:ext>
              </a:extLst>
            </p:cNvPr>
            <p:cNvGrpSpPr/>
            <p:nvPr/>
          </p:nvGrpSpPr>
          <p:grpSpPr>
            <a:xfrm>
              <a:off x="10433976" y="3904974"/>
              <a:ext cx="334262" cy="335734"/>
              <a:chOff x="7718425" y="2524125"/>
              <a:chExt cx="360363" cy="361950"/>
            </a:xfrm>
            <a:grpFill/>
          </p:grpSpPr>
          <p:sp>
            <p:nvSpPr>
              <p:cNvPr id="257" name="Freeform 103">
                <a:extLst>
                  <a:ext uri="{FF2B5EF4-FFF2-40B4-BE49-F238E27FC236}">
                    <a16:creationId xmlns:a16="http://schemas.microsoft.com/office/drawing/2014/main" id="{E9CF2747-B844-4BE1-A319-D86944F51309}"/>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58" name="Freeform 104">
                <a:extLst>
                  <a:ext uri="{FF2B5EF4-FFF2-40B4-BE49-F238E27FC236}">
                    <a16:creationId xmlns:a16="http://schemas.microsoft.com/office/drawing/2014/main" id="{248C07A9-2751-436F-8866-CFBF3DFAB77F}"/>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59" name="Freeform 105">
                <a:extLst>
                  <a:ext uri="{FF2B5EF4-FFF2-40B4-BE49-F238E27FC236}">
                    <a16:creationId xmlns:a16="http://schemas.microsoft.com/office/drawing/2014/main" id="{742DA419-15BD-4560-9629-6D1D096808A2}"/>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51" name="TextBox 250">
              <a:extLst>
                <a:ext uri="{FF2B5EF4-FFF2-40B4-BE49-F238E27FC236}">
                  <a16:creationId xmlns:a16="http://schemas.microsoft.com/office/drawing/2014/main" id="{C6AE4792-74E6-4142-856B-B4A8F7D0C023}"/>
                </a:ext>
              </a:extLst>
            </p:cNvPr>
            <p:cNvSpPr txBox="1"/>
            <p:nvPr/>
          </p:nvSpPr>
          <p:spPr>
            <a:xfrm>
              <a:off x="10324245" y="4272834"/>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Chat + Email</a:t>
              </a:r>
            </a:p>
          </p:txBody>
        </p:sp>
        <p:grpSp>
          <p:nvGrpSpPr>
            <p:cNvPr id="252" name="Group 251">
              <a:extLst>
                <a:ext uri="{FF2B5EF4-FFF2-40B4-BE49-F238E27FC236}">
                  <a16:creationId xmlns:a16="http://schemas.microsoft.com/office/drawing/2014/main" id="{A37D7B88-8CF2-4286-98B6-FE6B3DD8E916}"/>
                </a:ext>
              </a:extLst>
            </p:cNvPr>
            <p:cNvGrpSpPr/>
            <p:nvPr/>
          </p:nvGrpSpPr>
          <p:grpSpPr>
            <a:xfrm>
              <a:off x="11121094" y="3904974"/>
              <a:ext cx="334262" cy="335734"/>
              <a:chOff x="7718425" y="2524125"/>
              <a:chExt cx="360363" cy="361950"/>
            </a:xfrm>
            <a:grpFill/>
          </p:grpSpPr>
          <p:sp>
            <p:nvSpPr>
              <p:cNvPr id="254" name="Freeform 103">
                <a:extLst>
                  <a:ext uri="{FF2B5EF4-FFF2-40B4-BE49-F238E27FC236}">
                    <a16:creationId xmlns:a16="http://schemas.microsoft.com/office/drawing/2014/main" id="{195D4D3F-2055-4718-988F-58B5D6FAA4F8}"/>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55" name="Freeform 104">
                <a:extLst>
                  <a:ext uri="{FF2B5EF4-FFF2-40B4-BE49-F238E27FC236}">
                    <a16:creationId xmlns:a16="http://schemas.microsoft.com/office/drawing/2014/main" id="{9242DA22-A5B5-432E-A287-8616ABD55C7A}"/>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56" name="Freeform 105">
                <a:extLst>
                  <a:ext uri="{FF2B5EF4-FFF2-40B4-BE49-F238E27FC236}">
                    <a16:creationId xmlns:a16="http://schemas.microsoft.com/office/drawing/2014/main" id="{4332370D-CB14-49DB-9357-01A806A56847}"/>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53" name="TextBox 252">
              <a:extLst>
                <a:ext uri="{FF2B5EF4-FFF2-40B4-BE49-F238E27FC236}">
                  <a16:creationId xmlns:a16="http://schemas.microsoft.com/office/drawing/2014/main" id="{9A6E0C5F-F566-4A4F-9931-48D69012951E}"/>
                </a:ext>
              </a:extLst>
            </p:cNvPr>
            <p:cNvSpPr txBox="1"/>
            <p:nvPr/>
          </p:nvSpPr>
          <p:spPr>
            <a:xfrm>
              <a:off x="10977598" y="4272834"/>
              <a:ext cx="621254" cy="24622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 + Phone </a:t>
              </a:r>
            </a:p>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 Email</a:t>
              </a:r>
            </a:p>
          </p:txBody>
        </p:sp>
      </p:grpSp>
      <p:grpSp>
        <p:nvGrpSpPr>
          <p:cNvPr id="263" name="Group 262">
            <a:extLst>
              <a:ext uri="{FF2B5EF4-FFF2-40B4-BE49-F238E27FC236}">
                <a16:creationId xmlns:a16="http://schemas.microsoft.com/office/drawing/2014/main" id="{68E13DA1-7540-49E0-953C-810ABD622D28}"/>
              </a:ext>
            </a:extLst>
          </p:cNvPr>
          <p:cNvGrpSpPr/>
          <p:nvPr/>
        </p:nvGrpSpPr>
        <p:grpSpPr>
          <a:xfrm>
            <a:off x="9637128" y="4539631"/>
            <a:ext cx="1927959" cy="490971"/>
            <a:chOff x="9637128" y="4508337"/>
            <a:chExt cx="1927959" cy="490971"/>
          </a:xfrm>
          <a:solidFill>
            <a:schemeClr val="accent1">
              <a:lumMod val="75000"/>
            </a:schemeClr>
          </a:solidFill>
        </p:grpSpPr>
        <p:grpSp>
          <p:nvGrpSpPr>
            <p:cNvPr id="264" name="Group 263">
              <a:extLst>
                <a:ext uri="{FF2B5EF4-FFF2-40B4-BE49-F238E27FC236}">
                  <a16:creationId xmlns:a16="http://schemas.microsoft.com/office/drawing/2014/main" id="{689B0C78-198C-40BA-B59A-2C766268B375}"/>
                </a:ext>
              </a:extLst>
            </p:cNvPr>
            <p:cNvGrpSpPr/>
            <p:nvPr/>
          </p:nvGrpSpPr>
          <p:grpSpPr>
            <a:xfrm>
              <a:off x="9746859" y="4508337"/>
              <a:ext cx="334262" cy="335734"/>
              <a:chOff x="7718425" y="2524125"/>
              <a:chExt cx="360363" cy="361950"/>
            </a:xfrm>
            <a:grpFill/>
          </p:grpSpPr>
          <p:sp>
            <p:nvSpPr>
              <p:cNvPr id="276" name="Freeform 103">
                <a:extLst>
                  <a:ext uri="{FF2B5EF4-FFF2-40B4-BE49-F238E27FC236}">
                    <a16:creationId xmlns:a16="http://schemas.microsoft.com/office/drawing/2014/main" id="{C72E9F8C-57BE-40EE-B33E-24002B4860A3}"/>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7" name="Freeform 104">
                <a:extLst>
                  <a:ext uri="{FF2B5EF4-FFF2-40B4-BE49-F238E27FC236}">
                    <a16:creationId xmlns:a16="http://schemas.microsoft.com/office/drawing/2014/main" id="{88CDAE3F-9DA6-453E-A5FB-E838DCA3045E}"/>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8" name="Freeform 105">
                <a:extLst>
                  <a:ext uri="{FF2B5EF4-FFF2-40B4-BE49-F238E27FC236}">
                    <a16:creationId xmlns:a16="http://schemas.microsoft.com/office/drawing/2014/main" id="{678CD26A-1D1E-48CE-9B5C-E417BB6F941F}"/>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65" name="TextBox 264">
              <a:extLst>
                <a:ext uri="{FF2B5EF4-FFF2-40B4-BE49-F238E27FC236}">
                  <a16:creationId xmlns:a16="http://schemas.microsoft.com/office/drawing/2014/main" id="{9E1FB844-E4BD-4F51-A4C4-A58E3EB2833D}"/>
                </a:ext>
              </a:extLst>
            </p:cNvPr>
            <p:cNvSpPr txBox="1"/>
            <p:nvPr/>
          </p:nvSpPr>
          <p:spPr>
            <a:xfrm>
              <a:off x="9637128" y="4876197"/>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Chat + Web</a:t>
              </a:r>
            </a:p>
          </p:txBody>
        </p:sp>
        <p:grpSp>
          <p:nvGrpSpPr>
            <p:cNvPr id="266" name="Group 265">
              <a:extLst>
                <a:ext uri="{FF2B5EF4-FFF2-40B4-BE49-F238E27FC236}">
                  <a16:creationId xmlns:a16="http://schemas.microsoft.com/office/drawing/2014/main" id="{E9A5934A-2E4F-402A-A551-3904A6E76FE4}"/>
                </a:ext>
              </a:extLst>
            </p:cNvPr>
            <p:cNvGrpSpPr/>
            <p:nvPr/>
          </p:nvGrpSpPr>
          <p:grpSpPr>
            <a:xfrm>
              <a:off x="10433976" y="4508337"/>
              <a:ext cx="334262" cy="335734"/>
              <a:chOff x="7718425" y="2524125"/>
              <a:chExt cx="360363" cy="361950"/>
            </a:xfrm>
            <a:grpFill/>
          </p:grpSpPr>
          <p:sp>
            <p:nvSpPr>
              <p:cNvPr id="273" name="Freeform 103">
                <a:extLst>
                  <a:ext uri="{FF2B5EF4-FFF2-40B4-BE49-F238E27FC236}">
                    <a16:creationId xmlns:a16="http://schemas.microsoft.com/office/drawing/2014/main" id="{A5D3C495-796C-497D-B5D7-EA331D8338C1}"/>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4" name="Freeform 104">
                <a:extLst>
                  <a:ext uri="{FF2B5EF4-FFF2-40B4-BE49-F238E27FC236}">
                    <a16:creationId xmlns:a16="http://schemas.microsoft.com/office/drawing/2014/main" id="{28837AAC-3C6C-4B36-8E2E-F42BDC319E65}"/>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5" name="Freeform 105">
                <a:extLst>
                  <a:ext uri="{FF2B5EF4-FFF2-40B4-BE49-F238E27FC236}">
                    <a16:creationId xmlns:a16="http://schemas.microsoft.com/office/drawing/2014/main" id="{BF096BEF-73EB-4091-BA4D-AECF8A26BBA4}"/>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67" name="TextBox 266">
              <a:extLst>
                <a:ext uri="{FF2B5EF4-FFF2-40B4-BE49-F238E27FC236}">
                  <a16:creationId xmlns:a16="http://schemas.microsoft.com/office/drawing/2014/main" id="{EFE713AC-962B-41B6-80D4-D0E3A3D81988}"/>
                </a:ext>
              </a:extLst>
            </p:cNvPr>
            <p:cNvSpPr txBox="1"/>
            <p:nvPr/>
          </p:nvSpPr>
          <p:spPr>
            <a:xfrm>
              <a:off x="10324245" y="4876197"/>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Web + Email</a:t>
              </a:r>
            </a:p>
          </p:txBody>
        </p:sp>
        <p:grpSp>
          <p:nvGrpSpPr>
            <p:cNvPr id="268" name="Group 267">
              <a:extLst>
                <a:ext uri="{FF2B5EF4-FFF2-40B4-BE49-F238E27FC236}">
                  <a16:creationId xmlns:a16="http://schemas.microsoft.com/office/drawing/2014/main" id="{AFCF6D10-284A-46B8-94DE-D2128A66F97C}"/>
                </a:ext>
              </a:extLst>
            </p:cNvPr>
            <p:cNvGrpSpPr/>
            <p:nvPr/>
          </p:nvGrpSpPr>
          <p:grpSpPr>
            <a:xfrm>
              <a:off x="11121094" y="4508337"/>
              <a:ext cx="334262" cy="335734"/>
              <a:chOff x="7718425" y="2524125"/>
              <a:chExt cx="360363" cy="361950"/>
            </a:xfrm>
            <a:grpFill/>
          </p:grpSpPr>
          <p:sp>
            <p:nvSpPr>
              <p:cNvPr id="270" name="Freeform 103">
                <a:extLst>
                  <a:ext uri="{FF2B5EF4-FFF2-40B4-BE49-F238E27FC236}">
                    <a16:creationId xmlns:a16="http://schemas.microsoft.com/office/drawing/2014/main" id="{0AF703CD-9308-4F88-9633-879F8D0825C0}"/>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1" name="Freeform 104">
                <a:extLst>
                  <a:ext uri="{FF2B5EF4-FFF2-40B4-BE49-F238E27FC236}">
                    <a16:creationId xmlns:a16="http://schemas.microsoft.com/office/drawing/2014/main" id="{FE6AD985-EB92-4938-9C55-1F374D27789E}"/>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sp>
            <p:nvSpPr>
              <p:cNvPr id="272" name="Freeform 105">
                <a:extLst>
                  <a:ext uri="{FF2B5EF4-FFF2-40B4-BE49-F238E27FC236}">
                    <a16:creationId xmlns:a16="http://schemas.microsoft.com/office/drawing/2014/main" id="{BD22B7FC-7526-40EC-BEF7-3F5FCB745293}"/>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chemeClr val="bg1"/>
                  </a:solidFill>
                  <a:effectLst/>
                  <a:uLnTx/>
                  <a:uFillTx/>
                  <a:latin typeface="Calibri" panose="020F0502020204030204"/>
                </a:endParaRPr>
              </a:p>
            </p:txBody>
          </p:sp>
        </p:grpSp>
        <p:sp>
          <p:nvSpPr>
            <p:cNvPr id="269" name="TextBox 268">
              <a:extLst>
                <a:ext uri="{FF2B5EF4-FFF2-40B4-BE49-F238E27FC236}">
                  <a16:creationId xmlns:a16="http://schemas.microsoft.com/office/drawing/2014/main" id="{0D3EC016-6D3B-4D8D-B705-B265141E6980}"/>
                </a:ext>
              </a:extLst>
            </p:cNvPr>
            <p:cNvSpPr txBox="1"/>
            <p:nvPr/>
          </p:nvSpPr>
          <p:spPr>
            <a:xfrm>
              <a:off x="11011363" y="4876197"/>
              <a:ext cx="553724" cy="123111"/>
            </a:xfrm>
            <a:prstGeom prst="rect">
              <a:avLst/>
            </a:prstGeom>
            <a:grp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Calibri" panose="020F0502020204030204"/>
                </a:rPr>
                <a:t>Chat + Phone</a:t>
              </a:r>
            </a:p>
          </p:txBody>
        </p:sp>
      </p:grpSp>
      <p:grpSp>
        <p:nvGrpSpPr>
          <p:cNvPr id="279" name="Group 278">
            <a:extLst>
              <a:ext uri="{FF2B5EF4-FFF2-40B4-BE49-F238E27FC236}">
                <a16:creationId xmlns:a16="http://schemas.microsoft.com/office/drawing/2014/main" id="{B786A01E-589D-4913-AF55-4FA7AF36A28A}"/>
              </a:ext>
            </a:extLst>
          </p:cNvPr>
          <p:cNvGrpSpPr/>
          <p:nvPr/>
        </p:nvGrpSpPr>
        <p:grpSpPr>
          <a:xfrm>
            <a:off x="9637128" y="5087564"/>
            <a:ext cx="1927959" cy="490971"/>
            <a:chOff x="9637128" y="5109848"/>
            <a:chExt cx="1927959" cy="490971"/>
          </a:xfrm>
        </p:grpSpPr>
        <p:grpSp>
          <p:nvGrpSpPr>
            <p:cNvPr id="280" name="Group 279">
              <a:extLst>
                <a:ext uri="{FF2B5EF4-FFF2-40B4-BE49-F238E27FC236}">
                  <a16:creationId xmlns:a16="http://schemas.microsoft.com/office/drawing/2014/main" id="{F6CF5BAB-AE10-4F52-A46C-1630EDE03CE1}"/>
                </a:ext>
              </a:extLst>
            </p:cNvPr>
            <p:cNvGrpSpPr/>
            <p:nvPr/>
          </p:nvGrpSpPr>
          <p:grpSpPr>
            <a:xfrm>
              <a:off x="9746859" y="5109848"/>
              <a:ext cx="334262" cy="335734"/>
              <a:chOff x="7718425" y="2524125"/>
              <a:chExt cx="360363" cy="361950"/>
            </a:xfrm>
            <a:solidFill>
              <a:srgbClr val="9D9FA2"/>
            </a:solidFill>
          </p:grpSpPr>
          <p:sp>
            <p:nvSpPr>
              <p:cNvPr id="293" name="Freeform 103">
                <a:extLst>
                  <a:ext uri="{FF2B5EF4-FFF2-40B4-BE49-F238E27FC236}">
                    <a16:creationId xmlns:a16="http://schemas.microsoft.com/office/drawing/2014/main" id="{B35FAEF3-AF49-44D1-8154-981C1FE42B03}"/>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4" name="Freeform 104">
                <a:extLst>
                  <a:ext uri="{FF2B5EF4-FFF2-40B4-BE49-F238E27FC236}">
                    <a16:creationId xmlns:a16="http://schemas.microsoft.com/office/drawing/2014/main" id="{D5334744-93F4-4730-821B-EBBD5CB6AC92}"/>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5" name="Freeform 105">
                <a:extLst>
                  <a:ext uri="{FF2B5EF4-FFF2-40B4-BE49-F238E27FC236}">
                    <a16:creationId xmlns:a16="http://schemas.microsoft.com/office/drawing/2014/main" id="{40AD3BBD-EC7E-4853-B308-96A9E1E5EB1F}"/>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nvGrpSpPr>
            <p:cNvPr id="281" name="Group 280">
              <a:extLst>
                <a:ext uri="{FF2B5EF4-FFF2-40B4-BE49-F238E27FC236}">
                  <a16:creationId xmlns:a16="http://schemas.microsoft.com/office/drawing/2014/main" id="{2D712361-D254-485E-8AA0-558159270479}"/>
                </a:ext>
              </a:extLst>
            </p:cNvPr>
            <p:cNvGrpSpPr/>
            <p:nvPr/>
          </p:nvGrpSpPr>
          <p:grpSpPr>
            <a:xfrm>
              <a:off x="10433976" y="5109848"/>
              <a:ext cx="334262" cy="335734"/>
              <a:chOff x="7718425" y="2524125"/>
              <a:chExt cx="360363" cy="361950"/>
            </a:xfrm>
            <a:solidFill>
              <a:srgbClr val="9D9FA2"/>
            </a:solidFill>
          </p:grpSpPr>
          <p:sp>
            <p:nvSpPr>
              <p:cNvPr id="290" name="Freeform 103">
                <a:extLst>
                  <a:ext uri="{FF2B5EF4-FFF2-40B4-BE49-F238E27FC236}">
                    <a16:creationId xmlns:a16="http://schemas.microsoft.com/office/drawing/2014/main" id="{ADFD12B5-2CB3-4A52-B2BD-785C38152683}"/>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1" name="Freeform 104">
                <a:extLst>
                  <a:ext uri="{FF2B5EF4-FFF2-40B4-BE49-F238E27FC236}">
                    <a16:creationId xmlns:a16="http://schemas.microsoft.com/office/drawing/2014/main" id="{94E7399F-FB6A-4AB5-8F82-592E24F5B654}"/>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2" name="Freeform 105">
                <a:extLst>
                  <a:ext uri="{FF2B5EF4-FFF2-40B4-BE49-F238E27FC236}">
                    <a16:creationId xmlns:a16="http://schemas.microsoft.com/office/drawing/2014/main" id="{76125358-CD7F-4BB1-A152-C12719BCAB1F}"/>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nvGrpSpPr>
            <p:cNvPr id="282" name="Group 281">
              <a:extLst>
                <a:ext uri="{FF2B5EF4-FFF2-40B4-BE49-F238E27FC236}">
                  <a16:creationId xmlns:a16="http://schemas.microsoft.com/office/drawing/2014/main" id="{1DAE4069-F499-4848-ADAE-2EA6A83F5C41}"/>
                </a:ext>
              </a:extLst>
            </p:cNvPr>
            <p:cNvGrpSpPr/>
            <p:nvPr/>
          </p:nvGrpSpPr>
          <p:grpSpPr>
            <a:xfrm>
              <a:off x="11121094" y="5109848"/>
              <a:ext cx="334262" cy="335734"/>
              <a:chOff x="7718425" y="2524125"/>
              <a:chExt cx="360363" cy="361950"/>
            </a:xfrm>
            <a:solidFill>
              <a:srgbClr val="9D9FA2"/>
            </a:solidFill>
          </p:grpSpPr>
          <p:sp>
            <p:nvSpPr>
              <p:cNvPr id="287" name="Freeform 103">
                <a:extLst>
                  <a:ext uri="{FF2B5EF4-FFF2-40B4-BE49-F238E27FC236}">
                    <a16:creationId xmlns:a16="http://schemas.microsoft.com/office/drawing/2014/main" id="{22FF1943-1576-4EBD-81EB-686BB7B6E497}"/>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88" name="Freeform 104">
                <a:extLst>
                  <a:ext uri="{FF2B5EF4-FFF2-40B4-BE49-F238E27FC236}">
                    <a16:creationId xmlns:a16="http://schemas.microsoft.com/office/drawing/2014/main" id="{E6F97200-4C27-43E9-A75A-674C1E9542E2}"/>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89" name="Freeform 105">
                <a:extLst>
                  <a:ext uri="{FF2B5EF4-FFF2-40B4-BE49-F238E27FC236}">
                    <a16:creationId xmlns:a16="http://schemas.microsoft.com/office/drawing/2014/main" id="{3088AA9F-C92A-4353-93C0-FD55DBC5821F}"/>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nvGrpSpPr>
            <p:cNvPr id="283" name="Group 282">
              <a:extLst>
                <a:ext uri="{FF2B5EF4-FFF2-40B4-BE49-F238E27FC236}">
                  <a16:creationId xmlns:a16="http://schemas.microsoft.com/office/drawing/2014/main" id="{28772969-E044-4AC5-BD4D-68054E58D643}"/>
                </a:ext>
              </a:extLst>
            </p:cNvPr>
            <p:cNvGrpSpPr/>
            <p:nvPr/>
          </p:nvGrpSpPr>
          <p:grpSpPr>
            <a:xfrm>
              <a:off x="9637128" y="5477708"/>
              <a:ext cx="1927959" cy="123111"/>
              <a:chOff x="9637128" y="5477708"/>
              <a:chExt cx="1927959" cy="123111"/>
            </a:xfrm>
          </p:grpSpPr>
          <p:sp>
            <p:nvSpPr>
              <p:cNvPr id="284" name="TextBox 283">
                <a:extLst>
                  <a:ext uri="{FF2B5EF4-FFF2-40B4-BE49-F238E27FC236}">
                    <a16:creationId xmlns:a16="http://schemas.microsoft.com/office/drawing/2014/main" id="{23A61880-D974-4D3F-AFC7-8DAB117E0340}"/>
                  </a:ext>
                </a:extLst>
              </p:cNvPr>
              <p:cNvSpPr txBox="1"/>
              <p:nvPr/>
            </p:nvSpPr>
            <p:spPr>
              <a:xfrm>
                <a:off x="9637128" y="5477708"/>
                <a:ext cx="553724" cy="123111"/>
              </a:xfrm>
              <a:prstGeom prst="rect">
                <a:avLst/>
              </a:prstGeom>
              <a:no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9D9FA2"/>
                    </a:solidFill>
                    <a:effectLst/>
                    <a:uLnTx/>
                    <a:uFillTx/>
                    <a:latin typeface="Calibri" panose="020F0502020204030204"/>
                  </a:rPr>
                  <a:t>Email + Web</a:t>
                </a:r>
              </a:p>
            </p:txBody>
          </p:sp>
          <p:sp>
            <p:nvSpPr>
              <p:cNvPr id="285" name="TextBox 284">
                <a:extLst>
                  <a:ext uri="{FF2B5EF4-FFF2-40B4-BE49-F238E27FC236}">
                    <a16:creationId xmlns:a16="http://schemas.microsoft.com/office/drawing/2014/main" id="{B98898BA-1E78-4D14-8BB6-0DA5BC5010F9}"/>
                  </a:ext>
                </a:extLst>
              </p:cNvPr>
              <p:cNvSpPr txBox="1"/>
              <p:nvPr/>
            </p:nvSpPr>
            <p:spPr>
              <a:xfrm>
                <a:off x="10324245" y="5477708"/>
                <a:ext cx="553724" cy="123111"/>
              </a:xfrm>
              <a:prstGeom prst="rect">
                <a:avLst/>
              </a:prstGeom>
              <a:no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9D9FA2"/>
                    </a:solidFill>
                    <a:effectLst/>
                    <a:uLnTx/>
                    <a:uFillTx/>
                    <a:latin typeface="Calibri" panose="020F0502020204030204"/>
                  </a:rPr>
                  <a:t>Chat + Email</a:t>
                </a:r>
              </a:p>
            </p:txBody>
          </p:sp>
          <p:sp>
            <p:nvSpPr>
              <p:cNvPr id="286" name="TextBox 285">
                <a:extLst>
                  <a:ext uri="{FF2B5EF4-FFF2-40B4-BE49-F238E27FC236}">
                    <a16:creationId xmlns:a16="http://schemas.microsoft.com/office/drawing/2014/main" id="{3719672B-8162-4DA3-B678-056FF261DECA}"/>
                  </a:ext>
                </a:extLst>
              </p:cNvPr>
              <p:cNvSpPr txBox="1"/>
              <p:nvPr/>
            </p:nvSpPr>
            <p:spPr>
              <a:xfrm>
                <a:off x="11011363" y="5477708"/>
                <a:ext cx="553724" cy="123111"/>
              </a:xfrm>
              <a:prstGeom prst="rect">
                <a:avLst/>
              </a:prstGeom>
              <a:noFill/>
            </p:spPr>
            <p:txBody>
              <a:bodyPr wrap="square" lIns="0" tIns="0" rIns="0" bIns="0" rtlCol="0" anchor="ctr">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9D9FA2"/>
                    </a:solidFill>
                    <a:effectLst/>
                    <a:uLnTx/>
                    <a:uFillTx/>
                    <a:latin typeface="Calibri" panose="020F0502020204030204"/>
                  </a:rPr>
                  <a:t>Chat + Phone</a:t>
                </a:r>
              </a:p>
            </p:txBody>
          </p:sp>
        </p:grpSp>
      </p:grpSp>
      <p:grpSp>
        <p:nvGrpSpPr>
          <p:cNvPr id="296" name="Group 295">
            <a:extLst>
              <a:ext uri="{FF2B5EF4-FFF2-40B4-BE49-F238E27FC236}">
                <a16:creationId xmlns:a16="http://schemas.microsoft.com/office/drawing/2014/main" id="{1FA6C0DB-D694-446F-99BD-074F7C06D817}"/>
              </a:ext>
            </a:extLst>
          </p:cNvPr>
          <p:cNvGrpSpPr/>
          <p:nvPr/>
        </p:nvGrpSpPr>
        <p:grpSpPr>
          <a:xfrm>
            <a:off x="9746859" y="5762303"/>
            <a:ext cx="334262" cy="335734"/>
            <a:chOff x="7718425" y="2524125"/>
            <a:chExt cx="360363" cy="361950"/>
          </a:xfrm>
          <a:solidFill>
            <a:srgbClr val="6D6E71"/>
          </a:solidFill>
        </p:grpSpPr>
        <p:sp>
          <p:nvSpPr>
            <p:cNvPr id="297" name="Freeform 103">
              <a:extLst>
                <a:ext uri="{FF2B5EF4-FFF2-40B4-BE49-F238E27FC236}">
                  <a16:creationId xmlns:a16="http://schemas.microsoft.com/office/drawing/2014/main" id="{B373525E-3A30-4DA5-B5C6-2ACF47394D15}"/>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8" name="Freeform 104">
              <a:extLst>
                <a:ext uri="{FF2B5EF4-FFF2-40B4-BE49-F238E27FC236}">
                  <a16:creationId xmlns:a16="http://schemas.microsoft.com/office/drawing/2014/main" id="{9783A92D-502D-46C0-B803-E8CD2A3B8545}"/>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299" name="Freeform 105">
              <a:extLst>
                <a:ext uri="{FF2B5EF4-FFF2-40B4-BE49-F238E27FC236}">
                  <a16:creationId xmlns:a16="http://schemas.microsoft.com/office/drawing/2014/main" id="{294F58CE-ADF5-4684-A1D8-F28C8FA363BE}"/>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nvGrpSpPr>
          <p:cNvPr id="300" name="Group 299">
            <a:extLst>
              <a:ext uri="{FF2B5EF4-FFF2-40B4-BE49-F238E27FC236}">
                <a16:creationId xmlns:a16="http://schemas.microsoft.com/office/drawing/2014/main" id="{CBE420D8-A1A9-45CC-A821-3FDCE61C5292}"/>
              </a:ext>
            </a:extLst>
          </p:cNvPr>
          <p:cNvGrpSpPr/>
          <p:nvPr/>
        </p:nvGrpSpPr>
        <p:grpSpPr>
          <a:xfrm>
            <a:off x="10433976" y="5762303"/>
            <a:ext cx="334262" cy="335734"/>
            <a:chOff x="7718425" y="2524125"/>
            <a:chExt cx="360363" cy="361950"/>
          </a:xfrm>
          <a:solidFill>
            <a:srgbClr val="6D6E71"/>
          </a:solidFill>
        </p:grpSpPr>
        <p:sp>
          <p:nvSpPr>
            <p:cNvPr id="301" name="Freeform 103">
              <a:extLst>
                <a:ext uri="{FF2B5EF4-FFF2-40B4-BE49-F238E27FC236}">
                  <a16:creationId xmlns:a16="http://schemas.microsoft.com/office/drawing/2014/main" id="{4753F868-9176-4BC8-BCC0-DB24A3A62471}"/>
                </a:ext>
              </a:extLst>
            </p:cNvPr>
            <p:cNvSpPr>
              <a:spLocks/>
            </p:cNvSpPr>
            <p:nvPr/>
          </p:nvSpPr>
          <p:spPr bwMode="auto">
            <a:xfrm>
              <a:off x="7718425" y="2524125"/>
              <a:ext cx="360363" cy="361950"/>
            </a:xfrm>
            <a:custGeom>
              <a:avLst/>
              <a:gdLst>
                <a:gd name="T0" fmla="*/ 84 w 96"/>
                <a:gd name="T1" fmla="*/ 67 h 96"/>
                <a:gd name="T2" fmla="*/ 62 w 96"/>
                <a:gd name="T3" fmla="*/ 61 h 96"/>
                <a:gd name="T4" fmla="*/ 65 w 96"/>
                <a:gd name="T5" fmla="*/ 58 h 96"/>
                <a:gd name="T6" fmla="*/ 60 w 96"/>
                <a:gd name="T7" fmla="*/ 58 h 96"/>
                <a:gd name="T8" fmla="*/ 58 w 96"/>
                <a:gd name="T9" fmla="*/ 59 h 96"/>
                <a:gd name="T10" fmla="*/ 47 w 96"/>
                <a:gd name="T11" fmla="*/ 64 h 96"/>
                <a:gd name="T12" fmla="*/ 29 w 96"/>
                <a:gd name="T13" fmla="*/ 46 h 96"/>
                <a:gd name="T14" fmla="*/ 27 w 96"/>
                <a:gd name="T15" fmla="*/ 44 h 96"/>
                <a:gd name="T16" fmla="*/ 25 w 96"/>
                <a:gd name="T17" fmla="*/ 40 h 96"/>
                <a:gd name="T18" fmla="*/ 27 w 96"/>
                <a:gd name="T19" fmla="*/ 36 h 96"/>
                <a:gd name="T20" fmla="*/ 29 w 96"/>
                <a:gd name="T21" fmla="*/ 34 h 96"/>
                <a:gd name="T22" fmla="*/ 31 w 96"/>
                <a:gd name="T23" fmla="*/ 26 h 96"/>
                <a:gd name="T24" fmla="*/ 47 w 96"/>
                <a:gd name="T25" fmla="*/ 20 h 96"/>
                <a:gd name="T26" fmla="*/ 63 w 96"/>
                <a:gd name="T27" fmla="*/ 26 h 96"/>
                <a:gd name="T28" fmla="*/ 65 w 96"/>
                <a:gd name="T29" fmla="*/ 34 h 96"/>
                <a:gd name="T30" fmla="*/ 67 w 96"/>
                <a:gd name="T31" fmla="*/ 36 h 96"/>
                <a:gd name="T32" fmla="*/ 70 w 96"/>
                <a:gd name="T33" fmla="*/ 40 h 96"/>
                <a:gd name="T34" fmla="*/ 67 w 96"/>
                <a:gd name="T35" fmla="*/ 44 h 96"/>
                <a:gd name="T36" fmla="*/ 65 w 96"/>
                <a:gd name="T37" fmla="*/ 46 h 96"/>
                <a:gd name="T38" fmla="*/ 65 w 96"/>
                <a:gd name="T39" fmla="*/ 47 h 96"/>
                <a:gd name="T40" fmla="*/ 70 w 96"/>
                <a:gd name="T41" fmla="*/ 47 h 96"/>
                <a:gd name="T42" fmla="*/ 70 w 96"/>
                <a:gd name="T43" fmla="*/ 47 h 96"/>
                <a:gd name="T44" fmla="*/ 72 w 96"/>
                <a:gd name="T45" fmla="*/ 45 h 96"/>
                <a:gd name="T46" fmla="*/ 73 w 96"/>
                <a:gd name="T47" fmla="*/ 45 h 96"/>
                <a:gd name="T48" fmla="*/ 75 w 96"/>
                <a:gd name="T49" fmla="*/ 45 h 96"/>
                <a:gd name="T50" fmla="*/ 77 w 96"/>
                <a:gd name="T51" fmla="*/ 45 h 96"/>
                <a:gd name="T52" fmla="*/ 77 w 96"/>
                <a:gd name="T53" fmla="*/ 46 h 96"/>
                <a:gd name="T54" fmla="*/ 77 w 96"/>
                <a:gd name="T55" fmla="*/ 46 h 96"/>
                <a:gd name="T56" fmla="*/ 77 w 96"/>
                <a:gd name="T57" fmla="*/ 46 h 96"/>
                <a:gd name="T58" fmla="*/ 76 w 96"/>
                <a:gd name="T59" fmla="*/ 48 h 96"/>
                <a:gd name="T60" fmla="*/ 70 w 96"/>
                <a:gd name="T61" fmla="*/ 51 h 96"/>
                <a:gd name="T62" fmla="*/ 58 w 96"/>
                <a:gd name="T63" fmla="*/ 51 h 96"/>
                <a:gd name="T64" fmla="*/ 54 w 96"/>
                <a:gd name="T65" fmla="*/ 50 h 96"/>
                <a:gd name="T66" fmla="*/ 54 w 96"/>
                <a:gd name="T67" fmla="*/ 50 h 96"/>
                <a:gd name="T68" fmla="*/ 46 w 96"/>
                <a:gd name="T69" fmla="*/ 50 h 96"/>
                <a:gd name="T70" fmla="*/ 43 w 96"/>
                <a:gd name="T71" fmla="*/ 53 h 96"/>
                <a:gd name="T72" fmla="*/ 46 w 96"/>
                <a:gd name="T73" fmla="*/ 56 h 96"/>
                <a:gd name="T74" fmla="*/ 54 w 96"/>
                <a:gd name="T75" fmla="*/ 56 h 96"/>
                <a:gd name="T76" fmla="*/ 58 w 96"/>
                <a:gd name="T77" fmla="*/ 54 h 96"/>
                <a:gd name="T78" fmla="*/ 70 w 96"/>
                <a:gd name="T79" fmla="*/ 54 h 96"/>
                <a:gd name="T80" fmla="*/ 80 w 96"/>
                <a:gd name="T81" fmla="*/ 47 h 96"/>
                <a:gd name="T82" fmla="*/ 80 w 96"/>
                <a:gd name="T83" fmla="*/ 47 h 96"/>
                <a:gd name="T84" fmla="*/ 80 w 96"/>
                <a:gd name="T85" fmla="*/ 44 h 96"/>
                <a:gd name="T86" fmla="*/ 83 w 96"/>
                <a:gd name="T87" fmla="*/ 37 h 96"/>
                <a:gd name="T88" fmla="*/ 82 w 96"/>
                <a:gd name="T89" fmla="*/ 32 h 96"/>
                <a:gd name="T90" fmla="*/ 75 w 96"/>
                <a:gd name="T91" fmla="*/ 29 h 96"/>
                <a:gd name="T92" fmla="*/ 74 w 96"/>
                <a:gd name="T93" fmla="*/ 29 h 96"/>
                <a:gd name="T94" fmla="*/ 75 w 96"/>
                <a:gd name="T95" fmla="*/ 22 h 96"/>
                <a:gd name="T96" fmla="*/ 70 w 96"/>
                <a:gd name="T97" fmla="*/ 8 h 96"/>
                <a:gd name="T98" fmla="*/ 47 w 96"/>
                <a:gd name="T99" fmla="*/ 0 h 96"/>
                <a:gd name="T100" fmla="*/ 24 w 96"/>
                <a:gd name="T101" fmla="*/ 8 h 96"/>
                <a:gd name="T102" fmla="*/ 19 w 96"/>
                <a:gd name="T103" fmla="*/ 22 h 96"/>
                <a:gd name="T104" fmla="*/ 21 w 96"/>
                <a:gd name="T105" fmla="*/ 37 h 96"/>
                <a:gd name="T106" fmla="*/ 21 w 96"/>
                <a:gd name="T107" fmla="*/ 40 h 96"/>
                <a:gd name="T108" fmla="*/ 25 w 96"/>
                <a:gd name="T109" fmla="*/ 48 h 96"/>
                <a:gd name="T110" fmla="*/ 33 w 96"/>
                <a:gd name="T111" fmla="*/ 61 h 96"/>
                <a:gd name="T112" fmla="*/ 12 w 96"/>
                <a:gd name="T113" fmla="*/ 67 h 96"/>
                <a:gd name="T114" fmla="*/ 0 w 96"/>
                <a:gd name="T115" fmla="*/ 84 h 96"/>
                <a:gd name="T116" fmla="*/ 0 w 96"/>
                <a:gd name="T117" fmla="*/ 96 h 96"/>
                <a:gd name="T118" fmla="*/ 96 w 96"/>
                <a:gd name="T119" fmla="*/ 96 h 96"/>
                <a:gd name="T120" fmla="*/ 96 w 96"/>
                <a:gd name="T121" fmla="*/ 84 h 96"/>
                <a:gd name="T122" fmla="*/ 84 w 96"/>
                <a:gd name="T123"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6" h="96">
                  <a:moveTo>
                    <a:pt x="84" y="67"/>
                  </a:moveTo>
                  <a:cubicBezTo>
                    <a:pt x="62" y="61"/>
                    <a:pt x="62" y="61"/>
                    <a:pt x="62" y="61"/>
                  </a:cubicBezTo>
                  <a:cubicBezTo>
                    <a:pt x="63" y="60"/>
                    <a:pt x="64" y="59"/>
                    <a:pt x="65" y="58"/>
                  </a:cubicBezTo>
                  <a:cubicBezTo>
                    <a:pt x="60" y="58"/>
                    <a:pt x="60" y="58"/>
                    <a:pt x="60" y="58"/>
                  </a:cubicBezTo>
                  <a:cubicBezTo>
                    <a:pt x="59" y="58"/>
                    <a:pt x="59" y="59"/>
                    <a:pt x="58" y="59"/>
                  </a:cubicBezTo>
                  <a:cubicBezTo>
                    <a:pt x="54" y="62"/>
                    <a:pt x="50" y="64"/>
                    <a:pt x="47" y="64"/>
                  </a:cubicBezTo>
                  <a:cubicBezTo>
                    <a:pt x="42" y="64"/>
                    <a:pt x="29" y="56"/>
                    <a:pt x="29" y="46"/>
                  </a:cubicBezTo>
                  <a:cubicBezTo>
                    <a:pt x="29" y="45"/>
                    <a:pt x="28" y="44"/>
                    <a:pt x="27" y="44"/>
                  </a:cubicBezTo>
                  <a:cubicBezTo>
                    <a:pt x="25" y="44"/>
                    <a:pt x="25" y="41"/>
                    <a:pt x="25" y="40"/>
                  </a:cubicBezTo>
                  <a:cubicBezTo>
                    <a:pt x="25" y="39"/>
                    <a:pt x="25" y="36"/>
                    <a:pt x="27" y="36"/>
                  </a:cubicBezTo>
                  <a:cubicBezTo>
                    <a:pt x="28" y="36"/>
                    <a:pt x="29" y="35"/>
                    <a:pt x="29" y="34"/>
                  </a:cubicBezTo>
                  <a:cubicBezTo>
                    <a:pt x="31" y="26"/>
                    <a:pt x="31" y="26"/>
                    <a:pt x="31" y="26"/>
                  </a:cubicBezTo>
                  <a:cubicBezTo>
                    <a:pt x="41" y="26"/>
                    <a:pt x="45" y="23"/>
                    <a:pt x="47" y="20"/>
                  </a:cubicBezTo>
                  <a:cubicBezTo>
                    <a:pt x="49" y="23"/>
                    <a:pt x="53" y="26"/>
                    <a:pt x="63" y="26"/>
                  </a:cubicBezTo>
                  <a:cubicBezTo>
                    <a:pt x="65" y="34"/>
                    <a:pt x="65" y="34"/>
                    <a:pt x="65" y="34"/>
                  </a:cubicBezTo>
                  <a:cubicBezTo>
                    <a:pt x="65" y="35"/>
                    <a:pt x="66" y="36"/>
                    <a:pt x="67" y="36"/>
                  </a:cubicBezTo>
                  <a:cubicBezTo>
                    <a:pt x="69" y="36"/>
                    <a:pt x="70" y="39"/>
                    <a:pt x="70" y="40"/>
                  </a:cubicBezTo>
                  <a:cubicBezTo>
                    <a:pt x="70" y="41"/>
                    <a:pt x="69" y="44"/>
                    <a:pt x="67" y="44"/>
                  </a:cubicBezTo>
                  <a:cubicBezTo>
                    <a:pt x="66" y="44"/>
                    <a:pt x="65" y="45"/>
                    <a:pt x="65" y="46"/>
                  </a:cubicBezTo>
                  <a:cubicBezTo>
                    <a:pt x="65" y="46"/>
                    <a:pt x="65" y="47"/>
                    <a:pt x="65" y="47"/>
                  </a:cubicBezTo>
                  <a:cubicBezTo>
                    <a:pt x="70" y="47"/>
                    <a:pt x="70" y="47"/>
                    <a:pt x="70" y="47"/>
                  </a:cubicBezTo>
                  <a:cubicBezTo>
                    <a:pt x="70" y="47"/>
                    <a:pt x="70" y="47"/>
                    <a:pt x="70" y="47"/>
                  </a:cubicBezTo>
                  <a:cubicBezTo>
                    <a:pt x="71" y="47"/>
                    <a:pt x="72" y="46"/>
                    <a:pt x="72" y="45"/>
                  </a:cubicBezTo>
                  <a:cubicBezTo>
                    <a:pt x="73" y="45"/>
                    <a:pt x="73" y="45"/>
                    <a:pt x="73" y="45"/>
                  </a:cubicBezTo>
                  <a:cubicBezTo>
                    <a:pt x="75" y="45"/>
                    <a:pt x="75" y="45"/>
                    <a:pt x="75" y="45"/>
                  </a:cubicBezTo>
                  <a:cubicBezTo>
                    <a:pt x="76" y="45"/>
                    <a:pt x="76" y="45"/>
                    <a:pt x="77" y="45"/>
                  </a:cubicBezTo>
                  <a:cubicBezTo>
                    <a:pt x="77" y="46"/>
                    <a:pt x="77" y="46"/>
                    <a:pt x="77" y="46"/>
                  </a:cubicBezTo>
                  <a:cubicBezTo>
                    <a:pt x="77" y="46"/>
                    <a:pt x="77" y="46"/>
                    <a:pt x="77" y="46"/>
                  </a:cubicBezTo>
                  <a:cubicBezTo>
                    <a:pt x="77" y="46"/>
                    <a:pt x="77" y="46"/>
                    <a:pt x="77" y="46"/>
                  </a:cubicBezTo>
                  <a:cubicBezTo>
                    <a:pt x="77" y="47"/>
                    <a:pt x="76" y="47"/>
                    <a:pt x="76" y="48"/>
                  </a:cubicBezTo>
                  <a:cubicBezTo>
                    <a:pt x="76" y="50"/>
                    <a:pt x="73" y="51"/>
                    <a:pt x="70" y="51"/>
                  </a:cubicBezTo>
                  <a:cubicBezTo>
                    <a:pt x="56" y="51"/>
                    <a:pt x="72" y="51"/>
                    <a:pt x="58" y="51"/>
                  </a:cubicBezTo>
                  <a:cubicBezTo>
                    <a:pt x="57" y="50"/>
                    <a:pt x="55" y="50"/>
                    <a:pt x="54" y="50"/>
                  </a:cubicBezTo>
                  <a:cubicBezTo>
                    <a:pt x="54" y="50"/>
                    <a:pt x="54" y="50"/>
                    <a:pt x="54" y="50"/>
                  </a:cubicBezTo>
                  <a:cubicBezTo>
                    <a:pt x="46" y="50"/>
                    <a:pt x="46" y="50"/>
                    <a:pt x="46" y="50"/>
                  </a:cubicBezTo>
                  <a:cubicBezTo>
                    <a:pt x="45" y="50"/>
                    <a:pt x="43" y="51"/>
                    <a:pt x="43" y="53"/>
                  </a:cubicBezTo>
                  <a:cubicBezTo>
                    <a:pt x="43" y="54"/>
                    <a:pt x="45" y="56"/>
                    <a:pt x="46" y="56"/>
                  </a:cubicBezTo>
                  <a:cubicBezTo>
                    <a:pt x="54" y="56"/>
                    <a:pt x="54" y="56"/>
                    <a:pt x="54" y="56"/>
                  </a:cubicBezTo>
                  <a:cubicBezTo>
                    <a:pt x="55" y="56"/>
                    <a:pt x="57" y="55"/>
                    <a:pt x="58" y="54"/>
                  </a:cubicBezTo>
                  <a:cubicBezTo>
                    <a:pt x="72" y="54"/>
                    <a:pt x="56" y="54"/>
                    <a:pt x="70" y="54"/>
                  </a:cubicBezTo>
                  <a:cubicBezTo>
                    <a:pt x="74" y="54"/>
                    <a:pt x="79" y="52"/>
                    <a:pt x="80" y="47"/>
                  </a:cubicBezTo>
                  <a:cubicBezTo>
                    <a:pt x="80" y="47"/>
                    <a:pt x="80" y="47"/>
                    <a:pt x="80" y="47"/>
                  </a:cubicBezTo>
                  <a:cubicBezTo>
                    <a:pt x="80" y="46"/>
                    <a:pt x="80" y="44"/>
                    <a:pt x="80" y="44"/>
                  </a:cubicBezTo>
                  <a:cubicBezTo>
                    <a:pt x="82" y="42"/>
                    <a:pt x="83" y="40"/>
                    <a:pt x="83" y="37"/>
                  </a:cubicBezTo>
                  <a:cubicBezTo>
                    <a:pt x="83" y="35"/>
                    <a:pt x="83" y="34"/>
                    <a:pt x="82" y="32"/>
                  </a:cubicBezTo>
                  <a:cubicBezTo>
                    <a:pt x="80" y="30"/>
                    <a:pt x="78" y="29"/>
                    <a:pt x="75" y="29"/>
                  </a:cubicBezTo>
                  <a:cubicBezTo>
                    <a:pt x="74" y="29"/>
                    <a:pt x="74" y="29"/>
                    <a:pt x="74" y="29"/>
                  </a:cubicBezTo>
                  <a:cubicBezTo>
                    <a:pt x="75" y="22"/>
                    <a:pt x="75" y="22"/>
                    <a:pt x="75" y="22"/>
                  </a:cubicBezTo>
                  <a:cubicBezTo>
                    <a:pt x="75" y="22"/>
                    <a:pt x="76" y="14"/>
                    <a:pt x="70" y="8"/>
                  </a:cubicBezTo>
                  <a:cubicBezTo>
                    <a:pt x="65" y="3"/>
                    <a:pt x="58" y="0"/>
                    <a:pt x="47" y="0"/>
                  </a:cubicBezTo>
                  <a:cubicBezTo>
                    <a:pt x="37" y="0"/>
                    <a:pt x="29" y="3"/>
                    <a:pt x="24" y="8"/>
                  </a:cubicBezTo>
                  <a:cubicBezTo>
                    <a:pt x="18" y="14"/>
                    <a:pt x="19" y="22"/>
                    <a:pt x="19" y="22"/>
                  </a:cubicBezTo>
                  <a:cubicBezTo>
                    <a:pt x="21" y="37"/>
                    <a:pt x="21" y="37"/>
                    <a:pt x="21" y="37"/>
                  </a:cubicBezTo>
                  <a:cubicBezTo>
                    <a:pt x="21" y="38"/>
                    <a:pt x="21" y="39"/>
                    <a:pt x="21" y="40"/>
                  </a:cubicBezTo>
                  <a:cubicBezTo>
                    <a:pt x="21" y="44"/>
                    <a:pt x="22" y="47"/>
                    <a:pt x="25" y="48"/>
                  </a:cubicBezTo>
                  <a:cubicBezTo>
                    <a:pt x="26" y="53"/>
                    <a:pt x="29" y="58"/>
                    <a:pt x="33" y="61"/>
                  </a:cubicBezTo>
                  <a:cubicBezTo>
                    <a:pt x="12" y="67"/>
                    <a:pt x="12" y="67"/>
                    <a:pt x="12" y="67"/>
                  </a:cubicBezTo>
                  <a:cubicBezTo>
                    <a:pt x="5" y="70"/>
                    <a:pt x="0" y="77"/>
                    <a:pt x="0" y="84"/>
                  </a:cubicBezTo>
                  <a:cubicBezTo>
                    <a:pt x="0" y="96"/>
                    <a:pt x="0" y="96"/>
                    <a:pt x="0" y="96"/>
                  </a:cubicBezTo>
                  <a:cubicBezTo>
                    <a:pt x="96" y="96"/>
                    <a:pt x="96" y="96"/>
                    <a:pt x="96" y="96"/>
                  </a:cubicBezTo>
                  <a:cubicBezTo>
                    <a:pt x="96" y="84"/>
                    <a:pt x="96" y="84"/>
                    <a:pt x="96" y="84"/>
                  </a:cubicBezTo>
                  <a:cubicBezTo>
                    <a:pt x="96" y="77"/>
                    <a:pt x="91" y="70"/>
                    <a:pt x="8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302" name="Freeform 104">
              <a:extLst>
                <a:ext uri="{FF2B5EF4-FFF2-40B4-BE49-F238E27FC236}">
                  <a16:creationId xmlns:a16="http://schemas.microsoft.com/office/drawing/2014/main" id="{94DC81AC-B850-4134-B79C-22E2B7E312FC}"/>
                </a:ext>
              </a:extLst>
            </p:cNvPr>
            <p:cNvSpPr>
              <a:spLocks/>
            </p:cNvSpPr>
            <p:nvPr/>
          </p:nvSpPr>
          <p:spPr bwMode="auto">
            <a:xfrm>
              <a:off x="7842250" y="2652713"/>
              <a:ext cx="46038" cy="22225"/>
            </a:xfrm>
            <a:custGeom>
              <a:avLst/>
              <a:gdLst>
                <a:gd name="T0" fmla="*/ 12 w 12"/>
                <a:gd name="T1" fmla="*/ 4 h 6"/>
                <a:gd name="T2" fmla="*/ 11 w 12"/>
                <a:gd name="T3" fmla="*/ 1 h 6"/>
                <a:gd name="T4" fmla="*/ 7 w 12"/>
                <a:gd name="T5" fmla="*/ 0 h 6"/>
                <a:gd name="T6" fmla="*/ 6 w 12"/>
                <a:gd name="T7" fmla="*/ 0 h 6"/>
                <a:gd name="T8" fmla="*/ 6 w 12"/>
                <a:gd name="T9" fmla="*/ 0 h 6"/>
                <a:gd name="T10" fmla="*/ 1 w 12"/>
                <a:gd name="T11" fmla="*/ 1 h 6"/>
                <a:gd name="T12" fmla="*/ 0 w 12"/>
                <a:gd name="T13" fmla="*/ 4 h 6"/>
                <a:gd name="T14" fmla="*/ 2 w 12"/>
                <a:gd name="T15" fmla="*/ 6 h 6"/>
                <a:gd name="T16" fmla="*/ 4 w 12"/>
                <a:gd name="T17" fmla="*/ 4 h 6"/>
                <a:gd name="T18" fmla="*/ 6 w 12"/>
                <a:gd name="T19" fmla="*/ 4 h 6"/>
                <a:gd name="T20" fmla="*/ 6 w 12"/>
                <a:gd name="T21" fmla="*/ 4 h 6"/>
                <a:gd name="T22" fmla="*/ 7 w 12"/>
                <a:gd name="T23" fmla="*/ 4 h 6"/>
                <a:gd name="T24" fmla="*/ 8 w 12"/>
                <a:gd name="T25" fmla="*/ 4 h 6"/>
                <a:gd name="T26" fmla="*/ 10 w 12"/>
                <a:gd name="T27" fmla="*/ 6 h 6"/>
                <a:gd name="T28" fmla="*/ 12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12" y="4"/>
                  </a:move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303" name="Freeform 105">
              <a:extLst>
                <a:ext uri="{FF2B5EF4-FFF2-40B4-BE49-F238E27FC236}">
                  <a16:creationId xmlns:a16="http://schemas.microsoft.com/office/drawing/2014/main" id="{A1BBAEBD-1C53-416D-B9E8-A631B7CC02BA}"/>
                </a:ext>
              </a:extLst>
            </p:cNvPr>
            <p:cNvSpPr>
              <a:spLocks/>
            </p:cNvSpPr>
            <p:nvPr/>
          </p:nvSpPr>
          <p:spPr bwMode="auto">
            <a:xfrm>
              <a:off x="7902575" y="2652713"/>
              <a:ext cx="46038" cy="22225"/>
            </a:xfrm>
            <a:custGeom>
              <a:avLst/>
              <a:gdLst>
                <a:gd name="T0" fmla="*/ 4 w 12"/>
                <a:gd name="T1" fmla="*/ 4 h 6"/>
                <a:gd name="T2" fmla="*/ 6 w 12"/>
                <a:gd name="T3" fmla="*/ 4 h 6"/>
                <a:gd name="T4" fmla="*/ 6 w 12"/>
                <a:gd name="T5" fmla="*/ 4 h 6"/>
                <a:gd name="T6" fmla="*/ 7 w 12"/>
                <a:gd name="T7" fmla="*/ 4 h 6"/>
                <a:gd name="T8" fmla="*/ 8 w 12"/>
                <a:gd name="T9" fmla="*/ 4 h 6"/>
                <a:gd name="T10" fmla="*/ 10 w 12"/>
                <a:gd name="T11" fmla="*/ 6 h 6"/>
                <a:gd name="T12" fmla="*/ 12 w 12"/>
                <a:gd name="T13" fmla="*/ 4 h 6"/>
                <a:gd name="T14" fmla="*/ 11 w 12"/>
                <a:gd name="T15" fmla="*/ 1 h 6"/>
                <a:gd name="T16" fmla="*/ 7 w 12"/>
                <a:gd name="T17" fmla="*/ 0 h 6"/>
                <a:gd name="T18" fmla="*/ 6 w 12"/>
                <a:gd name="T19" fmla="*/ 0 h 6"/>
                <a:gd name="T20" fmla="*/ 6 w 12"/>
                <a:gd name="T21" fmla="*/ 0 h 6"/>
                <a:gd name="T22" fmla="*/ 1 w 12"/>
                <a:gd name="T23" fmla="*/ 1 h 6"/>
                <a:gd name="T24" fmla="*/ 0 w 12"/>
                <a:gd name="T25" fmla="*/ 4 h 6"/>
                <a:gd name="T26" fmla="*/ 2 w 12"/>
                <a:gd name="T27" fmla="*/ 6 h 6"/>
                <a:gd name="T28" fmla="*/ 4 w 12"/>
                <a:gd name="T29"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6">
                  <a:moveTo>
                    <a:pt x="4" y="4"/>
                  </a:moveTo>
                  <a:cubicBezTo>
                    <a:pt x="4" y="4"/>
                    <a:pt x="5" y="4"/>
                    <a:pt x="6" y="4"/>
                  </a:cubicBezTo>
                  <a:cubicBezTo>
                    <a:pt x="6" y="4"/>
                    <a:pt x="6" y="4"/>
                    <a:pt x="6" y="4"/>
                  </a:cubicBezTo>
                  <a:cubicBezTo>
                    <a:pt x="7" y="4"/>
                    <a:pt x="7" y="4"/>
                    <a:pt x="7" y="4"/>
                  </a:cubicBezTo>
                  <a:cubicBezTo>
                    <a:pt x="7" y="4"/>
                    <a:pt x="8" y="4"/>
                    <a:pt x="8" y="4"/>
                  </a:cubicBezTo>
                  <a:cubicBezTo>
                    <a:pt x="8" y="5"/>
                    <a:pt x="9" y="6"/>
                    <a:pt x="10" y="6"/>
                  </a:cubicBezTo>
                  <a:cubicBezTo>
                    <a:pt x="11" y="6"/>
                    <a:pt x="12" y="5"/>
                    <a:pt x="12" y="4"/>
                  </a:cubicBezTo>
                  <a:cubicBezTo>
                    <a:pt x="12" y="3"/>
                    <a:pt x="12" y="2"/>
                    <a:pt x="11" y="1"/>
                  </a:cubicBezTo>
                  <a:cubicBezTo>
                    <a:pt x="10" y="0"/>
                    <a:pt x="8" y="0"/>
                    <a:pt x="7" y="0"/>
                  </a:cubicBezTo>
                  <a:cubicBezTo>
                    <a:pt x="6" y="0"/>
                    <a:pt x="6" y="0"/>
                    <a:pt x="6" y="0"/>
                  </a:cubicBezTo>
                  <a:cubicBezTo>
                    <a:pt x="6" y="0"/>
                    <a:pt x="6" y="0"/>
                    <a:pt x="6" y="0"/>
                  </a:cubicBezTo>
                  <a:cubicBezTo>
                    <a:pt x="4" y="0"/>
                    <a:pt x="2" y="0"/>
                    <a:pt x="1" y="1"/>
                  </a:cubicBezTo>
                  <a:cubicBezTo>
                    <a:pt x="0" y="2"/>
                    <a:pt x="0" y="3"/>
                    <a:pt x="0" y="4"/>
                  </a:cubicBezTo>
                  <a:cubicBezTo>
                    <a:pt x="0" y="5"/>
                    <a:pt x="1" y="6"/>
                    <a:pt x="2" y="6"/>
                  </a:cubicBezTo>
                  <a:cubicBezTo>
                    <a:pt x="3" y="6"/>
                    <a:pt x="4" y="5"/>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cxnSp>
        <p:nvCxnSpPr>
          <p:cNvPr id="304" name="Straight Arrow Connector 303">
            <a:extLst>
              <a:ext uri="{FF2B5EF4-FFF2-40B4-BE49-F238E27FC236}">
                <a16:creationId xmlns:a16="http://schemas.microsoft.com/office/drawing/2014/main" id="{D46967B8-57F4-4122-90B1-760F37D627CB}"/>
              </a:ext>
            </a:extLst>
          </p:cNvPr>
          <p:cNvCxnSpPr>
            <a:cxnSpLocks/>
            <a:stCxn id="207" idx="3"/>
          </p:cNvCxnSpPr>
          <p:nvPr/>
        </p:nvCxnSpPr>
        <p:spPr>
          <a:xfrm>
            <a:off x="8651048" y="2853259"/>
            <a:ext cx="822319" cy="0"/>
          </a:xfrm>
          <a:prstGeom prst="straightConnector1">
            <a:avLst/>
          </a:prstGeom>
          <a:noFill/>
          <a:ln w="12700" cap="flat" cmpd="sng" algn="ctr">
            <a:solidFill>
              <a:sysClr val="window" lastClr="FFFFFF">
                <a:lumMod val="75000"/>
              </a:sysClr>
            </a:solidFill>
            <a:prstDash val="sysDash"/>
            <a:miter lim="800000"/>
            <a:tailEnd type="arrow"/>
          </a:ln>
          <a:effectLst/>
        </p:spPr>
      </p:cxnSp>
      <p:cxnSp>
        <p:nvCxnSpPr>
          <p:cNvPr id="305" name="Straight Arrow Connector 304">
            <a:extLst>
              <a:ext uri="{FF2B5EF4-FFF2-40B4-BE49-F238E27FC236}">
                <a16:creationId xmlns:a16="http://schemas.microsoft.com/office/drawing/2014/main" id="{EB2EDB46-5166-48A3-A846-53091FCF54FC}"/>
              </a:ext>
            </a:extLst>
          </p:cNvPr>
          <p:cNvCxnSpPr>
            <a:cxnSpLocks/>
          </p:cNvCxnSpPr>
          <p:nvPr/>
        </p:nvCxnSpPr>
        <p:spPr>
          <a:xfrm>
            <a:off x="8641027" y="3458770"/>
            <a:ext cx="832339" cy="0"/>
          </a:xfrm>
          <a:prstGeom prst="straightConnector1">
            <a:avLst/>
          </a:prstGeom>
          <a:noFill/>
          <a:ln w="12700" cap="flat" cmpd="sng" algn="ctr">
            <a:solidFill>
              <a:sysClr val="window" lastClr="FFFFFF">
                <a:lumMod val="75000"/>
              </a:sysClr>
            </a:solidFill>
            <a:prstDash val="sysDash"/>
            <a:miter lim="800000"/>
            <a:tailEnd type="arrow"/>
          </a:ln>
          <a:effectLst/>
        </p:spPr>
      </p:cxnSp>
      <p:cxnSp>
        <p:nvCxnSpPr>
          <p:cNvPr id="306" name="Straight Arrow Connector 305">
            <a:extLst>
              <a:ext uri="{FF2B5EF4-FFF2-40B4-BE49-F238E27FC236}">
                <a16:creationId xmlns:a16="http://schemas.microsoft.com/office/drawing/2014/main" id="{551DE438-08AC-4B50-BCEE-38C08751CFD3}"/>
              </a:ext>
            </a:extLst>
          </p:cNvPr>
          <p:cNvCxnSpPr>
            <a:cxnSpLocks/>
          </p:cNvCxnSpPr>
          <p:nvPr/>
        </p:nvCxnSpPr>
        <p:spPr>
          <a:xfrm>
            <a:off x="8641027" y="4064282"/>
            <a:ext cx="832339" cy="0"/>
          </a:xfrm>
          <a:prstGeom prst="straightConnector1">
            <a:avLst/>
          </a:prstGeom>
          <a:noFill/>
          <a:ln w="12700" cap="flat" cmpd="sng" algn="ctr">
            <a:solidFill>
              <a:sysClr val="window" lastClr="FFFFFF">
                <a:lumMod val="75000"/>
              </a:sysClr>
            </a:solidFill>
            <a:prstDash val="sysDash"/>
            <a:miter lim="800000"/>
            <a:tailEnd type="arrow"/>
          </a:ln>
          <a:effectLst/>
        </p:spPr>
      </p:cxnSp>
      <p:cxnSp>
        <p:nvCxnSpPr>
          <p:cNvPr id="307" name="Straight Arrow Connector 306">
            <a:extLst>
              <a:ext uri="{FF2B5EF4-FFF2-40B4-BE49-F238E27FC236}">
                <a16:creationId xmlns:a16="http://schemas.microsoft.com/office/drawing/2014/main" id="{0D255890-6924-4BC6-8930-B14B4BD089F0}"/>
              </a:ext>
            </a:extLst>
          </p:cNvPr>
          <p:cNvCxnSpPr>
            <a:cxnSpLocks/>
          </p:cNvCxnSpPr>
          <p:nvPr/>
        </p:nvCxnSpPr>
        <p:spPr>
          <a:xfrm>
            <a:off x="8641027" y="4669794"/>
            <a:ext cx="832339" cy="0"/>
          </a:xfrm>
          <a:prstGeom prst="straightConnector1">
            <a:avLst/>
          </a:prstGeom>
          <a:noFill/>
          <a:ln w="12700" cap="flat" cmpd="sng" algn="ctr">
            <a:solidFill>
              <a:sysClr val="window" lastClr="FFFFFF">
                <a:lumMod val="75000"/>
              </a:sysClr>
            </a:solidFill>
            <a:prstDash val="sysDash"/>
            <a:miter lim="800000"/>
            <a:tailEnd type="arrow"/>
          </a:ln>
          <a:effectLst/>
        </p:spPr>
      </p:cxnSp>
      <p:cxnSp>
        <p:nvCxnSpPr>
          <p:cNvPr id="308" name="Straight Arrow Connector 307">
            <a:extLst>
              <a:ext uri="{FF2B5EF4-FFF2-40B4-BE49-F238E27FC236}">
                <a16:creationId xmlns:a16="http://schemas.microsoft.com/office/drawing/2014/main" id="{51DDB97E-F5F8-468C-8020-3A40D7933C79}"/>
              </a:ext>
            </a:extLst>
          </p:cNvPr>
          <p:cNvCxnSpPr>
            <a:cxnSpLocks/>
          </p:cNvCxnSpPr>
          <p:nvPr/>
        </p:nvCxnSpPr>
        <p:spPr>
          <a:xfrm>
            <a:off x="8641027" y="5275304"/>
            <a:ext cx="832339" cy="0"/>
          </a:xfrm>
          <a:prstGeom prst="straightConnector1">
            <a:avLst/>
          </a:prstGeom>
          <a:noFill/>
          <a:ln w="12700" cap="flat" cmpd="sng" algn="ctr">
            <a:solidFill>
              <a:sysClr val="window" lastClr="FFFFFF">
                <a:lumMod val="75000"/>
              </a:sysClr>
            </a:solidFill>
            <a:prstDash val="sysDash"/>
            <a:miter lim="800000"/>
            <a:tailEnd type="arrow"/>
          </a:ln>
          <a:effectLst/>
        </p:spPr>
      </p:cxnSp>
      <p:grpSp>
        <p:nvGrpSpPr>
          <p:cNvPr id="309" name="Group 308">
            <a:extLst>
              <a:ext uri="{FF2B5EF4-FFF2-40B4-BE49-F238E27FC236}">
                <a16:creationId xmlns:a16="http://schemas.microsoft.com/office/drawing/2014/main" id="{02CA47F3-D917-400D-9D59-C5563C0CF2B0}"/>
              </a:ext>
            </a:extLst>
          </p:cNvPr>
          <p:cNvGrpSpPr/>
          <p:nvPr/>
        </p:nvGrpSpPr>
        <p:grpSpPr>
          <a:xfrm>
            <a:off x="1302418" y="2693950"/>
            <a:ext cx="557034" cy="557034"/>
            <a:chOff x="1302418" y="2693950"/>
            <a:chExt cx="557034" cy="557034"/>
          </a:xfrm>
        </p:grpSpPr>
        <p:sp>
          <p:nvSpPr>
            <p:cNvPr id="310" name="Oval 309">
              <a:extLst>
                <a:ext uri="{FF2B5EF4-FFF2-40B4-BE49-F238E27FC236}">
                  <a16:creationId xmlns:a16="http://schemas.microsoft.com/office/drawing/2014/main" id="{A3FB33E0-5802-43BC-B65E-D3D7751B5E0A}"/>
                </a:ext>
              </a:extLst>
            </p:cNvPr>
            <p:cNvSpPr/>
            <p:nvPr/>
          </p:nvSpPr>
          <p:spPr>
            <a:xfrm>
              <a:off x="1302418" y="2693950"/>
              <a:ext cx="557034" cy="557034"/>
            </a:xfrm>
            <a:prstGeom prst="ellipse">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11" name="Group 310">
              <a:extLst>
                <a:ext uri="{FF2B5EF4-FFF2-40B4-BE49-F238E27FC236}">
                  <a16:creationId xmlns:a16="http://schemas.microsoft.com/office/drawing/2014/main" id="{D2BD67D0-273A-4EE4-901D-E29A4EF41B2C}"/>
                </a:ext>
              </a:extLst>
            </p:cNvPr>
            <p:cNvGrpSpPr/>
            <p:nvPr/>
          </p:nvGrpSpPr>
          <p:grpSpPr>
            <a:xfrm>
              <a:off x="1445286" y="2879861"/>
              <a:ext cx="271298" cy="185213"/>
              <a:chOff x="4127500" y="3670301"/>
              <a:chExt cx="330200" cy="225425"/>
            </a:xfrm>
            <a:solidFill>
              <a:sysClr val="window" lastClr="FFFFFF"/>
            </a:solidFill>
          </p:grpSpPr>
          <p:sp>
            <p:nvSpPr>
              <p:cNvPr id="312" name="Freeform 26">
                <a:extLst>
                  <a:ext uri="{FF2B5EF4-FFF2-40B4-BE49-F238E27FC236}">
                    <a16:creationId xmlns:a16="http://schemas.microsoft.com/office/drawing/2014/main" id="{9A3DDD19-4A42-4603-8D66-EE8763098C54}"/>
                  </a:ext>
                </a:extLst>
              </p:cNvPr>
              <p:cNvSpPr>
                <a:spLocks/>
              </p:cNvSpPr>
              <p:nvPr/>
            </p:nvSpPr>
            <p:spPr bwMode="auto">
              <a:xfrm>
                <a:off x="4127500" y="3684588"/>
                <a:ext cx="330200" cy="211138"/>
              </a:xfrm>
              <a:custGeom>
                <a:avLst/>
                <a:gdLst>
                  <a:gd name="T0" fmla="*/ 87 w 88"/>
                  <a:gd name="T1" fmla="*/ 0 h 56"/>
                  <a:gd name="T2" fmla="*/ 45 w 88"/>
                  <a:gd name="T3" fmla="*/ 34 h 56"/>
                  <a:gd name="T4" fmla="*/ 44 w 88"/>
                  <a:gd name="T5" fmla="*/ 34 h 56"/>
                  <a:gd name="T6" fmla="*/ 43 w 88"/>
                  <a:gd name="T7" fmla="*/ 34 h 56"/>
                  <a:gd name="T8" fmla="*/ 1 w 88"/>
                  <a:gd name="T9" fmla="*/ 0 h 56"/>
                  <a:gd name="T10" fmla="*/ 0 w 88"/>
                  <a:gd name="T11" fmla="*/ 4 h 56"/>
                  <a:gd name="T12" fmla="*/ 0 w 88"/>
                  <a:gd name="T13" fmla="*/ 48 h 56"/>
                  <a:gd name="T14" fmla="*/ 8 w 88"/>
                  <a:gd name="T15" fmla="*/ 56 h 56"/>
                  <a:gd name="T16" fmla="*/ 80 w 88"/>
                  <a:gd name="T17" fmla="*/ 56 h 56"/>
                  <a:gd name="T18" fmla="*/ 88 w 88"/>
                  <a:gd name="T19" fmla="*/ 48 h 56"/>
                  <a:gd name="T20" fmla="*/ 88 w 88"/>
                  <a:gd name="T21" fmla="*/ 4 h 56"/>
                  <a:gd name="T22" fmla="*/ 87 w 88"/>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 h="56">
                    <a:moveTo>
                      <a:pt x="87" y="0"/>
                    </a:moveTo>
                    <a:cubicBezTo>
                      <a:pt x="45" y="34"/>
                      <a:pt x="45" y="34"/>
                      <a:pt x="45" y="34"/>
                    </a:cubicBezTo>
                    <a:cubicBezTo>
                      <a:pt x="45" y="34"/>
                      <a:pt x="44" y="34"/>
                      <a:pt x="44" y="34"/>
                    </a:cubicBezTo>
                    <a:cubicBezTo>
                      <a:pt x="44" y="34"/>
                      <a:pt x="43" y="34"/>
                      <a:pt x="43" y="34"/>
                    </a:cubicBezTo>
                    <a:cubicBezTo>
                      <a:pt x="1" y="0"/>
                      <a:pt x="1" y="0"/>
                      <a:pt x="1" y="0"/>
                    </a:cubicBezTo>
                    <a:cubicBezTo>
                      <a:pt x="0" y="1"/>
                      <a:pt x="0" y="2"/>
                      <a:pt x="0" y="4"/>
                    </a:cubicBezTo>
                    <a:cubicBezTo>
                      <a:pt x="0" y="48"/>
                      <a:pt x="0" y="48"/>
                      <a:pt x="0" y="48"/>
                    </a:cubicBezTo>
                    <a:cubicBezTo>
                      <a:pt x="0" y="52"/>
                      <a:pt x="4" y="56"/>
                      <a:pt x="8" y="56"/>
                    </a:cubicBezTo>
                    <a:cubicBezTo>
                      <a:pt x="80" y="56"/>
                      <a:pt x="80" y="56"/>
                      <a:pt x="80" y="56"/>
                    </a:cubicBezTo>
                    <a:cubicBezTo>
                      <a:pt x="84" y="56"/>
                      <a:pt x="88" y="52"/>
                      <a:pt x="88" y="48"/>
                    </a:cubicBezTo>
                    <a:cubicBezTo>
                      <a:pt x="88" y="4"/>
                      <a:pt x="88" y="4"/>
                      <a:pt x="88" y="4"/>
                    </a:cubicBezTo>
                    <a:cubicBezTo>
                      <a:pt x="88" y="2"/>
                      <a:pt x="88" y="1"/>
                      <a:pt x="8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313" name="Freeform 27">
                <a:extLst>
                  <a:ext uri="{FF2B5EF4-FFF2-40B4-BE49-F238E27FC236}">
                    <a16:creationId xmlns:a16="http://schemas.microsoft.com/office/drawing/2014/main" id="{0C8BB600-2D40-4A48-94C1-EA674AAD3F84}"/>
                  </a:ext>
                </a:extLst>
              </p:cNvPr>
              <p:cNvSpPr>
                <a:spLocks/>
              </p:cNvSpPr>
              <p:nvPr/>
            </p:nvSpPr>
            <p:spPr bwMode="auto">
              <a:xfrm>
                <a:off x="4143375" y="3670301"/>
                <a:ext cx="300038" cy="123825"/>
              </a:xfrm>
              <a:custGeom>
                <a:avLst/>
                <a:gdLst>
                  <a:gd name="T0" fmla="*/ 80 w 80"/>
                  <a:gd name="T1" fmla="*/ 1 h 33"/>
                  <a:gd name="T2" fmla="*/ 76 w 80"/>
                  <a:gd name="T3" fmla="*/ 0 h 33"/>
                  <a:gd name="T4" fmla="*/ 4 w 80"/>
                  <a:gd name="T5" fmla="*/ 0 h 33"/>
                  <a:gd name="T6" fmla="*/ 0 w 80"/>
                  <a:gd name="T7" fmla="*/ 1 h 33"/>
                  <a:gd name="T8" fmla="*/ 40 w 80"/>
                  <a:gd name="T9" fmla="*/ 33 h 33"/>
                  <a:gd name="T10" fmla="*/ 80 w 80"/>
                  <a:gd name="T11" fmla="*/ 1 h 33"/>
                </a:gdLst>
                <a:ahLst/>
                <a:cxnLst>
                  <a:cxn ang="0">
                    <a:pos x="T0" y="T1"/>
                  </a:cxn>
                  <a:cxn ang="0">
                    <a:pos x="T2" y="T3"/>
                  </a:cxn>
                  <a:cxn ang="0">
                    <a:pos x="T4" y="T5"/>
                  </a:cxn>
                  <a:cxn ang="0">
                    <a:pos x="T6" y="T7"/>
                  </a:cxn>
                  <a:cxn ang="0">
                    <a:pos x="T8" y="T9"/>
                  </a:cxn>
                  <a:cxn ang="0">
                    <a:pos x="T10" y="T11"/>
                  </a:cxn>
                </a:cxnLst>
                <a:rect l="0" t="0" r="r" b="b"/>
                <a:pathLst>
                  <a:path w="80" h="33">
                    <a:moveTo>
                      <a:pt x="80" y="1"/>
                    </a:moveTo>
                    <a:cubicBezTo>
                      <a:pt x="79" y="0"/>
                      <a:pt x="77" y="0"/>
                      <a:pt x="76" y="0"/>
                    </a:cubicBezTo>
                    <a:cubicBezTo>
                      <a:pt x="4" y="0"/>
                      <a:pt x="4" y="0"/>
                      <a:pt x="4" y="0"/>
                    </a:cubicBezTo>
                    <a:cubicBezTo>
                      <a:pt x="3" y="0"/>
                      <a:pt x="1" y="0"/>
                      <a:pt x="0" y="1"/>
                    </a:cubicBezTo>
                    <a:cubicBezTo>
                      <a:pt x="40" y="33"/>
                      <a:pt x="40" y="33"/>
                      <a:pt x="40" y="33"/>
                    </a:cubicBezTo>
                    <a:lnTo>
                      <a:pt x="8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grpSp>
        <p:nvGrpSpPr>
          <p:cNvPr id="314" name="Group 313">
            <a:extLst>
              <a:ext uri="{FF2B5EF4-FFF2-40B4-BE49-F238E27FC236}">
                <a16:creationId xmlns:a16="http://schemas.microsoft.com/office/drawing/2014/main" id="{0B4BD0D1-DDF7-46C3-A3A5-938516CC7A9C}"/>
              </a:ext>
            </a:extLst>
          </p:cNvPr>
          <p:cNvGrpSpPr/>
          <p:nvPr/>
        </p:nvGrpSpPr>
        <p:grpSpPr>
          <a:xfrm>
            <a:off x="1302418" y="3396696"/>
            <a:ext cx="557034" cy="557034"/>
            <a:chOff x="1302418" y="3396696"/>
            <a:chExt cx="557034" cy="557034"/>
          </a:xfrm>
        </p:grpSpPr>
        <p:sp>
          <p:nvSpPr>
            <p:cNvPr id="315" name="Oval 314">
              <a:extLst>
                <a:ext uri="{FF2B5EF4-FFF2-40B4-BE49-F238E27FC236}">
                  <a16:creationId xmlns:a16="http://schemas.microsoft.com/office/drawing/2014/main" id="{C18D9958-1D87-4080-BE70-8AC35A2ECFE9}"/>
                </a:ext>
              </a:extLst>
            </p:cNvPr>
            <p:cNvSpPr/>
            <p:nvPr/>
          </p:nvSpPr>
          <p:spPr>
            <a:xfrm>
              <a:off x="1302418" y="3396696"/>
              <a:ext cx="557034" cy="557034"/>
            </a:xfrm>
            <a:prstGeom prst="ellipse">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16" name="Group 315">
              <a:extLst>
                <a:ext uri="{FF2B5EF4-FFF2-40B4-BE49-F238E27FC236}">
                  <a16:creationId xmlns:a16="http://schemas.microsoft.com/office/drawing/2014/main" id="{1A6FD625-1777-400B-8586-66D4432CE04C}"/>
                </a:ext>
              </a:extLst>
            </p:cNvPr>
            <p:cNvGrpSpPr/>
            <p:nvPr/>
          </p:nvGrpSpPr>
          <p:grpSpPr>
            <a:xfrm>
              <a:off x="1432895" y="3554563"/>
              <a:ext cx="296081" cy="241300"/>
              <a:chOff x="6276975" y="1465263"/>
              <a:chExt cx="360363" cy="293688"/>
            </a:xfrm>
            <a:solidFill>
              <a:sysClr val="window" lastClr="FFFFFF"/>
            </a:solidFill>
          </p:grpSpPr>
          <p:sp>
            <p:nvSpPr>
              <p:cNvPr id="317" name="Freeform 8">
                <a:extLst>
                  <a:ext uri="{FF2B5EF4-FFF2-40B4-BE49-F238E27FC236}">
                    <a16:creationId xmlns:a16="http://schemas.microsoft.com/office/drawing/2014/main" id="{B409AB84-2CC1-4840-B6BD-4BFE68055C16}"/>
                  </a:ext>
                </a:extLst>
              </p:cNvPr>
              <p:cNvSpPr>
                <a:spLocks noEditPoints="1"/>
              </p:cNvSpPr>
              <p:nvPr/>
            </p:nvSpPr>
            <p:spPr bwMode="auto">
              <a:xfrm>
                <a:off x="6291263" y="1465263"/>
                <a:ext cx="330200" cy="233363"/>
              </a:xfrm>
              <a:custGeom>
                <a:avLst/>
                <a:gdLst>
                  <a:gd name="T0" fmla="*/ 2 w 88"/>
                  <a:gd name="T1" fmla="*/ 62 h 62"/>
                  <a:gd name="T2" fmla="*/ 86 w 88"/>
                  <a:gd name="T3" fmla="*/ 62 h 62"/>
                  <a:gd name="T4" fmla="*/ 88 w 88"/>
                  <a:gd name="T5" fmla="*/ 60 h 62"/>
                  <a:gd name="T6" fmla="*/ 88 w 88"/>
                  <a:gd name="T7" fmla="*/ 8 h 62"/>
                  <a:gd name="T8" fmla="*/ 80 w 88"/>
                  <a:gd name="T9" fmla="*/ 0 h 62"/>
                  <a:gd name="T10" fmla="*/ 8 w 88"/>
                  <a:gd name="T11" fmla="*/ 0 h 62"/>
                  <a:gd name="T12" fmla="*/ 0 w 88"/>
                  <a:gd name="T13" fmla="*/ 8 h 62"/>
                  <a:gd name="T14" fmla="*/ 0 w 88"/>
                  <a:gd name="T15" fmla="*/ 60 h 62"/>
                  <a:gd name="T16" fmla="*/ 2 w 88"/>
                  <a:gd name="T17" fmla="*/ 62 h 62"/>
                  <a:gd name="T18" fmla="*/ 8 w 88"/>
                  <a:gd name="T19" fmla="*/ 8 h 62"/>
                  <a:gd name="T20" fmla="*/ 80 w 88"/>
                  <a:gd name="T21" fmla="*/ 8 h 62"/>
                  <a:gd name="T22" fmla="*/ 80 w 88"/>
                  <a:gd name="T23" fmla="*/ 52 h 62"/>
                  <a:gd name="T24" fmla="*/ 8 w 88"/>
                  <a:gd name="T25" fmla="*/ 52 h 62"/>
                  <a:gd name="T26" fmla="*/ 8 w 88"/>
                  <a:gd name="T27" fmla="*/ 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8" h="62">
                    <a:moveTo>
                      <a:pt x="2" y="62"/>
                    </a:moveTo>
                    <a:cubicBezTo>
                      <a:pt x="86" y="62"/>
                      <a:pt x="86" y="62"/>
                      <a:pt x="86" y="62"/>
                    </a:cubicBezTo>
                    <a:cubicBezTo>
                      <a:pt x="87" y="62"/>
                      <a:pt x="88" y="61"/>
                      <a:pt x="88" y="60"/>
                    </a:cubicBezTo>
                    <a:cubicBezTo>
                      <a:pt x="88" y="8"/>
                      <a:pt x="88" y="8"/>
                      <a:pt x="88" y="8"/>
                    </a:cubicBezTo>
                    <a:cubicBezTo>
                      <a:pt x="88" y="4"/>
                      <a:pt x="84" y="0"/>
                      <a:pt x="80" y="0"/>
                    </a:cubicBezTo>
                    <a:cubicBezTo>
                      <a:pt x="8" y="0"/>
                      <a:pt x="8" y="0"/>
                      <a:pt x="8" y="0"/>
                    </a:cubicBezTo>
                    <a:cubicBezTo>
                      <a:pt x="4" y="0"/>
                      <a:pt x="0" y="4"/>
                      <a:pt x="0" y="8"/>
                    </a:cubicBezTo>
                    <a:cubicBezTo>
                      <a:pt x="0" y="60"/>
                      <a:pt x="0" y="60"/>
                      <a:pt x="0" y="60"/>
                    </a:cubicBezTo>
                    <a:cubicBezTo>
                      <a:pt x="0" y="61"/>
                      <a:pt x="1" y="62"/>
                      <a:pt x="2" y="62"/>
                    </a:cubicBezTo>
                    <a:close/>
                    <a:moveTo>
                      <a:pt x="8" y="8"/>
                    </a:moveTo>
                    <a:cubicBezTo>
                      <a:pt x="80" y="8"/>
                      <a:pt x="80" y="8"/>
                      <a:pt x="80" y="8"/>
                    </a:cubicBezTo>
                    <a:cubicBezTo>
                      <a:pt x="80" y="52"/>
                      <a:pt x="80" y="52"/>
                      <a:pt x="80" y="52"/>
                    </a:cubicBezTo>
                    <a:cubicBezTo>
                      <a:pt x="8" y="52"/>
                      <a:pt x="8" y="52"/>
                      <a:pt x="8" y="52"/>
                    </a:cubicBezTo>
                    <a:lnTo>
                      <a:pt x="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318" name="Freeform 9">
                <a:extLst>
                  <a:ext uri="{FF2B5EF4-FFF2-40B4-BE49-F238E27FC236}">
                    <a16:creationId xmlns:a16="http://schemas.microsoft.com/office/drawing/2014/main" id="{6FA57F59-543A-467B-B624-4BD85BA93038}"/>
                  </a:ext>
                </a:extLst>
              </p:cNvPr>
              <p:cNvSpPr>
                <a:spLocks/>
              </p:cNvSpPr>
              <p:nvPr/>
            </p:nvSpPr>
            <p:spPr bwMode="auto">
              <a:xfrm>
                <a:off x="6276975" y="1714501"/>
                <a:ext cx="360363" cy="44450"/>
              </a:xfrm>
              <a:custGeom>
                <a:avLst/>
                <a:gdLst>
                  <a:gd name="T0" fmla="*/ 94 w 96"/>
                  <a:gd name="T1" fmla="*/ 0 h 12"/>
                  <a:gd name="T2" fmla="*/ 58 w 96"/>
                  <a:gd name="T3" fmla="*/ 0 h 12"/>
                  <a:gd name="T4" fmla="*/ 56 w 96"/>
                  <a:gd name="T5" fmla="*/ 2 h 12"/>
                  <a:gd name="T6" fmla="*/ 56 w 96"/>
                  <a:gd name="T7" fmla="*/ 4 h 12"/>
                  <a:gd name="T8" fmla="*/ 40 w 96"/>
                  <a:gd name="T9" fmla="*/ 4 h 12"/>
                  <a:gd name="T10" fmla="*/ 40 w 96"/>
                  <a:gd name="T11" fmla="*/ 2 h 12"/>
                  <a:gd name="T12" fmla="*/ 38 w 96"/>
                  <a:gd name="T13" fmla="*/ 0 h 12"/>
                  <a:gd name="T14" fmla="*/ 2 w 96"/>
                  <a:gd name="T15" fmla="*/ 0 h 12"/>
                  <a:gd name="T16" fmla="*/ 0 w 96"/>
                  <a:gd name="T17" fmla="*/ 2 h 12"/>
                  <a:gd name="T18" fmla="*/ 0 w 96"/>
                  <a:gd name="T19" fmla="*/ 6 h 12"/>
                  <a:gd name="T20" fmla="*/ 6 w 96"/>
                  <a:gd name="T21" fmla="*/ 12 h 12"/>
                  <a:gd name="T22" fmla="*/ 90 w 96"/>
                  <a:gd name="T23" fmla="*/ 12 h 12"/>
                  <a:gd name="T24" fmla="*/ 96 w 96"/>
                  <a:gd name="T25" fmla="*/ 6 h 12"/>
                  <a:gd name="T26" fmla="*/ 96 w 96"/>
                  <a:gd name="T27" fmla="*/ 2 h 12"/>
                  <a:gd name="T28" fmla="*/ 94 w 96"/>
                  <a:gd name="T2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12">
                    <a:moveTo>
                      <a:pt x="94" y="0"/>
                    </a:moveTo>
                    <a:cubicBezTo>
                      <a:pt x="58" y="0"/>
                      <a:pt x="58" y="0"/>
                      <a:pt x="58" y="0"/>
                    </a:cubicBezTo>
                    <a:cubicBezTo>
                      <a:pt x="57" y="0"/>
                      <a:pt x="56" y="1"/>
                      <a:pt x="56" y="2"/>
                    </a:cubicBezTo>
                    <a:cubicBezTo>
                      <a:pt x="56" y="4"/>
                      <a:pt x="56" y="4"/>
                      <a:pt x="56" y="4"/>
                    </a:cubicBezTo>
                    <a:cubicBezTo>
                      <a:pt x="40" y="4"/>
                      <a:pt x="40" y="4"/>
                      <a:pt x="40" y="4"/>
                    </a:cubicBezTo>
                    <a:cubicBezTo>
                      <a:pt x="40" y="2"/>
                      <a:pt x="40" y="2"/>
                      <a:pt x="40" y="2"/>
                    </a:cubicBezTo>
                    <a:cubicBezTo>
                      <a:pt x="40" y="1"/>
                      <a:pt x="39" y="0"/>
                      <a:pt x="38" y="0"/>
                    </a:cubicBezTo>
                    <a:cubicBezTo>
                      <a:pt x="2" y="0"/>
                      <a:pt x="2" y="0"/>
                      <a:pt x="2" y="0"/>
                    </a:cubicBezTo>
                    <a:cubicBezTo>
                      <a:pt x="1" y="0"/>
                      <a:pt x="0" y="1"/>
                      <a:pt x="0" y="2"/>
                    </a:cubicBezTo>
                    <a:cubicBezTo>
                      <a:pt x="0" y="6"/>
                      <a:pt x="0" y="6"/>
                      <a:pt x="0" y="6"/>
                    </a:cubicBezTo>
                    <a:cubicBezTo>
                      <a:pt x="0" y="9"/>
                      <a:pt x="3" y="12"/>
                      <a:pt x="6" y="12"/>
                    </a:cubicBezTo>
                    <a:cubicBezTo>
                      <a:pt x="90" y="12"/>
                      <a:pt x="90" y="12"/>
                      <a:pt x="90" y="12"/>
                    </a:cubicBezTo>
                    <a:cubicBezTo>
                      <a:pt x="93" y="12"/>
                      <a:pt x="96" y="9"/>
                      <a:pt x="96" y="6"/>
                    </a:cubicBezTo>
                    <a:cubicBezTo>
                      <a:pt x="96" y="2"/>
                      <a:pt x="96" y="2"/>
                      <a:pt x="96" y="2"/>
                    </a:cubicBezTo>
                    <a:cubicBezTo>
                      <a:pt x="96" y="1"/>
                      <a:pt x="95" y="0"/>
                      <a:pt x="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grpSp>
        <p:nvGrpSpPr>
          <p:cNvPr id="319" name="Group 318">
            <a:extLst>
              <a:ext uri="{FF2B5EF4-FFF2-40B4-BE49-F238E27FC236}">
                <a16:creationId xmlns:a16="http://schemas.microsoft.com/office/drawing/2014/main" id="{ADA88E0C-0466-4AB8-89C3-415098C11928}"/>
              </a:ext>
            </a:extLst>
          </p:cNvPr>
          <p:cNvGrpSpPr/>
          <p:nvPr/>
        </p:nvGrpSpPr>
        <p:grpSpPr>
          <a:xfrm>
            <a:off x="1302418" y="4099442"/>
            <a:ext cx="557034" cy="557034"/>
            <a:chOff x="1302418" y="4099442"/>
            <a:chExt cx="557034" cy="557034"/>
          </a:xfrm>
        </p:grpSpPr>
        <p:sp>
          <p:nvSpPr>
            <p:cNvPr id="320" name="Oval 319">
              <a:extLst>
                <a:ext uri="{FF2B5EF4-FFF2-40B4-BE49-F238E27FC236}">
                  <a16:creationId xmlns:a16="http://schemas.microsoft.com/office/drawing/2014/main" id="{ABB2D86B-8EBD-419E-A622-ACB2EFC17B1A}"/>
                </a:ext>
              </a:extLst>
            </p:cNvPr>
            <p:cNvSpPr/>
            <p:nvPr/>
          </p:nvSpPr>
          <p:spPr>
            <a:xfrm>
              <a:off x="1302418" y="4099442"/>
              <a:ext cx="557034" cy="557034"/>
            </a:xfrm>
            <a:prstGeom prst="ellipse">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1" name="Freeform 27">
              <a:extLst>
                <a:ext uri="{FF2B5EF4-FFF2-40B4-BE49-F238E27FC236}">
                  <a16:creationId xmlns:a16="http://schemas.microsoft.com/office/drawing/2014/main" id="{378CE092-F7DF-4EFA-9C0A-ADD96D56F1DC}"/>
                </a:ext>
              </a:extLst>
            </p:cNvPr>
            <p:cNvSpPr>
              <a:spLocks/>
            </p:cNvSpPr>
            <p:nvPr/>
          </p:nvSpPr>
          <p:spPr bwMode="auto">
            <a:xfrm>
              <a:off x="1440721" y="4238397"/>
              <a:ext cx="280429" cy="279124"/>
            </a:xfrm>
            <a:custGeom>
              <a:avLst/>
              <a:gdLst>
                <a:gd name="T0" fmla="*/ 88 w 91"/>
                <a:gd name="T1" fmla="*/ 66 h 90"/>
                <a:gd name="T2" fmla="*/ 78 w 91"/>
                <a:gd name="T3" fmla="*/ 56 h 90"/>
                <a:gd name="T4" fmla="*/ 71 w 91"/>
                <a:gd name="T5" fmla="*/ 53 h 90"/>
                <a:gd name="T6" fmla="*/ 64 w 91"/>
                <a:gd name="T7" fmla="*/ 56 h 90"/>
                <a:gd name="T8" fmla="*/ 61 w 91"/>
                <a:gd name="T9" fmla="*/ 59 h 90"/>
                <a:gd name="T10" fmla="*/ 32 w 91"/>
                <a:gd name="T11" fmla="*/ 30 h 90"/>
                <a:gd name="T12" fmla="*/ 35 w 91"/>
                <a:gd name="T13" fmla="*/ 27 h 90"/>
                <a:gd name="T14" fmla="*/ 35 w 91"/>
                <a:gd name="T15" fmla="*/ 13 h 90"/>
                <a:gd name="T16" fmla="*/ 25 w 91"/>
                <a:gd name="T17" fmla="*/ 3 h 90"/>
                <a:gd name="T18" fmla="*/ 18 w 91"/>
                <a:gd name="T19" fmla="*/ 0 h 90"/>
                <a:gd name="T20" fmla="*/ 11 w 91"/>
                <a:gd name="T21" fmla="*/ 3 h 90"/>
                <a:gd name="T22" fmla="*/ 5 w 91"/>
                <a:gd name="T23" fmla="*/ 8 h 90"/>
                <a:gd name="T24" fmla="*/ 3 w 91"/>
                <a:gd name="T25" fmla="*/ 27 h 90"/>
                <a:gd name="T26" fmla="*/ 64 w 91"/>
                <a:gd name="T27" fmla="*/ 88 h 90"/>
                <a:gd name="T28" fmla="*/ 72 w 91"/>
                <a:gd name="T29" fmla="*/ 90 h 90"/>
                <a:gd name="T30" fmla="*/ 83 w 91"/>
                <a:gd name="T31" fmla="*/ 86 h 90"/>
                <a:gd name="T32" fmla="*/ 88 w 91"/>
                <a:gd name="T33" fmla="*/ 80 h 90"/>
                <a:gd name="T34" fmla="*/ 91 w 91"/>
                <a:gd name="T35" fmla="*/ 73 h 90"/>
                <a:gd name="T36" fmla="*/ 88 w 91"/>
                <a:gd name="T37" fmla="*/ 6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1" h="90">
                  <a:moveTo>
                    <a:pt x="88" y="66"/>
                  </a:moveTo>
                  <a:cubicBezTo>
                    <a:pt x="78" y="56"/>
                    <a:pt x="78" y="56"/>
                    <a:pt x="78" y="56"/>
                  </a:cubicBezTo>
                  <a:cubicBezTo>
                    <a:pt x="76" y="54"/>
                    <a:pt x="74" y="53"/>
                    <a:pt x="71" y="53"/>
                  </a:cubicBezTo>
                  <a:cubicBezTo>
                    <a:pt x="68" y="53"/>
                    <a:pt x="66" y="54"/>
                    <a:pt x="64" y="56"/>
                  </a:cubicBezTo>
                  <a:cubicBezTo>
                    <a:pt x="61" y="59"/>
                    <a:pt x="61" y="59"/>
                    <a:pt x="61" y="59"/>
                  </a:cubicBezTo>
                  <a:cubicBezTo>
                    <a:pt x="51" y="50"/>
                    <a:pt x="41" y="40"/>
                    <a:pt x="32" y="30"/>
                  </a:cubicBezTo>
                  <a:cubicBezTo>
                    <a:pt x="35" y="27"/>
                    <a:pt x="35" y="27"/>
                    <a:pt x="35" y="27"/>
                  </a:cubicBezTo>
                  <a:cubicBezTo>
                    <a:pt x="39" y="23"/>
                    <a:pt x="39" y="17"/>
                    <a:pt x="35" y="13"/>
                  </a:cubicBezTo>
                  <a:cubicBezTo>
                    <a:pt x="25" y="3"/>
                    <a:pt x="25" y="3"/>
                    <a:pt x="25" y="3"/>
                  </a:cubicBezTo>
                  <a:cubicBezTo>
                    <a:pt x="23" y="1"/>
                    <a:pt x="21" y="0"/>
                    <a:pt x="18" y="0"/>
                  </a:cubicBezTo>
                  <a:cubicBezTo>
                    <a:pt x="15" y="0"/>
                    <a:pt x="13" y="1"/>
                    <a:pt x="11" y="3"/>
                  </a:cubicBezTo>
                  <a:cubicBezTo>
                    <a:pt x="5" y="8"/>
                    <a:pt x="5" y="8"/>
                    <a:pt x="5" y="8"/>
                  </a:cubicBezTo>
                  <a:cubicBezTo>
                    <a:pt x="0" y="13"/>
                    <a:pt x="0" y="21"/>
                    <a:pt x="3" y="27"/>
                  </a:cubicBezTo>
                  <a:cubicBezTo>
                    <a:pt x="19" y="51"/>
                    <a:pt x="40" y="72"/>
                    <a:pt x="64" y="88"/>
                  </a:cubicBezTo>
                  <a:cubicBezTo>
                    <a:pt x="66" y="89"/>
                    <a:pt x="69" y="90"/>
                    <a:pt x="72" y="90"/>
                  </a:cubicBezTo>
                  <a:cubicBezTo>
                    <a:pt x="76" y="90"/>
                    <a:pt x="80" y="88"/>
                    <a:pt x="83" y="86"/>
                  </a:cubicBezTo>
                  <a:cubicBezTo>
                    <a:pt x="88" y="80"/>
                    <a:pt x="88" y="80"/>
                    <a:pt x="88" y="80"/>
                  </a:cubicBezTo>
                  <a:cubicBezTo>
                    <a:pt x="90" y="78"/>
                    <a:pt x="91" y="76"/>
                    <a:pt x="91" y="73"/>
                  </a:cubicBezTo>
                  <a:cubicBezTo>
                    <a:pt x="91" y="70"/>
                    <a:pt x="90" y="68"/>
                    <a:pt x="88" y="66"/>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nvGrpSpPr>
          <p:cNvPr id="322" name="Group 321">
            <a:extLst>
              <a:ext uri="{FF2B5EF4-FFF2-40B4-BE49-F238E27FC236}">
                <a16:creationId xmlns:a16="http://schemas.microsoft.com/office/drawing/2014/main" id="{7FF528FE-2F51-4E79-B5A8-5FAD8ECD67A4}"/>
              </a:ext>
            </a:extLst>
          </p:cNvPr>
          <p:cNvGrpSpPr/>
          <p:nvPr/>
        </p:nvGrpSpPr>
        <p:grpSpPr>
          <a:xfrm>
            <a:off x="1302418" y="4802188"/>
            <a:ext cx="557034" cy="557034"/>
            <a:chOff x="1302418" y="4802188"/>
            <a:chExt cx="557034" cy="557034"/>
          </a:xfrm>
        </p:grpSpPr>
        <p:sp>
          <p:nvSpPr>
            <p:cNvPr id="323" name="Oval 322">
              <a:extLst>
                <a:ext uri="{FF2B5EF4-FFF2-40B4-BE49-F238E27FC236}">
                  <a16:creationId xmlns:a16="http://schemas.microsoft.com/office/drawing/2014/main" id="{309FF7AA-B5CE-463F-9B47-F56A7A01FF99}"/>
                </a:ext>
              </a:extLst>
            </p:cNvPr>
            <p:cNvSpPr/>
            <p:nvPr/>
          </p:nvSpPr>
          <p:spPr>
            <a:xfrm>
              <a:off x="1302418" y="4802188"/>
              <a:ext cx="557034" cy="557034"/>
            </a:xfrm>
            <a:prstGeom prst="ellipse">
              <a:avLst/>
            </a:prstGeom>
            <a:solidFill>
              <a:srgbClr val="9D9F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24" name="Group 323">
              <a:extLst>
                <a:ext uri="{FF2B5EF4-FFF2-40B4-BE49-F238E27FC236}">
                  <a16:creationId xmlns:a16="http://schemas.microsoft.com/office/drawing/2014/main" id="{68BADD98-DF73-4C9A-B5ED-6B864F0043C4}"/>
                </a:ext>
              </a:extLst>
            </p:cNvPr>
            <p:cNvGrpSpPr/>
            <p:nvPr/>
          </p:nvGrpSpPr>
          <p:grpSpPr>
            <a:xfrm>
              <a:off x="1432895" y="4945056"/>
              <a:ext cx="296081" cy="271299"/>
              <a:chOff x="8440738" y="19050"/>
              <a:chExt cx="360363" cy="330201"/>
            </a:xfrm>
            <a:solidFill>
              <a:sysClr val="window" lastClr="FFFFFF"/>
            </a:solidFill>
          </p:grpSpPr>
          <p:sp>
            <p:nvSpPr>
              <p:cNvPr id="325" name="Freeform 71">
                <a:extLst>
                  <a:ext uri="{FF2B5EF4-FFF2-40B4-BE49-F238E27FC236}">
                    <a16:creationId xmlns:a16="http://schemas.microsoft.com/office/drawing/2014/main" id="{AF091C7D-6F0E-461C-8CF8-FDD5DB446AC8}"/>
                  </a:ext>
                </a:extLst>
              </p:cNvPr>
              <p:cNvSpPr>
                <a:spLocks/>
              </p:cNvSpPr>
              <p:nvPr/>
            </p:nvSpPr>
            <p:spPr bwMode="auto">
              <a:xfrm>
                <a:off x="8440738" y="19050"/>
                <a:ext cx="300038" cy="254000"/>
              </a:xfrm>
              <a:custGeom>
                <a:avLst/>
                <a:gdLst>
                  <a:gd name="T0" fmla="*/ 80 w 80"/>
                  <a:gd name="T1" fmla="*/ 2 h 68"/>
                  <a:gd name="T2" fmla="*/ 78 w 80"/>
                  <a:gd name="T3" fmla="*/ 0 h 68"/>
                  <a:gd name="T4" fmla="*/ 2 w 80"/>
                  <a:gd name="T5" fmla="*/ 0 h 68"/>
                  <a:gd name="T6" fmla="*/ 0 w 80"/>
                  <a:gd name="T7" fmla="*/ 2 h 68"/>
                  <a:gd name="T8" fmla="*/ 0 w 80"/>
                  <a:gd name="T9" fmla="*/ 50 h 68"/>
                  <a:gd name="T10" fmla="*/ 2 w 80"/>
                  <a:gd name="T11" fmla="*/ 52 h 68"/>
                  <a:gd name="T12" fmla="*/ 12 w 80"/>
                  <a:gd name="T13" fmla="*/ 52 h 68"/>
                  <a:gd name="T14" fmla="*/ 12 w 80"/>
                  <a:gd name="T15" fmla="*/ 66 h 68"/>
                  <a:gd name="T16" fmla="*/ 13 w 80"/>
                  <a:gd name="T17" fmla="*/ 68 h 68"/>
                  <a:gd name="T18" fmla="*/ 14 w 80"/>
                  <a:gd name="T19" fmla="*/ 68 h 68"/>
                  <a:gd name="T20" fmla="*/ 15 w 80"/>
                  <a:gd name="T21" fmla="*/ 67 h 68"/>
                  <a:gd name="T22" fmla="*/ 31 w 80"/>
                  <a:gd name="T23" fmla="*/ 52 h 68"/>
                  <a:gd name="T24" fmla="*/ 40 w 80"/>
                  <a:gd name="T25" fmla="*/ 52 h 68"/>
                  <a:gd name="T26" fmla="*/ 40 w 80"/>
                  <a:gd name="T27" fmla="*/ 34 h 68"/>
                  <a:gd name="T28" fmla="*/ 42 w 80"/>
                  <a:gd name="T29" fmla="*/ 32 h 68"/>
                  <a:gd name="T30" fmla="*/ 80 w 80"/>
                  <a:gd name="T31" fmla="*/ 32 h 68"/>
                  <a:gd name="T32" fmla="*/ 80 w 80"/>
                  <a:gd name="T3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68">
                    <a:moveTo>
                      <a:pt x="80" y="2"/>
                    </a:moveTo>
                    <a:cubicBezTo>
                      <a:pt x="80" y="1"/>
                      <a:pt x="79" y="0"/>
                      <a:pt x="78" y="0"/>
                    </a:cubicBezTo>
                    <a:cubicBezTo>
                      <a:pt x="2" y="0"/>
                      <a:pt x="2" y="0"/>
                      <a:pt x="2" y="0"/>
                    </a:cubicBezTo>
                    <a:cubicBezTo>
                      <a:pt x="1" y="0"/>
                      <a:pt x="0" y="1"/>
                      <a:pt x="0" y="2"/>
                    </a:cubicBezTo>
                    <a:cubicBezTo>
                      <a:pt x="0" y="50"/>
                      <a:pt x="0" y="50"/>
                      <a:pt x="0" y="50"/>
                    </a:cubicBezTo>
                    <a:cubicBezTo>
                      <a:pt x="0" y="51"/>
                      <a:pt x="1" y="52"/>
                      <a:pt x="2" y="52"/>
                    </a:cubicBezTo>
                    <a:cubicBezTo>
                      <a:pt x="12" y="52"/>
                      <a:pt x="12" y="52"/>
                      <a:pt x="12" y="52"/>
                    </a:cubicBezTo>
                    <a:cubicBezTo>
                      <a:pt x="12" y="66"/>
                      <a:pt x="12" y="66"/>
                      <a:pt x="12" y="66"/>
                    </a:cubicBezTo>
                    <a:cubicBezTo>
                      <a:pt x="12" y="67"/>
                      <a:pt x="12" y="68"/>
                      <a:pt x="13" y="68"/>
                    </a:cubicBezTo>
                    <a:cubicBezTo>
                      <a:pt x="13" y="68"/>
                      <a:pt x="14" y="68"/>
                      <a:pt x="14" y="68"/>
                    </a:cubicBezTo>
                    <a:cubicBezTo>
                      <a:pt x="15" y="68"/>
                      <a:pt x="15" y="68"/>
                      <a:pt x="15" y="67"/>
                    </a:cubicBezTo>
                    <a:cubicBezTo>
                      <a:pt x="31" y="52"/>
                      <a:pt x="31" y="52"/>
                      <a:pt x="31" y="52"/>
                    </a:cubicBezTo>
                    <a:cubicBezTo>
                      <a:pt x="40" y="52"/>
                      <a:pt x="40" y="52"/>
                      <a:pt x="40" y="52"/>
                    </a:cubicBezTo>
                    <a:cubicBezTo>
                      <a:pt x="40" y="34"/>
                      <a:pt x="40" y="34"/>
                      <a:pt x="40" y="34"/>
                    </a:cubicBezTo>
                    <a:cubicBezTo>
                      <a:pt x="40" y="33"/>
                      <a:pt x="41" y="32"/>
                      <a:pt x="42" y="32"/>
                    </a:cubicBezTo>
                    <a:cubicBezTo>
                      <a:pt x="80" y="32"/>
                      <a:pt x="80" y="32"/>
                      <a:pt x="80" y="32"/>
                    </a:cubicBezTo>
                    <a:lnTo>
                      <a:pt x="8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sp>
            <p:nvSpPr>
              <p:cNvPr id="326" name="Freeform 72">
                <a:extLst>
                  <a:ext uri="{FF2B5EF4-FFF2-40B4-BE49-F238E27FC236}">
                    <a16:creationId xmlns:a16="http://schemas.microsoft.com/office/drawing/2014/main" id="{B8E4F781-CFA4-4270-8F7D-0C6FE1624FC6}"/>
                  </a:ext>
                </a:extLst>
              </p:cNvPr>
              <p:cNvSpPr>
                <a:spLocks/>
              </p:cNvSpPr>
              <p:nvPr/>
            </p:nvSpPr>
            <p:spPr bwMode="auto">
              <a:xfrm>
                <a:off x="8605838" y="153988"/>
                <a:ext cx="195263" cy="195263"/>
              </a:xfrm>
              <a:custGeom>
                <a:avLst/>
                <a:gdLst>
                  <a:gd name="T0" fmla="*/ 50 w 52"/>
                  <a:gd name="T1" fmla="*/ 0 h 52"/>
                  <a:gd name="T2" fmla="*/ 2 w 52"/>
                  <a:gd name="T3" fmla="*/ 0 h 52"/>
                  <a:gd name="T4" fmla="*/ 0 w 52"/>
                  <a:gd name="T5" fmla="*/ 0 h 52"/>
                  <a:gd name="T6" fmla="*/ 0 w 52"/>
                  <a:gd name="T7" fmla="*/ 2 h 52"/>
                  <a:gd name="T8" fmla="*/ 0 w 52"/>
                  <a:gd name="T9" fmla="*/ 34 h 52"/>
                  <a:gd name="T10" fmla="*/ 2 w 52"/>
                  <a:gd name="T11" fmla="*/ 36 h 52"/>
                  <a:gd name="T12" fmla="*/ 22 w 52"/>
                  <a:gd name="T13" fmla="*/ 36 h 52"/>
                  <a:gd name="T14" fmla="*/ 23 w 52"/>
                  <a:gd name="T15" fmla="*/ 36 h 52"/>
                  <a:gd name="T16" fmla="*/ 24 w 52"/>
                  <a:gd name="T17" fmla="*/ 37 h 52"/>
                  <a:gd name="T18" fmla="*/ 24 w 52"/>
                  <a:gd name="T19" fmla="*/ 37 h 52"/>
                  <a:gd name="T20" fmla="*/ 41 w 52"/>
                  <a:gd name="T21" fmla="*/ 51 h 52"/>
                  <a:gd name="T22" fmla="*/ 42 w 52"/>
                  <a:gd name="T23" fmla="*/ 52 h 52"/>
                  <a:gd name="T24" fmla="*/ 43 w 52"/>
                  <a:gd name="T25" fmla="*/ 52 h 52"/>
                  <a:gd name="T26" fmla="*/ 44 w 52"/>
                  <a:gd name="T27" fmla="*/ 50 h 52"/>
                  <a:gd name="T28" fmla="*/ 44 w 52"/>
                  <a:gd name="T29" fmla="*/ 38 h 52"/>
                  <a:gd name="T30" fmla="*/ 44 w 52"/>
                  <a:gd name="T31" fmla="*/ 36 h 52"/>
                  <a:gd name="T32" fmla="*/ 46 w 52"/>
                  <a:gd name="T33" fmla="*/ 36 h 52"/>
                  <a:gd name="T34" fmla="*/ 50 w 52"/>
                  <a:gd name="T35" fmla="*/ 36 h 52"/>
                  <a:gd name="T36" fmla="*/ 52 w 52"/>
                  <a:gd name="T37" fmla="*/ 34 h 52"/>
                  <a:gd name="T38" fmla="*/ 52 w 52"/>
                  <a:gd name="T39" fmla="*/ 2 h 52"/>
                  <a:gd name="T40" fmla="*/ 50 w 52"/>
                  <a:gd name="T4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2">
                    <a:moveTo>
                      <a:pt x="50" y="0"/>
                    </a:moveTo>
                    <a:cubicBezTo>
                      <a:pt x="2" y="0"/>
                      <a:pt x="2" y="0"/>
                      <a:pt x="2" y="0"/>
                    </a:cubicBezTo>
                    <a:cubicBezTo>
                      <a:pt x="0" y="0"/>
                      <a:pt x="0" y="0"/>
                      <a:pt x="0" y="0"/>
                    </a:cubicBezTo>
                    <a:cubicBezTo>
                      <a:pt x="0" y="2"/>
                      <a:pt x="0" y="2"/>
                      <a:pt x="0" y="2"/>
                    </a:cubicBezTo>
                    <a:cubicBezTo>
                      <a:pt x="0" y="34"/>
                      <a:pt x="0" y="34"/>
                      <a:pt x="0" y="34"/>
                    </a:cubicBezTo>
                    <a:cubicBezTo>
                      <a:pt x="0" y="35"/>
                      <a:pt x="1" y="36"/>
                      <a:pt x="2" y="36"/>
                    </a:cubicBezTo>
                    <a:cubicBezTo>
                      <a:pt x="22" y="36"/>
                      <a:pt x="22" y="36"/>
                      <a:pt x="22" y="36"/>
                    </a:cubicBezTo>
                    <a:cubicBezTo>
                      <a:pt x="23" y="36"/>
                      <a:pt x="23" y="36"/>
                      <a:pt x="23" y="36"/>
                    </a:cubicBezTo>
                    <a:cubicBezTo>
                      <a:pt x="24" y="37"/>
                      <a:pt x="24" y="37"/>
                      <a:pt x="24" y="37"/>
                    </a:cubicBezTo>
                    <a:cubicBezTo>
                      <a:pt x="24" y="37"/>
                      <a:pt x="24" y="37"/>
                      <a:pt x="24" y="37"/>
                    </a:cubicBezTo>
                    <a:cubicBezTo>
                      <a:pt x="41" y="51"/>
                      <a:pt x="41" y="51"/>
                      <a:pt x="41" y="51"/>
                    </a:cubicBezTo>
                    <a:cubicBezTo>
                      <a:pt x="41" y="52"/>
                      <a:pt x="42" y="52"/>
                      <a:pt x="42" y="52"/>
                    </a:cubicBezTo>
                    <a:cubicBezTo>
                      <a:pt x="42" y="52"/>
                      <a:pt x="43" y="52"/>
                      <a:pt x="43" y="52"/>
                    </a:cubicBezTo>
                    <a:cubicBezTo>
                      <a:pt x="44" y="52"/>
                      <a:pt x="44" y="51"/>
                      <a:pt x="44" y="50"/>
                    </a:cubicBezTo>
                    <a:cubicBezTo>
                      <a:pt x="44" y="38"/>
                      <a:pt x="44" y="38"/>
                      <a:pt x="44" y="38"/>
                    </a:cubicBezTo>
                    <a:cubicBezTo>
                      <a:pt x="44" y="36"/>
                      <a:pt x="44" y="36"/>
                      <a:pt x="44" y="36"/>
                    </a:cubicBezTo>
                    <a:cubicBezTo>
                      <a:pt x="46" y="36"/>
                      <a:pt x="46" y="36"/>
                      <a:pt x="46" y="36"/>
                    </a:cubicBezTo>
                    <a:cubicBezTo>
                      <a:pt x="50" y="36"/>
                      <a:pt x="50" y="36"/>
                      <a:pt x="50" y="36"/>
                    </a:cubicBezTo>
                    <a:cubicBezTo>
                      <a:pt x="51" y="36"/>
                      <a:pt x="52" y="35"/>
                      <a:pt x="52" y="34"/>
                    </a:cubicBezTo>
                    <a:cubicBezTo>
                      <a:pt x="52" y="2"/>
                      <a:pt x="52" y="2"/>
                      <a:pt x="52" y="2"/>
                    </a:cubicBezTo>
                    <a:cubicBezTo>
                      <a:pt x="52" y="1"/>
                      <a:pt x="51"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black"/>
                  </a:solidFill>
                  <a:effectLst/>
                  <a:uLnTx/>
                  <a:uFillTx/>
                  <a:latin typeface="Calibri" panose="020F0502020204030204"/>
                </a:endParaRPr>
              </a:p>
            </p:txBody>
          </p:sp>
        </p:grpSp>
      </p:grpSp>
      <p:cxnSp>
        <p:nvCxnSpPr>
          <p:cNvPr id="327" name="Straight Connector 326">
            <a:extLst>
              <a:ext uri="{FF2B5EF4-FFF2-40B4-BE49-F238E27FC236}">
                <a16:creationId xmlns:a16="http://schemas.microsoft.com/office/drawing/2014/main" id="{0A6792B2-397A-4D06-9D9D-F113785895F8}"/>
              </a:ext>
            </a:extLst>
          </p:cNvPr>
          <p:cNvCxnSpPr>
            <a:stCxn id="310" idx="6"/>
          </p:cNvCxnSpPr>
          <p:nvPr/>
        </p:nvCxnSpPr>
        <p:spPr>
          <a:xfrm flipV="1">
            <a:off x="1859452" y="2972044"/>
            <a:ext cx="778148" cy="423"/>
          </a:xfrm>
          <a:prstGeom prst="line">
            <a:avLst/>
          </a:prstGeom>
          <a:noFill/>
          <a:ln w="12700" cap="flat" cmpd="sng" algn="ctr">
            <a:solidFill>
              <a:sysClr val="window" lastClr="FFFFFF">
                <a:lumMod val="75000"/>
              </a:sysClr>
            </a:solidFill>
            <a:prstDash val="sysDash"/>
            <a:miter lim="800000"/>
            <a:tailEnd type="none"/>
          </a:ln>
          <a:effectLst/>
        </p:spPr>
      </p:cxnSp>
      <p:cxnSp>
        <p:nvCxnSpPr>
          <p:cNvPr id="328" name="Straight Connector 327">
            <a:extLst>
              <a:ext uri="{FF2B5EF4-FFF2-40B4-BE49-F238E27FC236}">
                <a16:creationId xmlns:a16="http://schemas.microsoft.com/office/drawing/2014/main" id="{3765775F-8A47-433E-946D-F49E58FB0462}"/>
              </a:ext>
            </a:extLst>
          </p:cNvPr>
          <p:cNvCxnSpPr/>
          <p:nvPr/>
        </p:nvCxnSpPr>
        <p:spPr>
          <a:xfrm flipV="1">
            <a:off x="1859452" y="3675002"/>
            <a:ext cx="778148" cy="423"/>
          </a:xfrm>
          <a:prstGeom prst="line">
            <a:avLst/>
          </a:prstGeom>
          <a:noFill/>
          <a:ln w="12700" cap="flat" cmpd="sng" algn="ctr">
            <a:solidFill>
              <a:sysClr val="window" lastClr="FFFFFF">
                <a:lumMod val="75000"/>
              </a:sysClr>
            </a:solidFill>
            <a:prstDash val="sysDash"/>
            <a:miter lim="800000"/>
            <a:tailEnd type="none"/>
          </a:ln>
          <a:effectLst/>
        </p:spPr>
      </p:cxnSp>
      <p:cxnSp>
        <p:nvCxnSpPr>
          <p:cNvPr id="329" name="Straight Connector 328">
            <a:extLst>
              <a:ext uri="{FF2B5EF4-FFF2-40B4-BE49-F238E27FC236}">
                <a16:creationId xmlns:a16="http://schemas.microsoft.com/office/drawing/2014/main" id="{55AD1D7C-F9D3-44E9-B2FC-AA298C42BE73}"/>
              </a:ext>
            </a:extLst>
          </p:cNvPr>
          <p:cNvCxnSpPr/>
          <p:nvPr/>
        </p:nvCxnSpPr>
        <p:spPr>
          <a:xfrm flipV="1">
            <a:off x="1859452" y="4377748"/>
            <a:ext cx="778148" cy="423"/>
          </a:xfrm>
          <a:prstGeom prst="line">
            <a:avLst/>
          </a:prstGeom>
          <a:noFill/>
          <a:ln w="12700" cap="flat" cmpd="sng" algn="ctr">
            <a:solidFill>
              <a:sysClr val="window" lastClr="FFFFFF">
                <a:lumMod val="75000"/>
              </a:sysClr>
            </a:solidFill>
            <a:prstDash val="sysDash"/>
            <a:miter lim="800000"/>
            <a:tailEnd type="none"/>
          </a:ln>
          <a:effectLst/>
        </p:spPr>
      </p:cxnSp>
      <p:cxnSp>
        <p:nvCxnSpPr>
          <p:cNvPr id="330" name="Straight Connector 329">
            <a:extLst>
              <a:ext uri="{FF2B5EF4-FFF2-40B4-BE49-F238E27FC236}">
                <a16:creationId xmlns:a16="http://schemas.microsoft.com/office/drawing/2014/main" id="{4218D1CC-3615-446C-839A-BA440E8BBEB3}"/>
              </a:ext>
            </a:extLst>
          </p:cNvPr>
          <p:cNvCxnSpPr/>
          <p:nvPr/>
        </p:nvCxnSpPr>
        <p:spPr>
          <a:xfrm flipV="1">
            <a:off x="1859452" y="5080494"/>
            <a:ext cx="778148" cy="423"/>
          </a:xfrm>
          <a:prstGeom prst="line">
            <a:avLst/>
          </a:prstGeom>
          <a:noFill/>
          <a:ln w="12700" cap="flat" cmpd="sng" algn="ctr">
            <a:solidFill>
              <a:sysClr val="window" lastClr="FFFFFF">
                <a:lumMod val="75000"/>
              </a:sysClr>
            </a:solidFill>
            <a:prstDash val="sysDash"/>
            <a:miter lim="800000"/>
            <a:tailEnd type="none"/>
          </a:ln>
          <a:effectLst/>
        </p:spPr>
      </p:cxnSp>
      <p:cxnSp>
        <p:nvCxnSpPr>
          <p:cNvPr id="331" name="Straight Connector 330">
            <a:extLst>
              <a:ext uri="{FF2B5EF4-FFF2-40B4-BE49-F238E27FC236}">
                <a16:creationId xmlns:a16="http://schemas.microsoft.com/office/drawing/2014/main" id="{A806F7D5-BB4C-44CC-8ADF-55B777379802}"/>
              </a:ext>
            </a:extLst>
          </p:cNvPr>
          <p:cNvCxnSpPr/>
          <p:nvPr/>
        </p:nvCxnSpPr>
        <p:spPr>
          <a:xfrm>
            <a:off x="2637600" y="2972044"/>
            <a:ext cx="0" cy="2108450"/>
          </a:xfrm>
          <a:prstGeom prst="line">
            <a:avLst/>
          </a:prstGeom>
          <a:noFill/>
          <a:ln w="12700" cap="flat" cmpd="sng" algn="ctr">
            <a:solidFill>
              <a:sysClr val="window" lastClr="FFFFFF">
                <a:lumMod val="75000"/>
              </a:sysClr>
            </a:solidFill>
            <a:prstDash val="sysDash"/>
            <a:miter lim="800000"/>
            <a:tailEnd type="none"/>
          </a:ln>
          <a:effectLst/>
        </p:spPr>
      </p:cxnSp>
      <p:grpSp>
        <p:nvGrpSpPr>
          <p:cNvPr id="332" name="Group 331">
            <a:extLst>
              <a:ext uri="{FF2B5EF4-FFF2-40B4-BE49-F238E27FC236}">
                <a16:creationId xmlns:a16="http://schemas.microsoft.com/office/drawing/2014/main" id="{DC5E3ED6-8534-4BBB-84C8-A60978E41D93}"/>
              </a:ext>
            </a:extLst>
          </p:cNvPr>
          <p:cNvGrpSpPr/>
          <p:nvPr/>
        </p:nvGrpSpPr>
        <p:grpSpPr>
          <a:xfrm>
            <a:off x="2645328" y="4018271"/>
            <a:ext cx="986546" cy="85612"/>
            <a:chOff x="2645328" y="3981894"/>
            <a:chExt cx="986546" cy="85612"/>
          </a:xfrm>
        </p:grpSpPr>
        <p:cxnSp>
          <p:nvCxnSpPr>
            <p:cNvPr id="333" name="Straight Connector 332">
              <a:extLst>
                <a:ext uri="{FF2B5EF4-FFF2-40B4-BE49-F238E27FC236}">
                  <a16:creationId xmlns:a16="http://schemas.microsoft.com/office/drawing/2014/main" id="{8089429C-171C-4C29-95D9-F89E22D170C6}"/>
                </a:ext>
              </a:extLst>
            </p:cNvPr>
            <p:cNvCxnSpPr>
              <a:cxnSpLocks/>
              <a:endCxn id="334" idx="2"/>
            </p:cNvCxnSpPr>
            <p:nvPr/>
          </p:nvCxnSpPr>
          <p:spPr>
            <a:xfrm flipV="1">
              <a:off x="2645328" y="4024700"/>
              <a:ext cx="900934" cy="1782"/>
            </a:xfrm>
            <a:prstGeom prst="line">
              <a:avLst/>
            </a:prstGeom>
            <a:noFill/>
            <a:ln w="12700" cap="flat" cmpd="sng" algn="ctr">
              <a:solidFill>
                <a:sysClr val="window" lastClr="FFFFFF">
                  <a:lumMod val="75000"/>
                </a:sysClr>
              </a:solidFill>
              <a:prstDash val="sysDash"/>
              <a:miter lim="800000"/>
              <a:tailEnd type="none"/>
            </a:ln>
            <a:effectLst/>
          </p:spPr>
        </p:cxnSp>
        <p:sp>
          <p:nvSpPr>
            <p:cNvPr id="334" name="Oval 333">
              <a:extLst>
                <a:ext uri="{FF2B5EF4-FFF2-40B4-BE49-F238E27FC236}">
                  <a16:creationId xmlns:a16="http://schemas.microsoft.com/office/drawing/2014/main" id="{B7117851-8FE7-4572-B362-4CB024706E87}"/>
                </a:ext>
              </a:extLst>
            </p:cNvPr>
            <p:cNvSpPr/>
            <p:nvPr/>
          </p:nvSpPr>
          <p:spPr>
            <a:xfrm>
              <a:off x="3546262" y="3981894"/>
              <a:ext cx="85612" cy="85612"/>
            </a:xfrm>
            <a:prstGeom prst="ellipse">
              <a:avLst/>
            </a:prstGeom>
            <a:solidFill>
              <a:srgbClr val="9D9FA2"/>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335" name="Group 334">
            <a:extLst>
              <a:ext uri="{FF2B5EF4-FFF2-40B4-BE49-F238E27FC236}">
                <a16:creationId xmlns:a16="http://schemas.microsoft.com/office/drawing/2014/main" id="{106A441A-8723-40E0-9B63-FC1309A4961B}"/>
              </a:ext>
            </a:extLst>
          </p:cNvPr>
          <p:cNvGrpSpPr/>
          <p:nvPr/>
        </p:nvGrpSpPr>
        <p:grpSpPr>
          <a:xfrm>
            <a:off x="5544220" y="2849453"/>
            <a:ext cx="996382" cy="2425852"/>
            <a:chOff x="5544220" y="2849453"/>
            <a:chExt cx="996382" cy="2425852"/>
          </a:xfrm>
        </p:grpSpPr>
        <p:cxnSp>
          <p:nvCxnSpPr>
            <p:cNvPr id="336" name="Straight Connector 335">
              <a:extLst>
                <a:ext uri="{FF2B5EF4-FFF2-40B4-BE49-F238E27FC236}">
                  <a16:creationId xmlns:a16="http://schemas.microsoft.com/office/drawing/2014/main" id="{7D67B5AD-7C35-4E79-B13F-5851A7096E2E}"/>
                </a:ext>
              </a:extLst>
            </p:cNvPr>
            <p:cNvCxnSpPr>
              <a:cxnSpLocks/>
            </p:cNvCxnSpPr>
            <p:nvPr/>
          </p:nvCxnSpPr>
          <p:spPr>
            <a:xfrm>
              <a:off x="6133216" y="2853258"/>
              <a:ext cx="407386" cy="1"/>
            </a:xfrm>
            <a:prstGeom prst="line">
              <a:avLst/>
            </a:prstGeom>
            <a:noFill/>
            <a:ln w="12700" cap="flat" cmpd="sng" algn="ctr">
              <a:solidFill>
                <a:sysClr val="window" lastClr="FFFFFF">
                  <a:lumMod val="75000"/>
                </a:sysClr>
              </a:solidFill>
              <a:prstDash val="sysDash"/>
              <a:miter lim="800000"/>
              <a:tailEnd type="none"/>
            </a:ln>
            <a:effectLst/>
          </p:spPr>
        </p:cxnSp>
        <p:cxnSp>
          <p:nvCxnSpPr>
            <p:cNvPr id="337" name="Straight Connector 336">
              <a:extLst>
                <a:ext uri="{FF2B5EF4-FFF2-40B4-BE49-F238E27FC236}">
                  <a16:creationId xmlns:a16="http://schemas.microsoft.com/office/drawing/2014/main" id="{959D1649-75A9-4229-BF83-FC01385A1003}"/>
                </a:ext>
              </a:extLst>
            </p:cNvPr>
            <p:cNvCxnSpPr>
              <a:cxnSpLocks/>
            </p:cNvCxnSpPr>
            <p:nvPr/>
          </p:nvCxnSpPr>
          <p:spPr>
            <a:xfrm>
              <a:off x="6133216" y="3458770"/>
              <a:ext cx="407386" cy="1"/>
            </a:xfrm>
            <a:prstGeom prst="line">
              <a:avLst/>
            </a:prstGeom>
            <a:noFill/>
            <a:ln w="12700" cap="flat" cmpd="sng" algn="ctr">
              <a:solidFill>
                <a:sysClr val="window" lastClr="FFFFFF">
                  <a:lumMod val="75000"/>
                </a:sysClr>
              </a:solidFill>
              <a:prstDash val="sysDash"/>
              <a:miter lim="800000"/>
              <a:tailEnd type="none"/>
            </a:ln>
            <a:effectLst/>
          </p:spPr>
        </p:cxnSp>
        <p:cxnSp>
          <p:nvCxnSpPr>
            <p:cNvPr id="338" name="Straight Connector 337">
              <a:extLst>
                <a:ext uri="{FF2B5EF4-FFF2-40B4-BE49-F238E27FC236}">
                  <a16:creationId xmlns:a16="http://schemas.microsoft.com/office/drawing/2014/main" id="{79E7CA0B-2498-431E-8A38-E9DF2E03596B}"/>
                </a:ext>
              </a:extLst>
            </p:cNvPr>
            <p:cNvCxnSpPr>
              <a:cxnSpLocks/>
            </p:cNvCxnSpPr>
            <p:nvPr/>
          </p:nvCxnSpPr>
          <p:spPr>
            <a:xfrm>
              <a:off x="5557917" y="4064283"/>
              <a:ext cx="982685" cy="0"/>
            </a:xfrm>
            <a:prstGeom prst="line">
              <a:avLst/>
            </a:prstGeom>
            <a:noFill/>
            <a:ln w="12700" cap="flat" cmpd="sng" algn="ctr">
              <a:solidFill>
                <a:sysClr val="window" lastClr="FFFFFF">
                  <a:lumMod val="75000"/>
                </a:sysClr>
              </a:solidFill>
              <a:prstDash val="sysDash"/>
              <a:miter lim="800000"/>
              <a:tailEnd type="none"/>
            </a:ln>
            <a:effectLst/>
          </p:spPr>
        </p:cxnSp>
        <p:cxnSp>
          <p:nvCxnSpPr>
            <p:cNvPr id="339" name="Straight Connector 338">
              <a:extLst>
                <a:ext uri="{FF2B5EF4-FFF2-40B4-BE49-F238E27FC236}">
                  <a16:creationId xmlns:a16="http://schemas.microsoft.com/office/drawing/2014/main" id="{E2A27496-9C89-4B9C-8486-1EAB0535E0A1}"/>
                </a:ext>
              </a:extLst>
            </p:cNvPr>
            <p:cNvCxnSpPr>
              <a:cxnSpLocks/>
            </p:cNvCxnSpPr>
            <p:nvPr/>
          </p:nvCxnSpPr>
          <p:spPr>
            <a:xfrm>
              <a:off x="6133216" y="4669794"/>
              <a:ext cx="407386" cy="1"/>
            </a:xfrm>
            <a:prstGeom prst="line">
              <a:avLst/>
            </a:prstGeom>
            <a:noFill/>
            <a:ln w="12700" cap="flat" cmpd="sng" algn="ctr">
              <a:solidFill>
                <a:sysClr val="window" lastClr="FFFFFF">
                  <a:lumMod val="75000"/>
                </a:sysClr>
              </a:solidFill>
              <a:prstDash val="sysDash"/>
              <a:miter lim="800000"/>
              <a:tailEnd type="none"/>
            </a:ln>
            <a:effectLst/>
          </p:spPr>
        </p:cxnSp>
        <p:cxnSp>
          <p:nvCxnSpPr>
            <p:cNvPr id="340" name="Straight Connector 339">
              <a:extLst>
                <a:ext uri="{FF2B5EF4-FFF2-40B4-BE49-F238E27FC236}">
                  <a16:creationId xmlns:a16="http://schemas.microsoft.com/office/drawing/2014/main" id="{01AC35EB-C968-473B-ADB4-DCC08A35FA3D}"/>
                </a:ext>
              </a:extLst>
            </p:cNvPr>
            <p:cNvCxnSpPr>
              <a:cxnSpLocks/>
            </p:cNvCxnSpPr>
            <p:nvPr/>
          </p:nvCxnSpPr>
          <p:spPr>
            <a:xfrm>
              <a:off x="6133216" y="5275304"/>
              <a:ext cx="407386" cy="1"/>
            </a:xfrm>
            <a:prstGeom prst="line">
              <a:avLst/>
            </a:prstGeom>
            <a:noFill/>
            <a:ln w="12700" cap="flat" cmpd="sng" algn="ctr">
              <a:solidFill>
                <a:sysClr val="window" lastClr="FFFFFF">
                  <a:lumMod val="75000"/>
                </a:sysClr>
              </a:solidFill>
              <a:prstDash val="sysDash"/>
              <a:miter lim="800000"/>
              <a:tailEnd type="none"/>
            </a:ln>
            <a:effectLst/>
          </p:spPr>
        </p:cxnSp>
        <p:cxnSp>
          <p:nvCxnSpPr>
            <p:cNvPr id="341" name="Straight Connector 340">
              <a:extLst>
                <a:ext uri="{FF2B5EF4-FFF2-40B4-BE49-F238E27FC236}">
                  <a16:creationId xmlns:a16="http://schemas.microsoft.com/office/drawing/2014/main" id="{3EE4992C-D40E-4C0B-B178-7C7DCE7AEB7F}"/>
                </a:ext>
              </a:extLst>
            </p:cNvPr>
            <p:cNvCxnSpPr>
              <a:cxnSpLocks/>
            </p:cNvCxnSpPr>
            <p:nvPr/>
          </p:nvCxnSpPr>
          <p:spPr>
            <a:xfrm>
              <a:off x="6133216" y="2849453"/>
              <a:ext cx="0" cy="2423248"/>
            </a:xfrm>
            <a:prstGeom prst="line">
              <a:avLst/>
            </a:prstGeom>
            <a:noFill/>
            <a:ln w="12700" cap="flat" cmpd="sng" algn="ctr">
              <a:solidFill>
                <a:sysClr val="window" lastClr="FFFFFF">
                  <a:lumMod val="75000"/>
                </a:sysClr>
              </a:solidFill>
              <a:prstDash val="sysDash"/>
              <a:miter lim="800000"/>
              <a:tailEnd type="none"/>
            </a:ln>
            <a:effectLst/>
          </p:spPr>
        </p:cxnSp>
        <p:sp>
          <p:nvSpPr>
            <p:cNvPr id="342" name="Oval 341">
              <a:extLst>
                <a:ext uri="{FF2B5EF4-FFF2-40B4-BE49-F238E27FC236}">
                  <a16:creationId xmlns:a16="http://schemas.microsoft.com/office/drawing/2014/main" id="{800B8C0B-42E2-4561-ACAB-1B43684EE300}"/>
                </a:ext>
              </a:extLst>
            </p:cNvPr>
            <p:cNvSpPr/>
            <p:nvPr/>
          </p:nvSpPr>
          <p:spPr>
            <a:xfrm flipH="1">
              <a:off x="5544220" y="4018271"/>
              <a:ext cx="85612" cy="85612"/>
            </a:xfrm>
            <a:prstGeom prst="ellipse">
              <a:avLst/>
            </a:prstGeom>
            <a:solidFill>
              <a:srgbClr val="9D9FA2"/>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cxnSp>
        <p:nvCxnSpPr>
          <p:cNvPr id="343" name="Straight Arrow Connector 342">
            <a:extLst>
              <a:ext uri="{FF2B5EF4-FFF2-40B4-BE49-F238E27FC236}">
                <a16:creationId xmlns:a16="http://schemas.microsoft.com/office/drawing/2014/main" id="{52E6D5E0-366B-48DF-82C0-C5929F2F5DF2}"/>
              </a:ext>
            </a:extLst>
          </p:cNvPr>
          <p:cNvCxnSpPr>
            <a:cxnSpLocks/>
          </p:cNvCxnSpPr>
          <p:nvPr/>
        </p:nvCxnSpPr>
        <p:spPr>
          <a:xfrm>
            <a:off x="5587489" y="5930170"/>
            <a:ext cx="3885877" cy="0"/>
          </a:xfrm>
          <a:prstGeom prst="straightConnector1">
            <a:avLst/>
          </a:prstGeom>
          <a:noFill/>
          <a:ln w="22225" cap="flat" cmpd="sng" algn="ctr">
            <a:solidFill>
              <a:sysClr val="window" lastClr="FFFFFF">
                <a:lumMod val="75000"/>
              </a:sysClr>
            </a:solidFill>
            <a:prstDash val="solid"/>
            <a:miter lim="800000"/>
            <a:tailEnd type="arrow"/>
          </a:ln>
          <a:effectLst/>
        </p:spPr>
      </p:cxnSp>
      <p:grpSp>
        <p:nvGrpSpPr>
          <p:cNvPr id="344" name="Group 343">
            <a:extLst>
              <a:ext uri="{FF2B5EF4-FFF2-40B4-BE49-F238E27FC236}">
                <a16:creationId xmlns:a16="http://schemas.microsoft.com/office/drawing/2014/main" id="{3ED0A6C4-4DE5-4DE3-85DF-42A3EF345FA8}"/>
              </a:ext>
            </a:extLst>
          </p:cNvPr>
          <p:cNvGrpSpPr/>
          <p:nvPr/>
        </p:nvGrpSpPr>
        <p:grpSpPr>
          <a:xfrm>
            <a:off x="93406" y="2580898"/>
            <a:ext cx="1922497" cy="718564"/>
            <a:chOff x="93406" y="2580898"/>
            <a:chExt cx="1922497" cy="718564"/>
          </a:xfrm>
        </p:grpSpPr>
        <p:sp>
          <p:nvSpPr>
            <p:cNvPr id="345" name="Rectangle 344">
              <a:extLst>
                <a:ext uri="{FF2B5EF4-FFF2-40B4-BE49-F238E27FC236}">
                  <a16:creationId xmlns:a16="http://schemas.microsoft.com/office/drawing/2014/main" id="{BD2F5623-84D4-4CA5-9F50-52CFC0AEF2E0}"/>
                </a:ext>
              </a:extLst>
            </p:cNvPr>
            <p:cNvSpPr/>
            <p:nvPr/>
          </p:nvSpPr>
          <p:spPr>
            <a:xfrm>
              <a:off x="1136689" y="2580898"/>
              <a:ext cx="879214" cy="718564"/>
            </a:xfrm>
            <a:prstGeom prst="rect">
              <a:avLst/>
            </a:prstGeom>
            <a:noFill/>
            <a:ln w="38100" cap="flat" cmpd="sng" algn="ctr">
              <a:solidFill>
                <a:srgbClr val="F474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46" name="TextBox 345">
              <a:extLst>
                <a:ext uri="{FF2B5EF4-FFF2-40B4-BE49-F238E27FC236}">
                  <a16:creationId xmlns:a16="http://schemas.microsoft.com/office/drawing/2014/main" id="{FE9DD9DE-8803-49EE-BFBB-B6952CE9414A}"/>
                </a:ext>
              </a:extLst>
            </p:cNvPr>
            <p:cNvSpPr txBox="1"/>
            <p:nvPr/>
          </p:nvSpPr>
          <p:spPr>
            <a:xfrm>
              <a:off x="93406" y="2766755"/>
              <a:ext cx="1041032"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rPr>
                <a:t>Email to Case</a:t>
              </a:r>
            </a:p>
          </p:txBody>
        </p:sp>
      </p:grpSp>
      <p:grpSp>
        <p:nvGrpSpPr>
          <p:cNvPr id="347" name="Group 346">
            <a:extLst>
              <a:ext uri="{FF2B5EF4-FFF2-40B4-BE49-F238E27FC236}">
                <a16:creationId xmlns:a16="http://schemas.microsoft.com/office/drawing/2014/main" id="{E2768A76-16B9-45D7-93C4-4E861CDCB15C}"/>
              </a:ext>
            </a:extLst>
          </p:cNvPr>
          <p:cNvGrpSpPr/>
          <p:nvPr/>
        </p:nvGrpSpPr>
        <p:grpSpPr>
          <a:xfrm>
            <a:off x="104307" y="3307790"/>
            <a:ext cx="1911596" cy="718564"/>
            <a:chOff x="104307" y="3307790"/>
            <a:chExt cx="1911596" cy="718564"/>
          </a:xfrm>
        </p:grpSpPr>
        <p:sp>
          <p:nvSpPr>
            <p:cNvPr id="348" name="Rectangle 347">
              <a:extLst>
                <a:ext uri="{FF2B5EF4-FFF2-40B4-BE49-F238E27FC236}">
                  <a16:creationId xmlns:a16="http://schemas.microsoft.com/office/drawing/2014/main" id="{967B26D9-7687-4BF1-B191-C4033151194C}"/>
                </a:ext>
              </a:extLst>
            </p:cNvPr>
            <p:cNvSpPr/>
            <p:nvPr/>
          </p:nvSpPr>
          <p:spPr>
            <a:xfrm>
              <a:off x="1136689" y="3307790"/>
              <a:ext cx="879214" cy="718564"/>
            </a:xfrm>
            <a:prstGeom prst="rect">
              <a:avLst/>
            </a:prstGeom>
            <a:noFill/>
            <a:ln w="38100" cap="flat" cmpd="sng" algn="ctr">
              <a:solidFill>
                <a:srgbClr val="F474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49" name="TextBox 348">
              <a:extLst>
                <a:ext uri="{FF2B5EF4-FFF2-40B4-BE49-F238E27FC236}">
                  <a16:creationId xmlns:a16="http://schemas.microsoft.com/office/drawing/2014/main" id="{C3889B9C-DAB9-4891-8061-B60C60466E7D}"/>
                </a:ext>
              </a:extLst>
            </p:cNvPr>
            <p:cNvSpPr txBox="1"/>
            <p:nvPr/>
          </p:nvSpPr>
          <p:spPr>
            <a:xfrm>
              <a:off x="104307" y="3552765"/>
              <a:ext cx="1041032"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rPr>
                <a:t>Web to Case</a:t>
              </a:r>
            </a:p>
          </p:txBody>
        </p:sp>
      </p:grpSp>
      <p:grpSp>
        <p:nvGrpSpPr>
          <p:cNvPr id="350" name="Group 349">
            <a:extLst>
              <a:ext uri="{FF2B5EF4-FFF2-40B4-BE49-F238E27FC236}">
                <a16:creationId xmlns:a16="http://schemas.microsoft.com/office/drawing/2014/main" id="{80BCA8C8-CB2C-4C33-9791-25CD90114688}"/>
              </a:ext>
            </a:extLst>
          </p:cNvPr>
          <p:cNvGrpSpPr/>
          <p:nvPr/>
        </p:nvGrpSpPr>
        <p:grpSpPr>
          <a:xfrm>
            <a:off x="210977" y="4034284"/>
            <a:ext cx="1807331" cy="718564"/>
            <a:chOff x="210977" y="4034284"/>
            <a:chExt cx="1807331" cy="718564"/>
          </a:xfrm>
        </p:grpSpPr>
        <p:sp>
          <p:nvSpPr>
            <p:cNvPr id="351" name="Rectangle 350">
              <a:extLst>
                <a:ext uri="{FF2B5EF4-FFF2-40B4-BE49-F238E27FC236}">
                  <a16:creationId xmlns:a16="http://schemas.microsoft.com/office/drawing/2014/main" id="{76881BB8-8B85-4A7B-8990-DA3F21586E5E}"/>
                </a:ext>
              </a:extLst>
            </p:cNvPr>
            <p:cNvSpPr/>
            <p:nvPr/>
          </p:nvSpPr>
          <p:spPr>
            <a:xfrm>
              <a:off x="1139094" y="4034284"/>
              <a:ext cx="879214" cy="718564"/>
            </a:xfrm>
            <a:prstGeom prst="rect">
              <a:avLst/>
            </a:prstGeom>
            <a:noFill/>
            <a:ln w="38100" cap="flat" cmpd="sng" algn="ctr">
              <a:solidFill>
                <a:srgbClr val="F474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2" name="TextBox 351">
              <a:extLst>
                <a:ext uri="{FF2B5EF4-FFF2-40B4-BE49-F238E27FC236}">
                  <a16:creationId xmlns:a16="http://schemas.microsoft.com/office/drawing/2014/main" id="{138B39A6-FE4B-4AFD-BF6F-BE509B3315ED}"/>
                </a:ext>
              </a:extLst>
            </p:cNvPr>
            <p:cNvSpPr txBox="1"/>
            <p:nvPr/>
          </p:nvSpPr>
          <p:spPr>
            <a:xfrm>
              <a:off x="210977" y="4151196"/>
              <a:ext cx="1057083"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rPr>
                <a:t>Skill Based Routing</a:t>
              </a:r>
            </a:p>
          </p:txBody>
        </p:sp>
      </p:grpSp>
      <p:grpSp>
        <p:nvGrpSpPr>
          <p:cNvPr id="353" name="Group 352">
            <a:extLst>
              <a:ext uri="{FF2B5EF4-FFF2-40B4-BE49-F238E27FC236}">
                <a16:creationId xmlns:a16="http://schemas.microsoft.com/office/drawing/2014/main" id="{249A8904-7A67-4C4D-B96D-C9516DC59ED7}"/>
              </a:ext>
            </a:extLst>
          </p:cNvPr>
          <p:cNvGrpSpPr/>
          <p:nvPr/>
        </p:nvGrpSpPr>
        <p:grpSpPr>
          <a:xfrm>
            <a:off x="327824" y="4737704"/>
            <a:ext cx="1688079" cy="718564"/>
            <a:chOff x="327824" y="4737704"/>
            <a:chExt cx="1688079" cy="718564"/>
          </a:xfrm>
        </p:grpSpPr>
        <p:sp>
          <p:nvSpPr>
            <p:cNvPr id="354" name="Rectangle 353">
              <a:extLst>
                <a:ext uri="{FF2B5EF4-FFF2-40B4-BE49-F238E27FC236}">
                  <a16:creationId xmlns:a16="http://schemas.microsoft.com/office/drawing/2014/main" id="{B4702915-70AE-473D-AC72-873CB1FD1FE9}"/>
                </a:ext>
              </a:extLst>
            </p:cNvPr>
            <p:cNvSpPr/>
            <p:nvPr/>
          </p:nvSpPr>
          <p:spPr>
            <a:xfrm>
              <a:off x="1136689" y="4737704"/>
              <a:ext cx="879214" cy="718564"/>
            </a:xfrm>
            <a:prstGeom prst="rect">
              <a:avLst/>
            </a:prstGeom>
            <a:noFill/>
            <a:ln w="38100" cap="flat" cmpd="sng" algn="ctr">
              <a:solidFill>
                <a:srgbClr val="F474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5" name="TextBox 354">
              <a:extLst>
                <a:ext uri="{FF2B5EF4-FFF2-40B4-BE49-F238E27FC236}">
                  <a16:creationId xmlns:a16="http://schemas.microsoft.com/office/drawing/2014/main" id="{F2CCC52B-F7EB-4873-843A-CBA6FE8763BC}"/>
                </a:ext>
              </a:extLst>
            </p:cNvPr>
            <p:cNvSpPr txBox="1"/>
            <p:nvPr/>
          </p:nvSpPr>
          <p:spPr>
            <a:xfrm>
              <a:off x="327824" y="4994916"/>
              <a:ext cx="1041032"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rPr>
                <a:t>Chat Bots</a:t>
              </a:r>
            </a:p>
          </p:txBody>
        </p:sp>
      </p:grpSp>
    </p:spTree>
    <p:extLst>
      <p:ext uri="{BB962C8B-B14F-4D97-AF65-F5344CB8AC3E}">
        <p14:creationId xmlns:p14="http://schemas.microsoft.com/office/powerpoint/2010/main" val="2198235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C0A29-A713-75D4-1458-BEC8C5F06E1C}"/>
              </a:ext>
            </a:extLst>
          </p:cNvPr>
          <p:cNvSpPr/>
          <p:nvPr/>
        </p:nvSpPr>
        <p:spPr>
          <a:xfrm>
            <a:off x="3567695" y="5427385"/>
            <a:ext cx="8624305" cy="1066201"/>
          </a:xfrm>
          <a:prstGeom prst="rect">
            <a:avLst/>
          </a:prstGeom>
          <a:solidFill>
            <a:schemeClr val="bg1">
              <a:lumMod val="95000"/>
              <a:alpha val="50000"/>
            </a:schemeClr>
          </a:solidFill>
          <a:ln>
            <a:solidFill>
              <a:srgbClr val="9696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 name="Rectangle 2">
            <a:extLst>
              <a:ext uri="{FF2B5EF4-FFF2-40B4-BE49-F238E27FC236}">
                <a16:creationId xmlns:a16="http://schemas.microsoft.com/office/drawing/2014/main" id="{40A757C6-6B29-2109-74CA-F565435AFBB4}"/>
              </a:ext>
            </a:extLst>
          </p:cNvPr>
          <p:cNvSpPr/>
          <p:nvPr/>
        </p:nvSpPr>
        <p:spPr>
          <a:xfrm>
            <a:off x="3442769" y="492255"/>
            <a:ext cx="8624305" cy="20533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4" name="Rectangle 3">
            <a:extLst>
              <a:ext uri="{FF2B5EF4-FFF2-40B4-BE49-F238E27FC236}">
                <a16:creationId xmlns:a16="http://schemas.microsoft.com/office/drawing/2014/main" id="{13156A69-7056-742D-F16F-E1A99293C5AF}"/>
              </a:ext>
            </a:extLst>
          </p:cNvPr>
          <p:cNvSpPr/>
          <p:nvPr/>
        </p:nvSpPr>
        <p:spPr>
          <a:xfrm>
            <a:off x="0" y="4061767"/>
            <a:ext cx="3573543" cy="2453680"/>
          </a:xfrm>
          <a:prstGeom prst="rect">
            <a:avLst/>
          </a:prstGeom>
          <a:solidFill>
            <a:srgbClr val="6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solidFill>
            </a:endParaRPr>
          </a:p>
        </p:txBody>
      </p:sp>
      <p:sp>
        <p:nvSpPr>
          <p:cNvPr id="5" name="Rectangle 4">
            <a:extLst>
              <a:ext uri="{FF2B5EF4-FFF2-40B4-BE49-F238E27FC236}">
                <a16:creationId xmlns:a16="http://schemas.microsoft.com/office/drawing/2014/main" id="{27FD8325-FB70-0883-8C0F-17357475E4F4}"/>
              </a:ext>
            </a:extLst>
          </p:cNvPr>
          <p:cNvSpPr/>
          <p:nvPr/>
        </p:nvSpPr>
        <p:spPr>
          <a:xfrm>
            <a:off x="-106134" y="4846637"/>
            <a:ext cx="3674878" cy="646331"/>
          </a:xfrm>
          <a:prstGeom prst="rect">
            <a:avLst/>
          </a:prstGeom>
          <a:ln w="3175">
            <a:solidFill>
              <a:schemeClr val="bg2"/>
            </a:solidFill>
          </a:ln>
        </p:spPr>
        <p:txBody>
          <a:bodyPr wrap="square">
            <a:spAutoFit/>
          </a:bodyPr>
          <a:lstStyle/>
          <a:p>
            <a:pPr algn="ctr"/>
            <a:r>
              <a:rPr lang="en-US" sz="1200" b="1" dirty="0">
                <a:solidFill>
                  <a:schemeClr val="bg1"/>
                </a:solidFill>
              </a:rPr>
              <a:t>Age</a:t>
            </a:r>
            <a:r>
              <a:rPr lang="en-US" sz="1200" dirty="0">
                <a:solidFill>
                  <a:schemeClr val="bg1"/>
                </a:solidFill>
              </a:rPr>
              <a:t>: 26  |  </a:t>
            </a:r>
            <a:r>
              <a:rPr lang="en-US" sz="1200" b="1" dirty="0">
                <a:solidFill>
                  <a:schemeClr val="bg1"/>
                </a:solidFill>
              </a:rPr>
              <a:t>Location</a:t>
            </a:r>
            <a:r>
              <a:rPr lang="en-US" sz="1200" dirty="0">
                <a:solidFill>
                  <a:schemeClr val="bg1"/>
                </a:solidFill>
              </a:rPr>
              <a:t>: Denver, CO</a:t>
            </a:r>
            <a:br>
              <a:rPr lang="en-US" sz="1200" dirty="0">
                <a:solidFill>
                  <a:schemeClr val="bg1"/>
                </a:solidFill>
              </a:rPr>
            </a:br>
            <a:r>
              <a:rPr lang="en-US" sz="1200" b="1" dirty="0">
                <a:solidFill>
                  <a:schemeClr val="bg1"/>
                </a:solidFill>
              </a:rPr>
              <a:t>Industry</a:t>
            </a:r>
            <a:r>
              <a:rPr lang="en-US" sz="1200" dirty="0">
                <a:solidFill>
                  <a:schemeClr val="bg1"/>
                </a:solidFill>
              </a:rPr>
              <a:t>: Manufacturing</a:t>
            </a:r>
          </a:p>
          <a:p>
            <a:pPr algn="ctr"/>
            <a:r>
              <a:rPr lang="en-US" sz="1200" b="1" dirty="0">
                <a:solidFill>
                  <a:schemeClr val="bg1"/>
                </a:solidFill>
              </a:rPr>
              <a:t>Products:   </a:t>
            </a:r>
            <a:r>
              <a:rPr lang="en-US" sz="1200" dirty="0">
                <a:solidFill>
                  <a:schemeClr val="bg1"/>
                </a:solidFill>
              </a:rPr>
              <a:t>Payroll, HR</a:t>
            </a:r>
          </a:p>
        </p:txBody>
      </p:sp>
      <p:sp>
        <p:nvSpPr>
          <p:cNvPr id="6" name="Rechteck 45">
            <a:extLst>
              <a:ext uri="{FF2B5EF4-FFF2-40B4-BE49-F238E27FC236}">
                <a16:creationId xmlns:a16="http://schemas.microsoft.com/office/drawing/2014/main" id="{E4D8B67A-F962-1F7D-7018-ECFB99042766}"/>
              </a:ext>
            </a:extLst>
          </p:cNvPr>
          <p:cNvSpPr/>
          <p:nvPr/>
        </p:nvSpPr>
        <p:spPr>
          <a:xfrm>
            <a:off x="6959577" y="60015"/>
            <a:ext cx="4854791" cy="400110"/>
          </a:xfrm>
          <a:prstGeom prst="rect">
            <a:avLst/>
          </a:prstGeom>
          <a:noFill/>
        </p:spPr>
        <p:txBody>
          <a:bodyPr wrap="none">
            <a:spAutoFit/>
          </a:bodyPr>
          <a:lstStyle/>
          <a:p>
            <a:r>
              <a:rPr lang="en-US" sz="2000" dirty="0"/>
              <a:t>Payroll Contact (25 – 50 EE) | New Contact</a:t>
            </a:r>
          </a:p>
        </p:txBody>
      </p:sp>
      <p:sp>
        <p:nvSpPr>
          <p:cNvPr id="7" name="Rechteck 21">
            <a:extLst>
              <a:ext uri="{FF2B5EF4-FFF2-40B4-BE49-F238E27FC236}">
                <a16:creationId xmlns:a16="http://schemas.microsoft.com/office/drawing/2014/main" id="{60FD242C-888A-BD4C-27D1-0A4C68E9E541}"/>
              </a:ext>
            </a:extLst>
          </p:cNvPr>
          <p:cNvSpPr/>
          <p:nvPr/>
        </p:nvSpPr>
        <p:spPr>
          <a:xfrm>
            <a:off x="0" y="4007091"/>
            <a:ext cx="3672686" cy="585610"/>
          </a:xfrm>
          <a:prstGeom prst="rect">
            <a:avLst/>
          </a:prstGeom>
          <a:solidFill>
            <a:schemeClr val="bg1">
              <a:lumMod val="95000"/>
            </a:schemeClr>
          </a:solidFill>
          <a:ln>
            <a:noFill/>
          </a:ln>
        </p:spPr>
        <p:txBody>
          <a:bodyPr wrap="square">
            <a:spAutoFit/>
          </a:bodyPr>
          <a:lstStyle/>
          <a:p>
            <a:pPr algn="ctr">
              <a:lnSpc>
                <a:spcPct val="120000"/>
              </a:lnSpc>
              <a:spcAft>
                <a:spcPts val="600"/>
              </a:spcAft>
            </a:pPr>
            <a:r>
              <a:rPr lang="en-US" sz="1400" b="1" i="1" dirty="0">
                <a:solidFill>
                  <a:schemeClr val="bg2">
                    <a:lumMod val="25000"/>
                  </a:schemeClr>
                </a:solidFill>
                <a:cs typeface="Calibri Light"/>
              </a:rPr>
              <a:t>“I want a support team that can help me look like an expert..”</a:t>
            </a:r>
          </a:p>
        </p:txBody>
      </p:sp>
      <p:sp>
        <p:nvSpPr>
          <p:cNvPr id="8" name="Rectangle 7">
            <a:extLst>
              <a:ext uri="{FF2B5EF4-FFF2-40B4-BE49-F238E27FC236}">
                <a16:creationId xmlns:a16="http://schemas.microsoft.com/office/drawing/2014/main" id="{4A54675A-7BD5-F1B1-B5F1-365AA408F9B0}"/>
              </a:ext>
            </a:extLst>
          </p:cNvPr>
          <p:cNvSpPr/>
          <p:nvPr/>
        </p:nvSpPr>
        <p:spPr>
          <a:xfrm>
            <a:off x="3545945" y="624272"/>
            <a:ext cx="8417952" cy="1979516"/>
          </a:xfrm>
          <a:prstGeom prst="rect">
            <a:avLst/>
          </a:prstGeom>
          <a:noFill/>
        </p:spPr>
        <p:txBody>
          <a:bodyPr wrap="square">
            <a:spAutoFit/>
          </a:bodyPr>
          <a:lstStyle/>
          <a:p>
            <a:r>
              <a:rPr lang="en-US" sz="1533" b="1" i="1" dirty="0"/>
              <a:t>I recently started at this company in our Denver branch, one of four locations and am responsible for the payroll of the employees in this location. Because our business is 24/7, different shifts pay different amounts per hour and our vacation time is based on hours worked ever pay period. I constantly get questions from supervisors about the accuracy of their employees pay or vacation but depending on their location, I can’t see their timecards to validate. I know that I am new, but these policies aren’t and I wish I had a better understanding of how our system was set up so I can validate the accuracy myself. I also need to make sure my reporting to our leadership is accurate. </a:t>
            </a:r>
          </a:p>
        </p:txBody>
      </p:sp>
      <p:sp>
        <p:nvSpPr>
          <p:cNvPr id="9" name="Rechteck 27">
            <a:extLst>
              <a:ext uri="{FF2B5EF4-FFF2-40B4-BE49-F238E27FC236}">
                <a16:creationId xmlns:a16="http://schemas.microsoft.com/office/drawing/2014/main" id="{1F718FEC-49E1-30BA-5B32-B6005F6A9330}"/>
              </a:ext>
            </a:extLst>
          </p:cNvPr>
          <p:cNvSpPr/>
          <p:nvPr/>
        </p:nvSpPr>
        <p:spPr>
          <a:xfrm>
            <a:off x="9339295" y="2696350"/>
            <a:ext cx="2621634" cy="2047676"/>
          </a:xfrm>
          <a:prstGeom prst="rect">
            <a:avLst/>
          </a:prstGeom>
        </p:spPr>
        <p:txBody>
          <a:bodyPr wrap="square" anchor="ctr">
            <a:spAutoFit/>
          </a:bodyPr>
          <a:lstStyle/>
          <a:p>
            <a:pPr algn="ctr">
              <a:lnSpc>
                <a:spcPct val="120000"/>
              </a:lnSpc>
            </a:pPr>
            <a:r>
              <a:rPr lang="en-US" sz="1600" b="1" dirty="0">
                <a:latin typeface="Calibri Light"/>
                <a:cs typeface="Calibri Light"/>
              </a:rPr>
              <a:t>WANTS</a:t>
            </a:r>
          </a:p>
          <a:p>
            <a:pPr marL="190510" indent="-190510">
              <a:lnSpc>
                <a:spcPct val="120000"/>
              </a:lnSpc>
              <a:buFont typeface="Arial" panose="020B0604020202020204" pitchFamily="34" charset="0"/>
              <a:buChar char="•"/>
            </a:pPr>
            <a:r>
              <a:rPr lang="en-US" sz="1133" dirty="0">
                <a:latin typeface="Calibri Light"/>
                <a:cs typeface="Calibri Light"/>
              </a:rPr>
              <a:t>Ability to self service as much as possible</a:t>
            </a:r>
          </a:p>
          <a:p>
            <a:pPr marL="190510" indent="-190510">
              <a:lnSpc>
                <a:spcPct val="120000"/>
              </a:lnSpc>
              <a:buFont typeface="Arial" panose="020B0604020202020204" pitchFamily="34" charset="0"/>
              <a:buChar char="•"/>
            </a:pPr>
            <a:r>
              <a:rPr lang="en-US" sz="1133" dirty="0">
                <a:latin typeface="Calibri Light"/>
                <a:cs typeface="Calibri Light"/>
              </a:rPr>
              <a:t>Trust that any representative I talk to will give me the right answer, especially when my person isn’t there</a:t>
            </a:r>
          </a:p>
          <a:p>
            <a:pPr marL="190510" indent="-190510">
              <a:lnSpc>
                <a:spcPct val="120000"/>
              </a:lnSpc>
              <a:buFont typeface="Arial" panose="020B0604020202020204" pitchFamily="34" charset="0"/>
              <a:buChar char="•"/>
            </a:pPr>
            <a:r>
              <a:rPr lang="en-US" sz="1133" dirty="0">
                <a:latin typeface="Calibri Light"/>
                <a:cs typeface="Calibri Light"/>
              </a:rPr>
              <a:t>Training on how my system was originally configured</a:t>
            </a:r>
          </a:p>
          <a:p>
            <a:pPr marL="190510" indent="-190510">
              <a:lnSpc>
                <a:spcPct val="120000"/>
              </a:lnSpc>
              <a:buFont typeface="Arial" panose="020B0604020202020204" pitchFamily="34" charset="0"/>
              <a:buChar char="•"/>
            </a:pPr>
            <a:endParaRPr lang="en-US" sz="1133" dirty="0">
              <a:latin typeface="Calibri Light"/>
              <a:cs typeface="Calibri Light"/>
            </a:endParaRPr>
          </a:p>
        </p:txBody>
      </p:sp>
      <p:sp>
        <p:nvSpPr>
          <p:cNvPr id="10" name="Rounded Rectangle 69">
            <a:extLst>
              <a:ext uri="{FF2B5EF4-FFF2-40B4-BE49-F238E27FC236}">
                <a16:creationId xmlns:a16="http://schemas.microsoft.com/office/drawing/2014/main" id="{7AEDC0ED-D7FC-DDB4-1AD1-517D6C5A42ED}"/>
              </a:ext>
            </a:extLst>
          </p:cNvPr>
          <p:cNvSpPr/>
          <p:nvPr/>
        </p:nvSpPr>
        <p:spPr>
          <a:xfrm>
            <a:off x="351148" y="5754061"/>
            <a:ext cx="1348687" cy="304800"/>
          </a:xfrm>
          <a:prstGeom prst="roundRect">
            <a:avLst/>
          </a:prstGeom>
          <a:solidFill>
            <a:schemeClr val="accent2">
              <a:lumMod val="75000"/>
            </a:schemeClr>
          </a:solidFill>
          <a:ln>
            <a:solidFill>
              <a:srgbClr val="6D6E7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r>
              <a:rPr lang="en-US" sz="1100" b="1" dirty="0">
                <a:solidFill>
                  <a:schemeClr val="bg1"/>
                </a:solidFill>
              </a:rPr>
              <a:t>Tech Savvy</a:t>
            </a:r>
          </a:p>
        </p:txBody>
      </p:sp>
      <p:sp>
        <p:nvSpPr>
          <p:cNvPr id="11" name="Rechteck 45">
            <a:extLst>
              <a:ext uri="{FF2B5EF4-FFF2-40B4-BE49-F238E27FC236}">
                <a16:creationId xmlns:a16="http://schemas.microsoft.com/office/drawing/2014/main" id="{B26CE640-7C81-57B7-1473-7D470CD1F29A}"/>
              </a:ext>
            </a:extLst>
          </p:cNvPr>
          <p:cNvSpPr/>
          <p:nvPr/>
        </p:nvSpPr>
        <p:spPr>
          <a:xfrm>
            <a:off x="1351508" y="5498456"/>
            <a:ext cx="865727" cy="256545"/>
          </a:xfrm>
          <a:prstGeom prst="rect">
            <a:avLst/>
          </a:prstGeom>
          <a:noFill/>
        </p:spPr>
        <p:txBody>
          <a:bodyPr wrap="square">
            <a:spAutoFit/>
          </a:bodyPr>
          <a:lstStyle/>
          <a:p>
            <a:pPr algn="ctr"/>
            <a:r>
              <a:rPr lang="en-US" sz="1067" b="1" dirty="0">
                <a:solidFill>
                  <a:schemeClr val="bg1"/>
                </a:solidFill>
              </a:rPr>
              <a:t>Mindset </a:t>
            </a:r>
          </a:p>
        </p:txBody>
      </p:sp>
      <p:sp>
        <p:nvSpPr>
          <p:cNvPr id="12" name="Rounded Rectangle 71">
            <a:extLst>
              <a:ext uri="{FF2B5EF4-FFF2-40B4-BE49-F238E27FC236}">
                <a16:creationId xmlns:a16="http://schemas.microsoft.com/office/drawing/2014/main" id="{2FD85A79-26D7-B5B1-97D3-79F259E0949A}"/>
              </a:ext>
            </a:extLst>
          </p:cNvPr>
          <p:cNvSpPr/>
          <p:nvPr/>
        </p:nvSpPr>
        <p:spPr>
          <a:xfrm>
            <a:off x="337684" y="6097344"/>
            <a:ext cx="1362152" cy="304800"/>
          </a:xfrm>
          <a:prstGeom prst="roundRect">
            <a:avLst/>
          </a:prstGeom>
          <a:solidFill>
            <a:schemeClr val="accent2">
              <a:lumMod val="75000"/>
            </a:schemeClr>
          </a:solidFill>
          <a:ln>
            <a:solidFill>
              <a:srgbClr val="6D6E7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r>
              <a:rPr lang="en-US" sz="1200" b="1" dirty="0">
                <a:solidFill>
                  <a:schemeClr val="bg1"/>
                </a:solidFill>
              </a:rPr>
              <a:t>Self Sufficient</a:t>
            </a:r>
          </a:p>
        </p:txBody>
      </p:sp>
      <p:sp>
        <p:nvSpPr>
          <p:cNvPr id="13" name="Rounded Rectangle 73">
            <a:extLst>
              <a:ext uri="{FF2B5EF4-FFF2-40B4-BE49-F238E27FC236}">
                <a16:creationId xmlns:a16="http://schemas.microsoft.com/office/drawing/2014/main" id="{A98F8622-B6FC-B933-0F0B-842EC568667E}"/>
              </a:ext>
            </a:extLst>
          </p:cNvPr>
          <p:cNvSpPr/>
          <p:nvPr/>
        </p:nvSpPr>
        <p:spPr>
          <a:xfrm>
            <a:off x="1735586" y="6097344"/>
            <a:ext cx="1384372" cy="304800"/>
          </a:xfrm>
          <a:prstGeom prst="roundRect">
            <a:avLst/>
          </a:prstGeom>
          <a:solidFill>
            <a:schemeClr val="accent2">
              <a:lumMod val="75000"/>
            </a:schemeClr>
          </a:solidFill>
          <a:ln>
            <a:solidFill>
              <a:srgbClr val="6D6E7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r>
              <a:rPr lang="en-US" sz="1100" b="1" dirty="0">
                <a:solidFill>
                  <a:schemeClr val="bg1"/>
                </a:solidFill>
              </a:rPr>
              <a:t>Driven</a:t>
            </a:r>
          </a:p>
        </p:txBody>
      </p:sp>
      <p:sp>
        <p:nvSpPr>
          <p:cNvPr id="16" name="Rounded Rectangle 69">
            <a:extLst>
              <a:ext uri="{FF2B5EF4-FFF2-40B4-BE49-F238E27FC236}">
                <a16:creationId xmlns:a16="http://schemas.microsoft.com/office/drawing/2014/main" id="{C98AF5C4-C46B-F56D-89CA-79E7D9A7F1A4}"/>
              </a:ext>
            </a:extLst>
          </p:cNvPr>
          <p:cNvSpPr/>
          <p:nvPr/>
        </p:nvSpPr>
        <p:spPr>
          <a:xfrm>
            <a:off x="1735585" y="5754061"/>
            <a:ext cx="1384372" cy="304800"/>
          </a:xfrm>
          <a:prstGeom prst="roundRect">
            <a:avLst/>
          </a:prstGeom>
          <a:solidFill>
            <a:schemeClr val="accent2">
              <a:lumMod val="75000"/>
            </a:schemeClr>
          </a:solidFill>
          <a:ln>
            <a:solidFill>
              <a:srgbClr val="6D6E7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algn="ctr"/>
            <a:r>
              <a:rPr lang="en-US" sz="1100" b="1" dirty="0">
                <a:solidFill>
                  <a:schemeClr val="bg1"/>
                </a:solidFill>
              </a:rPr>
              <a:t>Sense of Urgency</a:t>
            </a:r>
          </a:p>
        </p:txBody>
      </p:sp>
      <p:sp>
        <p:nvSpPr>
          <p:cNvPr id="17" name="Rechteck 27">
            <a:extLst>
              <a:ext uri="{FF2B5EF4-FFF2-40B4-BE49-F238E27FC236}">
                <a16:creationId xmlns:a16="http://schemas.microsoft.com/office/drawing/2014/main" id="{5923BFAF-93FE-661E-23D2-CEB7C399E0F5}"/>
              </a:ext>
            </a:extLst>
          </p:cNvPr>
          <p:cNvSpPr/>
          <p:nvPr/>
        </p:nvSpPr>
        <p:spPr>
          <a:xfrm>
            <a:off x="6612157" y="2638594"/>
            <a:ext cx="2534333" cy="2675348"/>
          </a:xfrm>
          <a:prstGeom prst="rect">
            <a:avLst/>
          </a:prstGeom>
        </p:spPr>
        <p:txBody>
          <a:bodyPr wrap="square" anchor="ctr">
            <a:spAutoFit/>
          </a:bodyPr>
          <a:lstStyle/>
          <a:p>
            <a:pPr algn="ctr">
              <a:lnSpc>
                <a:spcPct val="120000"/>
              </a:lnSpc>
            </a:pPr>
            <a:r>
              <a:rPr lang="en-US" sz="1600" b="1" dirty="0">
                <a:latin typeface="Calibri Light"/>
                <a:cs typeface="Calibri Light"/>
              </a:rPr>
              <a:t>FRUSTRATIONS</a:t>
            </a:r>
          </a:p>
          <a:p>
            <a:pPr marL="171459" indent="-171459">
              <a:lnSpc>
                <a:spcPct val="120000"/>
              </a:lnSpc>
              <a:buFont typeface="Arial"/>
              <a:buChar char="•"/>
            </a:pPr>
            <a:r>
              <a:rPr lang="en-US" sz="1133" dirty="0">
                <a:latin typeface="Calibri Light"/>
                <a:cs typeface="Calibri Light"/>
              </a:rPr>
              <a:t>Sending an email and having to wait days for a response</a:t>
            </a:r>
          </a:p>
          <a:p>
            <a:pPr marL="171459" indent="-171459">
              <a:lnSpc>
                <a:spcPct val="120000"/>
              </a:lnSpc>
              <a:buFont typeface="Arial"/>
              <a:buChar char="•"/>
            </a:pPr>
            <a:r>
              <a:rPr lang="en-US" sz="1133" dirty="0">
                <a:latin typeface="Calibri Light"/>
                <a:cs typeface="Calibri Light"/>
              </a:rPr>
              <a:t>Calling in and getting different answers to my questions, depending on who I talk to</a:t>
            </a:r>
          </a:p>
          <a:p>
            <a:pPr marL="171459" indent="-171459">
              <a:lnSpc>
                <a:spcPct val="120000"/>
              </a:lnSpc>
              <a:buFont typeface="Arial"/>
              <a:buChar char="•"/>
            </a:pPr>
            <a:r>
              <a:rPr lang="en-US" sz="1133" dirty="0">
                <a:latin typeface="Calibri Light"/>
                <a:cs typeface="Calibri Light"/>
              </a:rPr>
              <a:t>Lack of ownership with problems, especially between our HR and Payroll Specialist </a:t>
            </a:r>
          </a:p>
          <a:p>
            <a:pPr marL="171459" indent="-171459">
              <a:lnSpc>
                <a:spcPct val="120000"/>
              </a:lnSpc>
              <a:buFont typeface="Arial"/>
              <a:buChar char="•"/>
            </a:pPr>
            <a:r>
              <a:rPr lang="en-US" sz="1133" dirty="0">
                <a:latin typeface="Calibri Light"/>
                <a:cs typeface="Calibri Light"/>
              </a:rPr>
              <a:t>The amount of time it takes to troubleshoot</a:t>
            </a:r>
          </a:p>
          <a:p>
            <a:pPr marL="171459" indent="-171459">
              <a:lnSpc>
                <a:spcPct val="120000"/>
              </a:lnSpc>
              <a:buFont typeface="Arial"/>
              <a:buChar char="•"/>
            </a:pPr>
            <a:endParaRPr lang="en-US" sz="1133" dirty="0">
              <a:latin typeface="Calibri Light"/>
              <a:cs typeface="Calibri Light"/>
            </a:endParaRPr>
          </a:p>
        </p:txBody>
      </p:sp>
      <p:sp>
        <p:nvSpPr>
          <p:cNvPr id="18" name="Rechteck 27">
            <a:extLst>
              <a:ext uri="{FF2B5EF4-FFF2-40B4-BE49-F238E27FC236}">
                <a16:creationId xmlns:a16="http://schemas.microsoft.com/office/drawing/2014/main" id="{884D74FD-A651-413D-1B5E-698E185EB322}"/>
              </a:ext>
            </a:extLst>
          </p:cNvPr>
          <p:cNvSpPr/>
          <p:nvPr/>
        </p:nvSpPr>
        <p:spPr>
          <a:xfrm>
            <a:off x="3935650" y="2743142"/>
            <a:ext cx="2483702" cy="2047676"/>
          </a:xfrm>
          <a:prstGeom prst="rect">
            <a:avLst/>
          </a:prstGeom>
        </p:spPr>
        <p:txBody>
          <a:bodyPr wrap="square" anchor="ctr">
            <a:spAutoFit/>
          </a:bodyPr>
          <a:lstStyle/>
          <a:p>
            <a:pPr algn="ctr">
              <a:lnSpc>
                <a:spcPct val="120000"/>
              </a:lnSpc>
            </a:pPr>
            <a:r>
              <a:rPr lang="en-US" sz="1600" b="1" dirty="0">
                <a:latin typeface="Calibri Light"/>
                <a:cs typeface="Calibri Light"/>
              </a:rPr>
              <a:t>GOALS</a:t>
            </a:r>
          </a:p>
          <a:p>
            <a:pPr marL="171459" indent="-171459">
              <a:lnSpc>
                <a:spcPct val="120000"/>
              </a:lnSpc>
              <a:buFont typeface="Arial"/>
              <a:buChar char="•"/>
            </a:pPr>
            <a:r>
              <a:rPr lang="en-US" sz="1133" dirty="0">
                <a:latin typeface="Calibri Light"/>
                <a:cs typeface="Calibri Light"/>
              </a:rPr>
              <a:t>Ensure accuracy in payroll for all employees</a:t>
            </a:r>
          </a:p>
          <a:p>
            <a:pPr marL="171459" indent="-171459">
              <a:lnSpc>
                <a:spcPct val="120000"/>
              </a:lnSpc>
              <a:buFont typeface="Arial"/>
              <a:buChar char="•"/>
            </a:pPr>
            <a:r>
              <a:rPr lang="en-US" sz="1133" dirty="0">
                <a:latin typeface="Calibri Light"/>
                <a:cs typeface="Calibri Light"/>
              </a:rPr>
              <a:t>Ease the frustration of employees and supervisors</a:t>
            </a:r>
          </a:p>
          <a:p>
            <a:pPr marL="171459" indent="-171459">
              <a:lnSpc>
                <a:spcPct val="120000"/>
              </a:lnSpc>
              <a:buFont typeface="Arial"/>
              <a:buChar char="•"/>
            </a:pPr>
            <a:r>
              <a:rPr lang="en-US" sz="1133" dirty="0">
                <a:latin typeface="Calibri Light"/>
                <a:cs typeface="Calibri Light"/>
              </a:rPr>
              <a:t>Get the right answer about my system</a:t>
            </a:r>
          </a:p>
          <a:p>
            <a:pPr marL="171459" indent="-171459">
              <a:lnSpc>
                <a:spcPct val="120000"/>
              </a:lnSpc>
              <a:buFont typeface="Arial"/>
              <a:buChar char="•"/>
            </a:pPr>
            <a:r>
              <a:rPr lang="en-US" sz="1133" dirty="0">
                <a:latin typeface="Calibri Light"/>
                <a:cs typeface="Calibri Light"/>
              </a:rPr>
              <a:t>Create easy to use reporting for senior leadership</a:t>
            </a:r>
          </a:p>
        </p:txBody>
      </p:sp>
      <p:grpSp>
        <p:nvGrpSpPr>
          <p:cNvPr id="19" name="Group 18">
            <a:extLst>
              <a:ext uri="{FF2B5EF4-FFF2-40B4-BE49-F238E27FC236}">
                <a16:creationId xmlns:a16="http://schemas.microsoft.com/office/drawing/2014/main" id="{DE6CB547-692B-ED52-CDE0-885B0C5075B6}"/>
              </a:ext>
            </a:extLst>
          </p:cNvPr>
          <p:cNvGrpSpPr/>
          <p:nvPr/>
        </p:nvGrpSpPr>
        <p:grpSpPr>
          <a:xfrm>
            <a:off x="3672686" y="5571249"/>
            <a:ext cx="2835620" cy="813471"/>
            <a:chOff x="5077363" y="8869561"/>
            <a:chExt cx="4253431" cy="1220207"/>
          </a:xfrm>
        </p:grpSpPr>
        <p:pic>
          <p:nvPicPr>
            <p:cNvPr id="20" name="Graphic 19">
              <a:extLst>
                <a:ext uri="{FF2B5EF4-FFF2-40B4-BE49-F238E27FC236}">
                  <a16:creationId xmlns:a16="http://schemas.microsoft.com/office/drawing/2014/main" id="{0AC295DC-DD75-B1FA-B84C-24950A5B0F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0941" y="9263065"/>
              <a:ext cx="515945" cy="515945"/>
            </a:xfrm>
            <a:prstGeom prst="rect">
              <a:avLst/>
            </a:prstGeom>
          </p:spPr>
        </p:pic>
        <p:pic>
          <p:nvPicPr>
            <p:cNvPr id="21" name="Graphic 20">
              <a:extLst>
                <a:ext uri="{FF2B5EF4-FFF2-40B4-BE49-F238E27FC236}">
                  <a16:creationId xmlns:a16="http://schemas.microsoft.com/office/drawing/2014/main" id="{201CCF31-BE7D-24DA-8428-6EDA830EA0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83063" y="9287298"/>
              <a:ext cx="465326" cy="465326"/>
            </a:xfrm>
            <a:prstGeom prst="rect">
              <a:avLst/>
            </a:prstGeom>
          </p:spPr>
        </p:pic>
        <p:sp>
          <p:nvSpPr>
            <p:cNvPr id="22" name="Rechteck 45">
              <a:extLst>
                <a:ext uri="{FF2B5EF4-FFF2-40B4-BE49-F238E27FC236}">
                  <a16:creationId xmlns:a16="http://schemas.microsoft.com/office/drawing/2014/main" id="{2D566B58-5308-C265-37F7-316160F2CA03}"/>
                </a:ext>
              </a:extLst>
            </p:cNvPr>
            <p:cNvSpPr/>
            <p:nvPr/>
          </p:nvSpPr>
          <p:spPr>
            <a:xfrm>
              <a:off x="5077363" y="8869561"/>
              <a:ext cx="4175045" cy="353847"/>
            </a:xfrm>
            <a:prstGeom prst="rect">
              <a:avLst/>
            </a:prstGeom>
            <a:noFill/>
          </p:spPr>
          <p:txBody>
            <a:bodyPr wrap="square">
              <a:spAutoFit/>
            </a:bodyPr>
            <a:lstStyle/>
            <a:p>
              <a:pPr algn="ctr"/>
              <a:r>
                <a:rPr lang="en-US" sz="933" b="1" dirty="0"/>
                <a:t>Preferred Communication Channels</a:t>
              </a:r>
            </a:p>
          </p:txBody>
        </p:sp>
        <p:sp>
          <p:nvSpPr>
            <p:cNvPr id="23" name="TextBox 22">
              <a:extLst>
                <a:ext uri="{FF2B5EF4-FFF2-40B4-BE49-F238E27FC236}">
                  <a16:creationId xmlns:a16="http://schemas.microsoft.com/office/drawing/2014/main" id="{398BF6F1-753F-BCEB-D70A-6EA151480FCF}"/>
                </a:ext>
              </a:extLst>
            </p:cNvPr>
            <p:cNvSpPr txBox="1"/>
            <p:nvPr/>
          </p:nvSpPr>
          <p:spPr>
            <a:xfrm>
              <a:off x="6197980" y="9768820"/>
              <a:ext cx="551330" cy="292485"/>
            </a:xfrm>
            <a:prstGeom prst="rect">
              <a:avLst/>
            </a:prstGeom>
            <a:noFill/>
          </p:spPr>
          <p:txBody>
            <a:bodyPr wrap="square" rtlCol="0">
              <a:spAutoFit/>
            </a:bodyPr>
            <a:lstStyle/>
            <a:p>
              <a:r>
                <a:rPr lang="en-US" sz="667" b="1" dirty="0"/>
                <a:t>Text</a:t>
              </a:r>
            </a:p>
          </p:txBody>
        </p:sp>
        <p:sp>
          <p:nvSpPr>
            <p:cNvPr id="24" name="TextBox 23">
              <a:extLst>
                <a:ext uri="{FF2B5EF4-FFF2-40B4-BE49-F238E27FC236}">
                  <a16:creationId xmlns:a16="http://schemas.microsoft.com/office/drawing/2014/main" id="{9464ECF9-E111-FA41-CC61-86261035526B}"/>
                </a:ext>
              </a:extLst>
            </p:cNvPr>
            <p:cNvSpPr txBox="1"/>
            <p:nvPr/>
          </p:nvSpPr>
          <p:spPr>
            <a:xfrm>
              <a:off x="7228943" y="9797283"/>
              <a:ext cx="783989" cy="292485"/>
            </a:xfrm>
            <a:prstGeom prst="rect">
              <a:avLst/>
            </a:prstGeom>
            <a:noFill/>
          </p:spPr>
          <p:txBody>
            <a:bodyPr wrap="square" rtlCol="0">
              <a:spAutoFit/>
            </a:bodyPr>
            <a:lstStyle/>
            <a:p>
              <a:r>
                <a:rPr lang="en-US" sz="667" b="1" dirty="0"/>
                <a:t>Email</a:t>
              </a:r>
            </a:p>
          </p:txBody>
        </p:sp>
        <p:sp>
          <p:nvSpPr>
            <p:cNvPr id="25" name="TextBox 24">
              <a:extLst>
                <a:ext uri="{FF2B5EF4-FFF2-40B4-BE49-F238E27FC236}">
                  <a16:creationId xmlns:a16="http://schemas.microsoft.com/office/drawing/2014/main" id="{E73804F5-EEEB-EE0F-298F-6D3B64EF3B9A}"/>
                </a:ext>
              </a:extLst>
            </p:cNvPr>
            <p:cNvSpPr txBox="1"/>
            <p:nvPr/>
          </p:nvSpPr>
          <p:spPr>
            <a:xfrm>
              <a:off x="8358867" y="9769263"/>
              <a:ext cx="971927" cy="292485"/>
            </a:xfrm>
            <a:prstGeom prst="rect">
              <a:avLst/>
            </a:prstGeom>
            <a:noFill/>
          </p:spPr>
          <p:txBody>
            <a:bodyPr wrap="square" rtlCol="0">
              <a:spAutoFit/>
            </a:bodyPr>
            <a:lstStyle/>
            <a:p>
              <a:r>
                <a:rPr lang="en-US" sz="667" b="1" dirty="0"/>
                <a:t>Phone</a:t>
              </a:r>
            </a:p>
          </p:txBody>
        </p:sp>
      </p:grpSp>
      <p:grpSp>
        <p:nvGrpSpPr>
          <p:cNvPr id="26" name="Group 25">
            <a:extLst>
              <a:ext uri="{FF2B5EF4-FFF2-40B4-BE49-F238E27FC236}">
                <a16:creationId xmlns:a16="http://schemas.microsoft.com/office/drawing/2014/main" id="{585E967D-1F3D-7DF4-9CDD-FC88CEC5EF31}"/>
              </a:ext>
            </a:extLst>
          </p:cNvPr>
          <p:cNvGrpSpPr/>
          <p:nvPr/>
        </p:nvGrpSpPr>
        <p:grpSpPr>
          <a:xfrm>
            <a:off x="10311772" y="5544495"/>
            <a:ext cx="797859" cy="754915"/>
            <a:chOff x="12854951" y="8995186"/>
            <a:chExt cx="1196789" cy="1132372"/>
          </a:xfrm>
        </p:grpSpPr>
        <p:sp>
          <p:nvSpPr>
            <p:cNvPr id="27" name="Freeform: Shape 26">
              <a:extLst>
                <a:ext uri="{FF2B5EF4-FFF2-40B4-BE49-F238E27FC236}">
                  <a16:creationId xmlns:a16="http://schemas.microsoft.com/office/drawing/2014/main" id="{597F49C0-2737-8E50-1B05-388C369D1FEA}"/>
                </a:ext>
              </a:extLst>
            </p:cNvPr>
            <p:cNvSpPr/>
            <p:nvPr/>
          </p:nvSpPr>
          <p:spPr>
            <a:xfrm>
              <a:off x="12915090" y="8995186"/>
              <a:ext cx="1076512" cy="1132372"/>
            </a:xfrm>
            <a:custGeom>
              <a:avLst/>
              <a:gdLst>
                <a:gd name="connsiteX0" fmla="*/ 0 w 3012942"/>
                <a:gd name="connsiteY0" fmla="*/ 1310630 h 2621260"/>
                <a:gd name="connsiteX1" fmla="*/ 655315 w 3012942"/>
                <a:gd name="connsiteY1" fmla="*/ 1 h 2621260"/>
                <a:gd name="connsiteX2" fmla="*/ 2357627 w 3012942"/>
                <a:gd name="connsiteY2" fmla="*/ 1 h 2621260"/>
                <a:gd name="connsiteX3" fmla="*/ 3012942 w 3012942"/>
                <a:gd name="connsiteY3" fmla="*/ 1310630 h 2621260"/>
                <a:gd name="connsiteX4" fmla="*/ 2357627 w 3012942"/>
                <a:gd name="connsiteY4" fmla="*/ 2621259 h 2621260"/>
                <a:gd name="connsiteX5" fmla="*/ 655315 w 3012942"/>
                <a:gd name="connsiteY5" fmla="*/ 2621259 h 2621260"/>
                <a:gd name="connsiteX6" fmla="*/ 0 w 3012942"/>
                <a:gd name="connsiteY6" fmla="*/ 1310630 h 262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2942" h="2621260">
                  <a:moveTo>
                    <a:pt x="1506471" y="0"/>
                  </a:moveTo>
                  <a:lnTo>
                    <a:pt x="3012941" y="570124"/>
                  </a:lnTo>
                  <a:lnTo>
                    <a:pt x="3012941" y="2051136"/>
                  </a:lnTo>
                  <a:lnTo>
                    <a:pt x="1506471" y="2621260"/>
                  </a:lnTo>
                  <a:lnTo>
                    <a:pt x="1" y="2051136"/>
                  </a:lnTo>
                  <a:lnTo>
                    <a:pt x="1" y="570124"/>
                  </a:lnTo>
                  <a:lnTo>
                    <a:pt x="1506471" y="0"/>
                  </a:lnTo>
                  <a:close/>
                </a:path>
              </a:pathLst>
            </a:custGeom>
            <a:solidFill>
              <a:schemeClr val="tx2">
                <a:lumMod val="90000"/>
                <a:lumOff val="10000"/>
              </a:schemeClr>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8223" tIns="434563" rIns="388223" bIns="434563" numCol="1" spcCol="1270" anchor="ctr" anchorCtr="0">
              <a:noAutofit/>
            </a:bodyPr>
            <a:lstStyle/>
            <a:p>
              <a:pPr algn="ctr" defTabSz="911130">
                <a:lnSpc>
                  <a:spcPct val="90000"/>
                </a:lnSpc>
                <a:spcBef>
                  <a:spcPct val="0"/>
                </a:spcBef>
                <a:spcAft>
                  <a:spcPct val="35000"/>
                </a:spcAft>
              </a:pPr>
              <a:endParaRPr lang="en-US" sz="1367" b="1" dirty="0">
                <a:solidFill>
                  <a:schemeClr val="tx1"/>
                </a:solidFill>
              </a:endParaRPr>
            </a:p>
          </p:txBody>
        </p:sp>
        <p:sp>
          <p:nvSpPr>
            <p:cNvPr id="28" name="TextBox 27">
              <a:extLst>
                <a:ext uri="{FF2B5EF4-FFF2-40B4-BE49-F238E27FC236}">
                  <a16:creationId xmlns:a16="http://schemas.microsoft.com/office/drawing/2014/main" id="{6DA9D859-3A09-C1EF-E9C0-FDE3886A01A9}"/>
                </a:ext>
              </a:extLst>
            </p:cNvPr>
            <p:cNvSpPr txBox="1"/>
            <p:nvPr/>
          </p:nvSpPr>
          <p:spPr>
            <a:xfrm>
              <a:off x="12854951" y="9206617"/>
              <a:ext cx="1196789" cy="828592"/>
            </a:xfrm>
            <a:prstGeom prst="rect">
              <a:avLst/>
            </a:prstGeom>
            <a:noFill/>
          </p:spPr>
          <p:txBody>
            <a:bodyPr wrap="square" rtlCol="0">
              <a:spAutoFit/>
            </a:bodyPr>
            <a:lstStyle/>
            <a:p>
              <a:pPr algn="ctr" defTabSz="911130">
                <a:lnSpc>
                  <a:spcPct val="90000"/>
                </a:lnSpc>
                <a:spcBef>
                  <a:spcPct val="0"/>
                </a:spcBef>
                <a:spcAft>
                  <a:spcPct val="35000"/>
                </a:spcAft>
              </a:pPr>
              <a:r>
                <a:rPr lang="en-US" sz="1000" b="1" dirty="0">
                  <a:solidFill>
                    <a:schemeClr val="bg1"/>
                  </a:solidFill>
                </a:rPr>
                <a:t>Growth Rate</a:t>
              </a:r>
            </a:p>
            <a:p>
              <a:pPr algn="ctr" defTabSz="911130">
                <a:lnSpc>
                  <a:spcPct val="90000"/>
                </a:lnSpc>
                <a:spcBef>
                  <a:spcPct val="0"/>
                </a:spcBef>
                <a:spcAft>
                  <a:spcPct val="35000"/>
                </a:spcAft>
              </a:pPr>
              <a:endParaRPr lang="en-US" sz="933" b="1" dirty="0"/>
            </a:p>
          </p:txBody>
        </p:sp>
      </p:grpSp>
      <p:grpSp>
        <p:nvGrpSpPr>
          <p:cNvPr id="29" name="Group 28">
            <a:extLst>
              <a:ext uri="{FF2B5EF4-FFF2-40B4-BE49-F238E27FC236}">
                <a16:creationId xmlns:a16="http://schemas.microsoft.com/office/drawing/2014/main" id="{6E746ECD-324C-8A60-48B8-178B9E20ED50}"/>
              </a:ext>
            </a:extLst>
          </p:cNvPr>
          <p:cNvGrpSpPr/>
          <p:nvPr/>
        </p:nvGrpSpPr>
        <p:grpSpPr>
          <a:xfrm>
            <a:off x="7381438" y="5592267"/>
            <a:ext cx="757765" cy="754915"/>
            <a:chOff x="14415618" y="8643070"/>
            <a:chExt cx="1136647" cy="1132372"/>
          </a:xfrm>
        </p:grpSpPr>
        <p:sp>
          <p:nvSpPr>
            <p:cNvPr id="30" name="Freeform: Shape 29">
              <a:extLst>
                <a:ext uri="{FF2B5EF4-FFF2-40B4-BE49-F238E27FC236}">
                  <a16:creationId xmlns:a16="http://schemas.microsoft.com/office/drawing/2014/main" id="{CDA06E81-CAA9-E31A-19B9-A009C991E4CA}"/>
                </a:ext>
              </a:extLst>
            </p:cNvPr>
            <p:cNvSpPr/>
            <p:nvPr/>
          </p:nvSpPr>
          <p:spPr>
            <a:xfrm>
              <a:off x="14437588" y="8643070"/>
              <a:ext cx="1076512" cy="1132372"/>
            </a:xfrm>
            <a:custGeom>
              <a:avLst/>
              <a:gdLst>
                <a:gd name="connsiteX0" fmla="*/ 0 w 3012942"/>
                <a:gd name="connsiteY0" fmla="*/ 1310630 h 2621260"/>
                <a:gd name="connsiteX1" fmla="*/ 655315 w 3012942"/>
                <a:gd name="connsiteY1" fmla="*/ 1 h 2621260"/>
                <a:gd name="connsiteX2" fmla="*/ 2357627 w 3012942"/>
                <a:gd name="connsiteY2" fmla="*/ 1 h 2621260"/>
                <a:gd name="connsiteX3" fmla="*/ 3012942 w 3012942"/>
                <a:gd name="connsiteY3" fmla="*/ 1310630 h 2621260"/>
                <a:gd name="connsiteX4" fmla="*/ 2357627 w 3012942"/>
                <a:gd name="connsiteY4" fmla="*/ 2621259 h 2621260"/>
                <a:gd name="connsiteX5" fmla="*/ 655315 w 3012942"/>
                <a:gd name="connsiteY5" fmla="*/ 2621259 h 2621260"/>
                <a:gd name="connsiteX6" fmla="*/ 0 w 3012942"/>
                <a:gd name="connsiteY6" fmla="*/ 1310630 h 262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2942" h="2621260">
                  <a:moveTo>
                    <a:pt x="1506471" y="0"/>
                  </a:moveTo>
                  <a:lnTo>
                    <a:pt x="3012941" y="570124"/>
                  </a:lnTo>
                  <a:lnTo>
                    <a:pt x="3012941" y="2051136"/>
                  </a:lnTo>
                  <a:lnTo>
                    <a:pt x="1506471" y="2621260"/>
                  </a:lnTo>
                  <a:lnTo>
                    <a:pt x="1" y="2051136"/>
                  </a:lnTo>
                  <a:lnTo>
                    <a:pt x="1" y="570124"/>
                  </a:lnTo>
                  <a:lnTo>
                    <a:pt x="1506471" y="0"/>
                  </a:lnTo>
                  <a:close/>
                </a:path>
              </a:pathLst>
            </a:custGeom>
            <a:solidFill>
              <a:srgbClr val="C0000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8223" tIns="434563" rIns="388223" bIns="434563" numCol="1" spcCol="1270" anchor="ctr" anchorCtr="0">
              <a:noAutofit/>
            </a:bodyPr>
            <a:lstStyle/>
            <a:p>
              <a:pPr algn="ctr" defTabSz="911130">
                <a:lnSpc>
                  <a:spcPct val="90000"/>
                </a:lnSpc>
                <a:spcBef>
                  <a:spcPct val="0"/>
                </a:spcBef>
                <a:spcAft>
                  <a:spcPct val="35000"/>
                </a:spcAft>
              </a:pPr>
              <a:endParaRPr lang="en-US" sz="1367" b="1" dirty="0">
                <a:solidFill>
                  <a:schemeClr val="tx1"/>
                </a:solidFill>
              </a:endParaRPr>
            </a:p>
          </p:txBody>
        </p:sp>
        <p:sp>
          <p:nvSpPr>
            <p:cNvPr id="31" name="TextBox 30">
              <a:extLst>
                <a:ext uri="{FF2B5EF4-FFF2-40B4-BE49-F238E27FC236}">
                  <a16:creationId xmlns:a16="http://schemas.microsoft.com/office/drawing/2014/main" id="{CB55C08E-C7BC-10AD-A6EC-DB62EB4DC8EE}"/>
                </a:ext>
              </a:extLst>
            </p:cNvPr>
            <p:cNvSpPr txBox="1"/>
            <p:nvPr/>
          </p:nvSpPr>
          <p:spPr>
            <a:xfrm>
              <a:off x="14415618" y="8926286"/>
              <a:ext cx="1136647" cy="634789"/>
            </a:xfrm>
            <a:prstGeom prst="rect">
              <a:avLst/>
            </a:prstGeom>
            <a:noFill/>
          </p:spPr>
          <p:txBody>
            <a:bodyPr wrap="square" rtlCol="0">
              <a:spAutoFit/>
            </a:bodyPr>
            <a:lstStyle/>
            <a:p>
              <a:pPr algn="ctr" defTabSz="911130">
                <a:lnSpc>
                  <a:spcPct val="90000"/>
                </a:lnSpc>
                <a:spcBef>
                  <a:spcPct val="0"/>
                </a:spcBef>
                <a:spcAft>
                  <a:spcPct val="35000"/>
                </a:spcAft>
              </a:pPr>
              <a:r>
                <a:rPr lang="en-US" sz="1000" b="1" dirty="0">
                  <a:solidFill>
                    <a:schemeClr val="bg1"/>
                  </a:solidFill>
                </a:rPr>
                <a:t>SLA</a:t>
              </a:r>
            </a:p>
            <a:p>
              <a:pPr algn="ctr" defTabSz="911130">
                <a:lnSpc>
                  <a:spcPct val="90000"/>
                </a:lnSpc>
                <a:spcBef>
                  <a:spcPct val="0"/>
                </a:spcBef>
                <a:spcAft>
                  <a:spcPct val="35000"/>
                </a:spcAft>
              </a:pPr>
              <a:endParaRPr lang="en-US" sz="1000" dirty="0"/>
            </a:p>
          </p:txBody>
        </p:sp>
      </p:grpSp>
      <p:grpSp>
        <p:nvGrpSpPr>
          <p:cNvPr id="32" name="Group 31">
            <a:extLst>
              <a:ext uri="{FF2B5EF4-FFF2-40B4-BE49-F238E27FC236}">
                <a16:creationId xmlns:a16="http://schemas.microsoft.com/office/drawing/2014/main" id="{1FEB2164-6815-791C-4595-25FBBA5C58CD}"/>
              </a:ext>
            </a:extLst>
          </p:cNvPr>
          <p:cNvGrpSpPr/>
          <p:nvPr/>
        </p:nvGrpSpPr>
        <p:grpSpPr>
          <a:xfrm>
            <a:off x="8360977" y="5479023"/>
            <a:ext cx="757767" cy="754915"/>
            <a:chOff x="16265020" y="8508058"/>
            <a:chExt cx="1136650" cy="1132372"/>
          </a:xfrm>
        </p:grpSpPr>
        <p:sp>
          <p:nvSpPr>
            <p:cNvPr id="33" name="Freeform: Shape 32">
              <a:extLst>
                <a:ext uri="{FF2B5EF4-FFF2-40B4-BE49-F238E27FC236}">
                  <a16:creationId xmlns:a16="http://schemas.microsoft.com/office/drawing/2014/main" id="{C7726484-49D0-1EC2-1826-79680D712EAA}"/>
                </a:ext>
              </a:extLst>
            </p:cNvPr>
            <p:cNvSpPr/>
            <p:nvPr/>
          </p:nvSpPr>
          <p:spPr>
            <a:xfrm>
              <a:off x="16265020" y="8508058"/>
              <a:ext cx="1076512" cy="1132372"/>
            </a:xfrm>
            <a:custGeom>
              <a:avLst/>
              <a:gdLst>
                <a:gd name="connsiteX0" fmla="*/ 0 w 3012942"/>
                <a:gd name="connsiteY0" fmla="*/ 1310630 h 2621260"/>
                <a:gd name="connsiteX1" fmla="*/ 655315 w 3012942"/>
                <a:gd name="connsiteY1" fmla="*/ 1 h 2621260"/>
                <a:gd name="connsiteX2" fmla="*/ 2357627 w 3012942"/>
                <a:gd name="connsiteY2" fmla="*/ 1 h 2621260"/>
                <a:gd name="connsiteX3" fmla="*/ 3012942 w 3012942"/>
                <a:gd name="connsiteY3" fmla="*/ 1310630 h 2621260"/>
                <a:gd name="connsiteX4" fmla="*/ 2357627 w 3012942"/>
                <a:gd name="connsiteY4" fmla="*/ 2621259 h 2621260"/>
                <a:gd name="connsiteX5" fmla="*/ 655315 w 3012942"/>
                <a:gd name="connsiteY5" fmla="*/ 2621259 h 2621260"/>
                <a:gd name="connsiteX6" fmla="*/ 0 w 3012942"/>
                <a:gd name="connsiteY6" fmla="*/ 1310630 h 262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2942" h="2621260">
                  <a:moveTo>
                    <a:pt x="1506471" y="0"/>
                  </a:moveTo>
                  <a:lnTo>
                    <a:pt x="3012941" y="570124"/>
                  </a:lnTo>
                  <a:lnTo>
                    <a:pt x="3012941" y="2051136"/>
                  </a:lnTo>
                  <a:lnTo>
                    <a:pt x="1506471" y="2621260"/>
                  </a:lnTo>
                  <a:lnTo>
                    <a:pt x="1" y="2051136"/>
                  </a:lnTo>
                  <a:lnTo>
                    <a:pt x="1" y="570124"/>
                  </a:lnTo>
                  <a:lnTo>
                    <a:pt x="1506471" y="0"/>
                  </a:lnTo>
                  <a:close/>
                </a:path>
              </a:pathLst>
            </a:custGeom>
            <a:solidFill>
              <a:schemeClr val="accent3">
                <a:lumMod val="75000"/>
              </a:schemeClr>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8223" tIns="434563" rIns="388223" bIns="434563" numCol="1" spcCol="1270" anchor="ctr" anchorCtr="0">
              <a:noAutofit/>
            </a:bodyPr>
            <a:lstStyle/>
            <a:p>
              <a:pPr algn="ctr" defTabSz="911130">
                <a:lnSpc>
                  <a:spcPct val="90000"/>
                </a:lnSpc>
                <a:spcBef>
                  <a:spcPct val="0"/>
                </a:spcBef>
                <a:spcAft>
                  <a:spcPct val="35000"/>
                </a:spcAft>
              </a:pPr>
              <a:endParaRPr lang="en-US" sz="1367" b="1" dirty="0">
                <a:solidFill>
                  <a:schemeClr val="tx1"/>
                </a:solidFill>
              </a:endParaRPr>
            </a:p>
          </p:txBody>
        </p:sp>
        <p:sp>
          <p:nvSpPr>
            <p:cNvPr id="34" name="TextBox 33">
              <a:extLst>
                <a:ext uri="{FF2B5EF4-FFF2-40B4-BE49-F238E27FC236}">
                  <a16:creationId xmlns:a16="http://schemas.microsoft.com/office/drawing/2014/main" id="{83A13A4D-D678-1030-49BB-6DE05B42049B}"/>
                </a:ext>
              </a:extLst>
            </p:cNvPr>
            <p:cNvSpPr txBox="1"/>
            <p:nvPr/>
          </p:nvSpPr>
          <p:spPr>
            <a:xfrm>
              <a:off x="16294096" y="8750786"/>
              <a:ext cx="1107574" cy="795315"/>
            </a:xfrm>
            <a:prstGeom prst="rect">
              <a:avLst/>
            </a:prstGeom>
            <a:noFill/>
          </p:spPr>
          <p:txBody>
            <a:bodyPr wrap="square" rtlCol="0">
              <a:spAutoFit/>
            </a:bodyPr>
            <a:lstStyle/>
            <a:p>
              <a:pPr algn="ctr" defTabSz="911130">
                <a:lnSpc>
                  <a:spcPct val="90000"/>
                </a:lnSpc>
                <a:spcBef>
                  <a:spcPct val="0"/>
                </a:spcBef>
                <a:spcAft>
                  <a:spcPct val="35000"/>
                </a:spcAft>
              </a:pPr>
              <a:r>
                <a:rPr lang="en-US" sz="933" b="1" dirty="0">
                  <a:solidFill>
                    <a:schemeClr val="bg1"/>
                  </a:solidFill>
                </a:rPr>
                <a:t>Retention Rate</a:t>
              </a:r>
            </a:p>
            <a:p>
              <a:pPr algn="ctr" defTabSz="911130">
                <a:lnSpc>
                  <a:spcPct val="90000"/>
                </a:lnSpc>
                <a:spcBef>
                  <a:spcPct val="0"/>
                </a:spcBef>
                <a:spcAft>
                  <a:spcPct val="35000"/>
                </a:spcAft>
              </a:pPr>
              <a:r>
                <a:rPr lang="en-US" sz="933" dirty="0">
                  <a:solidFill>
                    <a:schemeClr val="bg1"/>
                  </a:solidFill>
                </a:rPr>
                <a:t>% </a:t>
              </a:r>
            </a:p>
          </p:txBody>
        </p:sp>
      </p:grpSp>
      <p:grpSp>
        <p:nvGrpSpPr>
          <p:cNvPr id="35" name="Group 34">
            <a:extLst>
              <a:ext uri="{FF2B5EF4-FFF2-40B4-BE49-F238E27FC236}">
                <a16:creationId xmlns:a16="http://schemas.microsoft.com/office/drawing/2014/main" id="{39419750-8EC8-4055-D503-0813C360A86B}"/>
              </a:ext>
            </a:extLst>
          </p:cNvPr>
          <p:cNvGrpSpPr/>
          <p:nvPr/>
        </p:nvGrpSpPr>
        <p:grpSpPr>
          <a:xfrm>
            <a:off x="9363561" y="5642960"/>
            <a:ext cx="717675" cy="754915"/>
            <a:chOff x="11687601" y="9154628"/>
            <a:chExt cx="1076512" cy="1132372"/>
          </a:xfrm>
        </p:grpSpPr>
        <p:sp>
          <p:nvSpPr>
            <p:cNvPr id="36" name="Freeform: Shape 35">
              <a:extLst>
                <a:ext uri="{FF2B5EF4-FFF2-40B4-BE49-F238E27FC236}">
                  <a16:creationId xmlns:a16="http://schemas.microsoft.com/office/drawing/2014/main" id="{D0ECAB72-42DF-43AB-6E5D-C4BB755478CC}"/>
                </a:ext>
              </a:extLst>
            </p:cNvPr>
            <p:cNvSpPr/>
            <p:nvPr/>
          </p:nvSpPr>
          <p:spPr>
            <a:xfrm>
              <a:off x="11687601" y="9154628"/>
              <a:ext cx="1076512" cy="1132372"/>
            </a:xfrm>
            <a:custGeom>
              <a:avLst/>
              <a:gdLst>
                <a:gd name="connsiteX0" fmla="*/ 0 w 3012942"/>
                <a:gd name="connsiteY0" fmla="*/ 1310630 h 2621260"/>
                <a:gd name="connsiteX1" fmla="*/ 655315 w 3012942"/>
                <a:gd name="connsiteY1" fmla="*/ 1 h 2621260"/>
                <a:gd name="connsiteX2" fmla="*/ 2357627 w 3012942"/>
                <a:gd name="connsiteY2" fmla="*/ 1 h 2621260"/>
                <a:gd name="connsiteX3" fmla="*/ 3012942 w 3012942"/>
                <a:gd name="connsiteY3" fmla="*/ 1310630 h 2621260"/>
                <a:gd name="connsiteX4" fmla="*/ 2357627 w 3012942"/>
                <a:gd name="connsiteY4" fmla="*/ 2621259 h 2621260"/>
                <a:gd name="connsiteX5" fmla="*/ 655315 w 3012942"/>
                <a:gd name="connsiteY5" fmla="*/ 2621259 h 2621260"/>
                <a:gd name="connsiteX6" fmla="*/ 0 w 3012942"/>
                <a:gd name="connsiteY6" fmla="*/ 1310630 h 262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2942" h="2621260">
                  <a:moveTo>
                    <a:pt x="1506471" y="0"/>
                  </a:moveTo>
                  <a:lnTo>
                    <a:pt x="3012941" y="570124"/>
                  </a:lnTo>
                  <a:lnTo>
                    <a:pt x="3012941" y="2051136"/>
                  </a:lnTo>
                  <a:lnTo>
                    <a:pt x="1506471" y="2621260"/>
                  </a:lnTo>
                  <a:lnTo>
                    <a:pt x="1" y="2051136"/>
                  </a:lnTo>
                  <a:lnTo>
                    <a:pt x="1" y="570124"/>
                  </a:lnTo>
                  <a:lnTo>
                    <a:pt x="1506471" y="0"/>
                  </a:lnTo>
                  <a:close/>
                </a:path>
              </a:pathLst>
            </a:custGeom>
            <a:solidFill>
              <a:schemeClr val="accent1"/>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8223" tIns="434563" rIns="388223" bIns="434563" numCol="1" spcCol="1270" anchor="ctr" anchorCtr="0">
              <a:noAutofit/>
            </a:bodyPr>
            <a:lstStyle/>
            <a:p>
              <a:pPr algn="ctr" defTabSz="911130">
                <a:lnSpc>
                  <a:spcPct val="90000"/>
                </a:lnSpc>
                <a:spcBef>
                  <a:spcPct val="0"/>
                </a:spcBef>
                <a:spcAft>
                  <a:spcPct val="35000"/>
                </a:spcAft>
              </a:pPr>
              <a:endParaRPr lang="en-US" sz="1367" b="1" dirty="0">
                <a:solidFill>
                  <a:schemeClr val="tx1"/>
                </a:solidFill>
              </a:endParaRPr>
            </a:p>
          </p:txBody>
        </p:sp>
        <p:sp>
          <p:nvSpPr>
            <p:cNvPr id="37" name="TextBox 36">
              <a:extLst>
                <a:ext uri="{FF2B5EF4-FFF2-40B4-BE49-F238E27FC236}">
                  <a16:creationId xmlns:a16="http://schemas.microsoft.com/office/drawing/2014/main" id="{835FBFAE-4EF5-569E-6122-35F391A185C2}"/>
                </a:ext>
              </a:extLst>
            </p:cNvPr>
            <p:cNvSpPr txBox="1"/>
            <p:nvPr/>
          </p:nvSpPr>
          <p:spPr>
            <a:xfrm>
              <a:off x="11722719" y="9500181"/>
              <a:ext cx="959568" cy="620844"/>
            </a:xfrm>
            <a:prstGeom prst="rect">
              <a:avLst/>
            </a:prstGeom>
            <a:noFill/>
          </p:spPr>
          <p:txBody>
            <a:bodyPr wrap="square" rtlCol="0">
              <a:spAutoFit/>
            </a:bodyPr>
            <a:lstStyle/>
            <a:p>
              <a:pPr algn="ctr" defTabSz="911130">
                <a:lnSpc>
                  <a:spcPct val="90000"/>
                </a:lnSpc>
                <a:spcBef>
                  <a:spcPct val="0"/>
                </a:spcBef>
                <a:spcAft>
                  <a:spcPct val="35000"/>
                </a:spcAft>
              </a:pPr>
              <a:r>
                <a:rPr lang="en-US" sz="1000" b="1" dirty="0">
                  <a:solidFill>
                    <a:schemeClr val="bg1"/>
                  </a:solidFill>
                </a:rPr>
                <a:t> NPS</a:t>
              </a:r>
            </a:p>
            <a:p>
              <a:pPr algn="ctr" defTabSz="911130">
                <a:lnSpc>
                  <a:spcPct val="90000"/>
                </a:lnSpc>
                <a:spcBef>
                  <a:spcPct val="0"/>
                </a:spcBef>
                <a:spcAft>
                  <a:spcPct val="35000"/>
                </a:spcAft>
              </a:pPr>
              <a:endParaRPr lang="en-US" sz="933" dirty="0"/>
            </a:p>
          </p:txBody>
        </p:sp>
      </p:grpSp>
      <p:cxnSp>
        <p:nvCxnSpPr>
          <p:cNvPr id="38" name="Straight Connector 37">
            <a:extLst>
              <a:ext uri="{FF2B5EF4-FFF2-40B4-BE49-F238E27FC236}">
                <a16:creationId xmlns:a16="http://schemas.microsoft.com/office/drawing/2014/main" id="{8E49E843-B850-BDB5-4039-C2354CF46E8C}"/>
              </a:ext>
            </a:extLst>
          </p:cNvPr>
          <p:cNvCxnSpPr/>
          <p:nvPr/>
        </p:nvCxnSpPr>
        <p:spPr>
          <a:xfrm>
            <a:off x="6744076" y="5462191"/>
            <a:ext cx="0" cy="1066201"/>
          </a:xfrm>
          <a:prstGeom prst="line">
            <a:avLst/>
          </a:prstGeom>
          <a:ln>
            <a:solidFill>
              <a:srgbClr val="969696"/>
            </a:solidFill>
          </a:ln>
        </p:spPr>
        <p:style>
          <a:lnRef idx="1">
            <a:schemeClr val="accent1"/>
          </a:lnRef>
          <a:fillRef idx="0">
            <a:schemeClr val="accent1"/>
          </a:fillRef>
          <a:effectRef idx="0">
            <a:schemeClr val="accent1"/>
          </a:effectRef>
          <a:fontRef idx="minor">
            <a:schemeClr val="tx1"/>
          </a:fontRef>
        </p:style>
      </p:cxnSp>
      <p:pic>
        <p:nvPicPr>
          <p:cNvPr id="39" name="Graphic 38" descr="Chat">
            <a:extLst>
              <a:ext uri="{FF2B5EF4-FFF2-40B4-BE49-F238E27FC236}">
                <a16:creationId xmlns:a16="http://schemas.microsoft.com/office/drawing/2014/main" id="{E64EC763-6CC7-8481-E8E8-7881C54946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57318" y="5849742"/>
            <a:ext cx="392883" cy="392883"/>
          </a:xfrm>
          <a:prstGeom prst="rect">
            <a:avLst/>
          </a:prstGeom>
        </p:spPr>
      </p:pic>
      <p:sp>
        <p:nvSpPr>
          <p:cNvPr id="40" name="TextBox 39">
            <a:extLst>
              <a:ext uri="{FF2B5EF4-FFF2-40B4-BE49-F238E27FC236}">
                <a16:creationId xmlns:a16="http://schemas.microsoft.com/office/drawing/2014/main" id="{9FEFAB9C-31FB-9B2B-ACC4-DA1BA0ADF157}"/>
              </a:ext>
            </a:extLst>
          </p:cNvPr>
          <p:cNvSpPr txBox="1"/>
          <p:nvPr/>
        </p:nvSpPr>
        <p:spPr>
          <a:xfrm>
            <a:off x="3724330" y="6201915"/>
            <a:ext cx="615655" cy="194990"/>
          </a:xfrm>
          <a:prstGeom prst="rect">
            <a:avLst/>
          </a:prstGeom>
          <a:noFill/>
        </p:spPr>
        <p:txBody>
          <a:bodyPr wrap="square" rtlCol="0">
            <a:spAutoFit/>
          </a:bodyPr>
          <a:lstStyle/>
          <a:p>
            <a:r>
              <a:rPr lang="en-US" sz="667" b="1" dirty="0"/>
              <a:t>Chat</a:t>
            </a:r>
          </a:p>
        </p:txBody>
      </p:sp>
      <p:pic>
        <p:nvPicPr>
          <p:cNvPr id="41" name="Graphic 40" descr="Call center">
            <a:extLst>
              <a:ext uri="{FF2B5EF4-FFF2-40B4-BE49-F238E27FC236}">
                <a16:creationId xmlns:a16="http://schemas.microsoft.com/office/drawing/2014/main" id="{C66FFB7F-69AA-6CFD-1161-7E962A34BE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8460" y="5838024"/>
            <a:ext cx="364789" cy="364789"/>
          </a:xfrm>
          <a:prstGeom prst="rect">
            <a:avLst/>
          </a:prstGeom>
        </p:spPr>
      </p:pic>
      <p:sp>
        <p:nvSpPr>
          <p:cNvPr id="42" name="TextBox 41">
            <a:extLst>
              <a:ext uri="{FF2B5EF4-FFF2-40B4-BE49-F238E27FC236}">
                <a16:creationId xmlns:a16="http://schemas.microsoft.com/office/drawing/2014/main" id="{FFB3A00A-13B8-53A8-59B3-846351DA3AED}"/>
              </a:ext>
            </a:extLst>
          </p:cNvPr>
          <p:cNvSpPr txBox="1"/>
          <p:nvPr/>
        </p:nvSpPr>
        <p:spPr>
          <a:xfrm>
            <a:off x="1077866" y="4560989"/>
            <a:ext cx="1948006" cy="276999"/>
          </a:xfrm>
          <a:prstGeom prst="rect">
            <a:avLst/>
          </a:prstGeom>
          <a:noFill/>
        </p:spPr>
        <p:txBody>
          <a:bodyPr wrap="square" rtlCol="0">
            <a:spAutoFit/>
          </a:bodyPr>
          <a:lstStyle/>
          <a:p>
            <a:r>
              <a:rPr lang="en-US" sz="1200" b="1" dirty="0">
                <a:solidFill>
                  <a:schemeClr val="bg1"/>
                </a:solidFill>
              </a:rPr>
              <a:t>Decision Maker: No</a:t>
            </a:r>
          </a:p>
        </p:txBody>
      </p:sp>
      <p:sp>
        <p:nvSpPr>
          <p:cNvPr id="44" name="Rechteck 20">
            <a:extLst>
              <a:ext uri="{FF2B5EF4-FFF2-40B4-BE49-F238E27FC236}">
                <a16:creationId xmlns:a16="http://schemas.microsoft.com/office/drawing/2014/main" id="{8B40DEA2-43A1-5DD8-4B7C-CF9792080F97}"/>
              </a:ext>
            </a:extLst>
          </p:cNvPr>
          <p:cNvSpPr/>
          <p:nvPr/>
        </p:nvSpPr>
        <p:spPr>
          <a:xfrm>
            <a:off x="255110" y="-49057"/>
            <a:ext cx="5139011" cy="584775"/>
          </a:xfrm>
          <a:prstGeom prst="rect">
            <a:avLst/>
          </a:prstGeom>
        </p:spPr>
        <p:txBody>
          <a:bodyPr wrap="square">
            <a:spAutoFit/>
          </a:bodyPr>
          <a:lstStyle/>
          <a:p>
            <a:r>
              <a:rPr lang="en-US" sz="3200" b="1" dirty="0">
                <a:latin typeface="+mj-lt"/>
                <a:cs typeface="Calibri Light"/>
              </a:rPr>
              <a:t>DANIEL SMITH - </a:t>
            </a:r>
            <a:r>
              <a:rPr lang="en-US" sz="3200" b="1" dirty="0">
                <a:solidFill>
                  <a:srgbClr val="C00000"/>
                </a:solidFill>
                <a:latin typeface="+mj-lt"/>
                <a:cs typeface="Calibri Light"/>
              </a:rPr>
              <a:t>Personas</a:t>
            </a:r>
          </a:p>
        </p:txBody>
      </p:sp>
      <p:pic>
        <p:nvPicPr>
          <p:cNvPr id="46" name="Picture 45">
            <a:extLst>
              <a:ext uri="{FF2B5EF4-FFF2-40B4-BE49-F238E27FC236}">
                <a16:creationId xmlns:a16="http://schemas.microsoft.com/office/drawing/2014/main" id="{E234A9ED-3BF5-4D98-41DA-B49949BEF3A5}"/>
              </a:ext>
            </a:extLst>
          </p:cNvPr>
          <p:cNvPicPr>
            <a:picLocks noChangeAspect="1"/>
          </p:cNvPicPr>
          <p:nvPr/>
        </p:nvPicPr>
        <p:blipFill>
          <a:blip r:embed="rId6"/>
          <a:stretch>
            <a:fillRect/>
          </a:stretch>
        </p:blipFill>
        <p:spPr>
          <a:xfrm>
            <a:off x="337683" y="485751"/>
            <a:ext cx="2745217" cy="3575821"/>
          </a:xfrm>
          <a:prstGeom prst="rect">
            <a:avLst/>
          </a:prstGeom>
        </p:spPr>
      </p:pic>
    </p:spTree>
    <p:extLst>
      <p:ext uri="{BB962C8B-B14F-4D97-AF65-F5344CB8AC3E}">
        <p14:creationId xmlns:p14="http://schemas.microsoft.com/office/powerpoint/2010/main" val="2862451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9" name="Straight Connector 1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0" name="Rectangle 14">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977E5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B12CEE91-EC26-00AC-E605-80B5CF8DCF14}"/>
              </a:ext>
            </a:extLst>
          </p:cNvPr>
          <p:cNvSpPr>
            <a:spLocks noGrp="1"/>
          </p:cNvSpPr>
          <p:nvPr>
            <p:ph type="title"/>
          </p:nvPr>
        </p:nvSpPr>
        <p:spPr>
          <a:xfrm>
            <a:off x="435869" y="640080"/>
            <a:ext cx="3659246" cy="2862699"/>
          </a:xfrm>
        </p:spPr>
        <p:txBody>
          <a:bodyPr vert="horz" lIns="91440" tIns="45720" rIns="91440" bIns="45720" rtlCol="0" anchor="b">
            <a:normAutofit/>
          </a:bodyPr>
          <a:lstStyle/>
          <a:p>
            <a:r>
              <a:rPr lang="en-US" sz="4400"/>
              <a:t>Employee Experience</a:t>
            </a:r>
          </a:p>
        </p:txBody>
      </p:sp>
      <p:sp>
        <p:nvSpPr>
          <p:cNvPr id="6" name="Text Placeholder 5">
            <a:extLst>
              <a:ext uri="{FF2B5EF4-FFF2-40B4-BE49-F238E27FC236}">
                <a16:creationId xmlns:a16="http://schemas.microsoft.com/office/drawing/2014/main" id="{C8311CD7-ED87-A6C2-1F74-E5C1520C18BA}"/>
              </a:ext>
            </a:extLst>
          </p:cNvPr>
          <p:cNvSpPr>
            <a:spLocks noGrp="1"/>
          </p:cNvSpPr>
          <p:nvPr>
            <p:ph type="body" sz="half" idx="2"/>
          </p:nvPr>
        </p:nvSpPr>
        <p:spPr>
          <a:xfrm>
            <a:off x="435869" y="3824516"/>
            <a:ext cx="3659246" cy="2393403"/>
          </a:xfrm>
        </p:spPr>
        <p:txBody>
          <a:bodyPr vert="horz" lIns="91440" tIns="45720" rIns="91440" bIns="45720" rtlCol="0">
            <a:normAutofit/>
          </a:bodyPr>
          <a:lstStyle/>
          <a:p>
            <a:pPr>
              <a:lnSpc>
                <a:spcPct val="100000"/>
              </a:lnSpc>
            </a:pPr>
            <a:r>
              <a:rPr lang="en-US" sz="1500" cap="all" spc="200"/>
              <a:t>“Always treat your employees exactly as you want them to treat your best customers.” Stephen Covey</a:t>
            </a:r>
          </a:p>
        </p:txBody>
      </p:sp>
      <p:cxnSp>
        <p:nvCxnSpPr>
          <p:cNvPr id="19" name="Straight Connector 18">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796C03C-C8B3-45BE-941F-7618B45BD5B5}"/>
              </a:ext>
            </a:extLst>
          </p:cNvPr>
          <p:cNvPicPr>
            <a:picLocks noChangeAspect="1"/>
          </p:cNvPicPr>
          <p:nvPr/>
        </p:nvPicPr>
        <p:blipFill>
          <a:blip r:embed="rId2"/>
          <a:stretch>
            <a:fillRect/>
          </a:stretch>
        </p:blipFill>
        <p:spPr>
          <a:xfrm>
            <a:off x="5282335" y="1373719"/>
            <a:ext cx="6275667" cy="4110561"/>
          </a:xfrm>
          <a:prstGeom prst="rect">
            <a:avLst/>
          </a:prstGeom>
        </p:spPr>
      </p:pic>
    </p:spTree>
    <p:extLst>
      <p:ext uri="{BB962C8B-B14F-4D97-AF65-F5344CB8AC3E}">
        <p14:creationId xmlns:p14="http://schemas.microsoft.com/office/powerpoint/2010/main" val="411824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93" name="Group 4293"/>
          <p:cNvGrpSpPr/>
          <p:nvPr/>
        </p:nvGrpSpPr>
        <p:grpSpPr>
          <a:xfrm>
            <a:off x="6347905" y="2397040"/>
            <a:ext cx="808336" cy="808339"/>
            <a:chOff x="0" y="0"/>
            <a:chExt cx="1616670" cy="1616676"/>
          </a:xfrm>
          <a:solidFill>
            <a:srgbClr val="C00000"/>
          </a:solidFill>
        </p:grpSpPr>
        <p:sp>
          <p:nvSpPr>
            <p:cNvPr id="4291" name="Shape 4291"/>
            <p:cNvSpPr/>
            <p:nvPr/>
          </p:nvSpPr>
          <p:spPr>
            <a:xfrm>
              <a:off x="0" y="0"/>
              <a:ext cx="1616671" cy="161667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6"/>
                    <a:pt x="4835" y="0"/>
                    <a:pt x="10800" y="0"/>
                  </a:cubicBezTo>
                  <a:cubicBezTo>
                    <a:pt x="16765" y="0"/>
                    <a:pt x="21600" y="4836"/>
                    <a:pt x="21600" y="10800"/>
                  </a:cubicBezTo>
                  <a:close/>
                </a:path>
              </a:pathLst>
            </a:custGeom>
            <a:grp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292" name="Shape 4292"/>
            <p:cNvSpPr/>
            <p:nvPr/>
          </p:nvSpPr>
          <p:spPr>
            <a:xfrm>
              <a:off x="370326" y="417734"/>
              <a:ext cx="871924" cy="838217"/>
            </a:xfrm>
            <a:custGeom>
              <a:avLst/>
              <a:gdLst/>
              <a:ahLst/>
              <a:cxnLst>
                <a:cxn ang="0">
                  <a:pos x="wd2" y="hd2"/>
                </a:cxn>
                <a:cxn ang="5400000">
                  <a:pos x="wd2" y="hd2"/>
                </a:cxn>
                <a:cxn ang="10800000">
                  <a:pos x="wd2" y="hd2"/>
                </a:cxn>
                <a:cxn ang="16200000">
                  <a:pos x="wd2" y="hd2"/>
                </a:cxn>
              </a:cxnLst>
              <a:rect l="0" t="0" r="r" b="b"/>
              <a:pathLst>
                <a:path w="21600" h="21600" extrusionOk="0">
                  <a:moveTo>
                    <a:pt x="12035" y="17655"/>
                  </a:moveTo>
                  <a:lnTo>
                    <a:pt x="14959" y="6875"/>
                  </a:lnTo>
                  <a:lnTo>
                    <a:pt x="19719" y="6875"/>
                  </a:lnTo>
                  <a:cubicBezTo>
                    <a:pt x="19719" y="6875"/>
                    <a:pt x="12035" y="17655"/>
                    <a:pt x="12035" y="17655"/>
                  </a:cubicBezTo>
                  <a:close/>
                  <a:moveTo>
                    <a:pt x="8142" y="6875"/>
                  </a:moveTo>
                  <a:lnTo>
                    <a:pt x="14035" y="6875"/>
                  </a:lnTo>
                  <a:lnTo>
                    <a:pt x="10838" y="18650"/>
                  </a:lnTo>
                  <a:cubicBezTo>
                    <a:pt x="10838" y="18650"/>
                    <a:pt x="8142" y="6875"/>
                    <a:pt x="8142" y="6875"/>
                  </a:cubicBezTo>
                  <a:close/>
                  <a:moveTo>
                    <a:pt x="1880" y="6875"/>
                  </a:moveTo>
                  <a:lnTo>
                    <a:pt x="7230" y="6875"/>
                  </a:lnTo>
                  <a:lnTo>
                    <a:pt x="9756" y="17912"/>
                  </a:lnTo>
                  <a:cubicBezTo>
                    <a:pt x="9756" y="17912"/>
                    <a:pt x="1880" y="6875"/>
                    <a:pt x="1880" y="6875"/>
                  </a:cubicBezTo>
                  <a:close/>
                  <a:moveTo>
                    <a:pt x="4647" y="1765"/>
                  </a:moveTo>
                  <a:lnTo>
                    <a:pt x="6830" y="5946"/>
                  </a:lnTo>
                  <a:lnTo>
                    <a:pt x="1880" y="5946"/>
                  </a:lnTo>
                  <a:cubicBezTo>
                    <a:pt x="1880" y="5946"/>
                    <a:pt x="4647" y="1765"/>
                    <a:pt x="4647" y="1765"/>
                  </a:cubicBezTo>
                  <a:close/>
                  <a:moveTo>
                    <a:pt x="9914" y="1316"/>
                  </a:moveTo>
                  <a:lnTo>
                    <a:pt x="7591" y="5466"/>
                  </a:lnTo>
                  <a:lnTo>
                    <a:pt x="5426" y="1316"/>
                  </a:lnTo>
                  <a:cubicBezTo>
                    <a:pt x="5426" y="1316"/>
                    <a:pt x="9914" y="1316"/>
                    <a:pt x="9914" y="1316"/>
                  </a:cubicBezTo>
                  <a:close/>
                  <a:moveTo>
                    <a:pt x="13668" y="5946"/>
                  </a:moveTo>
                  <a:lnTo>
                    <a:pt x="8349" y="5946"/>
                  </a:lnTo>
                  <a:lnTo>
                    <a:pt x="10825" y="1535"/>
                  </a:lnTo>
                  <a:cubicBezTo>
                    <a:pt x="10825" y="1535"/>
                    <a:pt x="13668" y="5946"/>
                    <a:pt x="13668" y="5946"/>
                  </a:cubicBezTo>
                  <a:close/>
                  <a:moveTo>
                    <a:pt x="16238" y="1316"/>
                  </a:moveTo>
                  <a:lnTo>
                    <a:pt x="14498" y="5578"/>
                  </a:lnTo>
                  <a:lnTo>
                    <a:pt x="11763" y="1316"/>
                  </a:lnTo>
                  <a:cubicBezTo>
                    <a:pt x="11763" y="1316"/>
                    <a:pt x="16238" y="1316"/>
                    <a:pt x="16238" y="1316"/>
                  </a:cubicBezTo>
                  <a:close/>
                  <a:moveTo>
                    <a:pt x="19726" y="5946"/>
                  </a:moveTo>
                  <a:lnTo>
                    <a:pt x="15315" y="5946"/>
                  </a:lnTo>
                  <a:lnTo>
                    <a:pt x="16998" y="1831"/>
                  </a:lnTo>
                  <a:cubicBezTo>
                    <a:pt x="16998" y="1831"/>
                    <a:pt x="19726" y="5946"/>
                    <a:pt x="19726" y="5946"/>
                  </a:cubicBezTo>
                  <a:close/>
                  <a:moveTo>
                    <a:pt x="17327" y="0"/>
                  </a:moveTo>
                  <a:lnTo>
                    <a:pt x="4273" y="0"/>
                  </a:lnTo>
                  <a:lnTo>
                    <a:pt x="0" y="6454"/>
                  </a:lnTo>
                  <a:lnTo>
                    <a:pt x="10800" y="21600"/>
                  </a:lnTo>
                  <a:lnTo>
                    <a:pt x="21600" y="6454"/>
                  </a:lnTo>
                  <a:cubicBezTo>
                    <a:pt x="21600" y="6454"/>
                    <a:pt x="17327" y="0"/>
                    <a:pt x="17327" y="0"/>
                  </a:cubicBezTo>
                  <a:close/>
                </a:path>
              </a:pathLst>
            </a:custGeom>
            <a:solidFill>
              <a:schemeClr val="bg1"/>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sp>
        <p:nvSpPr>
          <p:cNvPr id="58" name="Shape 551">
            <a:extLst>
              <a:ext uri="{FF2B5EF4-FFF2-40B4-BE49-F238E27FC236}">
                <a16:creationId xmlns:a16="http://schemas.microsoft.com/office/drawing/2014/main" id="{C5D8F449-4BAD-48B0-B3E2-F4CC14E24FC8}"/>
              </a:ext>
            </a:extLst>
          </p:cNvPr>
          <p:cNvSpPr/>
          <p:nvPr/>
        </p:nvSpPr>
        <p:spPr>
          <a:xfrm>
            <a:off x="0" y="4434110"/>
            <a:ext cx="12200067" cy="2423889"/>
          </a:xfrm>
          <a:prstGeom prst="rect">
            <a:avLst/>
          </a:prstGeom>
          <a:solidFill>
            <a:schemeClr val="bg1">
              <a:lumMod val="95000"/>
              <a:alpha val="84706"/>
            </a:schemeClr>
          </a:solidFill>
          <a:ln w="12700">
            <a:miter lim="400000"/>
          </a:ln>
        </p:spPr>
        <p:txBody>
          <a:bodyPr lIns="0" tIns="0" rIns="0" bIns="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grpSp>
        <p:nvGrpSpPr>
          <p:cNvPr id="4273" name="Group 4273"/>
          <p:cNvGrpSpPr/>
          <p:nvPr/>
        </p:nvGrpSpPr>
        <p:grpSpPr>
          <a:xfrm>
            <a:off x="6241413" y="4110143"/>
            <a:ext cx="2887962" cy="2729878"/>
            <a:chOff x="0" y="0"/>
            <a:chExt cx="6966952" cy="7549938"/>
          </a:xfrm>
        </p:grpSpPr>
        <p:sp>
          <p:nvSpPr>
            <p:cNvPr id="4269" name="Shape 4269"/>
            <p:cNvSpPr/>
            <p:nvPr/>
          </p:nvSpPr>
          <p:spPr>
            <a:xfrm>
              <a:off x="2007007" y="164226"/>
              <a:ext cx="4857725" cy="6531991"/>
            </a:xfrm>
            <a:custGeom>
              <a:avLst/>
              <a:gdLst/>
              <a:ahLst/>
              <a:cxnLst>
                <a:cxn ang="0">
                  <a:pos x="wd2" y="hd2"/>
                </a:cxn>
                <a:cxn ang="5400000">
                  <a:pos x="wd2" y="hd2"/>
                </a:cxn>
                <a:cxn ang="10800000">
                  <a:pos x="wd2" y="hd2"/>
                </a:cxn>
                <a:cxn ang="16200000">
                  <a:pos x="wd2" y="hd2"/>
                </a:cxn>
              </a:cxnLst>
              <a:rect l="0" t="0" r="r" b="b"/>
              <a:pathLst>
                <a:path w="20819" h="21287" extrusionOk="0">
                  <a:moveTo>
                    <a:pt x="19979" y="12760"/>
                  </a:moveTo>
                  <a:cubicBezTo>
                    <a:pt x="21026" y="11091"/>
                    <a:pt x="19421" y="9948"/>
                    <a:pt x="19320" y="9524"/>
                  </a:cubicBezTo>
                  <a:cubicBezTo>
                    <a:pt x="19810" y="8715"/>
                    <a:pt x="19438" y="7097"/>
                    <a:pt x="17614" y="6622"/>
                  </a:cubicBezTo>
                  <a:cubicBezTo>
                    <a:pt x="15790" y="6146"/>
                    <a:pt x="13088" y="7084"/>
                    <a:pt x="11805" y="7456"/>
                  </a:cubicBezTo>
                  <a:cubicBezTo>
                    <a:pt x="10521" y="7829"/>
                    <a:pt x="10538" y="7700"/>
                    <a:pt x="10336" y="6878"/>
                  </a:cubicBezTo>
                  <a:cubicBezTo>
                    <a:pt x="10133" y="6057"/>
                    <a:pt x="10741" y="5260"/>
                    <a:pt x="11197" y="4156"/>
                  </a:cubicBezTo>
                  <a:cubicBezTo>
                    <a:pt x="11653" y="3052"/>
                    <a:pt x="11096" y="2011"/>
                    <a:pt x="10403" y="997"/>
                  </a:cubicBezTo>
                  <a:cubicBezTo>
                    <a:pt x="9711" y="-18"/>
                    <a:pt x="7921" y="-313"/>
                    <a:pt x="7059" y="368"/>
                  </a:cubicBezTo>
                  <a:cubicBezTo>
                    <a:pt x="6198" y="1048"/>
                    <a:pt x="6857" y="2345"/>
                    <a:pt x="6789" y="3527"/>
                  </a:cubicBezTo>
                  <a:cubicBezTo>
                    <a:pt x="6721" y="4708"/>
                    <a:pt x="5894" y="5440"/>
                    <a:pt x="5033" y="6365"/>
                  </a:cubicBezTo>
                  <a:cubicBezTo>
                    <a:pt x="4171" y="7289"/>
                    <a:pt x="4053" y="7829"/>
                    <a:pt x="3699" y="9280"/>
                  </a:cubicBezTo>
                  <a:cubicBezTo>
                    <a:pt x="3344" y="10731"/>
                    <a:pt x="2415" y="11835"/>
                    <a:pt x="2415" y="11835"/>
                  </a:cubicBezTo>
                  <a:lnTo>
                    <a:pt x="2280" y="11964"/>
                  </a:lnTo>
                  <a:cubicBezTo>
                    <a:pt x="2280" y="11964"/>
                    <a:pt x="1875" y="12169"/>
                    <a:pt x="1824" y="12221"/>
                  </a:cubicBezTo>
                  <a:cubicBezTo>
                    <a:pt x="1773" y="12272"/>
                    <a:pt x="1267" y="12375"/>
                    <a:pt x="1216" y="12375"/>
                  </a:cubicBezTo>
                  <a:cubicBezTo>
                    <a:pt x="1165" y="12375"/>
                    <a:pt x="0" y="12734"/>
                    <a:pt x="0" y="12734"/>
                  </a:cubicBezTo>
                  <a:lnTo>
                    <a:pt x="3479" y="21171"/>
                  </a:lnTo>
                  <a:lnTo>
                    <a:pt x="3648" y="21120"/>
                  </a:lnTo>
                  <a:lnTo>
                    <a:pt x="4627" y="21043"/>
                  </a:lnTo>
                  <a:cubicBezTo>
                    <a:pt x="4627" y="21043"/>
                    <a:pt x="5370" y="21287"/>
                    <a:pt x="6384" y="21287"/>
                  </a:cubicBezTo>
                  <a:cubicBezTo>
                    <a:pt x="7397" y="21287"/>
                    <a:pt x="17175" y="18950"/>
                    <a:pt x="19388" y="18231"/>
                  </a:cubicBezTo>
                  <a:cubicBezTo>
                    <a:pt x="21600" y="17511"/>
                    <a:pt x="20570" y="15919"/>
                    <a:pt x="20300" y="15457"/>
                  </a:cubicBezTo>
                  <a:cubicBezTo>
                    <a:pt x="21212" y="14892"/>
                    <a:pt x="20806" y="13659"/>
                    <a:pt x="19979" y="12760"/>
                  </a:cubicBezTo>
                  <a:close/>
                </a:path>
              </a:pathLst>
            </a:custGeom>
            <a:solidFill>
              <a:srgbClr val="212830"/>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270" name="Shape 4270"/>
            <p:cNvSpPr/>
            <p:nvPr/>
          </p:nvSpPr>
          <p:spPr>
            <a:xfrm>
              <a:off x="0" y="-1"/>
              <a:ext cx="6966953" cy="7549940"/>
            </a:xfrm>
            <a:custGeom>
              <a:avLst/>
              <a:gdLst/>
              <a:ahLst/>
              <a:cxnLst>
                <a:cxn ang="0">
                  <a:pos x="wd2" y="hd2"/>
                </a:cxn>
                <a:cxn ang="5400000">
                  <a:pos x="wd2" y="hd2"/>
                </a:cxn>
                <a:cxn ang="10800000">
                  <a:pos x="wd2" y="hd2"/>
                </a:cxn>
                <a:cxn ang="16200000">
                  <a:pos x="wd2" y="hd2"/>
                </a:cxn>
              </a:cxnLst>
              <a:rect l="0" t="0" r="r" b="b"/>
              <a:pathLst>
                <a:path w="20557" h="21186" extrusionOk="0">
                  <a:moveTo>
                    <a:pt x="19907" y="14982"/>
                  </a:moveTo>
                  <a:cubicBezTo>
                    <a:pt x="19742" y="15698"/>
                    <a:pt x="19228" y="15797"/>
                    <a:pt x="18724" y="15948"/>
                  </a:cubicBezTo>
                  <a:cubicBezTo>
                    <a:pt x="18221" y="16098"/>
                    <a:pt x="10882" y="18290"/>
                    <a:pt x="10399" y="18435"/>
                  </a:cubicBezTo>
                  <a:cubicBezTo>
                    <a:pt x="9917" y="18579"/>
                    <a:pt x="9257" y="18193"/>
                    <a:pt x="9257" y="18193"/>
                  </a:cubicBezTo>
                  <a:lnTo>
                    <a:pt x="8435" y="18439"/>
                  </a:lnTo>
                  <a:lnTo>
                    <a:pt x="6175" y="11596"/>
                  </a:lnTo>
                  <a:cubicBezTo>
                    <a:pt x="6175" y="11596"/>
                    <a:pt x="7381" y="11236"/>
                    <a:pt x="7505" y="11199"/>
                  </a:cubicBezTo>
                  <a:cubicBezTo>
                    <a:pt x="7629" y="11161"/>
                    <a:pt x="7690" y="11072"/>
                    <a:pt x="7741" y="10965"/>
                  </a:cubicBezTo>
                  <a:cubicBezTo>
                    <a:pt x="7791" y="10858"/>
                    <a:pt x="8349" y="9761"/>
                    <a:pt x="8655" y="8511"/>
                  </a:cubicBezTo>
                  <a:cubicBezTo>
                    <a:pt x="8961" y="7261"/>
                    <a:pt x="9247" y="6532"/>
                    <a:pt x="9802" y="5851"/>
                  </a:cubicBezTo>
                  <a:cubicBezTo>
                    <a:pt x="10356" y="5169"/>
                    <a:pt x="10918" y="3849"/>
                    <a:pt x="10902" y="2987"/>
                  </a:cubicBezTo>
                  <a:cubicBezTo>
                    <a:pt x="10886" y="2124"/>
                    <a:pt x="10681" y="1664"/>
                    <a:pt x="10803" y="1210"/>
                  </a:cubicBezTo>
                  <a:cubicBezTo>
                    <a:pt x="10925" y="755"/>
                    <a:pt x="11484" y="405"/>
                    <a:pt x="12078" y="864"/>
                  </a:cubicBezTo>
                  <a:cubicBezTo>
                    <a:pt x="12673" y="1324"/>
                    <a:pt x="13355" y="2327"/>
                    <a:pt x="13241" y="3635"/>
                  </a:cubicBezTo>
                  <a:cubicBezTo>
                    <a:pt x="13127" y="4943"/>
                    <a:pt x="12834" y="5369"/>
                    <a:pt x="12687" y="5772"/>
                  </a:cubicBezTo>
                  <a:cubicBezTo>
                    <a:pt x="12540" y="6175"/>
                    <a:pt x="12602" y="6467"/>
                    <a:pt x="12687" y="6723"/>
                  </a:cubicBezTo>
                  <a:cubicBezTo>
                    <a:pt x="12771" y="6978"/>
                    <a:pt x="13006" y="7514"/>
                    <a:pt x="13764" y="7287"/>
                  </a:cubicBezTo>
                  <a:cubicBezTo>
                    <a:pt x="14522" y="7061"/>
                    <a:pt x="14851" y="6962"/>
                    <a:pt x="15810" y="6676"/>
                  </a:cubicBezTo>
                  <a:cubicBezTo>
                    <a:pt x="16770" y="6389"/>
                    <a:pt x="17804" y="6183"/>
                    <a:pt x="18377" y="6720"/>
                  </a:cubicBezTo>
                  <a:cubicBezTo>
                    <a:pt x="18950" y="7258"/>
                    <a:pt x="19490" y="8343"/>
                    <a:pt x="18264" y="9022"/>
                  </a:cubicBezTo>
                  <a:cubicBezTo>
                    <a:pt x="18264" y="9022"/>
                    <a:pt x="19351" y="8935"/>
                    <a:pt x="19574" y="10131"/>
                  </a:cubicBezTo>
                  <a:cubicBezTo>
                    <a:pt x="19682" y="10948"/>
                    <a:pt x="19310" y="11349"/>
                    <a:pt x="18755" y="11516"/>
                  </a:cubicBezTo>
                  <a:cubicBezTo>
                    <a:pt x="18755" y="11516"/>
                    <a:pt x="19765" y="11599"/>
                    <a:pt x="19825" y="12498"/>
                  </a:cubicBezTo>
                  <a:cubicBezTo>
                    <a:pt x="19885" y="13396"/>
                    <a:pt x="19386" y="13707"/>
                    <a:pt x="19088" y="13823"/>
                  </a:cubicBezTo>
                  <a:cubicBezTo>
                    <a:pt x="19088" y="13823"/>
                    <a:pt x="20081" y="14049"/>
                    <a:pt x="19907" y="14982"/>
                  </a:cubicBezTo>
                  <a:close/>
                  <a:moveTo>
                    <a:pt x="20188" y="13743"/>
                  </a:moveTo>
                  <a:cubicBezTo>
                    <a:pt x="21034" y="12587"/>
                    <a:pt x="19949" y="11409"/>
                    <a:pt x="19949" y="11409"/>
                  </a:cubicBezTo>
                  <a:cubicBezTo>
                    <a:pt x="20910" y="9893"/>
                    <a:pt x="19438" y="8711"/>
                    <a:pt x="19438" y="8711"/>
                  </a:cubicBezTo>
                  <a:cubicBezTo>
                    <a:pt x="19679" y="8407"/>
                    <a:pt x="19724" y="7577"/>
                    <a:pt x="19281" y="6779"/>
                  </a:cubicBezTo>
                  <a:cubicBezTo>
                    <a:pt x="18636" y="5619"/>
                    <a:pt x="16953" y="5667"/>
                    <a:pt x="16018" y="5946"/>
                  </a:cubicBezTo>
                  <a:cubicBezTo>
                    <a:pt x="15084" y="6225"/>
                    <a:pt x="13606" y="6666"/>
                    <a:pt x="13479" y="6704"/>
                  </a:cubicBezTo>
                  <a:cubicBezTo>
                    <a:pt x="13352" y="6742"/>
                    <a:pt x="13305" y="6522"/>
                    <a:pt x="13255" y="6303"/>
                  </a:cubicBezTo>
                  <a:cubicBezTo>
                    <a:pt x="13204" y="6085"/>
                    <a:pt x="13367" y="5906"/>
                    <a:pt x="13799" y="4645"/>
                  </a:cubicBezTo>
                  <a:cubicBezTo>
                    <a:pt x="14232" y="3384"/>
                    <a:pt x="13851" y="2321"/>
                    <a:pt x="13378" y="1354"/>
                  </a:cubicBezTo>
                  <a:cubicBezTo>
                    <a:pt x="12905" y="388"/>
                    <a:pt x="11585" y="-327"/>
                    <a:pt x="10841" y="155"/>
                  </a:cubicBezTo>
                  <a:cubicBezTo>
                    <a:pt x="10096" y="636"/>
                    <a:pt x="10081" y="1299"/>
                    <a:pt x="10223" y="2439"/>
                  </a:cubicBezTo>
                  <a:cubicBezTo>
                    <a:pt x="10364" y="3578"/>
                    <a:pt x="9709" y="4821"/>
                    <a:pt x="9299" y="5396"/>
                  </a:cubicBezTo>
                  <a:cubicBezTo>
                    <a:pt x="8890" y="5970"/>
                    <a:pt x="8475" y="6504"/>
                    <a:pt x="8185" y="7789"/>
                  </a:cubicBezTo>
                  <a:cubicBezTo>
                    <a:pt x="7894" y="9073"/>
                    <a:pt x="7322" y="10397"/>
                    <a:pt x="7265" y="10506"/>
                  </a:cubicBezTo>
                  <a:cubicBezTo>
                    <a:pt x="7208" y="10615"/>
                    <a:pt x="7211" y="10633"/>
                    <a:pt x="7117" y="10661"/>
                  </a:cubicBezTo>
                  <a:cubicBezTo>
                    <a:pt x="7023" y="10689"/>
                    <a:pt x="5932" y="11015"/>
                    <a:pt x="5932" y="11015"/>
                  </a:cubicBezTo>
                  <a:cubicBezTo>
                    <a:pt x="5881" y="10861"/>
                    <a:pt x="5421" y="10529"/>
                    <a:pt x="4907" y="10683"/>
                  </a:cubicBezTo>
                  <a:cubicBezTo>
                    <a:pt x="4392" y="10836"/>
                    <a:pt x="935" y="11869"/>
                    <a:pt x="604" y="11968"/>
                  </a:cubicBezTo>
                  <a:cubicBezTo>
                    <a:pt x="273" y="12067"/>
                    <a:pt x="-126" y="12449"/>
                    <a:pt x="39" y="12948"/>
                  </a:cubicBezTo>
                  <a:cubicBezTo>
                    <a:pt x="203" y="13447"/>
                    <a:pt x="2475" y="20324"/>
                    <a:pt x="2588" y="20667"/>
                  </a:cubicBezTo>
                  <a:cubicBezTo>
                    <a:pt x="2701" y="21010"/>
                    <a:pt x="3284" y="21273"/>
                    <a:pt x="3662" y="21160"/>
                  </a:cubicBezTo>
                  <a:cubicBezTo>
                    <a:pt x="4041" y="21047"/>
                    <a:pt x="7556" y="19993"/>
                    <a:pt x="8045" y="19846"/>
                  </a:cubicBezTo>
                  <a:cubicBezTo>
                    <a:pt x="8534" y="19700"/>
                    <a:pt x="8576" y="19002"/>
                    <a:pt x="8576" y="19002"/>
                  </a:cubicBezTo>
                  <a:lnTo>
                    <a:pt x="9161" y="18827"/>
                  </a:lnTo>
                  <a:cubicBezTo>
                    <a:pt x="9411" y="19004"/>
                    <a:pt x="10008" y="19230"/>
                    <a:pt x="10596" y="19055"/>
                  </a:cubicBezTo>
                  <a:cubicBezTo>
                    <a:pt x="11183" y="18879"/>
                    <a:pt x="17015" y="17137"/>
                    <a:pt x="19244" y="16471"/>
                  </a:cubicBezTo>
                  <a:cubicBezTo>
                    <a:pt x="21474" y="15805"/>
                    <a:pt x="20188" y="13743"/>
                    <a:pt x="20188" y="13743"/>
                  </a:cubicBezTo>
                  <a:close/>
                </a:path>
              </a:pathLst>
            </a:custGeom>
            <a:solidFill>
              <a:srgbClr val="6A737C"/>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271" name="Shape 4271"/>
            <p:cNvSpPr/>
            <p:nvPr/>
          </p:nvSpPr>
          <p:spPr>
            <a:xfrm>
              <a:off x="241707" y="4025026"/>
              <a:ext cx="2451693" cy="3296307"/>
            </a:xfrm>
            <a:custGeom>
              <a:avLst/>
              <a:gdLst/>
              <a:ahLst/>
              <a:cxnLst>
                <a:cxn ang="0">
                  <a:pos x="wd2" y="hd2"/>
                </a:cxn>
                <a:cxn ang="5400000">
                  <a:pos x="wd2" y="hd2"/>
                </a:cxn>
                <a:cxn ang="10800000">
                  <a:pos x="wd2" y="hd2"/>
                </a:cxn>
                <a:cxn ang="16200000">
                  <a:pos x="wd2" y="hd2"/>
                </a:cxn>
              </a:cxnLst>
              <a:rect l="0" t="0" r="r" b="b"/>
              <a:pathLst>
                <a:path w="21153" h="21341" extrusionOk="0">
                  <a:moveTo>
                    <a:pt x="20889" y="17125"/>
                  </a:moveTo>
                  <a:cubicBezTo>
                    <a:pt x="20641" y="16531"/>
                    <a:pt x="14302" y="1331"/>
                    <a:pt x="14021" y="662"/>
                  </a:cubicBezTo>
                  <a:cubicBezTo>
                    <a:pt x="13741" y="-7"/>
                    <a:pt x="13480" y="-133"/>
                    <a:pt x="12387" y="125"/>
                  </a:cubicBezTo>
                  <a:cubicBezTo>
                    <a:pt x="11294" y="382"/>
                    <a:pt x="1811" y="2617"/>
                    <a:pt x="847" y="2845"/>
                  </a:cubicBezTo>
                  <a:cubicBezTo>
                    <a:pt x="-117" y="3072"/>
                    <a:pt x="-121" y="3462"/>
                    <a:pt x="166" y="4148"/>
                  </a:cubicBezTo>
                  <a:cubicBezTo>
                    <a:pt x="453" y="4833"/>
                    <a:pt x="6759" y="19897"/>
                    <a:pt x="7025" y="20534"/>
                  </a:cubicBezTo>
                  <a:cubicBezTo>
                    <a:pt x="7292" y="21170"/>
                    <a:pt x="7501" y="21467"/>
                    <a:pt x="8244" y="21292"/>
                  </a:cubicBezTo>
                  <a:cubicBezTo>
                    <a:pt x="8987" y="21117"/>
                    <a:pt x="19490" y="18641"/>
                    <a:pt x="20485" y="18407"/>
                  </a:cubicBezTo>
                  <a:cubicBezTo>
                    <a:pt x="21479" y="18172"/>
                    <a:pt x="21138" y="17718"/>
                    <a:pt x="20889" y="17125"/>
                  </a:cubicBezTo>
                  <a:close/>
                </a:path>
              </a:pathLst>
            </a:custGeom>
            <a:solidFill>
              <a:srgbClr val="212830"/>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272" name="Shape 4272"/>
            <p:cNvSpPr/>
            <p:nvPr/>
          </p:nvSpPr>
          <p:spPr>
            <a:xfrm>
              <a:off x="1968907" y="6361826"/>
              <a:ext cx="432983" cy="432983"/>
            </a:xfrm>
            <a:custGeom>
              <a:avLst/>
              <a:gdLst/>
              <a:ahLst/>
              <a:cxnLst>
                <a:cxn ang="0">
                  <a:pos x="wd2" y="hd2"/>
                </a:cxn>
                <a:cxn ang="5400000">
                  <a:pos x="wd2" y="hd2"/>
                </a:cxn>
                <a:cxn ang="10800000">
                  <a:pos x="wd2" y="hd2"/>
                </a:cxn>
                <a:cxn ang="16200000">
                  <a:pos x="wd2" y="hd2"/>
                </a:cxn>
              </a:cxnLst>
              <a:rect l="0" t="0" r="r" b="b"/>
              <a:pathLst>
                <a:path w="19299" h="19299" extrusionOk="0">
                  <a:moveTo>
                    <a:pt x="18853" y="6758"/>
                  </a:moveTo>
                  <a:cubicBezTo>
                    <a:pt x="20449" y="11841"/>
                    <a:pt x="17623" y="17256"/>
                    <a:pt x="12540" y="18853"/>
                  </a:cubicBezTo>
                  <a:cubicBezTo>
                    <a:pt x="7456" y="20449"/>
                    <a:pt x="2043" y="17623"/>
                    <a:pt x="445" y="12540"/>
                  </a:cubicBezTo>
                  <a:cubicBezTo>
                    <a:pt x="-1151" y="7457"/>
                    <a:pt x="1675" y="2042"/>
                    <a:pt x="6758" y="445"/>
                  </a:cubicBezTo>
                  <a:cubicBezTo>
                    <a:pt x="11841" y="-1151"/>
                    <a:pt x="17256" y="1675"/>
                    <a:pt x="18853" y="6758"/>
                  </a:cubicBezTo>
                  <a:close/>
                </a:path>
              </a:pathLst>
            </a:custGeom>
            <a:solidFill>
              <a:srgbClr val="565F68"/>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sp>
        <p:nvSpPr>
          <p:cNvPr id="4274" name="Shape 4274"/>
          <p:cNvSpPr>
            <a:spLocks noGrp="1"/>
          </p:cNvSpPr>
          <p:nvPr>
            <p:ph type="title"/>
          </p:nvPr>
        </p:nvSpPr>
        <p:spPr>
          <a:xfrm>
            <a:off x="98839" y="135357"/>
            <a:ext cx="10206057" cy="918137"/>
          </a:xfrm>
          <a:prstGeom prst="rect">
            <a:avLst/>
          </a:prstGeom>
        </p:spPr>
        <p:txBody>
          <a:bodyPr>
            <a:normAutofit fontScale="90000"/>
          </a:bodyPr>
          <a:lstStyle/>
          <a:p>
            <a:pPr lvl="0">
              <a:lnSpc>
                <a:spcPct val="50000"/>
              </a:lnSpc>
              <a:defRPr sz="1800" b="0">
                <a:solidFill>
                  <a:srgbClr val="000000"/>
                </a:solidFill>
              </a:defRPr>
            </a:pPr>
            <a:r>
              <a:rPr sz="2800" dirty="0">
                <a:solidFill>
                  <a:schemeClr val="tx1">
                    <a:lumMod val="10000"/>
                  </a:schemeClr>
                </a:solidFill>
              </a:rPr>
              <a:t>Focus on</a:t>
            </a:r>
            <a:r>
              <a:rPr lang="en-US" sz="2800" dirty="0">
                <a:solidFill>
                  <a:schemeClr val="tx1">
                    <a:lumMod val="10000"/>
                  </a:schemeClr>
                </a:solidFill>
              </a:rPr>
              <a:t> the</a:t>
            </a:r>
            <a:r>
              <a:rPr sz="2800" dirty="0">
                <a:solidFill>
                  <a:schemeClr val="tx1">
                    <a:lumMod val="10000"/>
                  </a:schemeClr>
                </a:solidFill>
              </a:rPr>
              <a:t> </a:t>
            </a:r>
          </a:p>
          <a:p>
            <a:pPr lvl="0">
              <a:lnSpc>
                <a:spcPct val="80000"/>
              </a:lnSpc>
              <a:defRPr sz="1800" b="0">
                <a:solidFill>
                  <a:srgbClr val="000000"/>
                </a:solidFill>
              </a:defRPr>
            </a:pPr>
            <a:r>
              <a:rPr lang="en-US" sz="2400" dirty="0">
                <a:solidFill>
                  <a:schemeClr val="accent3"/>
                </a:solidFill>
              </a:rPr>
              <a:t>Framework &amp;   </a:t>
            </a:r>
            <a:br>
              <a:rPr lang="en-US" sz="2400" dirty="0">
                <a:solidFill>
                  <a:schemeClr val="accent3"/>
                </a:solidFill>
              </a:rPr>
            </a:br>
            <a:r>
              <a:rPr lang="en-US" sz="2800" dirty="0">
                <a:solidFill>
                  <a:srgbClr val="C00000"/>
                </a:solidFill>
              </a:rPr>
              <a:t>Roadmap for Employee Experience</a:t>
            </a:r>
            <a:endParaRPr sz="3000" dirty="0">
              <a:solidFill>
                <a:srgbClr val="C00000"/>
              </a:solidFill>
            </a:endParaRPr>
          </a:p>
        </p:txBody>
      </p:sp>
      <p:sp>
        <p:nvSpPr>
          <p:cNvPr id="4275" name="Shape 4275"/>
          <p:cNvSpPr/>
          <p:nvPr/>
        </p:nvSpPr>
        <p:spPr>
          <a:xfrm>
            <a:off x="4434539" y="760217"/>
            <a:ext cx="2236150" cy="148327"/>
          </a:xfrm>
          <a:prstGeom prst="rect">
            <a:avLst/>
          </a:prstGeom>
          <a:solidFill>
            <a:schemeClr val="bg1">
              <a:lumMod val="75000"/>
            </a:schemeClr>
          </a:solidFill>
          <a:ln w="12700">
            <a:miter lim="400000"/>
          </a:ln>
        </p:spPr>
        <p:txBody>
          <a:bodyPr lIns="0" tIns="0" rIns="0" bIns="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grpSp>
        <p:nvGrpSpPr>
          <p:cNvPr id="4282" name="Group 4282"/>
          <p:cNvGrpSpPr/>
          <p:nvPr/>
        </p:nvGrpSpPr>
        <p:grpSpPr>
          <a:xfrm>
            <a:off x="5990695" y="2779970"/>
            <a:ext cx="4206048" cy="2556638"/>
            <a:chOff x="0" y="0"/>
            <a:chExt cx="8412094" cy="5113275"/>
          </a:xfrm>
        </p:grpSpPr>
        <p:sp>
          <p:nvSpPr>
            <p:cNvPr id="4277" name="Shape 4277"/>
            <p:cNvSpPr/>
            <p:nvPr/>
          </p:nvSpPr>
          <p:spPr>
            <a:xfrm>
              <a:off x="0" y="2220590"/>
              <a:ext cx="4217728" cy="2890739"/>
            </a:xfrm>
            <a:prstGeom prst="line">
              <a:avLst/>
            </a:prstGeom>
            <a:noFill/>
            <a:ln w="50800" cap="rnd">
              <a:solidFill>
                <a:schemeClr val="accent1"/>
              </a:solidFill>
              <a:custDash>
                <a:ds d="100000" sp="200000"/>
              </a:custDash>
              <a:round/>
            </a:ln>
            <a:effectLst/>
          </p:spPr>
          <p:txBody>
            <a:bodyPr wrap="square" lIns="0" tIns="0" rIns="0" bIns="0" numCol="1" anchor="t">
              <a:noAutofit/>
            </a:bodyPr>
            <a:lstStyle/>
            <a:p>
              <a:pPr marL="0" marR="0" lvl="0" indent="0" algn="l" defTabSz="228600" rtl="0" eaLnBrk="1" fontAlgn="auto" latinLnBrk="0" hangingPunct="1">
                <a:lnSpc>
                  <a:spcPct val="100000"/>
                </a:lnSpc>
                <a:spcBef>
                  <a:spcPts val="0"/>
                </a:spcBef>
                <a:spcAft>
                  <a:spcPts val="0"/>
                </a:spcAft>
                <a:buClrTx/>
                <a:buSzTx/>
                <a:buFontTx/>
                <a:buNone/>
                <a:tabLst/>
                <a:defRPr sz="1200">
                  <a:latin typeface="Helvetica"/>
                  <a:ea typeface="Helvetica"/>
                  <a:cs typeface="Helvetica"/>
                  <a:sym typeface="Helvetica"/>
                </a:defRPr>
              </a:pPr>
              <a:endParaRPr kumimoji="0" sz="600" b="0" i="0" u="none" strike="noStrike" kern="0" cap="none" spc="0" normalizeH="0" baseline="0" noProof="0" dirty="0">
                <a:ln>
                  <a:noFill/>
                </a:ln>
                <a:solidFill>
                  <a:sysClr val="windowText" lastClr="000000"/>
                </a:solidFill>
                <a:effectLst/>
                <a:uLnTx/>
                <a:uFillTx/>
                <a:latin typeface="Helvetica"/>
                <a:cs typeface="Helvetica"/>
                <a:sym typeface="Helvetica"/>
              </a:endParaRPr>
            </a:p>
          </p:txBody>
        </p:sp>
        <p:sp>
          <p:nvSpPr>
            <p:cNvPr id="4278" name="Shape 4278"/>
            <p:cNvSpPr/>
            <p:nvPr/>
          </p:nvSpPr>
          <p:spPr>
            <a:xfrm flipH="1">
              <a:off x="4194373" y="2207890"/>
              <a:ext cx="4217722" cy="2890738"/>
            </a:xfrm>
            <a:prstGeom prst="line">
              <a:avLst/>
            </a:prstGeom>
            <a:noFill/>
            <a:ln w="50800" cap="rnd">
              <a:solidFill>
                <a:schemeClr val="tx2">
                  <a:lumMod val="90000"/>
                </a:schemeClr>
              </a:solidFill>
              <a:custDash>
                <a:ds d="100000" sp="200000"/>
              </a:custDash>
              <a:round/>
            </a:ln>
            <a:effectLst/>
          </p:spPr>
          <p:txBody>
            <a:bodyPr wrap="square" lIns="0" tIns="0" rIns="0" bIns="0" numCol="1" anchor="t">
              <a:noAutofit/>
            </a:bodyPr>
            <a:lstStyle/>
            <a:p>
              <a:pPr marL="0" marR="0" lvl="0" indent="0" algn="l" defTabSz="228600" rtl="0" eaLnBrk="1" fontAlgn="auto" latinLnBrk="0" hangingPunct="1">
                <a:lnSpc>
                  <a:spcPct val="100000"/>
                </a:lnSpc>
                <a:spcBef>
                  <a:spcPts val="0"/>
                </a:spcBef>
                <a:spcAft>
                  <a:spcPts val="0"/>
                </a:spcAft>
                <a:buClrTx/>
                <a:buSzTx/>
                <a:buFontTx/>
                <a:buNone/>
                <a:tabLst/>
                <a:defRPr sz="1200">
                  <a:latin typeface="Helvetica"/>
                  <a:ea typeface="Helvetica"/>
                  <a:cs typeface="Helvetica"/>
                  <a:sym typeface="Helvetica"/>
                </a:defRPr>
              </a:pPr>
              <a:endParaRPr kumimoji="0" sz="600" b="0" i="0" u="none" strike="noStrike" kern="0" cap="none" spc="0" normalizeH="0" baseline="0" noProof="0" dirty="0">
                <a:ln>
                  <a:noFill/>
                </a:ln>
                <a:solidFill>
                  <a:sysClr val="windowText" lastClr="000000"/>
                </a:solidFill>
                <a:effectLst/>
                <a:uLnTx/>
                <a:uFillTx/>
                <a:latin typeface="Helvetica"/>
                <a:cs typeface="Helvetica"/>
                <a:sym typeface="Helvetica"/>
              </a:endParaRPr>
            </a:p>
          </p:txBody>
        </p:sp>
        <p:sp>
          <p:nvSpPr>
            <p:cNvPr id="4279" name="Shape 4279"/>
            <p:cNvSpPr/>
            <p:nvPr/>
          </p:nvSpPr>
          <p:spPr>
            <a:xfrm>
              <a:off x="1866837" y="563965"/>
              <a:ext cx="2338191" cy="4547364"/>
            </a:xfrm>
            <a:prstGeom prst="line">
              <a:avLst/>
            </a:prstGeom>
            <a:noFill/>
            <a:ln w="50800" cap="rnd">
              <a:solidFill>
                <a:srgbClr val="FF6600"/>
              </a:solidFill>
              <a:custDash>
                <a:ds d="100000" sp="200000"/>
              </a:custDash>
              <a:round/>
            </a:ln>
            <a:effectLst/>
          </p:spPr>
          <p:txBody>
            <a:bodyPr wrap="square" lIns="0" tIns="0" rIns="0" bIns="0" numCol="1" anchor="t">
              <a:noAutofit/>
            </a:bodyPr>
            <a:lstStyle/>
            <a:p>
              <a:pPr marL="0" marR="0" lvl="0" indent="0" algn="l" defTabSz="228600" rtl="0" eaLnBrk="1" fontAlgn="auto" latinLnBrk="0" hangingPunct="1">
                <a:lnSpc>
                  <a:spcPct val="100000"/>
                </a:lnSpc>
                <a:spcBef>
                  <a:spcPts val="0"/>
                </a:spcBef>
                <a:spcAft>
                  <a:spcPts val="0"/>
                </a:spcAft>
                <a:buClrTx/>
                <a:buSzTx/>
                <a:buFontTx/>
                <a:buNone/>
                <a:tabLst/>
                <a:defRPr sz="1200">
                  <a:latin typeface="Helvetica"/>
                  <a:ea typeface="Helvetica"/>
                  <a:cs typeface="Helvetica"/>
                  <a:sym typeface="Helvetica"/>
                </a:defRPr>
              </a:pPr>
              <a:endParaRPr kumimoji="0" sz="600" b="0" i="0" u="none" strike="noStrike" kern="0" cap="none" spc="0" normalizeH="0" baseline="0" noProof="0" dirty="0">
                <a:ln>
                  <a:noFill/>
                </a:ln>
                <a:solidFill>
                  <a:sysClr val="windowText" lastClr="000000"/>
                </a:solidFill>
                <a:effectLst/>
                <a:uLnTx/>
                <a:uFillTx/>
                <a:latin typeface="Helvetica"/>
                <a:cs typeface="Helvetica"/>
                <a:sym typeface="Helvetica"/>
              </a:endParaRPr>
            </a:p>
          </p:txBody>
        </p:sp>
        <p:sp>
          <p:nvSpPr>
            <p:cNvPr id="4280" name="Shape 4280"/>
            <p:cNvSpPr/>
            <p:nvPr/>
          </p:nvSpPr>
          <p:spPr>
            <a:xfrm flipH="1">
              <a:off x="4192702" y="551265"/>
              <a:ext cx="2338329" cy="4547288"/>
            </a:xfrm>
            <a:prstGeom prst="line">
              <a:avLst/>
            </a:prstGeom>
            <a:noFill/>
            <a:ln w="50800" cap="rnd">
              <a:solidFill>
                <a:srgbClr val="FFFF66"/>
              </a:solidFill>
              <a:custDash>
                <a:ds d="100000" sp="200000"/>
              </a:custDash>
              <a:round/>
            </a:ln>
            <a:effectLst/>
          </p:spPr>
          <p:txBody>
            <a:bodyPr wrap="square" lIns="0" tIns="0" rIns="0" bIns="0" numCol="1" anchor="t">
              <a:noAutofit/>
            </a:bodyPr>
            <a:lstStyle/>
            <a:p>
              <a:pPr marL="0" marR="0" lvl="0" indent="0" algn="l" defTabSz="228600" rtl="0" eaLnBrk="1" fontAlgn="auto" latinLnBrk="0" hangingPunct="1">
                <a:lnSpc>
                  <a:spcPct val="100000"/>
                </a:lnSpc>
                <a:spcBef>
                  <a:spcPts val="0"/>
                </a:spcBef>
                <a:spcAft>
                  <a:spcPts val="0"/>
                </a:spcAft>
                <a:buClrTx/>
                <a:buSzTx/>
                <a:buFontTx/>
                <a:buNone/>
                <a:tabLst/>
                <a:defRPr sz="1200">
                  <a:latin typeface="Helvetica"/>
                  <a:ea typeface="Helvetica"/>
                  <a:cs typeface="Helvetica"/>
                  <a:sym typeface="Helvetica"/>
                </a:defRPr>
              </a:pPr>
              <a:endParaRPr kumimoji="0" sz="600" b="0" i="0" u="none" strike="noStrike" kern="0" cap="none" spc="0" normalizeH="0" baseline="0" noProof="0" dirty="0">
                <a:ln>
                  <a:noFill/>
                </a:ln>
                <a:solidFill>
                  <a:sysClr val="windowText" lastClr="000000"/>
                </a:solidFill>
                <a:effectLst/>
                <a:uLnTx/>
                <a:uFillTx/>
                <a:latin typeface="Helvetica"/>
                <a:cs typeface="Helvetica"/>
                <a:sym typeface="Helvetica"/>
              </a:endParaRPr>
            </a:p>
          </p:txBody>
        </p:sp>
        <p:sp>
          <p:nvSpPr>
            <p:cNvPr id="4281" name="Shape 4281"/>
            <p:cNvSpPr/>
            <p:nvPr/>
          </p:nvSpPr>
          <p:spPr>
            <a:xfrm flipH="1">
              <a:off x="4198646" y="0"/>
              <a:ext cx="1" cy="5113276"/>
            </a:xfrm>
            <a:prstGeom prst="line">
              <a:avLst/>
            </a:prstGeom>
            <a:noFill/>
            <a:ln w="50800" cap="rnd">
              <a:solidFill>
                <a:schemeClr val="accent3"/>
              </a:solidFill>
              <a:custDash>
                <a:ds d="100000" sp="200000"/>
              </a:custDash>
              <a:round/>
            </a:ln>
            <a:effectLst/>
          </p:spPr>
          <p:txBody>
            <a:bodyPr wrap="square" lIns="0" tIns="0" rIns="0" bIns="0" numCol="1" anchor="t">
              <a:noAutofit/>
            </a:bodyPr>
            <a:lstStyle/>
            <a:p>
              <a:pPr marL="0" marR="0" lvl="0" indent="0" algn="l" defTabSz="228600" rtl="0" eaLnBrk="1" fontAlgn="auto" latinLnBrk="0" hangingPunct="1">
                <a:lnSpc>
                  <a:spcPct val="100000"/>
                </a:lnSpc>
                <a:spcBef>
                  <a:spcPts val="0"/>
                </a:spcBef>
                <a:spcAft>
                  <a:spcPts val="0"/>
                </a:spcAft>
                <a:buClrTx/>
                <a:buSzTx/>
                <a:buFontTx/>
                <a:buNone/>
                <a:tabLst/>
                <a:defRPr sz="1200">
                  <a:latin typeface="Helvetica"/>
                  <a:ea typeface="Helvetica"/>
                  <a:cs typeface="Helvetica"/>
                  <a:sym typeface="Helvetica"/>
                </a:defRPr>
              </a:pPr>
              <a:endParaRPr kumimoji="0" sz="600" b="0" i="0" u="none" strike="noStrike" kern="0" cap="none" spc="0" normalizeH="0" baseline="0" noProof="0" dirty="0">
                <a:ln>
                  <a:noFill/>
                </a:ln>
                <a:solidFill>
                  <a:sysClr val="windowText" lastClr="000000"/>
                </a:solidFill>
                <a:effectLst/>
                <a:uLnTx/>
                <a:uFillTx/>
                <a:latin typeface="Helvetica"/>
                <a:cs typeface="Helvetica"/>
                <a:sym typeface="Helvetica"/>
              </a:endParaRPr>
            </a:p>
          </p:txBody>
        </p:sp>
      </p:grpSp>
      <p:sp>
        <p:nvSpPr>
          <p:cNvPr id="4283" name="Shape 4283"/>
          <p:cNvSpPr/>
          <p:nvPr/>
        </p:nvSpPr>
        <p:spPr>
          <a:xfrm>
            <a:off x="3579597" y="1630206"/>
            <a:ext cx="2630278" cy="1724446"/>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250" kern="0" dirty="0">
                <a:solidFill>
                  <a:srgbClr val="C00000"/>
                </a:solidFill>
                <a:latin typeface="Roboto Bold"/>
                <a:ea typeface="Roboto Bold"/>
                <a:cs typeface="Roboto Bold"/>
                <a:sym typeface="Roboto Bold"/>
              </a:rPr>
              <a:t>Culture of Commitment</a:t>
            </a:r>
            <a:endParaRPr kumimoji="0" lang="en-US" sz="1250" b="0" i="0" u="none" strike="noStrike" kern="0" cap="none" spc="0" normalizeH="0" baseline="0" noProof="0" dirty="0">
              <a:ln>
                <a:noFill/>
              </a:ln>
              <a:solidFill>
                <a:srgbClr val="C00000"/>
              </a:solidFill>
              <a:effectLst/>
              <a:uLnTx/>
              <a:uFillTx/>
              <a:latin typeface="Roboto Bold"/>
              <a:ea typeface="Roboto Bold"/>
              <a:cs typeface="Roboto Bold"/>
              <a:sym typeface="Roboto Bold"/>
            </a:endParaRPr>
          </a:p>
          <a:p>
            <a:pPr marL="0" marR="0" lvl="0" indent="0" algn="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Solidify the Team</a:t>
            </a:r>
          </a:p>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Clearly Defined Goals and Objectives</a:t>
            </a:r>
          </a:p>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Change Management for Transformation</a:t>
            </a:r>
          </a:p>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Create and Educate a Clear Vision for the Site </a:t>
            </a:r>
            <a:endPar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a:p>
            <a:pPr marL="0" marR="0" lvl="0" indent="0" algn="r" defTabSz="412750" rtl="0" eaLnBrk="1" fontAlgn="auto" latinLnBrk="0" hangingPunct="1">
              <a:lnSpc>
                <a:spcPct val="130000"/>
              </a:lnSpc>
              <a:spcBef>
                <a:spcPts val="0"/>
              </a:spcBef>
              <a:spcAft>
                <a:spcPts val="0"/>
              </a:spcAft>
              <a:buClrTx/>
              <a:buSzTx/>
              <a:buFontTx/>
              <a:buNone/>
              <a:tabLst/>
              <a:defRPr sz="1800"/>
            </a:pPr>
            <a:endPar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a:p>
            <a:pPr marL="0" marR="0" lvl="0" indent="0" algn="r" defTabSz="412750" rtl="0" eaLnBrk="1" fontAlgn="auto" latinLnBrk="0" hangingPunct="1">
              <a:lnSpc>
                <a:spcPct val="130000"/>
              </a:lnSpc>
              <a:spcBef>
                <a:spcPts val="0"/>
              </a:spcBef>
              <a:spcAft>
                <a:spcPts val="0"/>
              </a:spcAft>
              <a:buClrTx/>
              <a:buSzTx/>
              <a:buFontTx/>
              <a:buNone/>
              <a:tabLst/>
              <a:defRPr sz="1800"/>
            </a:pPr>
            <a:endParaRPr kumimoji="0" lang="en-US" sz="1250" b="0" i="0" u="none" strike="noStrike" kern="0" cap="none" spc="0" normalizeH="0" baseline="0" noProof="0" dirty="0">
              <a:ln>
                <a:noFill/>
              </a:ln>
              <a:solidFill>
                <a:srgbClr val="8BC53F"/>
              </a:solidFill>
              <a:effectLst/>
              <a:uLnTx/>
              <a:uFillTx/>
              <a:latin typeface="Roboto Bold"/>
              <a:ea typeface="Roboto Bold"/>
              <a:cs typeface="Roboto Bold"/>
              <a:sym typeface="Roboto Bold"/>
            </a:endParaRPr>
          </a:p>
          <a:p>
            <a:pPr marL="0" marR="0" lvl="0" indent="0" algn="r" defTabSz="412750" rtl="0" eaLnBrk="1" fontAlgn="auto" latinLnBrk="0" hangingPunct="1">
              <a:lnSpc>
                <a:spcPct val="130000"/>
              </a:lnSpc>
              <a:spcBef>
                <a:spcPts val="0"/>
              </a:spcBef>
              <a:spcAft>
                <a:spcPts val="0"/>
              </a:spcAft>
              <a:buClrTx/>
              <a:buSzTx/>
              <a:buFontTx/>
              <a:buNone/>
              <a:tabLst/>
              <a:defRPr sz="1800"/>
            </a:pPr>
            <a:endParaRPr kumimoji="0" sz="1250" b="0" i="0" u="none" strike="noStrike" kern="0" cap="none" spc="0" normalizeH="0" baseline="0" noProof="0" dirty="0">
              <a:ln>
                <a:noFill/>
              </a:ln>
              <a:solidFill>
                <a:srgbClr val="8BC53F"/>
              </a:solidFill>
              <a:effectLst/>
              <a:uLnTx/>
              <a:uFillTx/>
              <a:latin typeface="Roboto Bold"/>
              <a:ea typeface="Roboto Bold"/>
              <a:cs typeface="Roboto Bold"/>
              <a:sym typeface="Roboto Bold"/>
            </a:endParaRPr>
          </a:p>
        </p:txBody>
      </p:sp>
      <p:sp>
        <p:nvSpPr>
          <p:cNvPr id="4284" name="Shape 4284"/>
          <p:cNvSpPr/>
          <p:nvPr/>
        </p:nvSpPr>
        <p:spPr>
          <a:xfrm>
            <a:off x="7089655" y="487078"/>
            <a:ext cx="2236150" cy="188256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0" marR="0" lvl="0" indent="0" algn="ctr" defTabSz="412750" rtl="0" eaLnBrk="1" fontAlgn="auto" latinLnBrk="0" hangingPunct="1">
              <a:lnSpc>
                <a:spcPct val="130000"/>
              </a:lnSpc>
              <a:spcBef>
                <a:spcPts val="0"/>
              </a:spcBef>
              <a:spcAft>
                <a:spcPts val="0"/>
              </a:spcAft>
              <a:buClrTx/>
              <a:buSzTx/>
              <a:buFontTx/>
              <a:buNone/>
              <a:tabLst/>
              <a:defRPr sz="1800"/>
            </a:pPr>
            <a:r>
              <a:rPr kumimoji="0" lang="en-US" sz="1250" b="0" i="0" u="none" strike="noStrike" kern="0" cap="none" spc="0" normalizeH="0" baseline="0" noProof="0" dirty="0">
                <a:ln>
                  <a:noFill/>
                </a:ln>
                <a:solidFill>
                  <a:srgbClr val="8BC53F"/>
                </a:solidFill>
                <a:effectLst/>
                <a:uLnTx/>
                <a:uFillTx/>
                <a:latin typeface="Roboto Bold"/>
                <a:ea typeface="Roboto Bold"/>
                <a:cs typeface="Roboto Bold"/>
                <a:sym typeface="Roboto Bold"/>
              </a:rPr>
              <a:t>Communication the Human Connection</a:t>
            </a:r>
            <a:endParaRPr kumimoji="0" sz="1250" b="0" i="0" u="none" strike="noStrike" kern="0" cap="none" spc="0" normalizeH="0" baseline="0" noProof="0" dirty="0">
              <a:ln>
                <a:noFill/>
              </a:ln>
              <a:solidFill>
                <a:srgbClr val="8BC53F"/>
              </a:solidFill>
              <a:effectLst/>
              <a:uLnTx/>
              <a:uFillTx/>
              <a:latin typeface="Roboto Bold"/>
              <a:ea typeface="Roboto Bold"/>
              <a:cs typeface="Roboto Bold"/>
              <a:sym typeface="Roboto Bold"/>
            </a:endParaRPr>
          </a:p>
          <a:p>
            <a:pPr marL="0" marR="0" lvl="0" indent="0" algn="ct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Quarterly Town Halls</a:t>
            </a:r>
          </a:p>
          <a:p>
            <a:pPr marL="0" marR="0" lvl="0" indent="0" algn="ctr"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Motivational Moments</a:t>
            </a:r>
          </a:p>
          <a:p>
            <a:pPr marL="0" marR="0" lvl="0" indent="0" algn="ct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Company</a:t>
            </a:r>
            <a:r>
              <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rPr>
              <a:t> Initiatives Impact on </a:t>
            </a:r>
            <a:r>
              <a:rPr lang="en-US" sz="1000" kern="0" dirty="0">
                <a:solidFill>
                  <a:schemeClr val="tx2">
                    <a:lumMod val="10000"/>
                  </a:schemeClr>
                </a:solidFill>
                <a:latin typeface="Roboto" pitchFamily="2" charset="0"/>
                <a:ea typeface="Roboto" pitchFamily="2" charset="0"/>
                <a:cs typeface="Roboto Light"/>
                <a:sym typeface="Roboto Light"/>
              </a:rPr>
              <a:t>team</a:t>
            </a:r>
            <a:endPar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a:p>
            <a:pPr marL="0" marR="0" lvl="0" indent="0" algn="ctr" defTabSz="412750" rtl="0" eaLnBrk="1" fontAlgn="auto" latinLnBrk="0" hangingPunct="1">
              <a:lnSpc>
                <a:spcPct val="130000"/>
              </a:lnSpc>
              <a:spcBef>
                <a:spcPts val="0"/>
              </a:spcBef>
              <a:spcAft>
                <a:spcPts val="0"/>
              </a:spcAft>
              <a:buClrTx/>
              <a:buSzTx/>
              <a:buFontTx/>
              <a:buNone/>
              <a:tabLst/>
              <a:defRPr sz="1800"/>
            </a:pPr>
            <a:r>
              <a:rPr lang="en-US" sz="1000" kern="0" baseline="0" dirty="0">
                <a:solidFill>
                  <a:schemeClr val="tx2">
                    <a:lumMod val="10000"/>
                  </a:schemeClr>
                </a:solidFill>
                <a:latin typeface="Roboto" pitchFamily="2" charset="0"/>
                <a:ea typeface="Roboto" pitchFamily="2" charset="0"/>
                <a:cs typeface="Roboto Light"/>
                <a:sym typeface="Roboto Light"/>
              </a:rPr>
              <a:t>Site Updates</a:t>
            </a:r>
          </a:p>
          <a:p>
            <a:pPr marL="0" marR="0" lvl="0" indent="0" algn="ct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rPr>
              <a:t>Site Newsletter</a:t>
            </a:r>
            <a:endPar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a:p>
            <a:pPr marL="0" marR="0" lvl="0" indent="0" algn="ctr" defTabSz="412750" rtl="0" eaLnBrk="1" fontAlgn="auto" latinLnBrk="0" hangingPunct="1">
              <a:lnSpc>
                <a:spcPct val="130000"/>
              </a:lnSpc>
              <a:spcBef>
                <a:spcPts val="0"/>
              </a:spcBef>
              <a:spcAft>
                <a:spcPts val="0"/>
              </a:spcAft>
              <a:buClrTx/>
              <a:buSzTx/>
              <a:buFontTx/>
              <a:buNone/>
              <a:tabLst/>
              <a:defRPr sz="1800"/>
            </a:pPr>
            <a:endParaRPr kumimoji="0" lang="en-US" sz="1000" b="0" i="0" u="none" strike="noStrike" kern="0" cap="none" spc="0" normalizeH="0" baseline="0" noProof="0" dirty="0">
              <a:ln>
                <a:noFill/>
              </a:ln>
              <a:solidFill>
                <a:srgbClr val="FFFFFF"/>
              </a:solidFill>
              <a:effectLst/>
              <a:uLnTx/>
              <a:uFillTx/>
              <a:latin typeface="Roboto" pitchFamily="2" charset="0"/>
              <a:ea typeface="Roboto" pitchFamily="2" charset="0"/>
              <a:cs typeface="Roboto Light"/>
              <a:sym typeface="Roboto Light"/>
            </a:endParaRPr>
          </a:p>
          <a:p>
            <a:pPr marL="0" marR="0" lvl="0" indent="0" algn="ctr" defTabSz="412750" rtl="0" eaLnBrk="1" fontAlgn="auto" latinLnBrk="0" hangingPunct="1">
              <a:lnSpc>
                <a:spcPct val="130000"/>
              </a:lnSpc>
              <a:spcBef>
                <a:spcPts val="0"/>
              </a:spcBef>
              <a:spcAft>
                <a:spcPts val="0"/>
              </a:spcAft>
              <a:buClrTx/>
              <a:buSzTx/>
              <a:buFontTx/>
              <a:buNone/>
              <a:tabLst/>
              <a:defRPr sz="1800"/>
            </a:pPr>
            <a:endParaRPr kumimoji="0" sz="1000" b="0" i="0" u="none" strike="noStrike" kern="0" cap="none" spc="0" normalizeH="0" baseline="0" noProof="0" dirty="0">
              <a:ln>
                <a:noFill/>
              </a:ln>
              <a:solidFill>
                <a:srgbClr val="FFFFFF"/>
              </a:solidFill>
              <a:effectLst/>
              <a:uLnTx/>
              <a:uFillTx/>
              <a:latin typeface="Roboto" pitchFamily="2" charset="0"/>
              <a:ea typeface="Roboto" pitchFamily="2" charset="0"/>
              <a:cs typeface="Roboto Light"/>
              <a:sym typeface="Roboto Light"/>
            </a:endParaRPr>
          </a:p>
        </p:txBody>
      </p:sp>
      <p:sp>
        <p:nvSpPr>
          <p:cNvPr id="4285" name="Shape 4285"/>
          <p:cNvSpPr/>
          <p:nvPr/>
        </p:nvSpPr>
        <p:spPr>
          <a:xfrm>
            <a:off x="3847018" y="3164165"/>
            <a:ext cx="1621248" cy="122950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marR="0" lvl="0" indent="0" algn="r" defTabSz="412750" rtl="0" eaLnBrk="1" fontAlgn="auto" latinLnBrk="0" hangingPunct="1">
              <a:lnSpc>
                <a:spcPct val="130000"/>
              </a:lnSpc>
              <a:spcBef>
                <a:spcPts val="0"/>
              </a:spcBef>
              <a:spcAft>
                <a:spcPts val="0"/>
              </a:spcAft>
              <a:buClrTx/>
              <a:buSzTx/>
              <a:buFontTx/>
              <a:buNone/>
              <a:tabLst/>
              <a:defRPr sz="1800"/>
            </a:pPr>
            <a:r>
              <a:rPr kumimoji="0" lang="en-US" sz="1250" b="0" i="0" u="none" strike="noStrike" kern="0" cap="none" spc="0" normalizeH="0" baseline="0" noProof="0" dirty="0">
                <a:ln>
                  <a:noFill/>
                </a:ln>
                <a:solidFill>
                  <a:schemeClr val="accent1"/>
                </a:solidFill>
                <a:effectLst/>
                <a:uLnTx/>
                <a:uFillTx/>
                <a:latin typeface="Roboto Bold"/>
                <a:ea typeface="Roboto Bold"/>
                <a:cs typeface="Roboto Bold"/>
                <a:sym typeface="Roboto Bold"/>
              </a:rPr>
              <a:t>Engagement</a:t>
            </a:r>
            <a:r>
              <a:rPr kumimoji="0" lang="en-US" sz="1250" b="0" i="0" u="none" strike="noStrike" kern="0" cap="none" spc="0" normalizeH="0" noProof="0" dirty="0">
                <a:ln>
                  <a:noFill/>
                </a:ln>
                <a:solidFill>
                  <a:schemeClr val="accent1"/>
                </a:solidFill>
                <a:effectLst/>
                <a:uLnTx/>
                <a:uFillTx/>
                <a:latin typeface="Roboto Bold"/>
                <a:ea typeface="Roboto Bold"/>
                <a:cs typeface="Roboto Bold"/>
                <a:sym typeface="Roboto Bold"/>
              </a:rPr>
              <a:t> Program</a:t>
            </a:r>
            <a:endParaRPr kumimoji="0" sz="1250" b="0" i="0" u="none" strike="noStrike" kern="0" cap="none" spc="0" normalizeH="0" baseline="0" noProof="0" dirty="0">
              <a:ln>
                <a:noFill/>
              </a:ln>
              <a:solidFill>
                <a:schemeClr val="accent1"/>
              </a:solidFill>
              <a:effectLst/>
              <a:uLnTx/>
              <a:uFillTx/>
              <a:latin typeface="Roboto Bold"/>
              <a:ea typeface="Roboto Bold"/>
              <a:cs typeface="Roboto Bold"/>
              <a:sym typeface="Roboto Bold"/>
            </a:endParaRPr>
          </a:p>
          <a:p>
            <a:pPr marL="0" marR="0" lvl="0" indent="0" algn="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Recognition and Celebration</a:t>
            </a:r>
          </a:p>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Gratitude Program</a:t>
            </a:r>
          </a:p>
          <a:p>
            <a:pPr marL="0" marR="0" lvl="0" indent="0" algn="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Spirit</a:t>
            </a:r>
            <a:r>
              <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rPr>
              <a:t> Committee</a:t>
            </a:r>
          </a:p>
          <a:p>
            <a:pPr marL="0" marR="0" lvl="0" indent="0" algn="r" defTabSz="412750" rtl="0" eaLnBrk="1" fontAlgn="auto" latinLnBrk="0" hangingPunct="1">
              <a:lnSpc>
                <a:spcPct val="130000"/>
              </a:lnSpc>
              <a:spcBef>
                <a:spcPts val="0"/>
              </a:spcBef>
              <a:spcAft>
                <a:spcPts val="0"/>
              </a:spcAft>
              <a:buClrTx/>
              <a:buSzTx/>
              <a:buFontTx/>
              <a:buNone/>
              <a:tabLst/>
              <a:defRPr sz="1800"/>
            </a:pPr>
            <a:r>
              <a:rPr lang="en-US" sz="1000" kern="0" baseline="0" dirty="0">
                <a:solidFill>
                  <a:schemeClr val="tx2">
                    <a:lumMod val="10000"/>
                  </a:schemeClr>
                </a:solidFill>
                <a:latin typeface="Roboto" pitchFamily="2" charset="0"/>
                <a:ea typeface="Roboto" pitchFamily="2" charset="0"/>
                <a:cs typeface="Roboto Light"/>
                <a:sym typeface="Roboto Light"/>
              </a:rPr>
              <a:t>Professional Development</a:t>
            </a:r>
          </a:p>
          <a:p>
            <a:pPr marL="0" marR="0" lvl="0" indent="0" algn="r"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rPr>
              <a:t>Lunch and Learns</a:t>
            </a:r>
            <a:endParaRPr kumimoji="0"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p:txBody>
      </p:sp>
      <p:sp>
        <p:nvSpPr>
          <p:cNvPr id="4287" name="Shape 4287"/>
          <p:cNvSpPr/>
          <p:nvPr/>
        </p:nvSpPr>
        <p:spPr>
          <a:xfrm>
            <a:off x="9778256" y="1232432"/>
            <a:ext cx="2074237" cy="1148712"/>
          </a:xfrm>
          <a:prstGeom prst="rect">
            <a:avLst/>
          </a:prstGeom>
          <a:ln w="12700">
            <a:noFill/>
            <a:miter lim="400000"/>
          </a:ln>
          <a:extLst>
            <a:ext uri="{C572A759-6A51-4108-AA02-DFA0A04FC94B}">
              <ma14:wrappingTextBoxFlag xmlns:ma14="http://schemas.microsoft.com/office/mac/drawingml/2011/main" xmlns="" val="1"/>
            </a:ext>
          </a:extLst>
        </p:spPr>
        <p:txBody>
          <a:bodyPr wrap="square" lIns="0" tIns="0" rIns="0" bIns="0">
            <a:spAutoFit/>
          </a:bodyPr>
          <a:lstStyle/>
          <a:p>
            <a:r>
              <a:rPr lang="en-US" sz="1200" b="1" dirty="0">
                <a:ln w="3175" cmpd="dbl">
                  <a:solidFill>
                    <a:schemeClr val="tx1">
                      <a:lumMod val="10000"/>
                      <a:alpha val="88000"/>
                    </a:schemeClr>
                  </a:solidFill>
                </a:ln>
                <a:solidFill>
                  <a:srgbClr val="FFC000"/>
                </a:solidFill>
              </a:rPr>
              <a:t>Developing Talent, to Strike the Eye of Posterity</a:t>
            </a:r>
          </a:p>
          <a:p>
            <a:pPr marL="0" marR="0" lvl="0" indent="0" algn="l"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Talent Review</a:t>
            </a:r>
          </a:p>
          <a:p>
            <a:pPr marL="0" marR="0" lvl="0" indent="0" algn="l"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Succession Planning</a:t>
            </a:r>
          </a:p>
          <a:p>
            <a:pPr marL="0" marR="0" lvl="0" indent="0" algn="l"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Career Development Program</a:t>
            </a:r>
          </a:p>
          <a:p>
            <a:pPr marL="0" marR="0" lvl="0" indent="0" algn="l"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Fortifying Leadership</a:t>
            </a:r>
            <a:endParaRPr kumimoji="0"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endParaRPr>
          </a:p>
        </p:txBody>
      </p:sp>
      <p:sp>
        <p:nvSpPr>
          <p:cNvPr id="4288" name="Shape 4288"/>
          <p:cNvSpPr/>
          <p:nvPr/>
        </p:nvSpPr>
        <p:spPr>
          <a:xfrm>
            <a:off x="5655755" y="3501940"/>
            <a:ext cx="808337" cy="808334"/>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nvGrpSpPr>
          <p:cNvPr id="4296" name="Group 4296"/>
          <p:cNvGrpSpPr/>
          <p:nvPr/>
        </p:nvGrpSpPr>
        <p:grpSpPr>
          <a:xfrm>
            <a:off x="7617905" y="1990640"/>
            <a:ext cx="808336" cy="808333"/>
            <a:chOff x="0" y="0"/>
            <a:chExt cx="1616670" cy="1616664"/>
          </a:xfrm>
        </p:grpSpPr>
        <p:sp>
          <p:nvSpPr>
            <p:cNvPr id="4294" name="Shape 4294"/>
            <p:cNvSpPr/>
            <p:nvPr/>
          </p:nvSpPr>
          <p:spPr>
            <a:xfrm>
              <a:off x="0" y="0"/>
              <a:ext cx="1616671" cy="161666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3"/>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295" name="Shape 4295"/>
            <p:cNvSpPr/>
            <p:nvPr/>
          </p:nvSpPr>
          <p:spPr>
            <a:xfrm>
              <a:off x="411556" y="318210"/>
              <a:ext cx="788096" cy="980245"/>
            </a:xfrm>
            <a:custGeom>
              <a:avLst/>
              <a:gdLst/>
              <a:ahLst/>
              <a:cxnLst>
                <a:cxn ang="0">
                  <a:pos x="wd2" y="hd2"/>
                </a:cxn>
                <a:cxn ang="5400000">
                  <a:pos x="wd2" y="hd2"/>
                </a:cxn>
                <a:cxn ang="10800000">
                  <a:pos x="wd2" y="hd2"/>
                </a:cxn>
                <a:cxn ang="16200000">
                  <a:pos x="wd2" y="hd2"/>
                </a:cxn>
              </a:cxnLst>
              <a:rect l="0" t="0" r="r" b="b"/>
              <a:pathLst>
                <a:path w="21533" h="21600" extrusionOk="0">
                  <a:moveTo>
                    <a:pt x="10985" y="13727"/>
                  </a:moveTo>
                  <a:cubicBezTo>
                    <a:pt x="10886" y="13807"/>
                    <a:pt x="10819" y="13909"/>
                    <a:pt x="10795" y="14020"/>
                  </a:cubicBezTo>
                  <a:cubicBezTo>
                    <a:pt x="10632" y="14769"/>
                    <a:pt x="10770" y="15396"/>
                    <a:pt x="10870" y="15855"/>
                  </a:cubicBezTo>
                  <a:cubicBezTo>
                    <a:pt x="10999" y="16451"/>
                    <a:pt x="10987" y="16602"/>
                    <a:pt x="10800" y="16704"/>
                  </a:cubicBezTo>
                  <a:cubicBezTo>
                    <a:pt x="10735" y="16740"/>
                    <a:pt x="10638" y="16783"/>
                    <a:pt x="10550" y="16783"/>
                  </a:cubicBezTo>
                  <a:cubicBezTo>
                    <a:pt x="10314" y="16783"/>
                    <a:pt x="10121" y="16462"/>
                    <a:pt x="10067" y="16363"/>
                  </a:cubicBezTo>
                  <a:cubicBezTo>
                    <a:pt x="9921" y="16094"/>
                    <a:pt x="9538" y="15966"/>
                    <a:pt x="9198" y="16072"/>
                  </a:cubicBezTo>
                  <a:cubicBezTo>
                    <a:pt x="7671" y="16550"/>
                    <a:pt x="8011" y="17811"/>
                    <a:pt x="8259" y="18732"/>
                  </a:cubicBezTo>
                  <a:cubicBezTo>
                    <a:pt x="8388" y="19208"/>
                    <a:pt x="8534" y="19749"/>
                    <a:pt x="8343" y="19940"/>
                  </a:cubicBezTo>
                  <a:cubicBezTo>
                    <a:pt x="8242" y="20040"/>
                    <a:pt x="8008" y="20061"/>
                    <a:pt x="7829" y="20061"/>
                  </a:cubicBezTo>
                  <a:cubicBezTo>
                    <a:pt x="7301" y="20061"/>
                    <a:pt x="6954" y="19978"/>
                    <a:pt x="6795" y="19814"/>
                  </a:cubicBezTo>
                  <a:cubicBezTo>
                    <a:pt x="6501" y="19511"/>
                    <a:pt x="6716" y="18818"/>
                    <a:pt x="6943" y="18085"/>
                  </a:cubicBezTo>
                  <a:cubicBezTo>
                    <a:pt x="7165" y="17370"/>
                    <a:pt x="7416" y="16560"/>
                    <a:pt x="7317" y="15789"/>
                  </a:cubicBezTo>
                  <a:cubicBezTo>
                    <a:pt x="7246" y="15220"/>
                    <a:pt x="6921" y="14932"/>
                    <a:pt x="6355" y="14932"/>
                  </a:cubicBezTo>
                  <a:lnTo>
                    <a:pt x="6355" y="14932"/>
                  </a:lnTo>
                  <a:cubicBezTo>
                    <a:pt x="6230" y="14932"/>
                    <a:pt x="6107" y="14945"/>
                    <a:pt x="5987" y="14958"/>
                  </a:cubicBezTo>
                  <a:cubicBezTo>
                    <a:pt x="5883" y="14969"/>
                    <a:pt x="5785" y="14980"/>
                    <a:pt x="5698" y="14980"/>
                  </a:cubicBezTo>
                  <a:cubicBezTo>
                    <a:pt x="5523" y="14980"/>
                    <a:pt x="5482" y="14931"/>
                    <a:pt x="5453" y="14895"/>
                  </a:cubicBezTo>
                  <a:cubicBezTo>
                    <a:pt x="5378" y="14807"/>
                    <a:pt x="5288" y="14599"/>
                    <a:pt x="5288" y="14121"/>
                  </a:cubicBezTo>
                  <a:lnTo>
                    <a:pt x="5291" y="12768"/>
                  </a:lnTo>
                  <a:cubicBezTo>
                    <a:pt x="5291" y="12623"/>
                    <a:pt x="5220" y="12484"/>
                    <a:pt x="5093" y="12380"/>
                  </a:cubicBezTo>
                  <a:lnTo>
                    <a:pt x="2414" y="10213"/>
                  </a:lnTo>
                  <a:lnTo>
                    <a:pt x="6778" y="6693"/>
                  </a:lnTo>
                  <a:lnTo>
                    <a:pt x="8569" y="8137"/>
                  </a:lnTo>
                  <a:lnTo>
                    <a:pt x="6404" y="10150"/>
                  </a:lnTo>
                  <a:cubicBezTo>
                    <a:pt x="6357" y="10194"/>
                    <a:pt x="6360" y="10259"/>
                    <a:pt x="6410" y="10300"/>
                  </a:cubicBezTo>
                  <a:cubicBezTo>
                    <a:pt x="6436" y="10321"/>
                    <a:pt x="6471" y="10332"/>
                    <a:pt x="6506" y="10332"/>
                  </a:cubicBezTo>
                  <a:cubicBezTo>
                    <a:pt x="6538" y="10332"/>
                    <a:pt x="6570" y="10323"/>
                    <a:pt x="6596" y="10305"/>
                  </a:cubicBezTo>
                  <a:lnTo>
                    <a:pt x="9092" y="8559"/>
                  </a:lnTo>
                  <a:lnTo>
                    <a:pt x="11368" y="10394"/>
                  </a:lnTo>
                  <a:lnTo>
                    <a:pt x="9906" y="11755"/>
                  </a:lnTo>
                  <a:cubicBezTo>
                    <a:pt x="9859" y="11799"/>
                    <a:pt x="9862" y="11864"/>
                    <a:pt x="9912" y="11905"/>
                  </a:cubicBezTo>
                  <a:cubicBezTo>
                    <a:pt x="9938" y="11926"/>
                    <a:pt x="9973" y="11937"/>
                    <a:pt x="10008" y="11937"/>
                  </a:cubicBezTo>
                  <a:cubicBezTo>
                    <a:pt x="10040" y="11937"/>
                    <a:pt x="10072" y="11928"/>
                    <a:pt x="10097" y="11910"/>
                  </a:cubicBezTo>
                  <a:lnTo>
                    <a:pt x="11785" y="10730"/>
                  </a:lnTo>
                  <a:lnTo>
                    <a:pt x="13243" y="11906"/>
                  </a:lnTo>
                  <a:cubicBezTo>
                    <a:pt x="13243" y="11906"/>
                    <a:pt x="10985" y="13727"/>
                    <a:pt x="10985" y="13727"/>
                  </a:cubicBezTo>
                  <a:close/>
                  <a:moveTo>
                    <a:pt x="21533" y="2083"/>
                  </a:moveTo>
                  <a:cubicBezTo>
                    <a:pt x="21533" y="1527"/>
                    <a:pt x="21264" y="1004"/>
                    <a:pt x="20776" y="610"/>
                  </a:cubicBezTo>
                  <a:cubicBezTo>
                    <a:pt x="20288" y="217"/>
                    <a:pt x="19639" y="0"/>
                    <a:pt x="18949" y="0"/>
                  </a:cubicBezTo>
                  <a:cubicBezTo>
                    <a:pt x="18260" y="0"/>
                    <a:pt x="17611" y="217"/>
                    <a:pt x="17123" y="610"/>
                  </a:cubicBezTo>
                  <a:lnTo>
                    <a:pt x="13865" y="3237"/>
                  </a:lnTo>
                  <a:lnTo>
                    <a:pt x="12139" y="1845"/>
                  </a:lnTo>
                  <a:cubicBezTo>
                    <a:pt x="11740" y="1523"/>
                    <a:pt x="11209" y="1346"/>
                    <a:pt x="10645" y="1346"/>
                  </a:cubicBezTo>
                  <a:cubicBezTo>
                    <a:pt x="10081" y="1346"/>
                    <a:pt x="9550" y="1523"/>
                    <a:pt x="9151" y="1845"/>
                  </a:cubicBezTo>
                  <a:lnTo>
                    <a:pt x="5803" y="4545"/>
                  </a:lnTo>
                  <a:cubicBezTo>
                    <a:pt x="5675" y="4648"/>
                    <a:pt x="5603" y="4787"/>
                    <a:pt x="5603" y="4933"/>
                  </a:cubicBezTo>
                  <a:cubicBezTo>
                    <a:pt x="5603" y="5074"/>
                    <a:pt x="5672" y="5211"/>
                    <a:pt x="5793" y="5313"/>
                  </a:cubicBezTo>
                  <a:lnTo>
                    <a:pt x="199" y="9824"/>
                  </a:lnTo>
                  <a:cubicBezTo>
                    <a:pt x="-66" y="10038"/>
                    <a:pt x="-67" y="10384"/>
                    <a:pt x="198" y="10598"/>
                  </a:cubicBezTo>
                  <a:lnTo>
                    <a:pt x="3383" y="13176"/>
                  </a:lnTo>
                  <a:lnTo>
                    <a:pt x="3381" y="14119"/>
                  </a:lnTo>
                  <a:cubicBezTo>
                    <a:pt x="3381" y="14838"/>
                    <a:pt x="3538" y="15358"/>
                    <a:pt x="3873" y="15758"/>
                  </a:cubicBezTo>
                  <a:cubicBezTo>
                    <a:pt x="4225" y="16177"/>
                    <a:pt x="4773" y="16441"/>
                    <a:pt x="5404" y="16504"/>
                  </a:cubicBezTo>
                  <a:cubicBezTo>
                    <a:pt x="5349" y="16886"/>
                    <a:pt x="5219" y="17304"/>
                    <a:pt x="5093" y="17712"/>
                  </a:cubicBezTo>
                  <a:cubicBezTo>
                    <a:pt x="4764" y="18771"/>
                    <a:pt x="4425" y="19866"/>
                    <a:pt x="5292" y="20761"/>
                  </a:cubicBezTo>
                  <a:cubicBezTo>
                    <a:pt x="5830" y="21318"/>
                    <a:pt x="6684" y="21600"/>
                    <a:pt x="7829" y="21600"/>
                  </a:cubicBezTo>
                  <a:cubicBezTo>
                    <a:pt x="8908" y="21600"/>
                    <a:pt x="9512" y="21222"/>
                    <a:pt x="9828" y="20905"/>
                  </a:cubicBezTo>
                  <a:cubicBezTo>
                    <a:pt x="10592" y="20141"/>
                    <a:pt x="10332" y="19178"/>
                    <a:pt x="10123" y="18403"/>
                  </a:cubicBezTo>
                  <a:cubicBezTo>
                    <a:pt x="10113" y="18363"/>
                    <a:pt x="10102" y="18323"/>
                    <a:pt x="10091" y="18282"/>
                  </a:cubicBezTo>
                  <a:cubicBezTo>
                    <a:pt x="10240" y="18308"/>
                    <a:pt x="10393" y="18321"/>
                    <a:pt x="10549" y="18321"/>
                  </a:cubicBezTo>
                  <a:cubicBezTo>
                    <a:pt x="11009" y="18321"/>
                    <a:pt x="11453" y="18206"/>
                    <a:pt x="11869" y="17978"/>
                  </a:cubicBezTo>
                  <a:cubicBezTo>
                    <a:pt x="12463" y="17654"/>
                    <a:pt x="12806" y="17168"/>
                    <a:pt x="12858" y="16573"/>
                  </a:cubicBezTo>
                  <a:cubicBezTo>
                    <a:pt x="12889" y="16230"/>
                    <a:pt x="12817" y="15904"/>
                    <a:pt x="12749" y="15588"/>
                  </a:cubicBezTo>
                  <a:cubicBezTo>
                    <a:pt x="12675" y="15252"/>
                    <a:pt x="12605" y="14934"/>
                    <a:pt x="12632" y="14574"/>
                  </a:cubicBezTo>
                  <a:lnTo>
                    <a:pt x="14955" y="12701"/>
                  </a:lnTo>
                  <a:cubicBezTo>
                    <a:pt x="15081" y="12795"/>
                    <a:pt x="15245" y="12846"/>
                    <a:pt x="15416" y="12846"/>
                  </a:cubicBezTo>
                  <a:cubicBezTo>
                    <a:pt x="15596" y="12846"/>
                    <a:pt x="15770" y="12789"/>
                    <a:pt x="15897" y="12686"/>
                  </a:cubicBezTo>
                  <a:lnTo>
                    <a:pt x="19245" y="9986"/>
                  </a:lnTo>
                  <a:cubicBezTo>
                    <a:pt x="19644" y="9664"/>
                    <a:pt x="19864" y="9236"/>
                    <a:pt x="19864" y="8781"/>
                  </a:cubicBezTo>
                  <a:cubicBezTo>
                    <a:pt x="19864" y="8325"/>
                    <a:pt x="19644" y="7897"/>
                    <a:pt x="19245" y="7576"/>
                  </a:cubicBezTo>
                  <a:lnTo>
                    <a:pt x="17519" y="6183"/>
                  </a:lnTo>
                  <a:lnTo>
                    <a:pt x="20776" y="3556"/>
                  </a:lnTo>
                  <a:cubicBezTo>
                    <a:pt x="21264" y="3163"/>
                    <a:pt x="21533" y="2640"/>
                    <a:pt x="21533" y="2083"/>
                  </a:cubicBezTo>
                  <a:cubicBezTo>
                    <a:pt x="21533" y="2083"/>
                    <a:pt x="21533" y="2083"/>
                    <a:pt x="21533" y="2083"/>
                  </a:cubicBezTo>
                  <a:close/>
                </a:path>
              </a:pathLst>
            </a:custGeom>
            <a:solidFill>
              <a:srgbClr val="FFFFFF"/>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sp>
        <p:nvSpPr>
          <p:cNvPr id="4297" name="Shape 4297"/>
          <p:cNvSpPr/>
          <p:nvPr/>
        </p:nvSpPr>
        <p:spPr>
          <a:xfrm>
            <a:off x="8936434" y="2368838"/>
            <a:ext cx="808337" cy="80834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6"/>
                  <a:pt x="4835" y="0"/>
                  <a:pt x="10800" y="0"/>
                </a:cubicBezTo>
                <a:cubicBezTo>
                  <a:pt x="16765" y="0"/>
                  <a:pt x="21600" y="4836"/>
                  <a:pt x="21600" y="10800"/>
                </a:cubicBezTo>
                <a:close/>
              </a:path>
            </a:pathLst>
          </a:custGeom>
          <a:solidFill>
            <a:srgbClr val="FFC000"/>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nvGrpSpPr>
          <p:cNvPr id="4302" name="Group 4302"/>
          <p:cNvGrpSpPr/>
          <p:nvPr/>
        </p:nvGrpSpPr>
        <p:grpSpPr>
          <a:xfrm>
            <a:off x="9556518" y="3582235"/>
            <a:ext cx="808337" cy="808334"/>
            <a:chOff x="-6824" y="3259"/>
            <a:chExt cx="1616672" cy="1616665"/>
          </a:xfrm>
        </p:grpSpPr>
        <p:sp>
          <p:nvSpPr>
            <p:cNvPr id="4300" name="Shape 4300"/>
            <p:cNvSpPr/>
            <p:nvPr/>
          </p:nvSpPr>
          <p:spPr>
            <a:xfrm>
              <a:off x="-6824" y="3259"/>
              <a:ext cx="1616672" cy="161666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6" y="21600"/>
                    <a:pt x="0" y="16765"/>
                    <a:pt x="0" y="10800"/>
                  </a:cubicBezTo>
                  <a:cubicBezTo>
                    <a:pt x="0" y="4835"/>
                    <a:pt x="4836" y="0"/>
                    <a:pt x="10800" y="0"/>
                  </a:cubicBezTo>
                  <a:cubicBezTo>
                    <a:pt x="16765" y="0"/>
                    <a:pt x="21600" y="4835"/>
                    <a:pt x="21600" y="10800"/>
                  </a:cubicBezTo>
                  <a:close/>
                </a:path>
              </a:pathLst>
            </a:custGeom>
            <a:solidFill>
              <a:schemeClr val="tx2">
                <a:lumMod val="75000"/>
              </a:schemeClr>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4301" name="Shape 4301"/>
            <p:cNvSpPr/>
            <p:nvPr/>
          </p:nvSpPr>
          <p:spPr>
            <a:xfrm>
              <a:off x="443293" y="314949"/>
              <a:ext cx="735172" cy="980246"/>
            </a:xfrm>
            <a:custGeom>
              <a:avLst/>
              <a:gdLst/>
              <a:ahLst/>
              <a:cxnLst>
                <a:cxn ang="0">
                  <a:pos x="wd2" y="hd2"/>
                </a:cxn>
                <a:cxn ang="5400000">
                  <a:pos x="wd2" y="hd2"/>
                </a:cxn>
                <a:cxn ang="10800000">
                  <a:pos x="wd2" y="hd2"/>
                </a:cxn>
                <a:cxn ang="16200000">
                  <a:pos x="wd2" y="hd2"/>
                </a:cxn>
              </a:cxnLst>
              <a:rect l="0" t="0" r="r" b="b"/>
              <a:pathLst>
                <a:path w="21600" h="21600" extrusionOk="0">
                  <a:moveTo>
                    <a:pt x="2625" y="10861"/>
                  </a:moveTo>
                  <a:cubicBezTo>
                    <a:pt x="2848" y="11280"/>
                    <a:pt x="3094" y="11694"/>
                    <a:pt x="3358" y="12103"/>
                  </a:cubicBezTo>
                  <a:lnTo>
                    <a:pt x="1896" y="12734"/>
                  </a:lnTo>
                  <a:lnTo>
                    <a:pt x="997" y="11565"/>
                  </a:lnTo>
                  <a:cubicBezTo>
                    <a:pt x="997" y="11565"/>
                    <a:pt x="2625" y="10861"/>
                    <a:pt x="2625" y="10861"/>
                  </a:cubicBezTo>
                  <a:close/>
                  <a:moveTo>
                    <a:pt x="18968" y="10858"/>
                  </a:moveTo>
                  <a:lnTo>
                    <a:pt x="20604" y="11565"/>
                  </a:lnTo>
                  <a:lnTo>
                    <a:pt x="19704" y="12734"/>
                  </a:lnTo>
                  <a:lnTo>
                    <a:pt x="18230" y="12096"/>
                  </a:lnTo>
                  <a:cubicBezTo>
                    <a:pt x="18496" y="11689"/>
                    <a:pt x="18742" y="11277"/>
                    <a:pt x="18968" y="10858"/>
                  </a:cubicBezTo>
                  <a:cubicBezTo>
                    <a:pt x="18968" y="10858"/>
                    <a:pt x="18968" y="10858"/>
                    <a:pt x="18968" y="10858"/>
                  </a:cubicBezTo>
                  <a:close/>
                  <a:moveTo>
                    <a:pt x="21600" y="7425"/>
                  </a:moveTo>
                  <a:lnTo>
                    <a:pt x="21600" y="8775"/>
                  </a:lnTo>
                  <a:lnTo>
                    <a:pt x="19705" y="8775"/>
                  </a:lnTo>
                  <a:cubicBezTo>
                    <a:pt x="19741" y="8551"/>
                    <a:pt x="19800" y="8329"/>
                    <a:pt x="19800" y="8100"/>
                  </a:cubicBezTo>
                  <a:cubicBezTo>
                    <a:pt x="19800" y="7868"/>
                    <a:pt x="19741" y="7650"/>
                    <a:pt x="19708" y="7425"/>
                  </a:cubicBezTo>
                  <a:cubicBezTo>
                    <a:pt x="19708" y="7425"/>
                    <a:pt x="21600" y="7425"/>
                    <a:pt x="21600" y="7425"/>
                  </a:cubicBezTo>
                  <a:close/>
                  <a:moveTo>
                    <a:pt x="1895" y="8775"/>
                  </a:moveTo>
                  <a:lnTo>
                    <a:pt x="0" y="8775"/>
                  </a:lnTo>
                  <a:lnTo>
                    <a:pt x="0" y="7425"/>
                  </a:lnTo>
                  <a:lnTo>
                    <a:pt x="1892" y="7425"/>
                  </a:lnTo>
                  <a:cubicBezTo>
                    <a:pt x="1859" y="7650"/>
                    <a:pt x="1800" y="7868"/>
                    <a:pt x="1800" y="8100"/>
                  </a:cubicBezTo>
                  <a:cubicBezTo>
                    <a:pt x="1800" y="8329"/>
                    <a:pt x="1859" y="8551"/>
                    <a:pt x="1895" y="8775"/>
                  </a:cubicBezTo>
                  <a:cubicBezTo>
                    <a:pt x="1895" y="8775"/>
                    <a:pt x="1895" y="8775"/>
                    <a:pt x="1895" y="8775"/>
                  </a:cubicBezTo>
                  <a:close/>
                  <a:moveTo>
                    <a:pt x="16044" y="2637"/>
                  </a:moveTo>
                  <a:cubicBezTo>
                    <a:pt x="15559" y="2375"/>
                    <a:pt x="15040" y="2146"/>
                    <a:pt x="14489" y="1959"/>
                  </a:cubicBezTo>
                  <a:lnTo>
                    <a:pt x="15421" y="748"/>
                  </a:lnTo>
                  <a:lnTo>
                    <a:pt x="16979" y="1422"/>
                  </a:lnTo>
                  <a:cubicBezTo>
                    <a:pt x="16979" y="1422"/>
                    <a:pt x="16044" y="2637"/>
                    <a:pt x="16044" y="2637"/>
                  </a:cubicBezTo>
                  <a:close/>
                  <a:moveTo>
                    <a:pt x="18990" y="5334"/>
                  </a:moveTo>
                  <a:cubicBezTo>
                    <a:pt x="18740" y="4920"/>
                    <a:pt x="18434" y="4532"/>
                    <a:pt x="18083" y="4167"/>
                  </a:cubicBezTo>
                  <a:lnTo>
                    <a:pt x="19704" y="3465"/>
                  </a:lnTo>
                  <a:lnTo>
                    <a:pt x="20604" y="4635"/>
                  </a:lnTo>
                  <a:cubicBezTo>
                    <a:pt x="20604" y="4635"/>
                    <a:pt x="18990" y="5334"/>
                    <a:pt x="18990" y="5334"/>
                  </a:cubicBezTo>
                  <a:close/>
                  <a:moveTo>
                    <a:pt x="5557" y="2638"/>
                  </a:moveTo>
                  <a:lnTo>
                    <a:pt x="4619" y="1422"/>
                  </a:lnTo>
                  <a:lnTo>
                    <a:pt x="6180" y="748"/>
                  </a:lnTo>
                  <a:lnTo>
                    <a:pt x="7112" y="1959"/>
                  </a:lnTo>
                  <a:cubicBezTo>
                    <a:pt x="6560" y="2146"/>
                    <a:pt x="6044" y="2375"/>
                    <a:pt x="5557" y="2638"/>
                  </a:cubicBezTo>
                  <a:cubicBezTo>
                    <a:pt x="5557" y="2638"/>
                    <a:pt x="5557" y="2638"/>
                    <a:pt x="5557" y="2638"/>
                  </a:cubicBezTo>
                  <a:close/>
                  <a:moveTo>
                    <a:pt x="10800" y="1350"/>
                  </a:moveTo>
                  <a:cubicBezTo>
                    <a:pt x="10491" y="1350"/>
                    <a:pt x="10201" y="1395"/>
                    <a:pt x="9900" y="1419"/>
                  </a:cubicBezTo>
                  <a:lnTo>
                    <a:pt x="9900" y="0"/>
                  </a:lnTo>
                  <a:lnTo>
                    <a:pt x="11700" y="0"/>
                  </a:lnTo>
                  <a:lnTo>
                    <a:pt x="11700" y="1419"/>
                  </a:lnTo>
                  <a:cubicBezTo>
                    <a:pt x="11399" y="1395"/>
                    <a:pt x="11109" y="1350"/>
                    <a:pt x="10800" y="1350"/>
                  </a:cubicBezTo>
                  <a:cubicBezTo>
                    <a:pt x="10800" y="1350"/>
                    <a:pt x="10800" y="1350"/>
                    <a:pt x="10800" y="1350"/>
                  </a:cubicBezTo>
                  <a:close/>
                  <a:moveTo>
                    <a:pt x="1897" y="3465"/>
                  </a:moveTo>
                  <a:lnTo>
                    <a:pt x="3518" y="4167"/>
                  </a:lnTo>
                  <a:cubicBezTo>
                    <a:pt x="3166" y="4532"/>
                    <a:pt x="2862" y="4920"/>
                    <a:pt x="2612" y="5334"/>
                  </a:cubicBezTo>
                  <a:lnTo>
                    <a:pt x="997" y="4635"/>
                  </a:lnTo>
                  <a:cubicBezTo>
                    <a:pt x="997" y="4635"/>
                    <a:pt x="1897" y="3465"/>
                    <a:pt x="1897" y="3465"/>
                  </a:cubicBezTo>
                  <a:close/>
                  <a:moveTo>
                    <a:pt x="14400" y="17550"/>
                  </a:moveTo>
                  <a:cubicBezTo>
                    <a:pt x="14400" y="17923"/>
                    <a:pt x="13997" y="18225"/>
                    <a:pt x="13500" y="18225"/>
                  </a:cubicBezTo>
                  <a:lnTo>
                    <a:pt x="8100" y="18225"/>
                  </a:lnTo>
                  <a:cubicBezTo>
                    <a:pt x="7603" y="18225"/>
                    <a:pt x="7200" y="17923"/>
                    <a:pt x="7200" y="17550"/>
                  </a:cubicBezTo>
                  <a:cubicBezTo>
                    <a:pt x="7200" y="17177"/>
                    <a:pt x="7603" y="16875"/>
                    <a:pt x="8100" y="16875"/>
                  </a:cubicBezTo>
                  <a:lnTo>
                    <a:pt x="13500" y="16875"/>
                  </a:lnTo>
                  <a:cubicBezTo>
                    <a:pt x="13997" y="16875"/>
                    <a:pt x="14400" y="17177"/>
                    <a:pt x="14400" y="17550"/>
                  </a:cubicBezTo>
                  <a:cubicBezTo>
                    <a:pt x="14400" y="17550"/>
                    <a:pt x="14400" y="17550"/>
                    <a:pt x="14400" y="17550"/>
                  </a:cubicBezTo>
                  <a:close/>
                  <a:moveTo>
                    <a:pt x="14400" y="19575"/>
                  </a:moveTo>
                  <a:cubicBezTo>
                    <a:pt x="14400" y="19948"/>
                    <a:pt x="13997" y="20250"/>
                    <a:pt x="13500" y="20250"/>
                  </a:cubicBezTo>
                  <a:lnTo>
                    <a:pt x="13335" y="20250"/>
                  </a:lnTo>
                  <a:cubicBezTo>
                    <a:pt x="12964" y="21036"/>
                    <a:pt x="11975" y="21600"/>
                    <a:pt x="10800" y="21600"/>
                  </a:cubicBezTo>
                  <a:cubicBezTo>
                    <a:pt x="9626" y="21600"/>
                    <a:pt x="8636" y="21036"/>
                    <a:pt x="8265" y="20250"/>
                  </a:cubicBezTo>
                  <a:lnTo>
                    <a:pt x="8100" y="20250"/>
                  </a:lnTo>
                  <a:cubicBezTo>
                    <a:pt x="7603" y="20250"/>
                    <a:pt x="7200" y="19948"/>
                    <a:pt x="7200" y="19575"/>
                  </a:cubicBezTo>
                  <a:cubicBezTo>
                    <a:pt x="7200" y="19202"/>
                    <a:pt x="7603" y="18900"/>
                    <a:pt x="8100" y="18900"/>
                  </a:cubicBezTo>
                  <a:lnTo>
                    <a:pt x="13500" y="18900"/>
                  </a:lnTo>
                  <a:cubicBezTo>
                    <a:pt x="13997" y="18900"/>
                    <a:pt x="14400" y="19202"/>
                    <a:pt x="14400" y="19575"/>
                  </a:cubicBezTo>
                  <a:cubicBezTo>
                    <a:pt x="14400" y="19575"/>
                    <a:pt x="14400" y="19575"/>
                    <a:pt x="14400" y="19575"/>
                  </a:cubicBezTo>
                  <a:close/>
                  <a:moveTo>
                    <a:pt x="14602" y="11513"/>
                  </a:moveTo>
                  <a:cubicBezTo>
                    <a:pt x="13885" y="12582"/>
                    <a:pt x="13152" y="13679"/>
                    <a:pt x="12806" y="14850"/>
                  </a:cubicBezTo>
                  <a:lnTo>
                    <a:pt x="8785" y="14850"/>
                  </a:lnTo>
                  <a:cubicBezTo>
                    <a:pt x="8439" y="13715"/>
                    <a:pt x="7722" y="12635"/>
                    <a:pt x="7020" y="11581"/>
                  </a:cubicBezTo>
                  <a:cubicBezTo>
                    <a:pt x="6188" y="10324"/>
                    <a:pt x="5400" y="9138"/>
                    <a:pt x="5400" y="8100"/>
                  </a:cubicBezTo>
                  <a:cubicBezTo>
                    <a:pt x="5400" y="5867"/>
                    <a:pt x="7823" y="4050"/>
                    <a:pt x="10800" y="4050"/>
                  </a:cubicBezTo>
                  <a:cubicBezTo>
                    <a:pt x="13777" y="4050"/>
                    <a:pt x="16200" y="5867"/>
                    <a:pt x="16200" y="8100"/>
                  </a:cubicBezTo>
                  <a:cubicBezTo>
                    <a:pt x="16200" y="9126"/>
                    <a:pt x="15424" y="10286"/>
                    <a:pt x="14602" y="11513"/>
                  </a:cubicBezTo>
                  <a:cubicBezTo>
                    <a:pt x="14602" y="11513"/>
                    <a:pt x="14602" y="11513"/>
                    <a:pt x="14602" y="11513"/>
                  </a:cubicBezTo>
                  <a:close/>
                  <a:moveTo>
                    <a:pt x="10800" y="2700"/>
                  </a:moveTo>
                  <a:cubicBezTo>
                    <a:pt x="6824" y="2700"/>
                    <a:pt x="3600" y="5118"/>
                    <a:pt x="3600" y="8100"/>
                  </a:cubicBezTo>
                  <a:cubicBezTo>
                    <a:pt x="3600" y="10800"/>
                    <a:pt x="7200" y="13542"/>
                    <a:pt x="7200" y="16200"/>
                  </a:cubicBezTo>
                  <a:lnTo>
                    <a:pt x="14400" y="16200"/>
                  </a:lnTo>
                  <a:cubicBezTo>
                    <a:pt x="14400" y="13458"/>
                    <a:pt x="18000" y="10800"/>
                    <a:pt x="18000" y="8100"/>
                  </a:cubicBezTo>
                  <a:cubicBezTo>
                    <a:pt x="18000" y="5118"/>
                    <a:pt x="14776" y="2700"/>
                    <a:pt x="10800" y="2700"/>
                  </a:cubicBezTo>
                  <a:cubicBezTo>
                    <a:pt x="10800" y="2700"/>
                    <a:pt x="10800" y="2700"/>
                    <a:pt x="10800" y="2700"/>
                  </a:cubicBezTo>
                  <a:close/>
                </a:path>
              </a:pathLst>
            </a:custGeom>
            <a:solidFill>
              <a:srgbClr val="FFFFFF"/>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sp>
        <p:nvSpPr>
          <p:cNvPr id="4321" name="Shape 4321"/>
          <p:cNvSpPr/>
          <p:nvPr/>
        </p:nvSpPr>
        <p:spPr>
          <a:xfrm>
            <a:off x="7684522" y="5248580"/>
            <a:ext cx="665471" cy="66548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4"/>
                  <a:pt x="16765" y="21600"/>
                  <a:pt x="10800" y="21600"/>
                </a:cubicBezTo>
                <a:cubicBezTo>
                  <a:pt x="4835" y="21600"/>
                  <a:pt x="0" y="16764"/>
                  <a:pt x="0" y="10800"/>
                </a:cubicBezTo>
                <a:cubicBezTo>
                  <a:pt x="0" y="4835"/>
                  <a:pt x="4835" y="0"/>
                  <a:pt x="10800" y="0"/>
                </a:cubicBezTo>
                <a:cubicBezTo>
                  <a:pt x="16765" y="0"/>
                  <a:pt x="21600" y="4835"/>
                  <a:pt x="21600" y="10800"/>
                </a:cubicBezTo>
                <a:close/>
              </a:path>
            </a:pathLst>
          </a:custGeom>
          <a:solidFill>
            <a:srgbClr val="FFFFFF"/>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nvGrpSpPr>
          <p:cNvPr id="78" name="Group 4308">
            <a:extLst>
              <a:ext uri="{FF2B5EF4-FFF2-40B4-BE49-F238E27FC236}">
                <a16:creationId xmlns:a16="http://schemas.microsoft.com/office/drawing/2014/main" id="{DA23C373-00C6-4C05-83A2-AFA0F8D311F1}"/>
              </a:ext>
            </a:extLst>
          </p:cNvPr>
          <p:cNvGrpSpPr/>
          <p:nvPr/>
        </p:nvGrpSpPr>
        <p:grpSpPr>
          <a:xfrm>
            <a:off x="468468" y="1586950"/>
            <a:ext cx="2869656" cy="1293652"/>
            <a:chOff x="0" y="0"/>
            <a:chExt cx="5297889" cy="2587303"/>
          </a:xfrm>
        </p:grpSpPr>
        <p:sp>
          <p:nvSpPr>
            <p:cNvPr id="79" name="Shape 4303">
              <a:extLst>
                <a:ext uri="{FF2B5EF4-FFF2-40B4-BE49-F238E27FC236}">
                  <a16:creationId xmlns:a16="http://schemas.microsoft.com/office/drawing/2014/main" id="{289B5A9B-DC89-48CA-A1FD-14F16BE1026F}"/>
                </a:ext>
              </a:extLst>
            </p:cNvPr>
            <p:cNvSpPr/>
            <p:nvPr/>
          </p:nvSpPr>
          <p:spPr>
            <a:xfrm>
              <a:off x="0" y="0"/>
              <a:ext cx="5297889" cy="2587303"/>
            </a:xfrm>
            <a:prstGeom prst="rect">
              <a:avLst/>
            </a:prstGeom>
            <a:solidFill>
              <a:schemeClr val="accent1"/>
            </a:solidFill>
            <a:ln w="12700" cap="flat">
              <a:noFill/>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81" name="Shape 4306">
              <a:extLst>
                <a:ext uri="{FF2B5EF4-FFF2-40B4-BE49-F238E27FC236}">
                  <a16:creationId xmlns:a16="http://schemas.microsoft.com/office/drawing/2014/main" id="{A8D758C1-6E07-4706-8A1C-D73CF03517F2}"/>
                </a:ext>
              </a:extLst>
            </p:cNvPr>
            <p:cNvSpPr/>
            <p:nvPr/>
          </p:nvSpPr>
          <p:spPr>
            <a:xfrm flipH="1">
              <a:off x="338268" y="1272700"/>
              <a:ext cx="1470026" cy="980282"/>
            </a:xfrm>
            <a:custGeom>
              <a:avLst/>
              <a:gdLst/>
              <a:ahLst/>
              <a:cxnLst>
                <a:cxn ang="0">
                  <a:pos x="wd2" y="hd2"/>
                </a:cxn>
                <a:cxn ang="5400000">
                  <a:pos x="wd2" y="hd2"/>
                </a:cxn>
                <a:cxn ang="10800000">
                  <a:pos x="wd2" y="hd2"/>
                </a:cxn>
                <a:cxn ang="16200000">
                  <a:pos x="wd2" y="hd2"/>
                </a:cxn>
              </a:cxnLst>
              <a:rect l="0" t="0" r="r" b="b"/>
              <a:pathLst>
                <a:path w="21600" h="21600" extrusionOk="0">
                  <a:moveTo>
                    <a:pt x="2939" y="0"/>
                  </a:moveTo>
                  <a:lnTo>
                    <a:pt x="2939" y="8850"/>
                  </a:lnTo>
                  <a:lnTo>
                    <a:pt x="0" y="11062"/>
                  </a:lnTo>
                  <a:lnTo>
                    <a:pt x="2939" y="13275"/>
                  </a:lnTo>
                  <a:lnTo>
                    <a:pt x="2939" y="21600"/>
                  </a:lnTo>
                  <a:lnTo>
                    <a:pt x="21600" y="21600"/>
                  </a:lnTo>
                  <a:lnTo>
                    <a:pt x="21600" y="0"/>
                  </a:lnTo>
                  <a:lnTo>
                    <a:pt x="2939" y="0"/>
                  </a:lnTo>
                  <a:close/>
                </a:path>
              </a:pathLst>
            </a:custGeom>
            <a:noFill/>
            <a:ln w="63500" cap="flat">
              <a:solidFill>
                <a:srgbClr val="212830"/>
              </a:solidFill>
              <a:prstDash val="solid"/>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grpSp>
      <p:grpSp>
        <p:nvGrpSpPr>
          <p:cNvPr id="82" name="Group 4314">
            <a:extLst>
              <a:ext uri="{FF2B5EF4-FFF2-40B4-BE49-F238E27FC236}">
                <a16:creationId xmlns:a16="http://schemas.microsoft.com/office/drawing/2014/main" id="{CCB0A40B-F347-451A-9C86-70192FF8218C}"/>
              </a:ext>
            </a:extLst>
          </p:cNvPr>
          <p:cNvGrpSpPr/>
          <p:nvPr/>
        </p:nvGrpSpPr>
        <p:grpSpPr>
          <a:xfrm>
            <a:off x="468468" y="2878479"/>
            <a:ext cx="2854623" cy="1293652"/>
            <a:chOff x="0" y="0"/>
            <a:chExt cx="5297889" cy="2587303"/>
          </a:xfrm>
          <a:solidFill>
            <a:schemeClr val="accent1">
              <a:lumMod val="60000"/>
              <a:lumOff val="40000"/>
            </a:schemeClr>
          </a:solidFill>
        </p:grpSpPr>
        <p:sp>
          <p:nvSpPr>
            <p:cNvPr id="83" name="Shape 4309">
              <a:extLst>
                <a:ext uri="{FF2B5EF4-FFF2-40B4-BE49-F238E27FC236}">
                  <a16:creationId xmlns:a16="http://schemas.microsoft.com/office/drawing/2014/main" id="{F5480FF5-1D93-4B07-8FA6-1BC16155EBA9}"/>
                </a:ext>
              </a:extLst>
            </p:cNvPr>
            <p:cNvSpPr/>
            <p:nvPr/>
          </p:nvSpPr>
          <p:spPr>
            <a:xfrm>
              <a:off x="0" y="0"/>
              <a:ext cx="5297889" cy="2587303"/>
            </a:xfrm>
            <a:prstGeom prst="rect">
              <a:avLst/>
            </a:prstGeom>
            <a:grpFill/>
            <a:ln w="12700" cap="flat">
              <a:noFill/>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85" name="Shape 4312">
              <a:extLst>
                <a:ext uri="{FF2B5EF4-FFF2-40B4-BE49-F238E27FC236}">
                  <a16:creationId xmlns:a16="http://schemas.microsoft.com/office/drawing/2014/main" id="{A64995C0-3F0E-467D-9347-C1C61025F1D9}"/>
                </a:ext>
              </a:extLst>
            </p:cNvPr>
            <p:cNvSpPr/>
            <p:nvPr/>
          </p:nvSpPr>
          <p:spPr>
            <a:xfrm flipH="1">
              <a:off x="338268" y="1272700"/>
              <a:ext cx="1470026" cy="980282"/>
            </a:xfrm>
            <a:custGeom>
              <a:avLst/>
              <a:gdLst/>
              <a:ahLst/>
              <a:cxnLst>
                <a:cxn ang="0">
                  <a:pos x="wd2" y="hd2"/>
                </a:cxn>
                <a:cxn ang="5400000">
                  <a:pos x="wd2" y="hd2"/>
                </a:cxn>
                <a:cxn ang="10800000">
                  <a:pos x="wd2" y="hd2"/>
                </a:cxn>
                <a:cxn ang="16200000">
                  <a:pos x="wd2" y="hd2"/>
                </a:cxn>
              </a:cxnLst>
              <a:rect l="0" t="0" r="r" b="b"/>
              <a:pathLst>
                <a:path w="21600" h="21600" extrusionOk="0">
                  <a:moveTo>
                    <a:pt x="2939" y="0"/>
                  </a:moveTo>
                  <a:lnTo>
                    <a:pt x="2939" y="8850"/>
                  </a:lnTo>
                  <a:lnTo>
                    <a:pt x="0" y="11062"/>
                  </a:lnTo>
                  <a:lnTo>
                    <a:pt x="2939" y="13275"/>
                  </a:lnTo>
                  <a:lnTo>
                    <a:pt x="2939" y="21600"/>
                  </a:lnTo>
                  <a:lnTo>
                    <a:pt x="21600" y="21600"/>
                  </a:lnTo>
                  <a:lnTo>
                    <a:pt x="21600" y="0"/>
                  </a:lnTo>
                  <a:lnTo>
                    <a:pt x="2939" y="0"/>
                  </a:lnTo>
                  <a:close/>
                </a:path>
              </a:pathLst>
            </a:custGeom>
            <a:grpFill/>
            <a:ln w="63500" cap="flat">
              <a:solidFill>
                <a:srgbClr val="212830"/>
              </a:solidFill>
              <a:prstDash val="solid"/>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86" name="Shape 4313">
              <a:extLst>
                <a:ext uri="{FF2B5EF4-FFF2-40B4-BE49-F238E27FC236}">
                  <a16:creationId xmlns:a16="http://schemas.microsoft.com/office/drawing/2014/main" id="{45179748-B1C9-443D-AF2C-33AD289F2918}"/>
                </a:ext>
              </a:extLst>
            </p:cNvPr>
            <p:cNvSpPr/>
            <p:nvPr/>
          </p:nvSpPr>
          <p:spPr>
            <a:xfrm>
              <a:off x="523488" y="1609979"/>
              <a:ext cx="979316" cy="349790"/>
            </a:xfrm>
            <a:custGeom>
              <a:avLst/>
              <a:gdLst/>
              <a:ahLst/>
              <a:cxnLst>
                <a:cxn ang="0">
                  <a:pos x="wd2" y="hd2"/>
                </a:cxn>
                <a:cxn ang="5400000">
                  <a:pos x="wd2" y="hd2"/>
                </a:cxn>
                <a:cxn ang="10800000">
                  <a:pos x="wd2" y="hd2"/>
                </a:cxn>
                <a:cxn ang="16200000">
                  <a:pos x="wd2" y="hd2"/>
                </a:cxn>
              </a:cxnLst>
              <a:rect l="0" t="0" r="r" b="b"/>
              <a:pathLst>
                <a:path w="21290" h="20413" extrusionOk="0">
                  <a:moveTo>
                    <a:pt x="17329" y="4975"/>
                  </a:moveTo>
                  <a:cubicBezTo>
                    <a:pt x="17292" y="4759"/>
                    <a:pt x="17196" y="4665"/>
                    <a:pt x="17115" y="4763"/>
                  </a:cubicBezTo>
                  <a:cubicBezTo>
                    <a:pt x="17035" y="4867"/>
                    <a:pt x="17000" y="5123"/>
                    <a:pt x="17036" y="5340"/>
                  </a:cubicBezTo>
                  <a:lnTo>
                    <a:pt x="17749" y="9861"/>
                  </a:lnTo>
                  <a:cubicBezTo>
                    <a:pt x="17786" y="10076"/>
                    <a:pt x="17882" y="10171"/>
                    <a:pt x="17962" y="10071"/>
                  </a:cubicBezTo>
                  <a:cubicBezTo>
                    <a:pt x="18043" y="9968"/>
                    <a:pt x="18078" y="9712"/>
                    <a:pt x="18041" y="9494"/>
                  </a:cubicBezTo>
                  <a:cubicBezTo>
                    <a:pt x="18041" y="9494"/>
                    <a:pt x="17329" y="4975"/>
                    <a:pt x="17329" y="4975"/>
                  </a:cubicBezTo>
                  <a:close/>
                  <a:moveTo>
                    <a:pt x="17866" y="3536"/>
                  </a:moveTo>
                  <a:cubicBezTo>
                    <a:pt x="17829" y="3319"/>
                    <a:pt x="17734" y="3225"/>
                    <a:pt x="17653" y="3324"/>
                  </a:cubicBezTo>
                  <a:cubicBezTo>
                    <a:pt x="17573" y="3423"/>
                    <a:pt x="17537" y="3686"/>
                    <a:pt x="17574" y="3901"/>
                  </a:cubicBezTo>
                  <a:lnTo>
                    <a:pt x="18609" y="9861"/>
                  </a:lnTo>
                  <a:cubicBezTo>
                    <a:pt x="18646" y="10076"/>
                    <a:pt x="18742" y="10171"/>
                    <a:pt x="18823" y="10071"/>
                  </a:cubicBezTo>
                  <a:cubicBezTo>
                    <a:pt x="18903" y="9968"/>
                    <a:pt x="18938" y="9712"/>
                    <a:pt x="18902" y="9494"/>
                  </a:cubicBezTo>
                  <a:cubicBezTo>
                    <a:pt x="18902" y="9494"/>
                    <a:pt x="17866" y="3536"/>
                    <a:pt x="17866" y="3536"/>
                  </a:cubicBezTo>
                  <a:close/>
                  <a:moveTo>
                    <a:pt x="19513" y="9180"/>
                  </a:moveTo>
                  <a:cubicBezTo>
                    <a:pt x="19421" y="12074"/>
                    <a:pt x="18839" y="15850"/>
                    <a:pt x="18075" y="16905"/>
                  </a:cubicBezTo>
                  <a:cubicBezTo>
                    <a:pt x="16396" y="19224"/>
                    <a:pt x="14103" y="18091"/>
                    <a:pt x="13091" y="14529"/>
                  </a:cubicBezTo>
                  <a:cubicBezTo>
                    <a:pt x="12574" y="12701"/>
                    <a:pt x="11898" y="9165"/>
                    <a:pt x="12206" y="6504"/>
                  </a:cubicBezTo>
                  <a:cubicBezTo>
                    <a:pt x="12527" y="3725"/>
                    <a:pt x="14049" y="2820"/>
                    <a:pt x="15528" y="2490"/>
                  </a:cubicBezTo>
                  <a:cubicBezTo>
                    <a:pt x="18134" y="1922"/>
                    <a:pt x="19744" y="2112"/>
                    <a:pt x="19513" y="9180"/>
                  </a:cubicBezTo>
                  <a:cubicBezTo>
                    <a:pt x="19513" y="9180"/>
                    <a:pt x="19513" y="9180"/>
                    <a:pt x="19513" y="9180"/>
                  </a:cubicBezTo>
                  <a:close/>
                  <a:moveTo>
                    <a:pt x="7667" y="16165"/>
                  </a:moveTo>
                  <a:cubicBezTo>
                    <a:pt x="6587" y="18588"/>
                    <a:pt x="4303" y="18967"/>
                    <a:pt x="3129" y="16761"/>
                  </a:cubicBezTo>
                  <a:cubicBezTo>
                    <a:pt x="2425" y="15437"/>
                    <a:pt x="1138" y="8714"/>
                    <a:pt x="1966" y="4573"/>
                  </a:cubicBezTo>
                  <a:cubicBezTo>
                    <a:pt x="2260" y="3103"/>
                    <a:pt x="2789" y="2730"/>
                    <a:pt x="3571" y="2495"/>
                  </a:cubicBezTo>
                  <a:cubicBezTo>
                    <a:pt x="5592" y="1885"/>
                    <a:pt x="8660" y="2697"/>
                    <a:pt x="9107" y="6508"/>
                  </a:cubicBezTo>
                  <a:cubicBezTo>
                    <a:pt x="9529" y="10117"/>
                    <a:pt x="8331" y="14677"/>
                    <a:pt x="7667" y="16165"/>
                  </a:cubicBezTo>
                  <a:cubicBezTo>
                    <a:pt x="7667" y="16165"/>
                    <a:pt x="7667" y="16165"/>
                    <a:pt x="7667" y="16165"/>
                  </a:cubicBezTo>
                  <a:close/>
                  <a:moveTo>
                    <a:pt x="15141" y="117"/>
                  </a:moveTo>
                  <a:cubicBezTo>
                    <a:pt x="13567" y="420"/>
                    <a:pt x="11937" y="2070"/>
                    <a:pt x="10159" y="1750"/>
                  </a:cubicBezTo>
                  <a:cubicBezTo>
                    <a:pt x="8832" y="1511"/>
                    <a:pt x="7466" y="371"/>
                    <a:pt x="6229" y="117"/>
                  </a:cubicBezTo>
                  <a:cubicBezTo>
                    <a:pt x="5389" y="-54"/>
                    <a:pt x="4108" y="117"/>
                    <a:pt x="3460" y="266"/>
                  </a:cubicBezTo>
                  <a:cubicBezTo>
                    <a:pt x="2236" y="545"/>
                    <a:pt x="380" y="1088"/>
                    <a:pt x="84" y="3387"/>
                  </a:cubicBezTo>
                  <a:cubicBezTo>
                    <a:pt x="-262" y="6089"/>
                    <a:pt x="564" y="7006"/>
                    <a:pt x="748" y="8141"/>
                  </a:cubicBezTo>
                  <a:cubicBezTo>
                    <a:pt x="1013" y="9792"/>
                    <a:pt x="985" y="11497"/>
                    <a:pt x="1192" y="12895"/>
                  </a:cubicBezTo>
                  <a:cubicBezTo>
                    <a:pt x="1383" y="14188"/>
                    <a:pt x="1635" y="15602"/>
                    <a:pt x="1966" y="16761"/>
                  </a:cubicBezTo>
                  <a:cubicBezTo>
                    <a:pt x="3159" y="20929"/>
                    <a:pt x="6567" y="21339"/>
                    <a:pt x="8111" y="17952"/>
                  </a:cubicBezTo>
                  <a:cubicBezTo>
                    <a:pt x="8598" y="16881"/>
                    <a:pt x="9107" y="14621"/>
                    <a:pt x="9438" y="12605"/>
                  </a:cubicBezTo>
                  <a:cubicBezTo>
                    <a:pt x="9672" y="11181"/>
                    <a:pt x="9934" y="6955"/>
                    <a:pt x="10657" y="6955"/>
                  </a:cubicBezTo>
                  <a:cubicBezTo>
                    <a:pt x="11209" y="6955"/>
                    <a:pt x="11285" y="8281"/>
                    <a:pt x="11431" y="9629"/>
                  </a:cubicBezTo>
                  <a:cubicBezTo>
                    <a:pt x="11839" y="13378"/>
                    <a:pt x="12518" y="16865"/>
                    <a:pt x="13479" y="18543"/>
                  </a:cubicBezTo>
                  <a:cubicBezTo>
                    <a:pt x="14985" y="21177"/>
                    <a:pt x="17651" y="20983"/>
                    <a:pt x="18850" y="18249"/>
                  </a:cubicBezTo>
                  <a:cubicBezTo>
                    <a:pt x="19570" y="16599"/>
                    <a:pt x="20063" y="13699"/>
                    <a:pt x="20343" y="11263"/>
                  </a:cubicBezTo>
                  <a:cubicBezTo>
                    <a:pt x="20454" y="10297"/>
                    <a:pt x="20414" y="9066"/>
                    <a:pt x="20565" y="8141"/>
                  </a:cubicBezTo>
                  <a:cubicBezTo>
                    <a:pt x="20792" y="6757"/>
                    <a:pt x="21338" y="6500"/>
                    <a:pt x="21286" y="4277"/>
                  </a:cubicBezTo>
                  <a:cubicBezTo>
                    <a:pt x="21187" y="77"/>
                    <a:pt x="17097" y="-261"/>
                    <a:pt x="15141" y="117"/>
                  </a:cubicBezTo>
                  <a:cubicBezTo>
                    <a:pt x="15141" y="117"/>
                    <a:pt x="15141" y="117"/>
                    <a:pt x="15141" y="117"/>
                  </a:cubicBezTo>
                  <a:close/>
                </a:path>
              </a:pathLst>
            </a:custGeom>
            <a:solidFill>
              <a:schemeClr val="tx1"/>
            </a:solidFill>
            <a:ln w="12700" cap="flat">
              <a:solidFill>
                <a:schemeClr val="tx1"/>
              </a:solid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3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grpSp>
        <p:nvGrpSpPr>
          <p:cNvPr id="87" name="Group 4320">
            <a:extLst>
              <a:ext uri="{FF2B5EF4-FFF2-40B4-BE49-F238E27FC236}">
                <a16:creationId xmlns:a16="http://schemas.microsoft.com/office/drawing/2014/main" id="{A455747E-C463-486E-A0C3-B97A2C809F9C}"/>
              </a:ext>
            </a:extLst>
          </p:cNvPr>
          <p:cNvGrpSpPr/>
          <p:nvPr/>
        </p:nvGrpSpPr>
        <p:grpSpPr>
          <a:xfrm>
            <a:off x="468468" y="4157307"/>
            <a:ext cx="2869656" cy="1293652"/>
            <a:chOff x="0" y="0"/>
            <a:chExt cx="5297889" cy="2587303"/>
          </a:xfrm>
        </p:grpSpPr>
        <p:sp>
          <p:nvSpPr>
            <p:cNvPr id="88" name="Shape 4315">
              <a:extLst>
                <a:ext uri="{FF2B5EF4-FFF2-40B4-BE49-F238E27FC236}">
                  <a16:creationId xmlns:a16="http://schemas.microsoft.com/office/drawing/2014/main" id="{AAF74DD2-34FB-4DD2-83C1-B123360E980C}"/>
                </a:ext>
              </a:extLst>
            </p:cNvPr>
            <p:cNvSpPr/>
            <p:nvPr/>
          </p:nvSpPr>
          <p:spPr>
            <a:xfrm>
              <a:off x="0" y="0"/>
              <a:ext cx="5297889" cy="2587303"/>
            </a:xfrm>
            <a:prstGeom prst="rect">
              <a:avLst/>
            </a:prstGeom>
            <a:solidFill>
              <a:schemeClr val="accent3"/>
            </a:solidFill>
            <a:ln w="12700" cap="flat">
              <a:noFill/>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90" name="Shape 4318">
              <a:extLst>
                <a:ext uri="{FF2B5EF4-FFF2-40B4-BE49-F238E27FC236}">
                  <a16:creationId xmlns:a16="http://schemas.microsoft.com/office/drawing/2014/main" id="{8EF80E25-E04C-4458-8FBF-0744E1C3175B}"/>
                </a:ext>
              </a:extLst>
            </p:cNvPr>
            <p:cNvSpPr/>
            <p:nvPr/>
          </p:nvSpPr>
          <p:spPr>
            <a:xfrm flipH="1">
              <a:off x="302408" y="1272700"/>
              <a:ext cx="1470025" cy="980282"/>
            </a:xfrm>
            <a:custGeom>
              <a:avLst/>
              <a:gdLst/>
              <a:ahLst/>
              <a:cxnLst>
                <a:cxn ang="0">
                  <a:pos x="wd2" y="hd2"/>
                </a:cxn>
                <a:cxn ang="5400000">
                  <a:pos x="wd2" y="hd2"/>
                </a:cxn>
                <a:cxn ang="10800000">
                  <a:pos x="wd2" y="hd2"/>
                </a:cxn>
                <a:cxn ang="16200000">
                  <a:pos x="wd2" y="hd2"/>
                </a:cxn>
              </a:cxnLst>
              <a:rect l="0" t="0" r="r" b="b"/>
              <a:pathLst>
                <a:path w="21600" h="21600" extrusionOk="0">
                  <a:moveTo>
                    <a:pt x="2939" y="0"/>
                  </a:moveTo>
                  <a:lnTo>
                    <a:pt x="2939" y="8850"/>
                  </a:lnTo>
                  <a:lnTo>
                    <a:pt x="0" y="11062"/>
                  </a:lnTo>
                  <a:lnTo>
                    <a:pt x="2939" y="13275"/>
                  </a:lnTo>
                  <a:lnTo>
                    <a:pt x="2939" y="21600"/>
                  </a:lnTo>
                  <a:lnTo>
                    <a:pt x="21600" y="21600"/>
                  </a:lnTo>
                  <a:lnTo>
                    <a:pt x="21600" y="0"/>
                  </a:lnTo>
                  <a:lnTo>
                    <a:pt x="2939" y="0"/>
                  </a:lnTo>
                  <a:close/>
                </a:path>
              </a:pathLst>
            </a:custGeom>
            <a:noFill/>
            <a:ln w="63500" cap="flat">
              <a:solidFill>
                <a:srgbClr val="212830"/>
              </a:solidFill>
              <a:prstDash val="solid"/>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91" name="Shape 4319">
              <a:extLst>
                <a:ext uri="{FF2B5EF4-FFF2-40B4-BE49-F238E27FC236}">
                  <a16:creationId xmlns:a16="http://schemas.microsoft.com/office/drawing/2014/main" id="{6C4CE701-8386-4305-82B6-B361F8AA20EA}"/>
                </a:ext>
              </a:extLst>
            </p:cNvPr>
            <p:cNvSpPr/>
            <p:nvPr/>
          </p:nvSpPr>
          <p:spPr>
            <a:xfrm>
              <a:off x="564654" y="1433717"/>
              <a:ext cx="697262" cy="609978"/>
            </a:xfrm>
            <a:custGeom>
              <a:avLst/>
              <a:gdLst/>
              <a:ahLst/>
              <a:cxnLst>
                <a:cxn ang="0">
                  <a:pos x="wd2" y="hd2"/>
                </a:cxn>
                <a:cxn ang="5400000">
                  <a:pos x="wd2" y="hd2"/>
                </a:cxn>
                <a:cxn ang="10800000">
                  <a:pos x="wd2" y="hd2"/>
                </a:cxn>
                <a:cxn ang="16200000">
                  <a:pos x="wd2" y="hd2"/>
                </a:cxn>
              </a:cxnLst>
              <a:rect l="0" t="0" r="r" b="b"/>
              <a:pathLst>
                <a:path w="21600" h="21590" extrusionOk="0">
                  <a:moveTo>
                    <a:pt x="17784" y="17718"/>
                  </a:moveTo>
                  <a:cubicBezTo>
                    <a:pt x="15542" y="15465"/>
                    <a:pt x="12550" y="14091"/>
                    <a:pt x="9449" y="13914"/>
                  </a:cubicBezTo>
                  <a:lnTo>
                    <a:pt x="9449" y="7671"/>
                  </a:lnTo>
                  <a:cubicBezTo>
                    <a:pt x="12550" y="7494"/>
                    <a:pt x="15542" y="6116"/>
                    <a:pt x="17784" y="3868"/>
                  </a:cubicBezTo>
                  <a:cubicBezTo>
                    <a:pt x="18377" y="8473"/>
                    <a:pt x="18377" y="13112"/>
                    <a:pt x="17784" y="17718"/>
                  </a:cubicBezTo>
                  <a:cubicBezTo>
                    <a:pt x="17784" y="17718"/>
                    <a:pt x="17784" y="17718"/>
                    <a:pt x="17784" y="17718"/>
                  </a:cubicBezTo>
                  <a:close/>
                  <a:moveTo>
                    <a:pt x="7425" y="13876"/>
                  </a:moveTo>
                  <a:lnTo>
                    <a:pt x="4726" y="13876"/>
                  </a:lnTo>
                  <a:cubicBezTo>
                    <a:pt x="3236" y="13876"/>
                    <a:pt x="2023" y="12495"/>
                    <a:pt x="2023" y="10792"/>
                  </a:cubicBezTo>
                  <a:cubicBezTo>
                    <a:pt x="2023" y="9090"/>
                    <a:pt x="3236" y="7708"/>
                    <a:pt x="4726" y="7708"/>
                  </a:cubicBezTo>
                  <a:lnTo>
                    <a:pt x="7425" y="7708"/>
                  </a:lnTo>
                  <a:cubicBezTo>
                    <a:pt x="7425" y="7708"/>
                    <a:pt x="7425" y="13876"/>
                    <a:pt x="7425" y="13876"/>
                  </a:cubicBezTo>
                  <a:close/>
                  <a:moveTo>
                    <a:pt x="20200" y="8604"/>
                  </a:moveTo>
                  <a:cubicBezTo>
                    <a:pt x="20101" y="5976"/>
                    <a:pt x="19827" y="3359"/>
                    <a:pt x="19366" y="772"/>
                  </a:cubicBezTo>
                  <a:cubicBezTo>
                    <a:pt x="19297" y="399"/>
                    <a:pt x="19046" y="106"/>
                    <a:pt x="18723" y="23"/>
                  </a:cubicBezTo>
                  <a:cubicBezTo>
                    <a:pt x="18660" y="7"/>
                    <a:pt x="18598" y="0"/>
                    <a:pt x="18535" y="0"/>
                  </a:cubicBezTo>
                  <a:cubicBezTo>
                    <a:pt x="18275" y="0"/>
                    <a:pt x="18021" y="139"/>
                    <a:pt x="17860" y="388"/>
                  </a:cubicBezTo>
                  <a:cubicBezTo>
                    <a:pt x="15753" y="3611"/>
                    <a:pt x="12148" y="5393"/>
                    <a:pt x="8773" y="5393"/>
                  </a:cubicBezTo>
                  <a:lnTo>
                    <a:pt x="4726" y="5393"/>
                  </a:lnTo>
                  <a:cubicBezTo>
                    <a:pt x="2116" y="5393"/>
                    <a:pt x="0" y="7810"/>
                    <a:pt x="0" y="10792"/>
                  </a:cubicBezTo>
                  <a:cubicBezTo>
                    <a:pt x="0" y="13775"/>
                    <a:pt x="2116" y="16188"/>
                    <a:pt x="4726" y="16188"/>
                  </a:cubicBezTo>
                  <a:cubicBezTo>
                    <a:pt x="4726" y="18196"/>
                    <a:pt x="5438" y="20079"/>
                    <a:pt x="6700" y="21441"/>
                  </a:cubicBezTo>
                  <a:cubicBezTo>
                    <a:pt x="6796" y="21543"/>
                    <a:pt x="6924" y="21600"/>
                    <a:pt x="7056" y="21589"/>
                  </a:cubicBezTo>
                  <a:cubicBezTo>
                    <a:pt x="7188" y="21577"/>
                    <a:pt x="7310" y="21505"/>
                    <a:pt x="7392" y="21389"/>
                  </a:cubicBezTo>
                  <a:lnTo>
                    <a:pt x="8499" y="19819"/>
                  </a:lnTo>
                  <a:cubicBezTo>
                    <a:pt x="8651" y="19608"/>
                    <a:pt x="8638" y="19299"/>
                    <a:pt x="8466" y="19103"/>
                  </a:cubicBezTo>
                  <a:cubicBezTo>
                    <a:pt x="7801" y="18331"/>
                    <a:pt x="7425" y="17292"/>
                    <a:pt x="7425" y="16188"/>
                  </a:cubicBezTo>
                  <a:lnTo>
                    <a:pt x="8773" y="16188"/>
                  </a:lnTo>
                  <a:cubicBezTo>
                    <a:pt x="12148" y="16188"/>
                    <a:pt x="15753" y="17970"/>
                    <a:pt x="17860" y="21197"/>
                  </a:cubicBezTo>
                  <a:cubicBezTo>
                    <a:pt x="18021" y="21441"/>
                    <a:pt x="18275" y="21585"/>
                    <a:pt x="18535" y="21585"/>
                  </a:cubicBezTo>
                  <a:cubicBezTo>
                    <a:pt x="18598" y="21585"/>
                    <a:pt x="18660" y="21574"/>
                    <a:pt x="18720" y="21558"/>
                  </a:cubicBezTo>
                  <a:cubicBezTo>
                    <a:pt x="19046" y="21476"/>
                    <a:pt x="19297" y="21185"/>
                    <a:pt x="19362" y="20813"/>
                  </a:cubicBezTo>
                  <a:cubicBezTo>
                    <a:pt x="19827" y="18226"/>
                    <a:pt x="20101" y="15605"/>
                    <a:pt x="20200" y="12980"/>
                  </a:cubicBezTo>
                  <a:cubicBezTo>
                    <a:pt x="21010" y="12679"/>
                    <a:pt x="21600" y="11817"/>
                    <a:pt x="21600" y="10792"/>
                  </a:cubicBezTo>
                  <a:cubicBezTo>
                    <a:pt x="21600" y="9764"/>
                    <a:pt x="21010" y="8906"/>
                    <a:pt x="20200" y="8604"/>
                  </a:cubicBezTo>
                  <a:cubicBezTo>
                    <a:pt x="20200" y="8604"/>
                    <a:pt x="20200" y="8604"/>
                    <a:pt x="20200" y="8604"/>
                  </a:cubicBezTo>
                  <a:close/>
                </a:path>
              </a:pathLst>
            </a:custGeom>
            <a:solidFill>
              <a:srgbClr val="212830"/>
            </a:solidFill>
            <a:ln w="12700" cap="flat">
              <a:noFill/>
              <a:miter lim="400000"/>
            </a:ln>
            <a:effectLst/>
          </p:spPr>
          <p:txBody>
            <a:bodyPr wrap="square" lIns="19050" tIns="19050" rIns="19050" bIns="19050" numCol="1" anchor="ctr">
              <a:noAutofit/>
            </a:bodyPr>
            <a:lstStyle/>
            <a:p>
              <a:pPr marL="0" marR="0" lvl="0" indent="0" algn="ctr" defTabSz="228600" rtl="0" eaLnBrk="1" fontAlgn="auto" latinLnBrk="0" hangingPunct="1">
                <a:lnSpc>
                  <a:spcPct val="13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grpSp>
      <p:grpSp>
        <p:nvGrpSpPr>
          <p:cNvPr id="92" name="Group 4320">
            <a:extLst>
              <a:ext uri="{FF2B5EF4-FFF2-40B4-BE49-F238E27FC236}">
                <a16:creationId xmlns:a16="http://schemas.microsoft.com/office/drawing/2014/main" id="{C8066A8C-7E1A-4C42-ACC2-B3CF6F015A17}"/>
              </a:ext>
            </a:extLst>
          </p:cNvPr>
          <p:cNvGrpSpPr/>
          <p:nvPr/>
        </p:nvGrpSpPr>
        <p:grpSpPr>
          <a:xfrm>
            <a:off x="468467" y="5444633"/>
            <a:ext cx="2854623" cy="1293654"/>
            <a:chOff x="0" y="0"/>
            <a:chExt cx="5297889" cy="2587303"/>
          </a:xfrm>
          <a:solidFill>
            <a:schemeClr val="tx2">
              <a:lumMod val="75000"/>
              <a:lumOff val="25000"/>
            </a:schemeClr>
          </a:solidFill>
        </p:grpSpPr>
        <p:sp>
          <p:nvSpPr>
            <p:cNvPr id="93" name="Shape 4315">
              <a:extLst>
                <a:ext uri="{FF2B5EF4-FFF2-40B4-BE49-F238E27FC236}">
                  <a16:creationId xmlns:a16="http://schemas.microsoft.com/office/drawing/2014/main" id="{A581AB2D-9479-43E7-937B-3D181E273686}"/>
                </a:ext>
              </a:extLst>
            </p:cNvPr>
            <p:cNvSpPr/>
            <p:nvPr/>
          </p:nvSpPr>
          <p:spPr>
            <a:xfrm>
              <a:off x="0" y="0"/>
              <a:ext cx="5297889" cy="2587303"/>
            </a:xfrm>
            <a:prstGeom prst="rect">
              <a:avLst/>
            </a:prstGeom>
            <a:grpFill/>
            <a:ln w="12700" cap="flat">
              <a:noFill/>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100" b="0" i="0" u="none" strike="noStrike" kern="0" cap="none" spc="0" normalizeH="0" baseline="0" noProof="0" dirty="0">
                <a:ln>
                  <a:noFill/>
                </a:ln>
                <a:solidFill>
                  <a:sysClr val="windowText" lastClr="000000"/>
                </a:solidFill>
                <a:effectLst/>
                <a:uLnTx/>
                <a:uFillTx/>
                <a:latin typeface="Helvetica Light"/>
                <a:sym typeface="Helvetica Light"/>
              </a:endParaRPr>
            </a:p>
          </p:txBody>
        </p:sp>
        <p:sp>
          <p:nvSpPr>
            <p:cNvPr id="94" name="Shape 4317">
              <a:extLst>
                <a:ext uri="{FF2B5EF4-FFF2-40B4-BE49-F238E27FC236}">
                  <a16:creationId xmlns:a16="http://schemas.microsoft.com/office/drawing/2014/main" id="{861D08D0-71FD-45DD-BDF5-D966264AC7BA}"/>
                </a:ext>
              </a:extLst>
            </p:cNvPr>
            <p:cNvSpPr/>
            <p:nvPr/>
          </p:nvSpPr>
          <p:spPr>
            <a:xfrm>
              <a:off x="2079695" y="185734"/>
              <a:ext cx="3171700" cy="2369875"/>
            </a:xfrm>
            <a:prstGeom prst="rect">
              <a:avLst/>
            </a:prstGeom>
            <a:grp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l">
                <a:defRPr sz="2000">
                  <a:solidFill>
                    <a:srgbClr val="FFFFFF"/>
                  </a:solidFill>
                  <a:latin typeface="Roboto Medium"/>
                  <a:ea typeface="Roboto Medium"/>
                  <a:cs typeface="Roboto Medium"/>
                  <a:sym typeface="Roboto Medium"/>
                </a:defRPr>
              </a:lvl1pPr>
            </a:lstStyle>
            <a:p>
              <a:pPr marL="171450" lvl="0" indent="-171450" defTabSz="412750">
                <a:buFont typeface="Arial" panose="020B0604020202020204" pitchFamily="34" charset="0"/>
                <a:buChar char="•"/>
                <a:defRPr sz="1800"/>
              </a:pPr>
              <a:r>
                <a:rPr lang="en-US" sz="1050" kern="0" dirty="0">
                  <a:solidFill>
                    <a:schemeClr val="bg2"/>
                  </a:solidFill>
                  <a:latin typeface="Roboto" pitchFamily="2" charset="0"/>
                  <a:ea typeface="Roboto" pitchFamily="2" charset="0"/>
                  <a:cs typeface="Roboto Light"/>
                  <a:sym typeface="Roboto Light"/>
                </a:rPr>
                <a:t>Understand where are we going at all levels</a:t>
              </a:r>
            </a:p>
            <a:p>
              <a:pPr marL="171450" lvl="0" indent="-171450" defTabSz="412750">
                <a:buFont typeface="Arial" panose="020B0604020202020204" pitchFamily="34" charset="0"/>
                <a:buChar char="•"/>
                <a:defRPr sz="1800"/>
              </a:pPr>
              <a:r>
                <a:rPr lang="en-US" sz="1050" kern="0" dirty="0">
                  <a:solidFill>
                    <a:schemeClr val="bg2"/>
                  </a:solidFill>
                  <a:latin typeface="Roboto" pitchFamily="2" charset="0"/>
                  <a:ea typeface="Roboto" pitchFamily="2" charset="0"/>
                  <a:cs typeface="Roboto Light"/>
                  <a:sym typeface="Roboto Light"/>
                </a:rPr>
                <a:t>Starting point</a:t>
              </a:r>
            </a:p>
            <a:p>
              <a:pPr marL="171450" lvl="0" indent="-171450" defTabSz="412750">
                <a:buFont typeface="Arial" panose="020B0604020202020204" pitchFamily="34" charset="0"/>
                <a:buChar char="•"/>
                <a:defRPr sz="1800"/>
              </a:pPr>
              <a:r>
                <a:rPr lang="en-US" sz="1050" kern="0" dirty="0">
                  <a:solidFill>
                    <a:schemeClr val="bg2"/>
                  </a:solidFill>
                  <a:latin typeface="Roboto" pitchFamily="2" charset="0"/>
                  <a:ea typeface="Roboto" pitchFamily="2" charset="0"/>
                  <a:cs typeface="Roboto Light"/>
                  <a:sym typeface="Roboto Light"/>
                </a:rPr>
                <a:t>Pain Points</a:t>
              </a:r>
            </a:p>
            <a:p>
              <a:pPr marL="171450" lvl="0" indent="-171450" defTabSz="412750">
                <a:buFont typeface="Arial" panose="020B0604020202020204" pitchFamily="34" charset="0"/>
                <a:buChar char="•"/>
                <a:defRPr sz="1800"/>
              </a:pPr>
              <a:r>
                <a:rPr lang="en-US" sz="1050" kern="0" dirty="0">
                  <a:solidFill>
                    <a:schemeClr val="bg2"/>
                  </a:solidFill>
                  <a:latin typeface="Roboto" pitchFamily="2" charset="0"/>
                  <a:ea typeface="Roboto" pitchFamily="2" charset="0"/>
                  <a:cs typeface="Roboto Light"/>
                  <a:sym typeface="Roboto Light"/>
                </a:rPr>
                <a:t>Milestones</a:t>
              </a:r>
            </a:p>
            <a:p>
              <a:pPr marL="171450" lvl="0" indent="-171450" defTabSz="412750">
                <a:buFont typeface="Arial" panose="020B0604020202020204" pitchFamily="34" charset="0"/>
                <a:buChar char="•"/>
                <a:defRPr sz="1800"/>
              </a:pPr>
              <a:r>
                <a:rPr lang="en-US" sz="1050" kern="0" dirty="0">
                  <a:solidFill>
                    <a:schemeClr val="bg2"/>
                  </a:solidFill>
                  <a:latin typeface="Roboto" pitchFamily="2" charset="0"/>
                  <a:ea typeface="Roboto" pitchFamily="2" charset="0"/>
                  <a:cs typeface="Roboto Light"/>
                  <a:sym typeface="Roboto Light"/>
                </a:rPr>
                <a:t>Finished Objectives</a:t>
              </a:r>
            </a:p>
            <a:p>
              <a:pPr marL="285750" marR="0" lvl="0" indent="-285750" defTabSz="914400" rtl="0" eaLnBrk="1" fontAlgn="auto" latinLnBrk="0" hangingPunct="1">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FFFF"/>
                </a:solidFill>
                <a:effectLst/>
                <a:uLnTx/>
                <a:uFillTx/>
                <a:latin typeface="Roboto Medium"/>
                <a:sym typeface="Roboto Medium"/>
              </a:endParaRPr>
            </a:p>
          </p:txBody>
        </p:sp>
        <p:sp>
          <p:nvSpPr>
            <p:cNvPr id="95" name="Shape 4318">
              <a:extLst>
                <a:ext uri="{FF2B5EF4-FFF2-40B4-BE49-F238E27FC236}">
                  <a16:creationId xmlns:a16="http://schemas.microsoft.com/office/drawing/2014/main" id="{226AF932-349B-4491-B4F5-A99B188AB14C}"/>
                </a:ext>
              </a:extLst>
            </p:cNvPr>
            <p:cNvSpPr/>
            <p:nvPr/>
          </p:nvSpPr>
          <p:spPr>
            <a:xfrm flipH="1">
              <a:off x="302408" y="1272699"/>
              <a:ext cx="1470025" cy="980282"/>
            </a:xfrm>
            <a:custGeom>
              <a:avLst/>
              <a:gdLst/>
              <a:ahLst/>
              <a:cxnLst>
                <a:cxn ang="0">
                  <a:pos x="wd2" y="hd2"/>
                </a:cxn>
                <a:cxn ang="5400000">
                  <a:pos x="wd2" y="hd2"/>
                </a:cxn>
                <a:cxn ang="10800000">
                  <a:pos x="wd2" y="hd2"/>
                </a:cxn>
                <a:cxn ang="16200000">
                  <a:pos x="wd2" y="hd2"/>
                </a:cxn>
              </a:cxnLst>
              <a:rect l="0" t="0" r="r" b="b"/>
              <a:pathLst>
                <a:path w="21600" h="21600" extrusionOk="0">
                  <a:moveTo>
                    <a:pt x="2939" y="0"/>
                  </a:moveTo>
                  <a:lnTo>
                    <a:pt x="2939" y="8850"/>
                  </a:lnTo>
                  <a:lnTo>
                    <a:pt x="0" y="11062"/>
                  </a:lnTo>
                  <a:lnTo>
                    <a:pt x="2939" y="13275"/>
                  </a:lnTo>
                  <a:lnTo>
                    <a:pt x="2939" y="21600"/>
                  </a:lnTo>
                  <a:lnTo>
                    <a:pt x="21600" y="21600"/>
                  </a:lnTo>
                  <a:lnTo>
                    <a:pt x="21600" y="0"/>
                  </a:lnTo>
                  <a:lnTo>
                    <a:pt x="2939" y="0"/>
                  </a:lnTo>
                  <a:close/>
                </a:path>
              </a:pathLst>
            </a:custGeom>
            <a:grpFill/>
            <a:ln w="63500" cap="flat">
              <a:solidFill>
                <a:srgbClr val="212830"/>
              </a:solidFill>
              <a:prstDash val="solid"/>
              <a:miter lim="400000"/>
            </a:ln>
            <a:effectLst/>
          </p:spPr>
          <p:txBody>
            <a:bodyPr wrap="square" lIns="0" tIns="0" rIns="0" bIns="0" numCol="1" anchor="ctr">
              <a:noAutofit/>
            </a:bodyPr>
            <a:lstStyle/>
            <a:p>
              <a:pPr marL="0" marR="0" lvl="0" indent="0" algn="ctr" defTabSz="412750" rtl="0" eaLnBrk="1" fontAlgn="auto" latinLnBrk="0" hangingPunct="1">
                <a:lnSpc>
                  <a:spcPct val="130000"/>
                </a:lnSpc>
                <a:spcBef>
                  <a:spcPts val="0"/>
                </a:spcBef>
                <a:spcAft>
                  <a:spcPts val="0"/>
                </a:spcAft>
                <a:buClrTx/>
                <a:buSzTx/>
                <a:buFontTx/>
                <a:buNone/>
                <a:tabLst/>
                <a:defRPr sz="3200"/>
              </a:pPr>
              <a:endParaRPr kumimoji="0" sz="1600" b="0" i="0" u="none" strike="noStrike" kern="0" cap="none" spc="0" normalizeH="0" baseline="0" noProof="0" dirty="0">
                <a:ln>
                  <a:noFill/>
                </a:ln>
                <a:solidFill>
                  <a:sysClr val="windowText" lastClr="000000"/>
                </a:solidFill>
                <a:effectLst/>
                <a:uLnTx/>
                <a:uFillTx/>
                <a:latin typeface="Helvetica Light"/>
                <a:sym typeface="Helvetica Light"/>
              </a:endParaRPr>
            </a:p>
          </p:txBody>
        </p:sp>
      </p:grpSp>
      <p:pic>
        <p:nvPicPr>
          <p:cNvPr id="97" name="Graphic 96" descr="Head with Gears">
            <a:extLst>
              <a:ext uri="{FF2B5EF4-FFF2-40B4-BE49-F238E27FC236}">
                <a16:creationId xmlns:a16="http://schemas.microsoft.com/office/drawing/2014/main" id="{C3EBF2C1-D515-4D08-8869-F2839B0AED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1446" y="2252423"/>
            <a:ext cx="443238" cy="443238"/>
          </a:xfrm>
          <a:prstGeom prst="rect">
            <a:avLst/>
          </a:prstGeom>
        </p:spPr>
      </p:pic>
      <p:sp>
        <p:nvSpPr>
          <p:cNvPr id="99" name="TextBox 98">
            <a:extLst>
              <a:ext uri="{FF2B5EF4-FFF2-40B4-BE49-F238E27FC236}">
                <a16:creationId xmlns:a16="http://schemas.microsoft.com/office/drawing/2014/main" id="{C9B22EBC-F9B7-4735-BD4B-0CB8617758AA}"/>
              </a:ext>
            </a:extLst>
          </p:cNvPr>
          <p:cNvSpPr txBox="1"/>
          <p:nvPr/>
        </p:nvSpPr>
        <p:spPr>
          <a:xfrm>
            <a:off x="538066" y="2826888"/>
            <a:ext cx="1378247" cy="5334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defTabSz="825500" rtl="0" eaLnBrk="1" fontAlgn="auto" latinLnBrk="1"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Helvetica Light"/>
              </a:rPr>
              <a:t>Gap </a:t>
            </a:r>
          </a:p>
          <a:p>
            <a:pPr marL="0" marR="0" lvl="0" indent="0" defTabSz="825500" rtl="0" eaLnBrk="1" fontAlgn="auto" latinLnBrk="1"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Helvetica Light"/>
              </a:rPr>
              <a:t>Analysis:</a:t>
            </a:r>
            <a:endParaRPr kumimoji="0" lang="en-US" sz="1400" b="1" i="0" u="none" strike="noStrike" kern="1200" cap="none" spc="0" normalizeH="0" baseline="0" noProof="0" dirty="0">
              <a:ln>
                <a:noFill/>
              </a:ln>
              <a:solidFill>
                <a:srgbClr val="FFFFFF"/>
              </a:solidFill>
              <a:effectLst/>
              <a:uLnTx/>
              <a:uFillTx/>
              <a:latin typeface="Helvetica Light"/>
              <a:sym typeface="Helvetica Light"/>
            </a:endParaRPr>
          </a:p>
        </p:txBody>
      </p:sp>
      <p:sp>
        <p:nvSpPr>
          <p:cNvPr id="100" name="TextBox 99">
            <a:extLst>
              <a:ext uri="{FF2B5EF4-FFF2-40B4-BE49-F238E27FC236}">
                <a16:creationId xmlns:a16="http://schemas.microsoft.com/office/drawing/2014/main" id="{70288D86-F8BC-4E30-BCE6-B47FBE7B526B}"/>
              </a:ext>
            </a:extLst>
          </p:cNvPr>
          <p:cNvSpPr txBox="1"/>
          <p:nvPr/>
        </p:nvSpPr>
        <p:spPr>
          <a:xfrm>
            <a:off x="480757" y="4162783"/>
            <a:ext cx="1513832" cy="5334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defTabSz="825500" rtl="0" eaLnBrk="1" fontAlgn="auto" latinLnBrk="1"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Helvetica Light"/>
              </a:rPr>
              <a:t>Leader </a:t>
            </a:r>
          </a:p>
          <a:p>
            <a:pPr marL="0" marR="0" lvl="0" indent="0" defTabSz="825500" rtl="0" eaLnBrk="1" fontAlgn="auto" latinLnBrk="1"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Helvetica Light"/>
              </a:rPr>
              <a:t>Accountability:</a:t>
            </a:r>
            <a:endParaRPr kumimoji="0" lang="en-US" sz="1400" b="1" i="0" u="none" strike="noStrike" kern="1200" cap="none" spc="0" normalizeH="0" baseline="0" noProof="0" dirty="0">
              <a:ln>
                <a:noFill/>
              </a:ln>
              <a:solidFill>
                <a:srgbClr val="FFFFFF"/>
              </a:solidFill>
              <a:effectLst/>
              <a:uLnTx/>
              <a:uFillTx/>
              <a:latin typeface="Helvetica Light"/>
              <a:sym typeface="Helvetica Light"/>
            </a:endParaRPr>
          </a:p>
        </p:txBody>
      </p:sp>
      <p:sp>
        <p:nvSpPr>
          <p:cNvPr id="101" name="TextBox 100">
            <a:extLst>
              <a:ext uri="{FF2B5EF4-FFF2-40B4-BE49-F238E27FC236}">
                <a16:creationId xmlns:a16="http://schemas.microsoft.com/office/drawing/2014/main" id="{3D3FD82E-6E01-41E9-BEA2-AFF991A49B2A}"/>
              </a:ext>
            </a:extLst>
          </p:cNvPr>
          <p:cNvSpPr txBox="1"/>
          <p:nvPr/>
        </p:nvSpPr>
        <p:spPr>
          <a:xfrm>
            <a:off x="484659" y="5412979"/>
            <a:ext cx="1091362" cy="5334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defTabSz="825500" rtl="0" eaLnBrk="1" fontAlgn="auto" latinLnBrk="1"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Helvetica Light"/>
              </a:rPr>
              <a:t>Build a Roadmap:</a:t>
            </a:r>
            <a:endParaRPr kumimoji="0" lang="en-US" sz="1400" b="1" i="0" u="none" strike="noStrike" kern="1200" cap="none" spc="0" normalizeH="0" baseline="0" noProof="0" dirty="0">
              <a:ln>
                <a:noFill/>
              </a:ln>
              <a:solidFill>
                <a:srgbClr val="FFFFFF"/>
              </a:solidFill>
              <a:effectLst/>
              <a:uLnTx/>
              <a:uFillTx/>
              <a:latin typeface="Helvetica Light"/>
              <a:sym typeface="Helvetica Light"/>
            </a:endParaRPr>
          </a:p>
        </p:txBody>
      </p:sp>
      <p:sp>
        <p:nvSpPr>
          <p:cNvPr id="64" name="TextBox 63">
            <a:extLst>
              <a:ext uri="{FF2B5EF4-FFF2-40B4-BE49-F238E27FC236}">
                <a16:creationId xmlns:a16="http://schemas.microsoft.com/office/drawing/2014/main" id="{41000D75-1495-418F-B4C8-9146B5745268}"/>
              </a:ext>
            </a:extLst>
          </p:cNvPr>
          <p:cNvSpPr txBox="1"/>
          <p:nvPr/>
        </p:nvSpPr>
        <p:spPr>
          <a:xfrm>
            <a:off x="466087" y="1518267"/>
            <a:ext cx="1181100"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defTabSz="825500" rtl="0" eaLnBrk="1" fontAlgn="auto" latinLnBrk="1"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Helvetica Light"/>
              </a:rPr>
              <a:t>Success </a:t>
            </a:r>
          </a:p>
          <a:p>
            <a:pPr marL="0" marR="0" lvl="0" indent="0" defTabSz="825500" rtl="0" eaLnBrk="1" fontAlgn="auto" latinLnBrk="1"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Helvetica Light"/>
              </a:rPr>
              <a:t>Factors:</a:t>
            </a:r>
            <a:endParaRPr kumimoji="0" lang="en-US" sz="1600" b="1" i="0" u="none" strike="noStrike" kern="1200" cap="none" spc="0" normalizeH="0" baseline="0" noProof="0" dirty="0">
              <a:ln>
                <a:noFill/>
              </a:ln>
              <a:solidFill>
                <a:srgbClr val="FFFFFF"/>
              </a:solidFill>
              <a:effectLst/>
              <a:uLnTx/>
              <a:uFillTx/>
              <a:latin typeface="Helvetica Light"/>
              <a:sym typeface="Helvetica Light"/>
            </a:endParaRPr>
          </a:p>
        </p:txBody>
      </p:sp>
      <p:sp>
        <p:nvSpPr>
          <p:cNvPr id="65" name="Shape 4317">
            <a:extLst>
              <a:ext uri="{FF2B5EF4-FFF2-40B4-BE49-F238E27FC236}">
                <a16:creationId xmlns:a16="http://schemas.microsoft.com/office/drawing/2014/main" id="{B76F86BE-7A83-4F5B-9352-C7178940C876}"/>
              </a:ext>
            </a:extLst>
          </p:cNvPr>
          <p:cNvSpPr/>
          <p:nvPr/>
        </p:nvSpPr>
        <p:spPr>
          <a:xfrm>
            <a:off x="1464992" y="1753073"/>
            <a:ext cx="1798822" cy="92333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l">
              <a:defRPr sz="2000">
                <a:solidFill>
                  <a:srgbClr val="FFFFFF"/>
                </a:solidFill>
                <a:latin typeface="Roboto Medium"/>
                <a:ea typeface="Roboto Medium"/>
                <a:cs typeface="Roboto Medium"/>
                <a:sym typeface="Roboto Medium"/>
              </a:defRPr>
            </a:lvl1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sym typeface="Roboto Medium"/>
              </a:rPr>
              <a:t>Business growth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Meeting metrics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Highly engaged workforce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Culture of positivity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sym typeface="Roboto Medium"/>
              </a:rPr>
              <a:t>Unified</a:t>
            </a:r>
            <a:r>
              <a:rPr kumimoji="0" lang="en-US" sz="1000" b="0" i="0" u="none" strike="noStrike" kern="1200" cap="none" spc="0" normalizeH="0" noProof="0" dirty="0">
                <a:ln>
                  <a:noFill/>
                </a:ln>
                <a:solidFill>
                  <a:srgbClr val="FFFFFF"/>
                </a:solidFill>
                <a:effectLst/>
                <a:uLnTx/>
                <a:uFillTx/>
                <a:sym typeface="Roboto Medium"/>
              </a:rPr>
              <a:t> leadership</a:t>
            </a:r>
            <a:r>
              <a:rPr lang="en-US" sz="1000" dirty="0"/>
              <a:t> team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sym typeface="Roboto Medium"/>
              </a:rPr>
              <a:t>Integrity &amp;</a:t>
            </a:r>
            <a:r>
              <a:rPr kumimoji="0" lang="en-US" sz="1000" b="0" i="0" u="none" strike="noStrike" kern="1200" cap="none" spc="0" normalizeH="0" noProof="0" dirty="0">
                <a:ln>
                  <a:noFill/>
                </a:ln>
                <a:solidFill>
                  <a:srgbClr val="FFFFFF"/>
                </a:solidFill>
                <a:effectLst/>
                <a:uLnTx/>
                <a:uFillTx/>
                <a:sym typeface="Roboto Medium"/>
              </a:rPr>
              <a:t> authenticity</a:t>
            </a:r>
            <a:endParaRPr kumimoji="0" lang="en-US" sz="1000" b="0" i="0" u="none" strike="noStrike" kern="1200" cap="none" spc="0" normalizeH="0" baseline="0" noProof="0" dirty="0">
              <a:ln>
                <a:noFill/>
              </a:ln>
              <a:solidFill>
                <a:srgbClr val="FFFFFF"/>
              </a:solidFill>
              <a:effectLst/>
              <a:uLnTx/>
              <a:uFillTx/>
              <a:sym typeface="Roboto Medium"/>
            </a:endParaRPr>
          </a:p>
        </p:txBody>
      </p:sp>
      <p:sp>
        <p:nvSpPr>
          <p:cNvPr id="67" name="Shape 4286">
            <a:extLst>
              <a:ext uri="{FF2B5EF4-FFF2-40B4-BE49-F238E27FC236}">
                <a16:creationId xmlns:a16="http://schemas.microsoft.com/office/drawing/2014/main" id="{E031490F-E42E-46FA-83D9-18F487913F59}"/>
              </a:ext>
            </a:extLst>
          </p:cNvPr>
          <p:cNvSpPr/>
          <p:nvPr/>
        </p:nvSpPr>
        <p:spPr>
          <a:xfrm>
            <a:off x="10457206" y="3166278"/>
            <a:ext cx="1842169" cy="1419556"/>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0" marR="0" lvl="0" indent="0" algn="l" defTabSz="412750" rtl="0" eaLnBrk="1" fontAlgn="auto" latinLnBrk="0" hangingPunct="1">
              <a:lnSpc>
                <a:spcPct val="130000"/>
              </a:lnSpc>
              <a:spcBef>
                <a:spcPts val="0"/>
              </a:spcBef>
              <a:spcAft>
                <a:spcPts val="0"/>
              </a:spcAft>
              <a:buClrTx/>
              <a:buSzTx/>
              <a:buFontTx/>
              <a:buNone/>
              <a:tabLst/>
              <a:defRPr sz="1800"/>
            </a:pPr>
            <a:r>
              <a:rPr kumimoji="0" lang="en-US" sz="1200" b="0" i="0" u="none" strike="noStrike" kern="0" cap="none" spc="0" normalizeH="0" baseline="0" noProof="0" dirty="0">
                <a:ln>
                  <a:noFill/>
                </a:ln>
                <a:solidFill>
                  <a:schemeClr val="bg2">
                    <a:lumMod val="50000"/>
                  </a:schemeClr>
                </a:solidFill>
                <a:effectLst/>
                <a:uLnTx/>
                <a:uFillTx/>
                <a:latin typeface="Roboto Bold"/>
                <a:ea typeface="Roboto Bold"/>
                <a:cs typeface="Roboto Bold"/>
                <a:sym typeface="Roboto Bold"/>
              </a:rPr>
              <a:t>Measuring for Success</a:t>
            </a:r>
            <a:endParaRPr kumimoji="0" sz="1200" b="0" i="0" u="none" strike="noStrike" kern="0" cap="none" spc="0" normalizeH="0" baseline="0" noProof="0" dirty="0">
              <a:ln>
                <a:noFill/>
              </a:ln>
              <a:solidFill>
                <a:schemeClr val="bg2">
                  <a:lumMod val="50000"/>
                </a:schemeClr>
              </a:solidFill>
              <a:effectLst/>
              <a:uLnTx/>
              <a:uFillTx/>
              <a:latin typeface="Roboto Bold"/>
              <a:ea typeface="Roboto Bold"/>
              <a:cs typeface="Roboto Bold"/>
              <a:sym typeface="Roboto Bold"/>
            </a:endParaRPr>
          </a:p>
          <a:p>
            <a:pPr marL="0" marR="0" lvl="0" indent="0" algn="l"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KPI’s </a:t>
            </a:r>
          </a:p>
          <a:p>
            <a:pPr marL="0" marR="0" lvl="0" indent="0" algn="l" defTabSz="412750" rtl="0" eaLnBrk="1" fontAlgn="auto" latinLnBrk="0" hangingPunct="1">
              <a:lnSpc>
                <a:spcPct val="130000"/>
              </a:lnSpc>
              <a:spcBef>
                <a:spcPts val="0"/>
              </a:spcBef>
              <a:spcAft>
                <a:spcPts val="0"/>
              </a:spcAft>
              <a:buClrTx/>
              <a:buSzTx/>
              <a:buFontTx/>
              <a:buNone/>
              <a:tabLst/>
              <a:defRPr sz="1800"/>
            </a:pPr>
            <a:r>
              <a:rPr lang="en-US" sz="1000" kern="0" dirty="0">
                <a:solidFill>
                  <a:schemeClr val="tx2">
                    <a:lumMod val="10000"/>
                  </a:schemeClr>
                </a:solidFill>
                <a:latin typeface="Roboto" pitchFamily="2" charset="0"/>
                <a:ea typeface="Roboto" pitchFamily="2" charset="0"/>
                <a:cs typeface="Roboto Light"/>
                <a:sym typeface="Roboto Light"/>
              </a:rPr>
              <a:t>Site Dashboards &amp; Scorecard</a:t>
            </a:r>
          </a:p>
          <a:p>
            <a:pPr marL="0" marR="0" lvl="0" indent="0" algn="l" defTabSz="412750" rtl="0" eaLnBrk="1" fontAlgn="auto" latinLnBrk="0" hangingPunct="1">
              <a:lnSpc>
                <a:spcPct val="130000"/>
              </a:lnSpc>
              <a:spcBef>
                <a:spcPts val="0"/>
              </a:spcBef>
              <a:spcAft>
                <a:spcPts val="0"/>
              </a:spcAft>
              <a:buClrTx/>
              <a:buSzTx/>
              <a:buFontTx/>
              <a:buNone/>
              <a:tabLst/>
              <a:defRPr sz="1800"/>
            </a:pPr>
            <a:r>
              <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sym typeface="Roboto Light"/>
              </a:rPr>
              <a:t>Quantitative and Qualitative</a:t>
            </a:r>
            <a:r>
              <a:rPr kumimoji="0" lang="en-US" sz="1000" b="0" i="0" u="none" strike="noStrike" kern="0" cap="none" spc="0" normalizeH="0" noProof="0" dirty="0">
                <a:ln>
                  <a:noFill/>
                </a:ln>
                <a:solidFill>
                  <a:schemeClr val="tx2">
                    <a:lumMod val="10000"/>
                  </a:schemeClr>
                </a:solidFill>
                <a:effectLst/>
                <a:uLnTx/>
                <a:uFillTx/>
                <a:latin typeface="Roboto" pitchFamily="2" charset="0"/>
                <a:ea typeface="Roboto" pitchFamily="2" charset="0"/>
                <a:cs typeface="Roboto Light"/>
                <a:sym typeface="Roboto Light"/>
              </a:rPr>
              <a:t> Measures</a:t>
            </a:r>
            <a:endParaRPr kumimoji="0" lang="en-US" sz="1000" b="0" i="0" u="none" strike="noStrike" kern="0" cap="none" spc="0" normalizeH="0" baseline="0" noProof="0" dirty="0">
              <a:ln>
                <a:noFill/>
              </a:ln>
              <a:solidFill>
                <a:schemeClr val="tx2">
                  <a:lumMod val="10000"/>
                </a:schemeClr>
              </a:solidFill>
              <a:effectLst/>
              <a:uLnTx/>
              <a:uFillTx/>
              <a:latin typeface="Roboto" pitchFamily="2" charset="0"/>
              <a:ea typeface="Roboto" pitchFamily="2" charset="0"/>
              <a:cs typeface="Roboto Light"/>
            </a:endParaRPr>
          </a:p>
          <a:p>
            <a:pPr marL="0" marR="0" lvl="0" indent="0" algn="l" defTabSz="412750" rtl="0" eaLnBrk="1" fontAlgn="auto" latinLnBrk="0" hangingPunct="1">
              <a:lnSpc>
                <a:spcPct val="130000"/>
              </a:lnSpc>
              <a:spcBef>
                <a:spcPts val="0"/>
              </a:spcBef>
              <a:spcAft>
                <a:spcPts val="0"/>
              </a:spcAft>
              <a:buClrTx/>
              <a:buSzTx/>
              <a:buFontTx/>
              <a:buNone/>
              <a:tabLst/>
              <a:defRPr sz="1800"/>
            </a:pPr>
            <a:endParaRPr kumimoji="0" lang="en-US" sz="1000" b="0" i="0" u="none" strike="noStrike" kern="0" cap="none" spc="0" normalizeH="0" baseline="0" noProof="0" dirty="0">
              <a:ln>
                <a:noFill/>
              </a:ln>
              <a:solidFill>
                <a:srgbClr val="FFFFFF"/>
              </a:solidFill>
              <a:effectLst/>
              <a:uLnTx/>
              <a:uFillTx/>
              <a:latin typeface="Roboto" pitchFamily="2" charset="0"/>
              <a:ea typeface="Roboto" pitchFamily="2" charset="0"/>
              <a:cs typeface="Roboto Light"/>
            </a:endParaRPr>
          </a:p>
          <a:p>
            <a:pPr marL="0" marR="0" lvl="0" indent="0" algn="l" defTabSz="412750" rtl="0" eaLnBrk="1" fontAlgn="auto" latinLnBrk="0" hangingPunct="1">
              <a:lnSpc>
                <a:spcPct val="130000"/>
              </a:lnSpc>
              <a:spcBef>
                <a:spcPts val="0"/>
              </a:spcBef>
              <a:spcAft>
                <a:spcPts val="0"/>
              </a:spcAft>
              <a:buClrTx/>
              <a:buSzTx/>
              <a:buFontTx/>
              <a:buNone/>
              <a:tabLst/>
              <a:defRPr sz="1800"/>
            </a:pPr>
            <a:endParaRPr kumimoji="0" sz="1000" b="0" i="0" u="none" strike="noStrike" kern="0" cap="none" spc="0" normalizeH="0" baseline="0" noProof="0" dirty="0">
              <a:ln>
                <a:noFill/>
              </a:ln>
              <a:solidFill>
                <a:srgbClr val="FFFFFF"/>
              </a:solidFill>
              <a:effectLst/>
              <a:uLnTx/>
              <a:uFillTx/>
              <a:latin typeface="Roboto" pitchFamily="2" charset="0"/>
              <a:ea typeface="Roboto" pitchFamily="2" charset="0"/>
              <a:cs typeface="Roboto Light"/>
              <a:sym typeface="Roboto Light"/>
            </a:endParaRPr>
          </a:p>
        </p:txBody>
      </p:sp>
      <p:pic>
        <p:nvPicPr>
          <p:cNvPr id="3" name="Graphic 2" descr="Podium">
            <a:extLst>
              <a:ext uri="{FF2B5EF4-FFF2-40B4-BE49-F238E27FC236}">
                <a16:creationId xmlns:a16="http://schemas.microsoft.com/office/drawing/2014/main" id="{A46D1FF2-A920-4617-A347-B8A5D1448E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60418" y="5317433"/>
            <a:ext cx="507169" cy="507169"/>
          </a:xfrm>
          <a:prstGeom prst="rect">
            <a:avLst/>
          </a:prstGeom>
        </p:spPr>
      </p:pic>
      <p:pic>
        <p:nvPicPr>
          <p:cNvPr id="5" name="Graphic 4" descr="Clapping hands">
            <a:extLst>
              <a:ext uri="{FF2B5EF4-FFF2-40B4-BE49-F238E27FC236}">
                <a16:creationId xmlns:a16="http://schemas.microsoft.com/office/drawing/2014/main" id="{CEBB3BA5-608C-40C1-A6B7-04AF59B36C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50741" y="3582235"/>
            <a:ext cx="587642" cy="587642"/>
          </a:xfrm>
          <a:prstGeom prst="rect">
            <a:avLst/>
          </a:prstGeom>
        </p:spPr>
      </p:pic>
      <p:pic>
        <p:nvPicPr>
          <p:cNvPr id="7" name="Graphic 6" descr="Map with pin">
            <a:extLst>
              <a:ext uri="{FF2B5EF4-FFF2-40B4-BE49-F238E27FC236}">
                <a16:creationId xmlns:a16="http://schemas.microsoft.com/office/drawing/2014/main" id="{5270D793-43DB-41A0-A42F-EDB24F2E32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9345" y="6030641"/>
            <a:ext cx="585496" cy="585496"/>
          </a:xfrm>
          <a:prstGeom prst="rect">
            <a:avLst/>
          </a:prstGeom>
        </p:spPr>
      </p:pic>
      <p:pic>
        <p:nvPicPr>
          <p:cNvPr id="9" name="Graphic 8" descr="Ribbon">
            <a:extLst>
              <a:ext uri="{FF2B5EF4-FFF2-40B4-BE49-F238E27FC236}">
                <a16:creationId xmlns:a16="http://schemas.microsoft.com/office/drawing/2014/main" id="{0EC58467-868A-4B6E-BB5A-3DBF9792A8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70452" y="2502858"/>
            <a:ext cx="540299" cy="540299"/>
          </a:xfrm>
          <a:prstGeom prst="rect">
            <a:avLst/>
          </a:prstGeom>
        </p:spPr>
      </p:pic>
      <p:sp>
        <p:nvSpPr>
          <p:cNvPr id="63" name="TextBox 62">
            <a:extLst>
              <a:ext uri="{FF2B5EF4-FFF2-40B4-BE49-F238E27FC236}">
                <a16:creationId xmlns:a16="http://schemas.microsoft.com/office/drawing/2014/main" id="{2FD42DFF-EBD7-431C-90D0-F7F3D532EE3C}"/>
              </a:ext>
            </a:extLst>
          </p:cNvPr>
          <p:cNvSpPr txBox="1"/>
          <p:nvPr/>
        </p:nvSpPr>
        <p:spPr>
          <a:xfrm>
            <a:off x="640094" y="1194061"/>
            <a:ext cx="2676428"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defTabSz="825500" rtl="0" eaLnBrk="1" fontAlgn="auto" latinLnBrk="1" hangingPunct="0">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2">
                    <a:lumMod val="50000"/>
                    <a:lumOff val="50000"/>
                  </a:schemeClr>
                </a:solidFill>
                <a:effectLst/>
                <a:uLnTx/>
                <a:uFillTx/>
                <a:latin typeface="Helvetica Light"/>
              </a:rPr>
              <a:t>Criteria for Success</a:t>
            </a:r>
            <a:endParaRPr kumimoji="0" lang="en-US" b="1" i="0" u="none" strike="noStrike" kern="1200" cap="none" spc="0" normalizeH="0" baseline="0" noProof="0" dirty="0">
              <a:ln>
                <a:noFill/>
              </a:ln>
              <a:solidFill>
                <a:schemeClr val="tx2">
                  <a:lumMod val="50000"/>
                  <a:lumOff val="50000"/>
                </a:schemeClr>
              </a:solidFill>
              <a:effectLst/>
              <a:uLnTx/>
              <a:uFillTx/>
              <a:latin typeface="Helvetica Light"/>
              <a:sym typeface="Helvetica Light"/>
            </a:endParaRPr>
          </a:p>
        </p:txBody>
      </p:sp>
      <p:sp>
        <p:nvSpPr>
          <p:cNvPr id="68" name="Shape 4317">
            <a:extLst>
              <a:ext uri="{FF2B5EF4-FFF2-40B4-BE49-F238E27FC236}">
                <a16:creationId xmlns:a16="http://schemas.microsoft.com/office/drawing/2014/main" id="{9384C4A7-A611-4FA6-8E39-3CFE37A94F81}"/>
              </a:ext>
            </a:extLst>
          </p:cNvPr>
          <p:cNvSpPr/>
          <p:nvPr/>
        </p:nvSpPr>
        <p:spPr>
          <a:xfrm>
            <a:off x="1471206" y="2990188"/>
            <a:ext cx="1828849" cy="10772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l">
              <a:defRPr sz="2000">
                <a:solidFill>
                  <a:srgbClr val="FFFFFF"/>
                </a:solidFill>
                <a:latin typeface="Roboto Medium"/>
                <a:ea typeface="Roboto Medium"/>
                <a:cs typeface="Roboto Medium"/>
                <a:sym typeface="Roboto Medium"/>
              </a:defRPr>
            </a:lvl1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No unified vision for the product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Career pathing partnership is lacking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Leading off of assumption vs facts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FFFFFF"/>
              </a:solidFill>
              <a:effectLst/>
              <a:uLnTx/>
              <a:uFillTx/>
              <a:sym typeface="Roboto Medium"/>
            </a:endParaRPr>
          </a:p>
        </p:txBody>
      </p:sp>
      <p:sp>
        <p:nvSpPr>
          <p:cNvPr id="69" name="Shape 4317">
            <a:extLst>
              <a:ext uri="{FF2B5EF4-FFF2-40B4-BE49-F238E27FC236}">
                <a16:creationId xmlns:a16="http://schemas.microsoft.com/office/drawing/2014/main" id="{DDA73994-08D0-4F10-B30F-23D270D08257}"/>
              </a:ext>
            </a:extLst>
          </p:cNvPr>
          <p:cNvSpPr/>
          <p:nvPr/>
        </p:nvSpPr>
        <p:spPr>
          <a:xfrm>
            <a:off x="1535114" y="4173471"/>
            <a:ext cx="1749333" cy="138499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l">
              <a:defRPr sz="2000">
                <a:solidFill>
                  <a:srgbClr val="FFFFFF"/>
                </a:solidFill>
                <a:latin typeface="Roboto Medium"/>
                <a:ea typeface="Roboto Medium"/>
                <a:cs typeface="Roboto Medium"/>
                <a:sym typeface="Roboto Medium"/>
              </a:defRPr>
            </a:lvl1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sym typeface="Roboto Medium"/>
              </a:rPr>
              <a:t>Open communication and feedback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Each leader has ownership to make the team successful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sym typeface="Roboto Medium"/>
              </a:rPr>
              <a:t>Develop talent</a:t>
            </a:r>
            <a:r>
              <a:rPr kumimoji="0" lang="en-US" sz="1000" b="0" i="0" u="none" strike="noStrike" kern="1200" cap="none" spc="0" normalizeH="0" noProof="0" dirty="0">
                <a:ln>
                  <a:noFill/>
                </a:ln>
                <a:solidFill>
                  <a:srgbClr val="FFFFFF"/>
                </a:solidFill>
                <a:effectLst/>
                <a:uLnTx/>
                <a:uFillTx/>
                <a:sym typeface="Roboto Medium"/>
              </a:rPr>
              <a:t> across the </a:t>
            </a:r>
            <a:r>
              <a:rPr lang="en-US" sz="1000" dirty="0"/>
              <a:t>journey</a:t>
            </a:r>
            <a:endParaRPr kumimoji="0" lang="en-US" sz="1000" b="0" i="0" u="none" strike="noStrike" kern="1200" cap="none" spc="0" normalizeH="0" noProof="0" dirty="0">
              <a:ln>
                <a:noFill/>
              </a:ln>
              <a:solidFill>
                <a:srgbClr val="FFFFFF"/>
              </a:solidFill>
              <a:effectLst/>
              <a:uLnTx/>
              <a:uFillTx/>
              <a:sym typeface="Roboto Medium"/>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We set the  narrative</a:t>
            </a:r>
            <a:endParaRPr kumimoji="0" lang="en-US" sz="1000" b="0" i="0" u="none" strike="noStrike" kern="1200" cap="none" spc="0" normalizeH="0" noProof="0" dirty="0">
              <a:ln>
                <a:noFill/>
              </a:ln>
              <a:solidFill>
                <a:srgbClr val="FFFFFF"/>
              </a:solidFill>
              <a:effectLst/>
              <a:uLnTx/>
              <a:uFillTx/>
              <a:sym typeface="Roboto Medium"/>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FFFFFF"/>
              </a:solidFill>
              <a:effectLst/>
              <a:uLnTx/>
              <a:uFillTx/>
              <a:sym typeface="Roboto Medium"/>
            </a:endParaRPr>
          </a:p>
        </p:txBody>
      </p:sp>
    </p:spTree>
    <p:extLst>
      <p:ext uri="{BB962C8B-B14F-4D97-AF65-F5344CB8AC3E}">
        <p14:creationId xmlns:p14="http://schemas.microsoft.com/office/powerpoint/2010/main" val="371884380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243F1-86E1-4E59-B767-AD631AC1CA49}"/>
              </a:ext>
            </a:extLst>
          </p:cNvPr>
          <p:cNvSpPr>
            <a:spLocks noGrp="1"/>
          </p:cNvSpPr>
          <p:nvPr>
            <p:ph type="title"/>
          </p:nvPr>
        </p:nvSpPr>
        <p:spPr>
          <a:xfrm>
            <a:off x="260628" y="92363"/>
            <a:ext cx="10515600" cy="718087"/>
          </a:xfrm>
        </p:spPr>
        <p:txBody>
          <a:bodyPr>
            <a:normAutofit/>
          </a:bodyPr>
          <a:lstStyle/>
          <a:p>
            <a:r>
              <a:rPr lang="en-US" sz="3200" dirty="0">
                <a:solidFill>
                  <a:srgbClr val="C00000"/>
                </a:solidFill>
              </a:rPr>
              <a:t>Employee Engagement Initiative Roadmap – Back to the basics</a:t>
            </a:r>
          </a:p>
        </p:txBody>
      </p:sp>
      <p:graphicFrame>
        <p:nvGraphicFramePr>
          <p:cNvPr id="4" name="Table 3">
            <a:extLst>
              <a:ext uri="{FF2B5EF4-FFF2-40B4-BE49-F238E27FC236}">
                <a16:creationId xmlns:a16="http://schemas.microsoft.com/office/drawing/2014/main" id="{9E47E3A0-614A-4DBF-8DED-1337C251EDAF}"/>
              </a:ext>
            </a:extLst>
          </p:cNvPr>
          <p:cNvGraphicFramePr>
            <a:graphicFrameLocks noGrp="1"/>
          </p:cNvGraphicFramePr>
          <p:nvPr>
            <p:extLst>
              <p:ext uri="{D42A27DB-BD31-4B8C-83A1-F6EECF244321}">
                <p14:modId xmlns:p14="http://schemas.microsoft.com/office/powerpoint/2010/main" val="3992804225"/>
              </p:ext>
            </p:extLst>
          </p:nvPr>
        </p:nvGraphicFramePr>
        <p:xfrm>
          <a:off x="260628" y="924083"/>
          <a:ext cx="11670743" cy="4684056"/>
        </p:xfrm>
        <a:graphic>
          <a:graphicData uri="http://schemas.openxmlformats.org/drawingml/2006/table">
            <a:tbl>
              <a:tblPr firstRow="1" bandRow="1">
                <a:tableStyleId>{21E4AEA4-8DFA-4A89-87EB-49C32662AFE0}</a:tableStyleId>
              </a:tblPr>
              <a:tblGrid>
                <a:gridCol w="1138517">
                  <a:extLst>
                    <a:ext uri="{9D8B030D-6E8A-4147-A177-3AD203B41FA5}">
                      <a16:colId xmlns:a16="http://schemas.microsoft.com/office/drawing/2014/main" val="998649492"/>
                    </a:ext>
                  </a:extLst>
                </a:gridCol>
                <a:gridCol w="3191436">
                  <a:extLst>
                    <a:ext uri="{9D8B030D-6E8A-4147-A177-3AD203B41FA5}">
                      <a16:colId xmlns:a16="http://schemas.microsoft.com/office/drawing/2014/main" val="4036184288"/>
                    </a:ext>
                  </a:extLst>
                </a:gridCol>
                <a:gridCol w="3254188">
                  <a:extLst>
                    <a:ext uri="{9D8B030D-6E8A-4147-A177-3AD203B41FA5}">
                      <a16:colId xmlns:a16="http://schemas.microsoft.com/office/drawing/2014/main" val="1553521657"/>
                    </a:ext>
                  </a:extLst>
                </a:gridCol>
                <a:gridCol w="813704">
                  <a:extLst>
                    <a:ext uri="{9D8B030D-6E8A-4147-A177-3AD203B41FA5}">
                      <a16:colId xmlns:a16="http://schemas.microsoft.com/office/drawing/2014/main" val="2630780439"/>
                    </a:ext>
                  </a:extLst>
                </a:gridCol>
                <a:gridCol w="1092993">
                  <a:extLst>
                    <a:ext uri="{9D8B030D-6E8A-4147-A177-3AD203B41FA5}">
                      <a16:colId xmlns:a16="http://schemas.microsoft.com/office/drawing/2014/main" val="526947956"/>
                    </a:ext>
                  </a:extLst>
                </a:gridCol>
                <a:gridCol w="1154606">
                  <a:extLst>
                    <a:ext uri="{9D8B030D-6E8A-4147-A177-3AD203B41FA5}">
                      <a16:colId xmlns:a16="http://schemas.microsoft.com/office/drawing/2014/main" val="3484543371"/>
                    </a:ext>
                  </a:extLst>
                </a:gridCol>
                <a:gridCol w="1025299">
                  <a:extLst>
                    <a:ext uri="{9D8B030D-6E8A-4147-A177-3AD203B41FA5}">
                      <a16:colId xmlns:a16="http://schemas.microsoft.com/office/drawing/2014/main" val="3214868883"/>
                    </a:ext>
                  </a:extLst>
                </a:gridCol>
              </a:tblGrid>
              <a:tr h="0">
                <a:tc>
                  <a:txBody>
                    <a:bodyPr/>
                    <a:lstStyle/>
                    <a:p>
                      <a:r>
                        <a:rPr lang="en-US" sz="1800" dirty="0"/>
                        <a:t>Initiative</a:t>
                      </a:r>
                    </a:p>
                  </a:txBody>
                  <a:tcPr/>
                </a:tc>
                <a:tc>
                  <a:txBody>
                    <a:bodyPr/>
                    <a:lstStyle/>
                    <a:p>
                      <a:r>
                        <a:rPr lang="en-US" sz="1800" dirty="0"/>
                        <a:t>As is State</a:t>
                      </a:r>
                    </a:p>
                  </a:txBody>
                  <a:tcPr/>
                </a:tc>
                <a:tc>
                  <a:txBody>
                    <a:bodyPr/>
                    <a:lstStyle/>
                    <a:p>
                      <a:r>
                        <a:rPr lang="en-US" sz="1800" dirty="0"/>
                        <a:t>Impacting Objectives</a:t>
                      </a:r>
                    </a:p>
                  </a:txBody>
                  <a:tcPr/>
                </a:tc>
                <a:tc>
                  <a:txBody>
                    <a:bodyPr/>
                    <a:lstStyle/>
                    <a:p>
                      <a:r>
                        <a:rPr lang="en-US" sz="1400" dirty="0"/>
                        <a:t>Priority</a:t>
                      </a:r>
                    </a:p>
                  </a:txBody>
                  <a:tcPr/>
                </a:tc>
                <a:tc>
                  <a:txBody>
                    <a:bodyPr/>
                    <a:lstStyle/>
                    <a:p>
                      <a:r>
                        <a:rPr lang="en-US" sz="1800" dirty="0"/>
                        <a:t>OKR Impact</a:t>
                      </a:r>
                    </a:p>
                  </a:txBody>
                  <a:tcPr/>
                </a:tc>
                <a:tc>
                  <a:txBody>
                    <a:bodyPr/>
                    <a:lstStyle/>
                    <a:p>
                      <a:r>
                        <a:rPr lang="en-US" sz="1800" dirty="0"/>
                        <a:t>Timeline</a:t>
                      </a:r>
                    </a:p>
                  </a:txBody>
                  <a:tcPr/>
                </a:tc>
                <a:tc>
                  <a:txBody>
                    <a:bodyPr/>
                    <a:lstStyle/>
                    <a:p>
                      <a:r>
                        <a:rPr lang="en-US" sz="1800" dirty="0"/>
                        <a:t>Owners</a:t>
                      </a:r>
                    </a:p>
                  </a:txBody>
                  <a:tcPr/>
                </a:tc>
                <a:extLst>
                  <a:ext uri="{0D108BD9-81ED-4DB2-BD59-A6C34878D82A}">
                    <a16:rowId xmlns:a16="http://schemas.microsoft.com/office/drawing/2014/main" val="2881045638"/>
                  </a:ext>
                </a:extLst>
              </a:tr>
              <a:tr h="875840">
                <a:tc>
                  <a:txBody>
                    <a:bodyPr/>
                    <a:lstStyle/>
                    <a:p>
                      <a:r>
                        <a:rPr lang="en-US" sz="1200" dirty="0"/>
                        <a:t>Creating Culture of Commitment</a:t>
                      </a:r>
                    </a:p>
                    <a:p>
                      <a:r>
                        <a:rPr lang="en-US" sz="1200" dirty="0"/>
                        <a:t>+ &amp; -</a:t>
                      </a:r>
                    </a:p>
                    <a:p>
                      <a:endParaRPr lang="en-US" sz="1200" dirty="0"/>
                    </a:p>
                  </a:txBody>
                  <a:tcPr/>
                </a:tc>
                <a:tc>
                  <a:txBody>
                    <a:bodyPr/>
                    <a:lstStyle/>
                    <a:p>
                      <a:pPr marL="285750" indent="-285750" algn="l">
                        <a:buFont typeface="Arial" panose="020B0604020202020204" pitchFamily="34" charset="0"/>
                        <a:buChar char="•"/>
                      </a:pPr>
                      <a:r>
                        <a:rPr lang="en-US" sz="1050" dirty="0"/>
                        <a:t>Good team chemistry</a:t>
                      </a:r>
                    </a:p>
                    <a:p>
                      <a:pPr marL="285750" indent="-285750" algn="l">
                        <a:buFont typeface="Arial" panose="020B0604020202020204" pitchFamily="34" charset="0"/>
                        <a:buChar char="•"/>
                      </a:pPr>
                      <a:r>
                        <a:rPr lang="en-US" sz="1050" dirty="0"/>
                        <a:t>Lack of urgency from the reps to be on the phone</a:t>
                      </a:r>
                    </a:p>
                    <a:p>
                      <a:pPr marL="285750" indent="-285750" algn="l">
                        <a:buFont typeface="Arial" panose="020B0604020202020204" pitchFamily="34" charset="0"/>
                        <a:buChar char="•"/>
                      </a:pPr>
                      <a:r>
                        <a:rPr lang="en-US" sz="1050" dirty="0"/>
                        <a:t>Lack clear vision and strategy of the roles?</a:t>
                      </a:r>
                    </a:p>
                    <a:p>
                      <a:pPr marL="285750" indent="-285750" algn="l">
                        <a:buFont typeface="Arial" panose="020B0604020202020204" pitchFamily="34" charset="0"/>
                        <a:buChar char="•"/>
                      </a:pPr>
                      <a:r>
                        <a:rPr lang="en-US" sz="1050" dirty="0"/>
                        <a:t>Lack clearly defined goals and objectives?</a:t>
                      </a:r>
                    </a:p>
                    <a:p>
                      <a:pPr marL="285750" indent="-285750" algn="l">
                        <a:buFont typeface="Arial" panose="020B0604020202020204" pitchFamily="34" charset="0"/>
                        <a:buChar char="•"/>
                      </a:pPr>
                      <a:r>
                        <a:rPr lang="en-US" sz="1050" dirty="0"/>
                        <a:t>Lots of competing priorities and initiatives</a:t>
                      </a:r>
                    </a:p>
                    <a:p>
                      <a:pPr marL="285750" indent="-285750" algn="l">
                        <a:buFont typeface="Arial" panose="020B0604020202020204" pitchFamily="34" charset="0"/>
                        <a:buChar char="•"/>
                      </a:pPr>
                      <a:r>
                        <a:rPr lang="en-US" sz="1050" dirty="0"/>
                        <a:t>People get to know the bare minimum to get by – laid back</a:t>
                      </a:r>
                    </a:p>
                    <a:p>
                      <a:pPr marL="285750" indent="-285750" algn="l">
                        <a:buFont typeface="Arial" panose="020B0604020202020204" pitchFamily="34" charset="0"/>
                        <a:buChar char="•"/>
                      </a:pPr>
                      <a:endParaRPr lang="en-US" sz="1050" dirty="0"/>
                    </a:p>
                  </a:txBody>
                  <a:tcPr/>
                </a:tc>
                <a:tc>
                  <a:txBody>
                    <a:bodyPr/>
                    <a:lstStyle/>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Define site brand</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dirty="0">
                          <a:solidFill>
                            <a:schemeClr val="tx2">
                              <a:lumMod val="10000"/>
                            </a:schemeClr>
                          </a:solidFill>
                          <a:latin typeface="+mn-lt"/>
                          <a:ea typeface="Roboto" pitchFamily="2" charset="0"/>
                          <a:cs typeface="Roboto Light"/>
                          <a:sym typeface="Roboto Light"/>
                        </a:rPr>
                        <a:t>Create and educate a clear vision for the site </a:t>
                      </a:r>
                      <a:endPar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endParaRP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Solidify the teams – up and down</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dirty="0">
                          <a:solidFill>
                            <a:schemeClr val="tx2">
                              <a:lumMod val="10000"/>
                            </a:schemeClr>
                          </a:solidFill>
                          <a:latin typeface="+mn-lt"/>
                          <a:ea typeface="Roboto" pitchFamily="2" charset="0"/>
                          <a:cs typeface="Roboto Light"/>
                          <a:sym typeface="Roboto Light"/>
                        </a:rPr>
                        <a:t>Clearly defined site goals and objectives</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dirty="0">
                          <a:solidFill>
                            <a:schemeClr val="tx2">
                              <a:lumMod val="10000"/>
                            </a:schemeClr>
                          </a:solidFill>
                          <a:latin typeface="+mn-lt"/>
                          <a:ea typeface="Roboto" pitchFamily="2" charset="0"/>
                          <a:cs typeface="Roboto Light"/>
                          <a:sym typeface="Roboto Light"/>
                        </a:rPr>
                        <a:t>Change management for transformation project</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dirty="0">
                          <a:solidFill>
                            <a:schemeClr val="tx2">
                              <a:lumMod val="10000"/>
                            </a:schemeClr>
                          </a:solidFill>
                          <a:latin typeface="+mn-lt"/>
                          <a:ea typeface="Roboto" pitchFamily="2" charset="0"/>
                          <a:cs typeface="Roboto Light"/>
                          <a:sym typeface="Roboto Light"/>
                        </a:rPr>
                        <a:t>When you come to me with a problem also provide a solution - mentality</a:t>
                      </a:r>
                    </a:p>
                    <a:p>
                      <a:pPr marL="285750" indent="-285750" algn="l">
                        <a:buFont typeface="Arial" panose="020B0604020202020204" pitchFamily="34" charset="0"/>
                        <a:buChar char="•"/>
                      </a:pPr>
                      <a:endParaRPr lang="en-US" sz="1050" dirty="0"/>
                    </a:p>
                  </a:txBody>
                  <a:tcPr/>
                </a:tc>
                <a:tc>
                  <a:txBody>
                    <a:bodyPr/>
                    <a:lstStyle/>
                    <a:p>
                      <a:pPr algn="ctr"/>
                      <a:endParaRPr lang="en-US" sz="1200" dirty="0"/>
                    </a:p>
                  </a:txBody>
                  <a:tcPr/>
                </a:tc>
                <a:tc>
                  <a:txBody>
                    <a:bodyPr/>
                    <a:lstStyle/>
                    <a:p>
                      <a:pPr algn="ctr"/>
                      <a:endParaRPr lang="en-US" sz="1200" dirty="0"/>
                    </a:p>
                  </a:txBody>
                  <a:tcPr/>
                </a:tc>
                <a:tc>
                  <a:txBody>
                    <a:bodyPr/>
                    <a:lstStyle/>
                    <a:p>
                      <a:pPr marL="285750" indent="-285750" algn="l">
                        <a:buFont typeface="Arial" panose="020B0604020202020204" pitchFamily="34" charset="0"/>
                        <a:buChar char="•"/>
                      </a:pPr>
                      <a:endParaRPr lang="en-US" sz="1200" dirty="0"/>
                    </a:p>
                  </a:txBody>
                  <a:tcPr/>
                </a:tc>
                <a:tc>
                  <a:txBody>
                    <a:bodyPr/>
                    <a:lstStyle/>
                    <a:p>
                      <a:pPr marL="285750" indent="-285750" algn="l">
                        <a:buFont typeface="Arial" panose="020B0604020202020204" pitchFamily="34" charset="0"/>
                        <a:buChar char="•"/>
                      </a:pPr>
                      <a:endParaRPr lang="en-US" sz="1200" dirty="0"/>
                    </a:p>
                  </a:txBody>
                  <a:tcPr/>
                </a:tc>
                <a:extLst>
                  <a:ext uri="{0D108BD9-81ED-4DB2-BD59-A6C34878D82A}">
                    <a16:rowId xmlns:a16="http://schemas.microsoft.com/office/drawing/2014/main" val="1691682946"/>
                  </a:ext>
                </a:extLst>
              </a:tr>
              <a:tr h="1300776">
                <a:tc>
                  <a:txBody>
                    <a:bodyPr/>
                    <a:lstStyle/>
                    <a:p>
                      <a:pPr marL="0" algn="l" defTabSz="914400" rtl="0" eaLnBrk="1" latinLnBrk="0" hangingPunct="1"/>
                      <a:r>
                        <a:rPr lang="en-US" sz="1200" kern="1200" dirty="0">
                          <a:solidFill>
                            <a:schemeClr val="dk1"/>
                          </a:solidFill>
                          <a:latin typeface="+mn-lt"/>
                          <a:ea typeface="+mn-ea"/>
                          <a:cs typeface="+mn-cs"/>
                        </a:rPr>
                        <a:t>Developing talent, to strike the eye of posterity</a:t>
                      </a:r>
                    </a:p>
                  </a:txBody>
                  <a:tcPr/>
                </a:tc>
                <a:tc>
                  <a:txBody>
                    <a:bodyPr/>
                    <a:lstStyle/>
                    <a:p>
                      <a:pPr marL="285750" indent="-285750" algn="l">
                        <a:buFont typeface="Arial" panose="020B0604020202020204" pitchFamily="34" charset="0"/>
                        <a:buChar char="•"/>
                      </a:pPr>
                      <a:r>
                        <a:rPr lang="en-US" sz="1050" dirty="0">
                          <a:solidFill>
                            <a:schemeClr val="dk1"/>
                          </a:solidFill>
                          <a:latin typeface="+mn-lt"/>
                          <a:ea typeface="+mn-ea"/>
                          <a:cs typeface="+mn-cs"/>
                        </a:rPr>
                        <a:t>Training for success</a:t>
                      </a:r>
                    </a:p>
                    <a:p>
                      <a:pPr marL="285750" indent="-285750" algn="l">
                        <a:buFont typeface="Arial" panose="020B0604020202020204" pitchFamily="34" charset="0"/>
                        <a:buChar char="•"/>
                      </a:pPr>
                      <a:r>
                        <a:rPr lang="en-US" sz="1050" dirty="0">
                          <a:solidFill>
                            <a:schemeClr val="dk1"/>
                          </a:solidFill>
                          <a:latin typeface="+mn-lt"/>
                          <a:ea typeface="+mn-ea"/>
                          <a:cs typeface="+mn-cs"/>
                        </a:rPr>
                        <a:t>Recruitment is slow – bring me people</a:t>
                      </a:r>
                    </a:p>
                    <a:p>
                      <a:pPr marL="285750" indent="-285750" algn="l">
                        <a:buFont typeface="Arial" panose="020B0604020202020204" pitchFamily="34" charset="0"/>
                        <a:buChar char="•"/>
                      </a:pPr>
                      <a:r>
                        <a:rPr lang="en-US" sz="1050" dirty="0">
                          <a:solidFill>
                            <a:schemeClr val="dk1"/>
                          </a:solidFill>
                          <a:latin typeface="+mn-lt"/>
                          <a:ea typeface="+mn-ea"/>
                          <a:cs typeface="+mn-cs"/>
                        </a:rPr>
                        <a:t>People want to move after a year- service</a:t>
                      </a:r>
                    </a:p>
                    <a:p>
                      <a:pPr marL="285750" indent="-285750" algn="l">
                        <a:buFont typeface="Arial" panose="020B0604020202020204" pitchFamily="34" charset="0"/>
                        <a:buChar char="•"/>
                      </a:pPr>
                      <a:r>
                        <a:rPr lang="en-US" sz="1050" dirty="0">
                          <a:solidFill>
                            <a:schemeClr val="dk1"/>
                          </a:solidFill>
                          <a:latin typeface="+mn-lt"/>
                          <a:ea typeface="+mn-ea"/>
                          <a:cs typeface="+mn-cs"/>
                        </a:rPr>
                        <a:t>Lack of engagement in role</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Mixture of people who want to master the job and stay and go getters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How do we keep people from more than a year?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Rewarding people for knowledge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Setting role expectations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noProof="0" dirty="0">
                          <a:solidFill>
                            <a:schemeClr val="dk1"/>
                          </a:solidFill>
                          <a:latin typeface="+mn-lt"/>
                          <a:ea typeface="+mn-ea"/>
                          <a:cs typeface="+mn-cs"/>
                          <a:sym typeface="Roboto Light"/>
                        </a:rPr>
                        <a:t>Talent review c</a:t>
                      </a:r>
                      <a:r>
                        <a:rPr lang="en-US" sz="1050" kern="1200" dirty="0">
                          <a:solidFill>
                            <a:schemeClr val="dk1"/>
                          </a:solidFill>
                          <a:latin typeface="+mn-lt"/>
                          <a:ea typeface="+mn-ea"/>
                          <a:cs typeface="+mn-cs"/>
                          <a:sym typeface="Roboto Light"/>
                        </a:rPr>
                        <a:t>Tools and process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noProof="0" dirty="0">
                          <a:solidFill>
                            <a:schemeClr val="dk1"/>
                          </a:solidFill>
                          <a:latin typeface="+mn-lt"/>
                          <a:ea typeface="+mn-ea"/>
                          <a:cs typeface="+mn-cs"/>
                          <a:sym typeface="Roboto Light"/>
                        </a:rPr>
                        <a:t>Career development program</a:t>
                      </a:r>
                    </a:p>
                  </a:txBody>
                  <a:tcPr/>
                </a:tc>
                <a:tc>
                  <a:txBody>
                    <a:bodyPr/>
                    <a:lstStyle/>
                    <a:p>
                      <a:endParaRPr lang="en-US" sz="1200" dirty="0"/>
                    </a:p>
                  </a:txBody>
                  <a:tcPr/>
                </a:tc>
                <a:tc>
                  <a:txBody>
                    <a:bodyPr/>
                    <a:lstStyle/>
                    <a:p>
                      <a:endParaRPr lang="en-US" sz="1200" dirty="0"/>
                    </a:p>
                  </a:txBody>
                  <a:tcPr/>
                </a:tc>
                <a:tc>
                  <a:txBody>
                    <a:bodyPr/>
                    <a:lstStyle/>
                    <a:p>
                      <a:pPr marL="285750" indent="-285750" algn="l">
                        <a:buFont typeface="Arial" panose="020B0604020202020204" pitchFamily="34" charset="0"/>
                        <a:buChar char="•"/>
                      </a:pPr>
                      <a:endParaRPr lang="en-US" sz="1200" dirty="0">
                        <a:solidFill>
                          <a:schemeClr val="dk1"/>
                        </a:solidFill>
                        <a:latin typeface="+mn-lt"/>
                        <a:ea typeface="+mn-ea"/>
                        <a:cs typeface="+mn-cs"/>
                      </a:endParaRPr>
                    </a:p>
                  </a:txBody>
                  <a:tcPr/>
                </a:tc>
                <a:tc>
                  <a:txBody>
                    <a:bodyPr/>
                    <a:lstStyle/>
                    <a:p>
                      <a:pPr marL="285750" indent="-285750" algn="l">
                        <a:buFont typeface="Arial" panose="020B0604020202020204" pitchFamily="34" charset="0"/>
                        <a:buChar char="•"/>
                      </a:pPr>
                      <a:endParaRPr lang="en-US" sz="1200" dirty="0">
                        <a:solidFill>
                          <a:schemeClr val="dk1"/>
                        </a:solidFill>
                        <a:latin typeface="+mn-lt"/>
                        <a:ea typeface="+mn-ea"/>
                        <a:cs typeface="+mn-cs"/>
                      </a:endParaRPr>
                    </a:p>
                  </a:txBody>
                  <a:tcPr/>
                </a:tc>
                <a:extLst>
                  <a:ext uri="{0D108BD9-81ED-4DB2-BD59-A6C34878D82A}">
                    <a16:rowId xmlns:a16="http://schemas.microsoft.com/office/drawing/2014/main" val="3440848943"/>
                  </a:ext>
                </a:extLst>
              </a:tr>
              <a:tr h="609599">
                <a:tc>
                  <a:txBody>
                    <a:bodyPr/>
                    <a:lstStyle/>
                    <a:p>
                      <a:r>
                        <a:rPr lang="en-US" sz="1200" dirty="0"/>
                        <a:t>Communication- the human connection</a:t>
                      </a:r>
                    </a:p>
                    <a:p>
                      <a:endParaRPr lang="en-US" sz="1200" dirty="0"/>
                    </a:p>
                    <a:p>
                      <a:endParaRPr lang="en-US" sz="1200" dirty="0"/>
                    </a:p>
                  </a:txBody>
                  <a:tcPr/>
                </a:tc>
                <a:tc>
                  <a:txBody>
                    <a:bodyPr/>
                    <a:lstStyle/>
                    <a:p>
                      <a:pPr marL="285750" indent="-285750" algn="l">
                        <a:buFont typeface="Arial" panose="020B0604020202020204" pitchFamily="34" charset="0"/>
                        <a:buChar char="•"/>
                      </a:pPr>
                      <a:r>
                        <a:rPr lang="en-US" sz="1050" dirty="0">
                          <a:solidFill>
                            <a:schemeClr val="dk1"/>
                          </a:solidFill>
                          <a:latin typeface="+mn-lt"/>
                          <a:ea typeface="+mn-ea"/>
                          <a:cs typeface="+mn-cs"/>
                        </a:rPr>
                        <a:t>We are all on the same team</a:t>
                      </a:r>
                    </a:p>
                    <a:p>
                      <a:pPr marL="285750" indent="-285750" algn="l">
                        <a:buFont typeface="Arial" panose="020B0604020202020204" pitchFamily="34" charset="0"/>
                        <a:buChar char="•"/>
                      </a:pPr>
                      <a:r>
                        <a:rPr lang="en-US" sz="1050" dirty="0">
                          <a:solidFill>
                            <a:schemeClr val="dk1"/>
                          </a:solidFill>
                          <a:latin typeface="+mn-lt"/>
                          <a:ea typeface="+mn-ea"/>
                          <a:cs typeface="+mn-cs"/>
                        </a:rPr>
                        <a:t>Why are emails so long?</a:t>
                      </a:r>
                    </a:p>
                    <a:p>
                      <a:pPr marL="285750" indent="-285750" algn="l">
                        <a:buFont typeface="Arial" panose="020B0604020202020204" pitchFamily="34" charset="0"/>
                        <a:buChar char="•"/>
                      </a:pPr>
                      <a:r>
                        <a:rPr lang="en-US" sz="1050" dirty="0">
                          <a:solidFill>
                            <a:schemeClr val="dk1"/>
                          </a:solidFill>
                          <a:latin typeface="+mn-lt"/>
                          <a:ea typeface="+mn-ea"/>
                          <a:cs typeface="+mn-cs"/>
                        </a:rPr>
                        <a:t>So many different tools are used for communication</a:t>
                      </a:r>
                    </a:p>
                    <a:p>
                      <a:pPr marL="285750" indent="-285750" algn="l">
                        <a:buFont typeface="Arial" panose="020B0604020202020204" pitchFamily="34" charset="0"/>
                        <a:buChar char="•"/>
                      </a:pPr>
                      <a:r>
                        <a:rPr lang="en-US" sz="1050" dirty="0">
                          <a:solidFill>
                            <a:schemeClr val="dk1"/>
                          </a:solidFill>
                          <a:latin typeface="+mn-lt"/>
                          <a:ea typeface="+mn-ea"/>
                          <a:cs typeface="+mn-cs"/>
                        </a:rPr>
                        <a:t>By the time reps get info it’s not clear or detailed</a:t>
                      </a:r>
                    </a:p>
                  </a:txBody>
                  <a:tcPr/>
                </a:tc>
                <a:tc>
                  <a:txBody>
                    <a:bodyPr/>
                    <a:lstStyle/>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Quarterly site town halls</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dirty="0">
                          <a:solidFill>
                            <a:schemeClr val="tx2">
                              <a:lumMod val="10000"/>
                            </a:schemeClr>
                          </a:solidFill>
                          <a:latin typeface="+mn-lt"/>
                          <a:ea typeface="Roboto" pitchFamily="2" charset="0"/>
                          <a:cs typeface="Roboto Light"/>
                          <a:sym typeface="Roboto Light"/>
                        </a:rPr>
                        <a:t>Motivational moments</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Company</a:t>
                      </a:r>
                      <a:r>
                        <a:rPr kumimoji="0" lang="en-US" sz="1050" b="0" i="0" u="none" strike="noStrike" kern="0" cap="none" spc="0" normalizeH="0" noProof="0" dirty="0">
                          <a:ln>
                            <a:noFill/>
                          </a:ln>
                          <a:solidFill>
                            <a:schemeClr val="tx2">
                              <a:lumMod val="10000"/>
                            </a:schemeClr>
                          </a:solidFill>
                          <a:effectLst/>
                          <a:uLnTx/>
                          <a:uFillTx/>
                          <a:latin typeface="+mn-lt"/>
                          <a:ea typeface="Roboto" pitchFamily="2" charset="0"/>
                          <a:cs typeface="Roboto Light"/>
                          <a:sym typeface="Roboto Light"/>
                        </a:rPr>
                        <a:t> initiatives impact on KC</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lang="en-US" sz="1050" kern="0" baseline="0" dirty="0">
                          <a:solidFill>
                            <a:schemeClr val="tx2">
                              <a:lumMod val="10000"/>
                            </a:schemeClr>
                          </a:solidFill>
                          <a:latin typeface="+mn-lt"/>
                          <a:ea typeface="Roboto" pitchFamily="2" charset="0"/>
                          <a:cs typeface="Roboto Light"/>
                          <a:sym typeface="Roboto Light"/>
                        </a:rPr>
                        <a:t>Site updates – job openings</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noProof="0" dirty="0">
                          <a:ln>
                            <a:noFill/>
                          </a:ln>
                          <a:solidFill>
                            <a:schemeClr val="tx2">
                              <a:lumMod val="10000"/>
                            </a:schemeClr>
                          </a:solidFill>
                          <a:effectLst/>
                          <a:uLnTx/>
                          <a:uFillTx/>
                          <a:latin typeface="+mn-lt"/>
                          <a:ea typeface="Roboto" pitchFamily="2" charset="0"/>
                          <a:cs typeface="Roboto Light"/>
                          <a:sym typeface="Roboto Light"/>
                        </a:rPr>
                        <a:t>Site Newsletter</a:t>
                      </a:r>
                    </a:p>
                    <a:p>
                      <a:pPr marL="171450" marR="0" lvl="0" indent="-171450" algn="l" defTabSz="41275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Email </a:t>
                      </a:r>
                      <a:r>
                        <a:rPr kumimoji="0" lang="en-US" sz="1050" b="0" i="0" u="none" strike="noStrike" kern="0" cap="none" spc="0" normalizeH="0" dirty="0">
                          <a:ln>
                            <a:noFill/>
                          </a:ln>
                          <a:solidFill>
                            <a:schemeClr val="tx2">
                              <a:lumMod val="10000"/>
                            </a:schemeClr>
                          </a:solidFill>
                          <a:effectLst/>
                          <a:uLnTx/>
                          <a:uFillTx/>
                          <a:latin typeface="+mn-lt"/>
                          <a:ea typeface="+mn-ea"/>
                          <a:cs typeface="+mn-cs"/>
                        </a:rPr>
                        <a:t>etiquette</a:t>
                      </a:r>
                      <a:r>
                        <a:rPr kumimoji="0" lang="en-US" sz="1050" b="0" i="0" u="none" strike="noStrike" kern="0" cap="none" spc="0" normalizeH="0" baseline="0" noProof="0" dirty="0">
                          <a:ln>
                            <a:noFill/>
                          </a:ln>
                          <a:solidFill>
                            <a:schemeClr val="tx2">
                              <a:lumMod val="10000"/>
                            </a:schemeClr>
                          </a:solidFill>
                          <a:effectLst/>
                          <a:uLnTx/>
                          <a:uFillTx/>
                          <a:latin typeface="+mn-lt"/>
                          <a:ea typeface="Roboto" pitchFamily="2" charset="0"/>
                          <a:cs typeface="Roboto Light"/>
                          <a:sym typeface="Roboto Light"/>
                        </a:rPr>
                        <a:t> training for support</a:t>
                      </a:r>
                    </a:p>
                    <a:p>
                      <a:pPr marL="285750" indent="-285750" algn="l">
                        <a:buFont typeface="Arial" panose="020B0604020202020204" pitchFamily="34" charset="0"/>
                        <a:buChar char="•"/>
                      </a:pPr>
                      <a:endParaRPr lang="en-US" sz="1050" dirty="0">
                        <a:solidFill>
                          <a:schemeClr val="dk1"/>
                        </a:solidFill>
                        <a:latin typeface="+mn-lt"/>
                        <a:ea typeface="+mn-ea"/>
                        <a:cs typeface="+mn-cs"/>
                      </a:endParaRPr>
                    </a:p>
                  </a:txBody>
                  <a:tcPr/>
                </a:tc>
                <a:tc>
                  <a:txBody>
                    <a:bodyPr/>
                    <a:lstStyle/>
                    <a:p>
                      <a:endParaRPr lang="en-US" sz="1200" dirty="0"/>
                    </a:p>
                  </a:txBody>
                  <a:tcPr/>
                </a:tc>
                <a:tc>
                  <a:txBody>
                    <a:bodyPr/>
                    <a:lstStyle/>
                    <a:p>
                      <a:endParaRPr lang="en-US" sz="1200" dirty="0"/>
                    </a:p>
                  </a:txBody>
                  <a:tcPr/>
                </a:tc>
                <a:tc>
                  <a:txBody>
                    <a:bodyPr/>
                    <a:lstStyle/>
                    <a:p>
                      <a:pPr marL="285750" indent="-285750" algn="l">
                        <a:buFont typeface="Arial" panose="020B0604020202020204" pitchFamily="34" charset="0"/>
                        <a:buChar char="•"/>
                      </a:pPr>
                      <a:endParaRPr lang="en-US" sz="1200" dirty="0">
                        <a:solidFill>
                          <a:schemeClr val="dk1"/>
                        </a:solidFill>
                        <a:latin typeface="+mn-lt"/>
                        <a:ea typeface="+mn-ea"/>
                        <a:cs typeface="+mn-cs"/>
                      </a:endParaRPr>
                    </a:p>
                  </a:txBody>
                  <a:tcPr/>
                </a:tc>
                <a:tc>
                  <a:txBody>
                    <a:bodyPr/>
                    <a:lstStyle/>
                    <a:p>
                      <a:pPr marL="285750" indent="-285750" algn="l">
                        <a:buFont typeface="Arial" panose="020B0604020202020204" pitchFamily="34" charset="0"/>
                        <a:buChar char="•"/>
                      </a:pPr>
                      <a:endParaRPr lang="en-US" sz="1200" dirty="0">
                        <a:solidFill>
                          <a:schemeClr val="dk1"/>
                        </a:solidFill>
                        <a:latin typeface="+mn-lt"/>
                        <a:ea typeface="+mn-ea"/>
                        <a:cs typeface="+mn-cs"/>
                      </a:endParaRPr>
                    </a:p>
                  </a:txBody>
                  <a:tcPr/>
                </a:tc>
                <a:extLst>
                  <a:ext uri="{0D108BD9-81ED-4DB2-BD59-A6C34878D82A}">
                    <a16:rowId xmlns:a16="http://schemas.microsoft.com/office/drawing/2014/main" val="2096325683"/>
                  </a:ext>
                </a:extLst>
              </a:tr>
            </a:tbl>
          </a:graphicData>
        </a:graphic>
      </p:graphicFrame>
      <p:sp>
        <p:nvSpPr>
          <p:cNvPr id="3" name="TextBox 2">
            <a:extLst>
              <a:ext uri="{FF2B5EF4-FFF2-40B4-BE49-F238E27FC236}">
                <a16:creationId xmlns:a16="http://schemas.microsoft.com/office/drawing/2014/main" id="{072C06B2-12A6-CE71-CEAE-00F57E86AE33}"/>
              </a:ext>
            </a:extLst>
          </p:cNvPr>
          <p:cNvSpPr txBox="1"/>
          <p:nvPr/>
        </p:nvSpPr>
        <p:spPr>
          <a:xfrm>
            <a:off x="1208015" y="5821959"/>
            <a:ext cx="5922627" cy="369332"/>
          </a:xfrm>
          <a:prstGeom prst="rect">
            <a:avLst/>
          </a:prstGeom>
          <a:noFill/>
        </p:spPr>
        <p:txBody>
          <a:bodyPr wrap="square" rtlCol="0">
            <a:spAutoFit/>
          </a:bodyPr>
          <a:lstStyle/>
          <a:p>
            <a:r>
              <a:rPr lang="en-US" dirty="0"/>
              <a:t>Measures of Success – Employee Retention &amp; Employee Sat </a:t>
            </a:r>
          </a:p>
        </p:txBody>
      </p:sp>
    </p:spTree>
    <p:extLst>
      <p:ext uri="{BB962C8B-B14F-4D97-AF65-F5344CB8AC3E}">
        <p14:creationId xmlns:p14="http://schemas.microsoft.com/office/powerpoint/2010/main" val="1939848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607F8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B12CEE91-EC26-00AC-E605-80B5CF8DCF14}"/>
              </a:ext>
            </a:extLst>
          </p:cNvPr>
          <p:cNvSpPr>
            <a:spLocks noGrp="1"/>
          </p:cNvSpPr>
          <p:nvPr>
            <p:ph type="title"/>
          </p:nvPr>
        </p:nvSpPr>
        <p:spPr>
          <a:xfrm>
            <a:off x="435869" y="640080"/>
            <a:ext cx="3659246" cy="2862699"/>
          </a:xfrm>
        </p:spPr>
        <p:txBody>
          <a:bodyPr vert="horz" lIns="91440" tIns="45720" rIns="91440" bIns="45720" rtlCol="0" anchor="b">
            <a:normAutofit/>
          </a:bodyPr>
          <a:lstStyle/>
          <a:p>
            <a:r>
              <a:rPr lang="en-US" sz="4400"/>
              <a:t>Predictability – Data Driven Insights</a:t>
            </a:r>
          </a:p>
        </p:txBody>
      </p:sp>
      <p:sp>
        <p:nvSpPr>
          <p:cNvPr id="6" name="Text Placeholder 5">
            <a:extLst>
              <a:ext uri="{FF2B5EF4-FFF2-40B4-BE49-F238E27FC236}">
                <a16:creationId xmlns:a16="http://schemas.microsoft.com/office/drawing/2014/main" id="{C8311CD7-ED87-A6C2-1F74-E5C1520C18BA}"/>
              </a:ext>
            </a:extLst>
          </p:cNvPr>
          <p:cNvSpPr>
            <a:spLocks noGrp="1"/>
          </p:cNvSpPr>
          <p:nvPr>
            <p:ph type="body" sz="half" idx="2"/>
          </p:nvPr>
        </p:nvSpPr>
        <p:spPr>
          <a:xfrm>
            <a:off x="435869" y="3824516"/>
            <a:ext cx="3659246" cy="2393403"/>
          </a:xfrm>
        </p:spPr>
        <p:txBody>
          <a:bodyPr vert="horz" lIns="91440" tIns="45720" rIns="91440" bIns="45720" rtlCol="0">
            <a:normAutofit/>
          </a:bodyPr>
          <a:lstStyle/>
          <a:p>
            <a:pPr>
              <a:lnSpc>
                <a:spcPct val="100000"/>
              </a:lnSpc>
            </a:pPr>
            <a:r>
              <a:rPr lang="en-US" sz="1500" cap="all" spc="200"/>
              <a:t>“Without data you’re just another person with an opinion.” W. Edwards Deming</a:t>
            </a:r>
          </a:p>
        </p:txBody>
      </p:sp>
      <p:cxnSp>
        <p:nvCxnSpPr>
          <p:cNvPr id="19" name="Straight Connector 18">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Content Placeholder 2">
            <a:extLst>
              <a:ext uri="{FF2B5EF4-FFF2-40B4-BE49-F238E27FC236}">
                <a16:creationId xmlns:a16="http://schemas.microsoft.com/office/drawing/2014/main" id="{68FDC83A-AF74-4851-AAE5-A04BC590A700}"/>
              </a:ext>
            </a:extLst>
          </p:cNvPr>
          <p:cNvPicPr>
            <a:picLocks noGrp="1" noChangeAspect="1"/>
          </p:cNvPicPr>
          <p:nvPr>
            <p:ph idx="1"/>
          </p:nvPr>
        </p:nvPicPr>
        <p:blipFill>
          <a:blip r:embed="rId2"/>
          <a:stretch>
            <a:fillRect/>
          </a:stretch>
        </p:blipFill>
        <p:spPr>
          <a:xfrm>
            <a:off x="5282335" y="1711036"/>
            <a:ext cx="6275667" cy="3435927"/>
          </a:xfrm>
          <a:prstGeom prst="rect">
            <a:avLst/>
          </a:prstGeom>
        </p:spPr>
      </p:pic>
    </p:spTree>
    <p:extLst>
      <p:ext uri="{BB962C8B-B14F-4D97-AF65-F5344CB8AC3E}">
        <p14:creationId xmlns:p14="http://schemas.microsoft.com/office/powerpoint/2010/main" val="1204300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0C10F-EA46-4660-84BF-1F5A65C87EB2}"/>
              </a:ext>
            </a:extLst>
          </p:cNvPr>
          <p:cNvSpPr>
            <a:spLocks noGrp="1"/>
          </p:cNvSpPr>
          <p:nvPr>
            <p:ph type="title" idx="4294967295"/>
          </p:nvPr>
        </p:nvSpPr>
        <p:spPr>
          <a:xfrm>
            <a:off x="1588" y="136525"/>
            <a:ext cx="12190412" cy="701675"/>
          </a:xfrm>
        </p:spPr>
        <p:txBody>
          <a:bodyPr>
            <a:noAutofit/>
          </a:bodyPr>
          <a:lstStyle/>
          <a:p>
            <a:pPr fontAlgn="base">
              <a:lnSpc>
                <a:spcPct val="100000"/>
              </a:lnSpc>
              <a:spcBef>
                <a:spcPts val="0"/>
              </a:spcBef>
              <a:spcAft>
                <a:spcPct val="0"/>
              </a:spcAft>
              <a:buClr>
                <a:srgbClr val="00A8E1"/>
              </a:buClr>
              <a:buSzPct val="110000"/>
              <a:defRPr/>
            </a:pPr>
            <a:r>
              <a:rPr lang="en-US" sz="4100" dirty="0">
                <a:solidFill>
                  <a:srgbClr val="C00000"/>
                </a:solidFill>
              </a:rPr>
              <a:t>Data-driven Retention Program </a:t>
            </a:r>
          </a:p>
        </p:txBody>
      </p:sp>
      <p:sp>
        <p:nvSpPr>
          <p:cNvPr id="4" name="Text Placeholder 3">
            <a:extLst>
              <a:ext uri="{FF2B5EF4-FFF2-40B4-BE49-F238E27FC236}">
                <a16:creationId xmlns:a16="http://schemas.microsoft.com/office/drawing/2014/main" id="{731729E0-D641-47A8-AC82-CEC8C5DDB993}"/>
              </a:ext>
            </a:extLst>
          </p:cNvPr>
          <p:cNvSpPr>
            <a:spLocks noGrp="1"/>
          </p:cNvSpPr>
          <p:nvPr>
            <p:ph type="body" sz="quarter" idx="4294967295"/>
          </p:nvPr>
        </p:nvSpPr>
        <p:spPr>
          <a:xfrm>
            <a:off x="6870225" y="117248"/>
            <a:ext cx="6184900" cy="457200"/>
          </a:xfrm>
        </p:spPr>
        <p:txBody>
          <a:bodyPr>
            <a:noAutofit/>
          </a:bodyPr>
          <a:lstStyle/>
          <a:p>
            <a:r>
              <a:rPr lang="en-US" sz="2800" b="0" dirty="0">
                <a:latin typeface="+mj-lt"/>
              </a:rPr>
              <a:t>“Moneyball” VOC strategies</a:t>
            </a:r>
          </a:p>
        </p:txBody>
      </p:sp>
      <p:grpSp>
        <p:nvGrpSpPr>
          <p:cNvPr id="19" name="Group 18">
            <a:extLst>
              <a:ext uri="{FF2B5EF4-FFF2-40B4-BE49-F238E27FC236}">
                <a16:creationId xmlns:a16="http://schemas.microsoft.com/office/drawing/2014/main" id="{B814D6FB-BF4B-40CD-996F-D00A16CBE7F6}"/>
              </a:ext>
            </a:extLst>
          </p:cNvPr>
          <p:cNvGrpSpPr/>
          <p:nvPr/>
        </p:nvGrpSpPr>
        <p:grpSpPr>
          <a:xfrm>
            <a:off x="399835" y="4319757"/>
            <a:ext cx="11060311" cy="775985"/>
            <a:chOff x="315161" y="1414298"/>
            <a:chExt cx="11060311" cy="775985"/>
          </a:xfrm>
        </p:grpSpPr>
        <p:grpSp>
          <p:nvGrpSpPr>
            <p:cNvPr id="10" name="Group 9">
              <a:extLst>
                <a:ext uri="{FF2B5EF4-FFF2-40B4-BE49-F238E27FC236}">
                  <a16:creationId xmlns:a16="http://schemas.microsoft.com/office/drawing/2014/main" id="{7D161C6E-F88C-4E6F-BCE6-6981C30D9B58}"/>
                </a:ext>
              </a:extLst>
            </p:cNvPr>
            <p:cNvGrpSpPr/>
            <p:nvPr/>
          </p:nvGrpSpPr>
          <p:grpSpPr>
            <a:xfrm>
              <a:off x="315161" y="1414298"/>
              <a:ext cx="9738331" cy="775985"/>
              <a:chOff x="772995" y="1439227"/>
              <a:chExt cx="9738331" cy="775985"/>
            </a:xfrm>
          </p:grpSpPr>
          <p:sp>
            <p:nvSpPr>
              <p:cNvPr id="83" name="Rectangle 82">
                <a:extLst>
                  <a:ext uri="{FF2B5EF4-FFF2-40B4-BE49-F238E27FC236}">
                    <a16:creationId xmlns:a16="http://schemas.microsoft.com/office/drawing/2014/main" id="{E5DF83D0-9943-4834-BD1A-21CC352767E3}"/>
                  </a:ext>
                </a:extLst>
              </p:cNvPr>
              <p:cNvSpPr/>
              <p:nvPr/>
            </p:nvSpPr>
            <p:spPr>
              <a:xfrm rot="5400000">
                <a:off x="5958889" y="-2357577"/>
                <a:ext cx="755631" cy="8349242"/>
              </a:xfrm>
              <a:prstGeom prst="rect">
                <a:avLst/>
              </a:prstGeom>
              <a:gradFill>
                <a:gsLst>
                  <a:gs pos="30000">
                    <a:schemeClr val="bg1">
                      <a:alpha val="59000"/>
                    </a:schemeClr>
                  </a:gs>
                  <a:gs pos="100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FDA4DFF5-F950-4018-9AB3-EE1B590C042A}"/>
                  </a:ext>
                </a:extLst>
              </p:cNvPr>
              <p:cNvGrpSpPr/>
              <p:nvPr/>
            </p:nvGrpSpPr>
            <p:grpSpPr>
              <a:xfrm>
                <a:off x="772995" y="1439227"/>
                <a:ext cx="1832948" cy="775985"/>
                <a:chOff x="772995" y="1440658"/>
                <a:chExt cx="1832948" cy="775985"/>
              </a:xfrm>
            </p:grpSpPr>
            <p:sp>
              <p:nvSpPr>
                <p:cNvPr id="7" name="Rectangle: Diagonal Corners Snipped 6">
                  <a:extLst>
                    <a:ext uri="{FF2B5EF4-FFF2-40B4-BE49-F238E27FC236}">
                      <a16:creationId xmlns:a16="http://schemas.microsoft.com/office/drawing/2014/main" id="{26A8A6DE-2536-4AE7-A628-591238B0040B}"/>
                    </a:ext>
                  </a:extLst>
                </p:cNvPr>
                <p:cNvSpPr/>
                <p:nvPr/>
              </p:nvSpPr>
              <p:spPr>
                <a:xfrm>
                  <a:off x="2058455" y="1977647"/>
                  <a:ext cx="544198" cy="238996"/>
                </a:xfrm>
                <a:prstGeom prst="snip2DiagRect">
                  <a:avLst>
                    <a:gd name="adj1" fmla="val 50000"/>
                    <a:gd name="adj2" fmla="val 16667"/>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Rectangle: Top Corners Rounded 1">
                  <a:extLst>
                    <a:ext uri="{FF2B5EF4-FFF2-40B4-BE49-F238E27FC236}">
                      <a16:creationId xmlns:a16="http://schemas.microsoft.com/office/drawing/2014/main" id="{9FF1D767-9445-4EA6-9F6B-CA5CB81BD659}"/>
                    </a:ext>
                  </a:extLst>
                </p:cNvPr>
                <p:cNvSpPr/>
                <p:nvPr/>
              </p:nvSpPr>
              <p:spPr>
                <a:xfrm rot="16200000">
                  <a:off x="1367212" y="846441"/>
                  <a:ext cx="644513" cy="1832948"/>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58" name="Group 57">
              <a:extLst>
                <a:ext uri="{FF2B5EF4-FFF2-40B4-BE49-F238E27FC236}">
                  <a16:creationId xmlns:a16="http://schemas.microsoft.com/office/drawing/2014/main" id="{BBFC0248-FAD4-47D2-BC2D-E302948FF835}"/>
                </a:ext>
              </a:extLst>
            </p:cNvPr>
            <p:cNvGrpSpPr>
              <a:grpSpLocks noChangeAspect="1"/>
            </p:cNvGrpSpPr>
            <p:nvPr/>
          </p:nvGrpSpPr>
          <p:grpSpPr>
            <a:xfrm>
              <a:off x="1014034" y="1479806"/>
              <a:ext cx="942607" cy="548397"/>
              <a:chOff x="3909034" y="3582709"/>
              <a:chExt cx="541123" cy="314817"/>
            </a:xfrm>
            <a:solidFill>
              <a:schemeClr val="bg1"/>
            </a:solidFill>
          </p:grpSpPr>
          <p:sp>
            <p:nvSpPr>
              <p:cNvPr id="59" name="Free Form 318">
                <a:extLst>
                  <a:ext uri="{FF2B5EF4-FFF2-40B4-BE49-F238E27FC236}">
                    <a16:creationId xmlns:a16="http://schemas.microsoft.com/office/drawing/2014/main" id="{C5956D7D-AD80-4EC1-BF22-FEB947E05D98}"/>
                  </a:ext>
                </a:extLst>
              </p:cNvPr>
              <p:cNvSpPr>
                <a:spLocks noChangeAspect="1"/>
              </p:cNvSpPr>
              <p:nvPr/>
            </p:nvSpPr>
            <p:spPr>
              <a:xfrm>
                <a:off x="4215545" y="3628724"/>
                <a:ext cx="234612" cy="263888"/>
              </a:xfrm>
              <a:custGeom>
                <a:avLst/>
                <a:gdLst/>
                <a:ahLst/>
                <a:cxnLst/>
                <a:rect l="0" t="0" r="0" b="0"/>
                <a:pathLst>
                  <a:path w="234612" h="263888">
                    <a:moveTo>
                      <a:pt x="228333" y="180472"/>
                    </a:moveTo>
                    <a:cubicBezTo>
                      <a:pt x="222283" y="169339"/>
                      <a:pt x="213687" y="164416"/>
                      <a:pt x="199971" y="161635"/>
                    </a:cubicBezTo>
                    <a:cubicBezTo>
                      <a:pt x="186209" y="158831"/>
                      <a:pt x="168051" y="153863"/>
                      <a:pt x="162267" y="152384"/>
                    </a:cubicBezTo>
                    <a:lnTo>
                      <a:pt x="162267" y="143400"/>
                    </a:lnTo>
                    <a:cubicBezTo>
                      <a:pt x="166992" y="133494"/>
                      <a:pt x="169407" y="124000"/>
                      <a:pt x="169407" y="124000"/>
                    </a:cubicBezTo>
                    <a:cubicBezTo>
                      <a:pt x="176753" y="119557"/>
                      <a:pt x="179062" y="110314"/>
                      <a:pt x="180761" y="101079"/>
                    </a:cubicBezTo>
                    <a:cubicBezTo>
                      <a:pt x="181744" y="95699"/>
                      <a:pt x="181957" y="80406"/>
                      <a:pt x="175747" y="72519"/>
                    </a:cubicBezTo>
                    <a:cubicBezTo>
                      <a:pt x="175877" y="70134"/>
                      <a:pt x="176052" y="66050"/>
                      <a:pt x="176227" y="63063"/>
                    </a:cubicBezTo>
                    <a:cubicBezTo>
                      <a:pt x="176570" y="52852"/>
                      <a:pt x="175633" y="34114"/>
                      <a:pt x="171030" y="24300"/>
                    </a:cubicBezTo>
                    <a:cubicBezTo>
                      <a:pt x="169834" y="22799"/>
                      <a:pt x="168927" y="20261"/>
                      <a:pt x="164835" y="20261"/>
                    </a:cubicBezTo>
                    <a:cubicBezTo>
                      <a:pt x="156133" y="20261"/>
                      <a:pt x="159478" y="14363"/>
                      <a:pt x="154038" y="12001"/>
                    </a:cubicBezTo>
                    <a:cubicBezTo>
                      <a:pt x="151218" y="10782"/>
                      <a:pt x="147439" y="11384"/>
                      <a:pt x="145572" y="12207"/>
                    </a:cubicBezTo>
                    <a:cubicBezTo>
                      <a:pt x="142440" y="13091"/>
                      <a:pt x="138889" y="4107"/>
                      <a:pt x="135255" y="2910"/>
                    </a:cubicBezTo>
                    <a:cubicBezTo>
                      <a:pt x="131627" y="1699"/>
                      <a:pt x="129631" y="4206"/>
                      <a:pt x="125280" y="5105"/>
                    </a:cubicBezTo>
                    <a:cubicBezTo>
                      <a:pt x="122057" y="5783"/>
                      <a:pt x="118483" y="5242"/>
                      <a:pt x="116845" y="4587"/>
                    </a:cubicBezTo>
                    <a:cubicBezTo>
                      <a:pt x="115115" y="3832"/>
                      <a:pt x="113675" y="3162"/>
                      <a:pt x="112577" y="2758"/>
                    </a:cubicBezTo>
                    <a:cubicBezTo>
                      <a:pt x="105247" y="0"/>
                      <a:pt x="104813" y="3375"/>
                      <a:pt x="97421" y="7200"/>
                    </a:cubicBezTo>
                    <a:cubicBezTo>
                      <a:pt x="92156" y="9921"/>
                      <a:pt x="91432" y="10187"/>
                      <a:pt x="87256" y="8374"/>
                    </a:cubicBezTo>
                    <a:cubicBezTo>
                      <a:pt x="84460" y="7162"/>
                      <a:pt x="82364" y="8755"/>
                      <a:pt x="81099" y="10507"/>
                    </a:cubicBezTo>
                    <a:cubicBezTo>
                      <a:pt x="80611" y="11231"/>
                      <a:pt x="80086" y="12420"/>
                      <a:pt x="79773" y="13159"/>
                    </a:cubicBezTo>
                    <a:cubicBezTo>
                      <a:pt x="79720" y="13319"/>
                      <a:pt x="79636" y="13540"/>
                      <a:pt x="79514" y="13792"/>
                    </a:cubicBezTo>
                    <a:lnTo>
                      <a:pt x="79507" y="13799"/>
                    </a:lnTo>
                    <a:cubicBezTo>
                      <a:pt x="78775" y="15300"/>
                      <a:pt x="76702" y="17990"/>
                      <a:pt x="71742" y="17000"/>
                    </a:cubicBezTo>
                    <a:cubicBezTo>
                      <a:pt x="68595" y="16367"/>
                      <a:pt x="65272" y="23827"/>
                      <a:pt x="64000" y="25115"/>
                    </a:cubicBezTo>
                    <a:cubicBezTo>
                      <a:pt x="61135" y="29268"/>
                      <a:pt x="60228" y="37208"/>
                      <a:pt x="58971" y="42656"/>
                    </a:cubicBezTo>
                    <a:lnTo>
                      <a:pt x="58925" y="42892"/>
                    </a:lnTo>
                    <a:lnTo>
                      <a:pt x="58879" y="43129"/>
                    </a:lnTo>
                    <a:cubicBezTo>
                      <a:pt x="56860" y="55885"/>
                      <a:pt x="55808" y="63893"/>
                      <a:pt x="56403" y="74020"/>
                    </a:cubicBezTo>
                    <a:cubicBezTo>
                      <a:pt x="51061" y="80733"/>
                      <a:pt x="51488" y="92788"/>
                      <a:pt x="52798" y="100111"/>
                    </a:cubicBezTo>
                    <a:lnTo>
                      <a:pt x="53096" y="101803"/>
                    </a:lnTo>
                    <a:cubicBezTo>
                      <a:pt x="54955" y="112379"/>
                      <a:pt x="56342" y="120319"/>
                      <a:pt x="64335" y="124579"/>
                    </a:cubicBezTo>
                    <a:cubicBezTo>
                      <a:pt x="67680" y="133807"/>
                      <a:pt x="72900" y="143461"/>
                      <a:pt x="73052" y="143766"/>
                    </a:cubicBezTo>
                    <a:cubicBezTo>
                      <a:pt x="73113" y="144086"/>
                      <a:pt x="73167" y="144414"/>
                      <a:pt x="73212" y="144757"/>
                    </a:cubicBezTo>
                    <a:lnTo>
                      <a:pt x="73212" y="152994"/>
                    </a:lnTo>
                    <a:cubicBezTo>
                      <a:pt x="66995" y="155196"/>
                      <a:pt x="54132" y="157436"/>
                      <a:pt x="40302" y="160987"/>
                    </a:cubicBezTo>
                    <a:cubicBezTo>
                      <a:pt x="22783" y="165491"/>
                      <a:pt x="13540" y="166108"/>
                      <a:pt x="5128" y="180967"/>
                    </a:cubicBezTo>
                    <a:cubicBezTo>
                      <a:pt x="0" y="190042"/>
                      <a:pt x="1341" y="208589"/>
                      <a:pt x="9906" y="247131"/>
                    </a:cubicBezTo>
                    <a:cubicBezTo>
                      <a:pt x="10180" y="248373"/>
                      <a:pt x="10416" y="249448"/>
                      <a:pt x="10607" y="250317"/>
                    </a:cubicBezTo>
                    <a:lnTo>
                      <a:pt x="10637" y="250469"/>
                    </a:lnTo>
                    <a:lnTo>
                      <a:pt x="10683" y="250629"/>
                    </a:lnTo>
                    <a:cubicBezTo>
                      <a:pt x="12733" y="258683"/>
                      <a:pt x="19431" y="263888"/>
                      <a:pt x="27736" y="263888"/>
                    </a:cubicBezTo>
                    <a:lnTo>
                      <a:pt x="204017" y="263888"/>
                    </a:lnTo>
                    <a:cubicBezTo>
                      <a:pt x="214594" y="263888"/>
                      <a:pt x="220019" y="255475"/>
                      <a:pt x="221559" y="250492"/>
                    </a:cubicBezTo>
                    <a:lnTo>
                      <a:pt x="221673" y="250118"/>
                    </a:lnTo>
                    <a:lnTo>
                      <a:pt x="221764" y="249730"/>
                    </a:lnTo>
                    <a:cubicBezTo>
                      <a:pt x="222183" y="247733"/>
                      <a:pt x="222816" y="245059"/>
                      <a:pt x="223547" y="241973"/>
                    </a:cubicBezTo>
                    <a:cubicBezTo>
                      <a:pt x="229651" y="216148"/>
                      <a:pt x="234612" y="192024"/>
                      <a:pt x="228333" y="180472"/>
                    </a:cubicBezTo>
                    <a:close/>
                    <a:moveTo>
                      <a:pt x="75140" y="161239"/>
                    </a:moveTo>
                    <a:lnTo>
                      <a:pt x="78333" y="159981"/>
                    </a:lnTo>
                    <a:lnTo>
                      <a:pt x="113728" y="182278"/>
                    </a:lnTo>
                    <a:lnTo>
                      <a:pt x="92102" y="204566"/>
                    </a:lnTo>
                    <a:close/>
                    <a:moveTo>
                      <a:pt x="70561" y="117873"/>
                    </a:moveTo>
                    <a:lnTo>
                      <a:pt x="68511" y="116776"/>
                    </a:lnTo>
                    <a:cubicBezTo>
                      <a:pt x="66934" y="115938"/>
                      <a:pt x="65844" y="114795"/>
                      <a:pt x="64968" y="113004"/>
                    </a:cubicBezTo>
                    <a:cubicBezTo>
                      <a:pt x="63657" y="110375"/>
                      <a:pt x="62895" y="106436"/>
                      <a:pt x="61821" y="100271"/>
                    </a:cubicBezTo>
                    <a:cubicBezTo>
                      <a:pt x="61805" y="100203"/>
                      <a:pt x="61798" y="100126"/>
                      <a:pt x="61782" y="100050"/>
                    </a:cubicBezTo>
                    <a:lnTo>
                      <a:pt x="61516" y="98557"/>
                    </a:lnTo>
                    <a:cubicBezTo>
                      <a:pt x="61447" y="98153"/>
                      <a:pt x="61371" y="97734"/>
                      <a:pt x="61295" y="97315"/>
                    </a:cubicBezTo>
                    <a:cubicBezTo>
                      <a:pt x="60449" y="92544"/>
                      <a:pt x="59809" y="88201"/>
                      <a:pt x="60754" y="84879"/>
                    </a:cubicBezTo>
                    <a:cubicBezTo>
                      <a:pt x="61028" y="83804"/>
                      <a:pt x="61440" y="82844"/>
                      <a:pt x="62064" y="82075"/>
                    </a:cubicBezTo>
                    <a:lnTo>
                      <a:pt x="64244" y="79331"/>
                    </a:lnTo>
                    <a:cubicBezTo>
                      <a:pt x="64587" y="80032"/>
                      <a:pt x="66027" y="82745"/>
                      <a:pt x="68229" y="84513"/>
                    </a:cubicBezTo>
                    <a:lnTo>
                      <a:pt x="69822" y="84940"/>
                    </a:lnTo>
                    <a:lnTo>
                      <a:pt x="73624" y="85389"/>
                    </a:lnTo>
                    <a:cubicBezTo>
                      <a:pt x="74584" y="83591"/>
                      <a:pt x="75262" y="78927"/>
                      <a:pt x="75262" y="74005"/>
                    </a:cubicBezTo>
                    <a:cubicBezTo>
                      <a:pt x="75262" y="70332"/>
                      <a:pt x="75338" y="67040"/>
                      <a:pt x="74752" y="64861"/>
                    </a:cubicBezTo>
                    <a:lnTo>
                      <a:pt x="74828" y="63002"/>
                    </a:lnTo>
                    <a:cubicBezTo>
                      <a:pt x="75879" y="61005"/>
                      <a:pt x="76169" y="55557"/>
                      <a:pt x="76169" y="49141"/>
                    </a:cubicBezTo>
                    <a:cubicBezTo>
                      <a:pt x="76169" y="45300"/>
                      <a:pt x="75902" y="41810"/>
                      <a:pt x="75460" y="39189"/>
                    </a:cubicBezTo>
                    <a:lnTo>
                      <a:pt x="75476" y="38854"/>
                    </a:lnTo>
                    <a:cubicBezTo>
                      <a:pt x="118757" y="48006"/>
                      <a:pt x="154769" y="39799"/>
                      <a:pt x="158358" y="38930"/>
                    </a:cubicBezTo>
                    <a:cubicBezTo>
                      <a:pt x="157894" y="41567"/>
                      <a:pt x="157612" y="45163"/>
                      <a:pt x="157612" y="49141"/>
                    </a:cubicBezTo>
                    <a:cubicBezTo>
                      <a:pt x="157612" y="54582"/>
                      <a:pt x="157467" y="59329"/>
                      <a:pt x="158267" y="61859"/>
                    </a:cubicBezTo>
                    <a:cubicBezTo>
                      <a:pt x="158267" y="61859"/>
                      <a:pt x="156697" y="68077"/>
                      <a:pt x="156697" y="74005"/>
                    </a:cubicBezTo>
                    <a:cubicBezTo>
                      <a:pt x="156697" y="78920"/>
                      <a:pt x="157368" y="83583"/>
                      <a:pt x="158320" y="85389"/>
                    </a:cubicBezTo>
                    <a:lnTo>
                      <a:pt x="162565" y="84940"/>
                    </a:lnTo>
                    <a:lnTo>
                      <a:pt x="164546" y="84513"/>
                    </a:lnTo>
                    <a:cubicBezTo>
                      <a:pt x="167098" y="82463"/>
                      <a:pt x="168622" y="79164"/>
                      <a:pt x="168622" y="79164"/>
                    </a:cubicBezTo>
                    <a:lnTo>
                      <a:pt x="170680" y="81785"/>
                    </a:lnTo>
                    <a:cubicBezTo>
                      <a:pt x="170779" y="81892"/>
                      <a:pt x="170848" y="82029"/>
                      <a:pt x="170939" y="82151"/>
                    </a:cubicBezTo>
                    <a:cubicBezTo>
                      <a:pt x="170992" y="82235"/>
                      <a:pt x="171053" y="82318"/>
                      <a:pt x="171107" y="82402"/>
                    </a:cubicBezTo>
                    <a:cubicBezTo>
                      <a:pt x="171244" y="82600"/>
                      <a:pt x="171366" y="82814"/>
                      <a:pt x="171488" y="83035"/>
                    </a:cubicBezTo>
                    <a:cubicBezTo>
                      <a:pt x="171571" y="83187"/>
                      <a:pt x="171648" y="83355"/>
                      <a:pt x="171731" y="83507"/>
                    </a:cubicBezTo>
                    <a:cubicBezTo>
                      <a:pt x="171792" y="83652"/>
                      <a:pt x="171869" y="83789"/>
                      <a:pt x="171930" y="83934"/>
                    </a:cubicBezTo>
                    <a:cubicBezTo>
                      <a:pt x="172044" y="84193"/>
                      <a:pt x="172143" y="84475"/>
                      <a:pt x="172242" y="84749"/>
                    </a:cubicBezTo>
                    <a:cubicBezTo>
                      <a:pt x="172257" y="84795"/>
                      <a:pt x="172272" y="84841"/>
                      <a:pt x="172280" y="84879"/>
                    </a:cubicBezTo>
                    <a:cubicBezTo>
                      <a:pt x="172737" y="86273"/>
                      <a:pt x="172974" y="87812"/>
                      <a:pt x="173034" y="89474"/>
                    </a:cubicBezTo>
                    <a:cubicBezTo>
                      <a:pt x="173050" y="89679"/>
                      <a:pt x="173050" y="89877"/>
                      <a:pt x="173050" y="90083"/>
                    </a:cubicBezTo>
                    <a:cubicBezTo>
                      <a:pt x="173050" y="90243"/>
                      <a:pt x="173057" y="90418"/>
                      <a:pt x="173057" y="90586"/>
                    </a:cubicBezTo>
                    <a:cubicBezTo>
                      <a:pt x="173057" y="93969"/>
                      <a:pt x="172440" y="97330"/>
                      <a:pt x="172051" y="99486"/>
                    </a:cubicBezTo>
                    <a:cubicBezTo>
                      <a:pt x="171975" y="99913"/>
                      <a:pt x="171899" y="100309"/>
                      <a:pt x="171815" y="100721"/>
                    </a:cubicBezTo>
                    <a:cubicBezTo>
                      <a:pt x="170307" y="108562"/>
                      <a:pt x="168478" y="114216"/>
                      <a:pt x="164812" y="116433"/>
                    </a:cubicBezTo>
                    <a:lnTo>
                      <a:pt x="162709" y="117713"/>
                    </a:lnTo>
                    <a:cubicBezTo>
                      <a:pt x="162709" y="117713"/>
                      <a:pt x="159593" y="132176"/>
                      <a:pt x="153398" y="143073"/>
                    </a:cubicBezTo>
                    <a:lnTo>
                      <a:pt x="153398" y="157954"/>
                    </a:lnTo>
                    <a:lnTo>
                      <a:pt x="118658" y="179839"/>
                    </a:lnTo>
                    <a:cubicBezTo>
                      <a:pt x="118544" y="179847"/>
                      <a:pt x="118430" y="179847"/>
                      <a:pt x="118315" y="179847"/>
                    </a:cubicBezTo>
                    <a:lnTo>
                      <a:pt x="118384" y="179740"/>
                    </a:lnTo>
                    <a:lnTo>
                      <a:pt x="82196" y="156949"/>
                    </a:lnTo>
                    <a:lnTo>
                      <a:pt x="82196" y="142935"/>
                    </a:lnTo>
                    <a:cubicBezTo>
                      <a:pt x="73929" y="131620"/>
                      <a:pt x="70561" y="117873"/>
                      <a:pt x="70561" y="117873"/>
                    </a:cubicBezTo>
                    <a:close/>
                    <a:moveTo>
                      <a:pt x="143537" y="204566"/>
                    </a:moveTo>
                    <a:lnTo>
                      <a:pt x="122506" y="182887"/>
                    </a:lnTo>
                    <a:lnTo>
                      <a:pt x="158267" y="160355"/>
                    </a:lnTo>
                    <a:lnTo>
                      <a:pt x="160507" y="161239"/>
                    </a:ln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0" name="Free Form 319">
                <a:extLst>
                  <a:ext uri="{FF2B5EF4-FFF2-40B4-BE49-F238E27FC236}">
                    <a16:creationId xmlns:a16="http://schemas.microsoft.com/office/drawing/2014/main" id="{3C50BF69-51E2-4C5A-84C6-B5918530314E}"/>
                  </a:ext>
                </a:extLst>
              </p:cNvPr>
              <p:cNvSpPr>
                <a:spLocks noChangeAspect="1"/>
              </p:cNvSpPr>
              <p:nvPr/>
            </p:nvSpPr>
            <p:spPr>
              <a:xfrm>
                <a:off x="4092655" y="3678796"/>
                <a:ext cx="124381" cy="160599"/>
              </a:xfrm>
              <a:custGeom>
                <a:avLst/>
                <a:gdLst/>
                <a:ahLst/>
                <a:cxnLst/>
                <a:rect l="0" t="0" r="0" b="0"/>
                <a:pathLst>
                  <a:path w="124381" h="160599">
                    <a:moveTo>
                      <a:pt x="5204" y="109499"/>
                    </a:moveTo>
                    <a:cubicBezTo>
                      <a:pt x="8831" y="111282"/>
                      <a:pt x="12611" y="112676"/>
                      <a:pt x="16466" y="113842"/>
                    </a:cubicBezTo>
                    <a:cubicBezTo>
                      <a:pt x="21038" y="115222"/>
                      <a:pt x="25679" y="116265"/>
                      <a:pt x="30380" y="117081"/>
                    </a:cubicBezTo>
                    <a:cubicBezTo>
                      <a:pt x="30899" y="117172"/>
                      <a:pt x="31417" y="117271"/>
                      <a:pt x="31935" y="117378"/>
                    </a:cubicBezTo>
                    <a:cubicBezTo>
                      <a:pt x="32308" y="118437"/>
                      <a:pt x="32407" y="119481"/>
                      <a:pt x="32331" y="120548"/>
                    </a:cubicBezTo>
                    <a:cubicBezTo>
                      <a:pt x="32232" y="121691"/>
                      <a:pt x="31981" y="122811"/>
                      <a:pt x="31623" y="123901"/>
                    </a:cubicBezTo>
                    <a:cubicBezTo>
                      <a:pt x="31493" y="124289"/>
                      <a:pt x="31287" y="124587"/>
                      <a:pt x="30921" y="124769"/>
                    </a:cubicBezTo>
                    <a:cubicBezTo>
                      <a:pt x="30159" y="125143"/>
                      <a:pt x="29413" y="125554"/>
                      <a:pt x="28628" y="125890"/>
                    </a:cubicBezTo>
                    <a:cubicBezTo>
                      <a:pt x="26502" y="126773"/>
                      <a:pt x="24300" y="127414"/>
                      <a:pt x="22082" y="128008"/>
                    </a:cubicBezTo>
                    <a:cubicBezTo>
                      <a:pt x="21808" y="128084"/>
                      <a:pt x="21534" y="128176"/>
                      <a:pt x="21214" y="128275"/>
                    </a:cubicBezTo>
                    <a:cubicBezTo>
                      <a:pt x="21328" y="128526"/>
                      <a:pt x="21404" y="128739"/>
                      <a:pt x="21518" y="128938"/>
                    </a:cubicBezTo>
                    <a:cubicBezTo>
                      <a:pt x="23423" y="132534"/>
                      <a:pt x="25527" y="136001"/>
                      <a:pt x="27873" y="139331"/>
                    </a:cubicBezTo>
                    <a:cubicBezTo>
                      <a:pt x="30601" y="143187"/>
                      <a:pt x="33604" y="146799"/>
                      <a:pt x="37056" y="150030"/>
                    </a:cubicBezTo>
                    <a:cubicBezTo>
                      <a:pt x="39974" y="152758"/>
                      <a:pt x="43152" y="155120"/>
                      <a:pt x="46710" y="156964"/>
                    </a:cubicBezTo>
                    <a:cubicBezTo>
                      <a:pt x="50192" y="158777"/>
                      <a:pt x="53881" y="159943"/>
                      <a:pt x="57797" y="160294"/>
                    </a:cubicBezTo>
                    <a:cubicBezTo>
                      <a:pt x="61219" y="160599"/>
                      <a:pt x="64609" y="160347"/>
                      <a:pt x="67962" y="159532"/>
                    </a:cubicBezTo>
                    <a:cubicBezTo>
                      <a:pt x="71711" y="158617"/>
                      <a:pt x="75201" y="157101"/>
                      <a:pt x="78501" y="155120"/>
                    </a:cubicBezTo>
                    <a:cubicBezTo>
                      <a:pt x="82318" y="152834"/>
                      <a:pt x="85725" y="150045"/>
                      <a:pt x="88864" y="146921"/>
                    </a:cubicBezTo>
                    <a:cubicBezTo>
                      <a:pt x="94061" y="141770"/>
                      <a:pt x="98389" y="135948"/>
                      <a:pt x="102176" y="129707"/>
                    </a:cubicBezTo>
                    <a:cubicBezTo>
                      <a:pt x="102237" y="129593"/>
                      <a:pt x="102275" y="129456"/>
                      <a:pt x="102344" y="129280"/>
                    </a:cubicBezTo>
                    <a:cubicBezTo>
                      <a:pt x="101521" y="129090"/>
                      <a:pt x="100751" y="128915"/>
                      <a:pt x="99974" y="128724"/>
                    </a:cubicBezTo>
                    <a:cubicBezTo>
                      <a:pt x="97741" y="128191"/>
                      <a:pt x="95516" y="127627"/>
                      <a:pt x="93383" y="126789"/>
                    </a:cubicBezTo>
                    <a:cubicBezTo>
                      <a:pt x="92560" y="126469"/>
                      <a:pt x="91775" y="126065"/>
                      <a:pt x="90975" y="125699"/>
                    </a:cubicBezTo>
                    <a:cubicBezTo>
                      <a:pt x="90662" y="125554"/>
                      <a:pt x="90472" y="125303"/>
                      <a:pt x="90365" y="124983"/>
                    </a:cubicBezTo>
                    <a:cubicBezTo>
                      <a:pt x="89611" y="122720"/>
                      <a:pt x="89435" y="120434"/>
                      <a:pt x="90022" y="118117"/>
                    </a:cubicBezTo>
                    <a:cubicBezTo>
                      <a:pt x="90060" y="117949"/>
                      <a:pt x="90152" y="117797"/>
                      <a:pt x="90213" y="117645"/>
                    </a:cubicBezTo>
                    <a:cubicBezTo>
                      <a:pt x="90373" y="117622"/>
                      <a:pt x="90487" y="117591"/>
                      <a:pt x="90601" y="117576"/>
                    </a:cubicBezTo>
                    <a:cubicBezTo>
                      <a:pt x="94183" y="117050"/>
                      <a:pt x="97741" y="116433"/>
                      <a:pt x="101277" y="115641"/>
                    </a:cubicBezTo>
                    <a:cubicBezTo>
                      <a:pt x="105902" y="114612"/>
                      <a:pt x="110451" y="113317"/>
                      <a:pt x="114871" y="111572"/>
                    </a:cubicBezTo>
                    <a:cubicBezTo>
                      <a:pt x="117889" y="110383"/>
                      <a:pt x="120807" y="108996"/>
                      <a:pt x="123565" y="107289"/>
                    </a:cubicBezTo>
                    <a:cubicBezTo>
                      <a:pt x="123832" y="107114"/>
                      <a:pt x="124091" y="106931"/>
                      <a:pt x="124381" y="106733"/>
                    </a:cubicBezTo>
                    <a:cubicBezTo>
                      <a:pt x="124206" y="106466"/>
                      <a:pt x="124061" y="106245"/>
                      <a:pt x="123916" y="106032"/>
                    </a:cubicBezTo>
                    <a:cubicBezTo>
                      <a:pt x="123245" y="105026"/>
                      <a:pt x="122560" y="104035"/>
                      <a:pt x="121920" y="103007"/>
                    </a:cubicBezTo>
                    <a:cubicBezTo>
                      <a:pt x="116418" y="94259"/>
                      <a:pt x="112615" y="84863"/>
                      <a:pt x="111267" y="74561"/>
                    </a:cubicBezTo>
                    <a:cubicBezTo>
                      <a:pt x="111015" y="72664"/>
                      <a:pt x="110878" y="70751"/>
                      <a:pt x="110992" y="68839"/>
                    </a:cubicBezTo>
                    <a:cubicBezTo>
                      <a:pt x="111130" y="66545"/>
                      <a:pt x="111274" y="64251"/>
                      <a:pt x="111404" y="61958"/>
                    </a:cubicBezTo>
                    <a:cubicBezTo>
                      <a:pt x="111472" y="60662"/>
                      <a:pt x="111541" y="59375"/>
                      <a:pt x="111579" y="58079"/>
                    </a:cubicBezTo>
                    <a:cubicBezTo>
                      <a:pt x="111671" y="55374"/>
                      <a:pt x="111785" y="52669"/>
                      <a:pt x="111808" y="49956"/>
                    </a:cubicBezTo>
                    <a:cubicBezTo>
                      <a:pt x="111838" y="47457"/>
                      <a:pt x="111777" y="44958"/>
                      <a:pt x="111724" y="42458"/>
                    </a:cubicBezTo>
                    <a:cubicBezTo>
                      <a:pt x="111648" y="38145"/>
                      <a:pt x="111160" y="33893"/>
                      <a:pt x="110276" y="29672"/>
                    </a:cubicBezTo>
                    <a:cubicBezTo>
                      <a:pt x="109689" y="26875"/>
                      <a:pt x="108920" y="24132"/>
                      <a:pt x="107807" y="21496"/>
                    </a:cubicBezTo>
                    <a:cubicBezTo>
                      <a:pt x="106946" y="19446"/>
                      <a:pt x="105918" y="17503"/>
                      <a:pt x="104554" y="15750"/>
                    </a:cubicBezTo>
                    <a:cubicBezTo>
                      <a:pt x="103555" y="14462"/>
                      <a:pt x="102412" y="13319"/>
                      <a:pt x="101041" y="12428"/>
                    </a:cubicBezTo>
                    <a:cubicBezTo>
                      <a:pt x="99006" y="11132"/>
                      <a:pt x="96819" y="10515"/>
                      <a:pt x="94404" y="10866"/>
                    </a:cubicBezTo>
                    <a:cubicBezTo>
                      <a:pt x="94114" y="10911"/>
                      <a:pt x="93825" y="10927"/>
                      <a:pt x="93527" y="10957"/>
                    </a:cubicBezTo>
                    <a:cubicBezTo>
                      <a:pt x="93428" y="10820"/>
                      <a:pt x="93337" y="10706"/>
                      <a:pt x="93261" y="10576"/>
                    </a:cubicBezTo>
                    <a:cubicBezTo>
                      <a:pt x="92445" y="9265"/>
                      <a:pt x="91424" y="8138"/>
                      <a:pt x="90266" y="7117"/>
                    </a:cubicBezTo>
                    <a:cubicBezTo>
                      <a:pt x="88125" y="5227"/>
                      <a:pt x="85686" y="3825"/>
                      <a:pt x="83050" y="2766"/>
                    </a:cubicBezTo>
                    <a:cubicBezTo>
                      <a:pt x="79049" y="1158"/>
                      <a:pt x="74874" y="388"/>
                      <a:pt x="70591" y="129"/>
                    </a:cubicBezTo>
                    <a:cubicBezTo>
                      <a:pt x="70218" y="106"/>
                      <a:pt x="69822" y="0"/>
                      <a:pt x="69471" y="0"/>
                    </a:cubicBezTo>
                    <a:lnTo>
                      <a:pt x="63642" y="0"/>
                    </a:lnTo>
                    <a:cubicBezTo>
                      <a:pt x="63360" y="0"/>
                      <a:pt x="63078" y="91"/>
                      <a:pt x="62788" y="114"/>
                    </a:cubicBezTo>
                    <a:cubicBezTo>
                      <a:pt x="62293" y="152"/>
                      <a:pt x="61790" y="129"/>
                      <a:pt x="61287" y="175"/>
                    </a:cubicBezTo>
                    <a:cubicBezTo>
                      <a:pt x="58651" y="403"/>
                      <a:pt x="56022" y="708"/>
                      <a:pt x="53408" y="1150"/>
                    </a:cubicBezTo>
                    <a:cubicBezTo>
                      <a:pt x="49408" y="1828"/>
                      <a:pt x="45438" y="2682"/>
                      <a:pt x="41544" y="3832"/>
                    </a:cubicBezTo>
                    <a:cubicBezTo>
                      <a:pt x="37894" y="4914"/>
                      <a:pt x="34358" y="6271"/>
                      <a:pt x="31013" y="8092"/>
                    </a:cubicBezTo>
                    <a:cubicBezTo>
                      <a:pt x="27965" y="9753"/>
                      <a:pt x="25191" y="11765"/>
                      <a:pt x="22783" y="14272"/>
                    </a:cubicBezTo>
                    <a:cubicBezTo>
                      <a:pt x="19964" y="17183"/>
                      <a:pt x="17884" y="20581"/>
                      <a:pt x="16299" y="24292"/>
                    </a:cubicBezTo>
                    <a:cubicBezTo>
                      <a:pt x="15079" y="27172"/>
                      <a:pt x="14180" y="30159"/>
                      <a:pt x="13472" y="33200"/>
                    </a:cubicBezTo>
                    <a:cubicBezTo>
                      <a:pt x="13136" y="34632"/>
                      <a:pt x="12816" y="36065"/>
                      <a:pt x="12580" y="37513"/>
                    </a:cubicBezTo>
                    <a:cubicBezTo>
                      <a:pt x="12298" y="39174"/>
                      <a:pt x="12306" y="40858"/>
                      <a:pt x="12298" y="42542"/>
                    </a:cubicBezTo>
                    <a:cubicBezTo>
                      <a:pt x="12275" y="44950"/>
                      <a:pt x="12298" y="47358"/>
                      <a:pt x="12359" y="49773"/>
                    </a:cubicBezTo>
                    <a:cubicBezTo>
                      <a:pt x="12489" y="54307"/>
                      <a:pt x="12649" y="58834"/>
                      <a:pt x="12809" y="63360"/>
                    </a:cubicBezTo>
                    <a:cubicBezTo>
                      <a:pt x="12870" y="64983"/>
                      <a:pt x="12976" y="66598"/>
                      <a:pt x="13068" y="68214"/>
                    </a:cubicBezTo>
                    <a:cubicBezTo>
                      <a:pt x="13114" y="69060"/>
                      <a:pt x="13213" y="69913"/>
                      <a:pt x="13190" y="70766"/>
                    </a:cubicBezTo>
                    <a:cubicBezTo>
                      <a:pt x="13114" y="73510"/>
                      <a:pt x="12725" y="76222"/>
                      <a:pt x="12169" y="78897"/>
                    </a:cubicBezTo>
                    <a:cubicBezTo>
                      <a:pt x="11102" y="84109"/>
                      <a:pt x="9403" y="89115"/>
                      <a:pt x="7178" y="93946"/>
                    </a:cubicBezTo>
                    <a:cubicBezTo>
                      <a:pt x="5288" y="98038"/>
                      <a:pt x="3048" y="101940"/>
                      <a:pt x="495" y="105658"/>
                    </a:cubicBezTo>
                    <a:cubicBezTo>
                      <a:pt x="312" y="105918"/>
                      <a:pt x="76" y="106146"/>
                      <a:pt x="0" y="106519"/>
                    </a:cubicBezTo>
                    <a:cubicBezTo>
                      <a:pt x="251" y="106695"/>
                      <a:pt x="487" y="106862"/>
                      <a:pt x="731" y="107022"/>
                    </a:cubicBezTo>
                    <a:cubicBezTo>
                      <a:pt x="2179" y="107929"/>
                      <a:pt x="3672" y="108745"/>
                      <a:pt x="5204" y="109499"/>
                    </a:cubicBezTo>
                    <a:close/>
                    <a:moveTo>
                      <a:pt x="23599" y="78287"/>
                    </a:moveTo>
                    <a:cubicBezTo>
                      <a:pt x="26426" y="76314"/>
                      <a:pt x="29253" y="74355"/>
                      <a:pt x="32064" y="72374"/>
                    </a:cubicBezTo>
                    <a:cubicBezTo>
                      <a:pt x="37162" y="68755"/>
                      <a:pt x="42001" y="64815"/>
                      <a:pt x="46497" y="60472"/>
                    </a:cubicBezTo>
                    <a:cubicBezTo>
                      <a:pt x="52372" y="54787"/>
                      <a:pt x="57599" y="48547"/>
                      <a:pt x="62377" y="41917"/>
                    </a:cubicBezTo>
                    <a:cubicBezTo>
                      <a:pt x="62735" y="41414"/>
                      <a:pt x="63131" y="40942"/>
                      <a:pt x="63566" y="40500"/>
                    </a:cubicBezTo>
                    <a:cubicBezTo>
                      <a:pt x="66995" y="37048"/>
                      <a:pt x="71071" y="34762"/>
                      <a:pt x="75834" y="33748"/>
                    </a:cubicBezTo>
                    <a:cubicBezTo>
                      <a:pt x="78501" y="33185"/>
                      <a:pt x="81198" y="33032"/>
                      <a:pt x="83919" y="33268"/>
                    </a:cubicBezTo>
                    <a:cubicBezTo>
                      <a:pt x="86654" y="33505"/>
                      <a:pt x="89321" y="34046"/>
                      <a:pt x="91927" y="34937"/>
                    </a:cubicBezTo>
                    <a:cubicBezTo>
                      <a:pt x="92202" y="35029"/>
                      <a:pt x="92483" y="35135"/>
                      <a:pt x="92750" y="35250"/>
                    </a:cubicBezTo>
                    <a:cubicBezTo>
                      <a:pt x="92864" y="35280"/>
                      <a:pt x="92971" y="35333"/>
                      <a:pt x="93108" y="35394"/>
                    </a:cubicBezTo>
                    <a:cubicBezTo>
                      <a:pt x="93169" y="35608"/>
                      <a:pt x="93261" y="35829"/>
                      <a:pt x="93299" y="36057"/>
                    </a:cubicBezTo>
                    <a:cubicBezTo>
                      <a:pt x="93786" y="39075"/>
                      <a:pt x="94297" y="42092"/>
                      <a:pt x="94747" y="45110"/>
                    </a:cubicBezTo>
                    <a:cubicBezTo>
                      <a:pt x="95120" y="47647"/>
                      <a:pt x="95432" y="50185"/>
                      <a:pt x="95745" y="52730"/>
                    </a:cubicBezTo>
                    <a:cubicBezTo>
                      <a:pt x="95966" y="54543"/>
                      <a:pt x="96133" y="56357"/>
                      <a:pt x="96324" y="58171"/>
                    </a:cubicBezTo>
                    <a:cubicBezTo>
                      <a:pt x="96347" y="58376"/>
                      <a:pt x="96377" y="58574"/>
                      <a:pt x="96415" y="58879"/>
                    </a:cubicBezTo>
                    <a:cubicBezTo>
                      <a:pt x="96720" y="58788"/>
                      <a:pt x="96911" y="58742"/>
                      <a:pt x="97101" y="58674"/>
                    </a:cubicBezTo>
                    <a:cubicBezTo>
                      <a:pt x="97886" y="58414"/>
                      <a:pt x="98686" y="58239"/>
                      <a:pt x="99509" y="58132"/>
                    </a:cubicBezTo>
                    <a:cubicBezTo>
                      <a:pt x="100164" y="58056"/>
                      <a:pt x="100804" y="58102"/>
                      <a:pt x="101437" y="58262"/>
                    </a:cubicBezTo>
                    <a:cubicBezTo>
                      <a:pt x="102473" y="58536"/>
                      <a:pt x="103205" y="59169"/>
                      <a:pt x="103578" y="60182"/>
                    </a:cubicBezTo>
                    <a:cubicBezTo>
                      <a:pt x="103913" y="61089"/>
                      <a:pt x="103974" y="62026"/>
                      <a:pt x="103883" y="62971"/>
                    </a:cubicBezTo>
                    <a:cubicBezTo>
                      <a:pt x="103586" y="66073"/>
                      <a:pt x="103251" y="69181"/>
                      <a:pt x="102671" y="72245"/>
                    </a:cubicBezTo>
                    <a:cubicBezTo>
                      <a:pt x="102184" y="74820"/>
                      <a:pt x="101566" y="77358"/>
                      <a:pt x="100568" y="79789"/>
                    </a:cubicBezTo>
                    <a:cubicBezTo>
                      <a:pt x="100058" y="81023"/>
                      <a:pt x="99463" y="82204"/>
                      <a:pt x="98694" y="83286"/>
                    </a:cubicBezTo>
                    <a:cubicBezTo>
                      <a:pt x="97909" y="84414"/>
                      <a:pt x="96972" y="85374"/>
                      <a:pt x="95798" y="86090"/>
                    </a:cubicBezTo>
                    <a:cubicBezTo>
                      <a:pt x="95699" y="86151"/>
                      <a:pt x="95608" y="86227"/>
                      <a:pt x="95486" y="86319"/>
                    </a:cubicBezTo>
                    <a:cubicBezTo>
                      <a:pt x="95478" y="87134"/>
                      <a:pt x="95478" y="87957"/>
                      <a:pt x="95455" y="88773"/>
                    </a:cubicBezTo>
                    <a:cubicBezTo>
                      <a:pt x="95417" y="90777"/>
                      <a:pt x="95242" y="92765"/>
                      <a:pt x="94739" y="94716"/>
                    </a:cubicBezTo>
                    <a:cubicBezTo>
                      <a:pt x="94564" y="95394"/>
                      <a:pt x="94350" y="96088"/>
                      <a:pt x="94030" y="96705"/>
                    </a:cubicBezTo>
                    <a:cubicBezTo>
                      <a:pt x="92499" y="99623"/>
                      <a:pt x="90967" y="102542"/>
                      <a:pt x="89359" y="105422"/>
                    </a:cubicBezTo>
                    <a:cubicBezTo>
                      <a:pt x="88513" y="106931"/>
                      <a:pt x="87538" y="108364"/>
                      <a:pt x="86570" y="109811"/>
                    </a:cubicBezTo>
                    <a:cubicBezTo>
                      <a:pt x="85846" y="110886"/>
                      <a:pt x="85031" y="111892"/>
                      <a:pt x="84071" y="112768"/>
                    </a:cubicBezTo>
                    <a:cubicBezTo>
                      <a:pt x="83820" y="113004"/>
                      <a:pt x="83675" y="113263"/>
                      <a:pt x="83583" y="113591"/>
                    </a:cubicBezTo>
                    <a:cubicBezTo>
                      <a:pt x="82882" y="115968"/>
                      <a:pt x="82372" y="118376"/>
                      <a:pt x="82296" y="120868"/>
                    </a:cubicBezTo>
                    <a:cubicBezTo>
                      <a:pt x="82219" y="123489"/>
                      <a:pt x="82570" y="126050"/>
                      <a:pt x="83659" y="128442"/>
                    </a:cubicBezTo>
                    <a:cubicBezTo>
                      <a:pt x="84109" y="129425"/>
                      <a:pt x="84124" y="130362"/>
                      <a:pt x="83873" y="131361"/>
                    </a:cubicBezTo>
                    <a:cubicBezTo>
                      <a:pt x="83545" y="132626"/>
                      <a:pt x="82958" y="133776"/>
                      <a:pt x="82189" y="134835"/>
                    </a:cubicBezTo>
                    <a:cubicBezTo>
                      <a:pt x="80733" y="136862"/>
                      <a:pt x="78806" y="138341"/>
                      <a:pt x="76603" y="139468"/>
                    </a:cubicBezTo>
                    <a:cubicBezTo>
                      <a:pt x="74363" y="140627"/>
                      <a:pt x="71978" y="141335"/>
                      <a:pt x="69502" y="141785"/>
                    </a:cubicBezTo>
                    <a:cubicBezTo>
                      <a:pt x="65829" y="142455"/>
                      <a:pt x="62133" y="142577"/>
                      <a:pt x="58422" y="142280"/>
                    </a:cubicBezTo>
                    <a:cubicBezTo>
                      <a:pt x="54848" y="142013"/>
                      <a:pt x="51381" y="141290"/>
                      <a:pt x="48074" y="139857"/>
                    </a:cubicBezTo>
                    <a:cubicBezTo>
                      <a:pt x="45841" y="138889"/>
                      <a:pt x="43784" y="137655"/>
                      <a:pt x="41970" y="136024"/>
                    </a:cubicBezTo>
                    <a:cubicBezTo>
                      <a:pt x="40805" y="134973"/>
                      <a:pt x="39784" y="133799"/>
                      <a:pt x="38983" y="132443"/>
                    </a:cubicBezTo>
                    <a:cubicBezTo>
                      <a:pt x="38602" y="131810"/>
                      <a:pt x="38290" y="131147"/>
                      <a:pt x="38100" y="130431"/>
                    </a:cubicBezTo>
                    <a:cubicBezTo>
                      <a:pt x="37939" y="129852"/>
                      <a:pt x="37947" y="129288"/>
                      <a:pt x="38206" y="128709"/>
                    </a:cubicBezTo>
                    <a:cubicBezTo>
                      <a:pt x="39159" y="126629"/>
                      <a:pt x="39585" y="124411"/>
                      <a:pt x="39662" y="122125"/>
                    </a:cubicBezTo>
                    <a:cubicBezTo>
                      <a:pt x="39768" y="119153"/>
                      <a:pt x="39349" y="116250"/>
                      <a:pt x="38633" y="113385"/>
                    </a:cubicBezTo>
                    <a:cubicBezTo>
                      <a:pt x="38534" y="112996"/>
                      <a:pt x="38328" y="112707"/>
                      <a:pt x="38061" y="112417"/>
                    </a:cubicBezTo>
                    <a:cubicBezTo>
                      <a:pt x="35760" y="109964"/>
                      <a:pt x="33619" y="107388"/>
                      <a:pt x="31691" y="104637"/>
                    </a:cubicBezTo>
                    <a:cubicBezTo>
                      <a:pt x="27912" y="99258"/>
                      <a:pt x="25405" y="93352"/>
                      <a:pt x="24223" y="86883"/>
                    </a:cubicBezTo>
                    <a:cubicBezTo>
                      <a:pt x="23759" y="84368"/>
                      <a:pt x="23301" y="81854"/>
                      <a:pt x="22844" y="79331"/>
                    </a:cubicBezTo>
                    <a:cubicBezTo>
                      <a:pt x="22821" y="79187"/>
                      <a:pt x="22829" y="79049"/>
                      <a:pt x="22821" y="78867"/>
                    </a:cubicBezTo>
                    <a:cubicBezTo>
                      <a:pt x="23088" y="78676"/>
                      <a:pt x="23340" y="78470"/>
                      <a:pt x="23599" y="7828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1" name="Free Form 320">
                <a:extLst>
                  <a:ext uri="{FF2B5EF4-FFF2-40B4-BE49-F238E27FC236}">
                    <a16:creationId xmlns:a16="http://schemas.microsoft.com/office/drawing/2014/main" id="{2B606F1D-E343-4A6C-A89F-B5F0FB87016A}"/>
                  </a:ext>
                </a:extLst>
              </p:cNvPr>
              <p:cNvSpPr>
                <a:spLocks noChangeAspect="1"/>
              </p:cNvSpPr>
              <p:nvPr/>
            </p:nvSpPr>
            <p:spPr>
              <a:xfrm>
                <a:off x="4062579" y="3809269"/>
                <a:ext cx="85535" cy="83340"/>
              </a:xfrm>
              <a:custGeom>
                <a:avLst/>
                <a:gdLst/>
                <a:ahLst/>
                <a:cxnLst/>
                <a:rect l="0" t="0" r="0" b="0"/>
                <a:pathLst>
                  <a:path w="85534" h="83339">
                    <a:moveTo>
                      <a:pt x="85534" y="68038"/>
                    </a:moveTo>
                    <a:lnTo>
                      <a:pt x="85534" y="38191"/>
                    </a:lnTo>
                    <a:cubicBezTo>
                      <a:pt x="85534" y="38130"/>
                      <a:pt x="85145" y="38046"/>
                      <a:pt x="84947" y="38023"/>
                    </a:cubicBezTo>
                    <a:cubicBezTo>
                      <a:pt x="81252" y="37467"/>
                      <a:pt x="77739" y="36355"/>
                      <a:pt x="74355" y="34785"/>
                    </a:cubicBezTo>
                    <a:cubicBezTo>
                      <a:pt x="70027" y="32766"/>
                      <a:pt x="66149" y="30076"/>
                      <a:pt x="62575" y="26921"/>
                    </a:cubicBezTo>
                    <a:cubicBezTo>
                      <a:pt x="58872" y="23652"/>
                      <a:pt x="55618" y="19979"/>
                      <a:pt x="52654" y="16040"/>
                    </a:cubicBezTo>
                    <a:cubicBezTo>
                      <a:pt x="49049" y="11254"/>
                      <a:pt x="45956" y="6149"/>
                      <a:pt x="43213" y="830"/>
                    </a:cubicBezTo>
                    <a:cubicBezTo>
                      <a:pt x="43068" y="556"/>
                      <a:pt x="42908" y="274"/>
                      <a:pt x="42755" y="0"/>
                    </a:cubicBezTo>
                    <a:cubicBezTo>
                      <a:pt x="42550" y="15"/>
                      <a:pt x="42405" y="15"/>
                      <a:pt x="42260" y="53"/>
                    </a:cubicBezTo>
                    <a:cubicBezTo>
                      <a:pt x="38770" y="891"/>
                      <a:pt x="35250" y="1577"/>
                      <a:pt x="31714" y="2179"/>
                    </a:cubicBezTo>
                    <a:cubicBezTo>
                      <a:pt x="26555" y="3063"/>
                      <a:pt x="21450" y="4229"/>
                      <a:pt x="16276" y="5029"/>
                    </a:cubicBezTo>
                    <a:cubicBezTo>
                      <a:pt x="13784" y="5417"/>
                      <a:pt x="11551" y="6438"/>
                      <a:pt x="9517" y="7917"/>
                    </a:cubicBezTo>
                    <a:cubicBezTo>
                      <a:pt x="7368" y="9479"/>
                      <a:pt x="5631" y="11430"/>
                      <a:pt x="4251" y="13685"/>
                    </a:cubicBezTo>
                    <a:cubicBezTo>
                      <a:pt x="1813" y="17670"/>
                      <a:pt x="457" y="21960"/>
                      <a:pt x="190" y="26647"/>
                    </a:cubicBezTo>
                    <a:cubicBezTo>
                      <a:pt x="160" y="27157"/>
                      <a:pt x="0" y="27637"/>
                      <a:pt x="0" y="28102"/>
                    </a:cubicBezTo>
                    <a:lnTo>
                      <a:pt x="0" y="33040"/>
                    </a:lnTo>
                    <a:cubicBezTo>
                      <a:pt x="0" y="33543"/>
                      <a:pt x="144" y="34053"/>
                      <a:pt x="175" y="34587"/>
                    </a:cubicBezTo>
                    <a:cubicBezTo>
                      <a:pt x="228" y="35615"/>
                      <a:pt x="205" y="36644"/>
                      <a:pt x="304" y="37673"/>
                    </a:cubicBezTo>
                    <a:cubicBezTo>
                      <a:pt x="548" y="40218"/>
                      <a:pt x="731" y="42771"/>
                      <a:pt x="1059" y="45316"/>
                    </a:cubicBezTo>
                    <a:cubicBezTo>
                      <a:pt x="1440" y="48310"/>
                      <a:pt x="1874" y="51313"/>
                      <a:pt x="2369" y="54300"/>
                    </a:cubicBezTo>
                    <a:cubicBezTo>
                      <a:pt x="2964" y="57835"/>
                      <a:pt x="3619" y="61363"/>
                      <a:pt x="4267" y="64899"/>
                    </a:cubicBezTo>
                    <a:cubicBezTo>
                      <a:pt x="4693" y="67246"/>
                      <a:pt x="5143" y="69578"/>
                      <a:pt x="5608" y="71917"/>
                    </a:cubicBezTo>
                    <a:cubicBezTo>
                      <a:pt x="5722" y="72489"/>
                      <a:pt x="5875" y="73068"/>
                      <a:pt x="6118" y="73593"/>
                    </a:cubicBezTo>
                    <a:cubicBezTo>
                      <a:pt x="7825" y="77350"/>
                      <a:pt x="10469" y="80192"/>
                      <a:pt x="14218" y="81983"/>
                    </a:cubicBezTo>
                    <a:cubicBezTo>
                      <a:pt x="16245" y="82951"/>
                      <a:pt x="18402" y="83317"/>
                      <a:pt x="20634" y="83317"/>
                    </a:cubicBezTo>
                    <a:lnTo>
                      <a:pt x="76817" y="83317"/>
                    </a:lnTo>
                    <a:cubicBezTo>
                      <a:pt x="76992" y="83317"/>
                      <a:pt x="77167" y="83339"/>
                      <a:pt x="77343" y="83332"/>
                    </a:cubicBezTo>
                    <a:cubicBezTo>
                      <a:pt x="77510" y="83317"/>
                      <a:pt x="77678" y="83278"/>
                      <a:pt x="77876" y="83248"/>
                    </a:cubicBezTo>
                    <a:cubicBezTo>
                      <a:pt x="77838" y="82882"/>
                      <a:pt x="77807" y="82570"/>
                      <a:pt x="77762" y="82250"/>
                    </a:cubicBezTo>
                    <a:cubicBezTo>
                      <a:pt x="77503" y="80451"/>
                      <a:pt x="77602" y="78668"/>
                      <a:pt x="78089" y="76916"/>
                    </a:cubicBezTo>
                    <a:cubicBezTo>
                      <a:pt x="79141" y="73113"/>
                      <a:pt x="81427" y="70294"/>
                      <a:pt x="84886" y="68412"/>
                    </a:cubicBezTo>
                    <a:cubicBezTo>
                      <a:pt x="85107" y="68282"/>
                      <a:pt x="85534" y="68160"/>
                      <a:pt x="85534" y="68038"/>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2" name="Free Form 321">
                <a:extLst>
                  <a:ext uri="{FF2B5EF4-FFF2-40B4-BE49-F238E27FC236}">
                    <a16:creationId xmlns:a16="http://schemas.microsoft.com/office/drawing/2014/main" id="{40082118-9772-4E9E-900A-F20A6E6C8F4A}"/>
                  </a:ext>
                </a:extLst>
              </p:cNvPr>
              <p:cNvSpPr>
                <a:spLocks noChangeAspect="1"/>
              </p:cNvSpPr>
              <p:nvPr/>
            </p:nvSpPr>
            <p:spPr>
              <a:xfrm>
                <a:off x="4042242" y="3880511"/>
                <a:ext cx="16901" cy="17015"/>
              </a:xfrm>
              <a:custGeom>
                <a:avLst/>
                <a:gdLst/>
                <a:ahLst/>
                <a:cxnLst/>
                <a:rect l="0" t="0" r="0" b="0"/>
                <a:pathLst>
                  <a:path w="16901" h="17015">
                    <a:moveTo>
                      <a:pt x="8481" y="30"/>
                    </a:moveTo>
                    <a:cubicBezTo>
                      <a:pt x="3787" y="0"/>
                      <a:pt x="7" y="3794"/>
                      <a:pt x="0" y="8496"/>
                    </a:cubicBezTo>
                    <a:cubicBezTo>
                      <a:pt x="0" y="13243"/>
                      <a:pt x="3916" y="16969"/>
                      <a:pt x="8427" y="16924"/>
                    </a:cubicBezTo>
                    <a:cubicBezTo>
                      <a:pt x="12664" y="17015"/>
                      <a:pt x="16901" y="13594"/>
                      <a:pt x="16901" y="8465"/>
                    </a:cubicBezTo>
                    <a:cubicBezTo>
                      <a:pt x="16901" y="3688"/>
                      <a:pt x="13091" y="53"/>
                      <a:pt x="8481" y="3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3" name="Free Form 322">
                <a:extLst>
                  <a:ext uri="{FF2B5EF4-FFF2-40B4-BE49-F238E27FC236}">
                    <a16:creationId xmlns:a16="http://schemas.microsoft.com/office/drawing/2014/main" id="{8ECA8840-E97C-4CB2-9871-6DA40712D8F1}"/>
                  </a:ext>
                </a:extLst>
              </p:cNvPr>
              <p:cNvSpPr>
                <a:spLocks noChangeAspect="1"/>
              </p:cNvSpPr>
              <p:nvPr/>
            </p:nvSpPr>
            <p:spPr>
              <a:xfrm>
                <a:off x="4055238" y="3809009"/>
                <a:ext cx="69197" cy="82722"/>
              </a:xfrm>
              <a:custGeom>
                <a:avLst/>
                <a:gdLst/>
                <a:ahLst/>
                <a:cxnLst/>
                <a:rect l="0" t="0" r="0" b="0"/>
                <a:pathLst>
                  <a:path w="69197" h="82722">
                    <a:moveTo>
                      <a:pt x="65821" y="78691"/>
                    </a:moveTo>
                    <a:cubicBezTo>
                      <a:pt x="63649" y="75674"/>
                      <a:pt x="62133" y="71940"/>
                      <a:pt x="61714" y="67482"/>
                    </a:cubicBezTo>
                    <a:cubicBezTo>
                      <a:pt x="56227" y="42755"/>
                      <a:pt x="53774" y="26670"/>
                      <a:pt x="53774" y="15323"/>
                    </a:cubicBezTo>
                    <a:cubicBezTo>
                      <a:pt x="53774" y="9921"/>
                      <a:pt x="54330" y="5509"/>
                      <a:pt x="55488" y="1805"/>
                    </a:cubicBezTo>
                    <a:cubicBezTo>
                      <a:pt x="52920" y="1303"/>
                      <a:pt x="50337" y="807"/>
                      <a:pt x="47762" y="312"/>
                    </a:cubicBezTo>
                    <a:cubicBezTo>
                      <a:pt x="47106" y="182"/>
                      <a:pt x="46451" y="7"/>
                      <a:pt x="45758" y="0"/>
                    </a:cubicBezTo>
                    <a:cubicBezTo>
                      <a:pt x="45613" y="236"/>
                      <a:pt x="45468" y="457"/>
                      <a:pt x="45339" y="685"/>
                    </a:cubicBezTo>
                    <a:cubicBezTo>
                      <a:pt x="44005" y="3009"/>
                      <a:pt x="42595" y="5280"/>
                      <a:pt x="41094" y="7505"/>
                    </a:cubicBezTo>
                    <a:cubicBezTo>
                      <a:pt x="37406" y="12992"/>
                      <a:pt x="33284" y="18127"/>
                      <a:pt x="28506" y="22707"/>
                    </a:cubicBezTo>
                    <a:cubicBezTo>
                      <a:pt x="24940" y="26128"/>
                      <a:pt x="21092" y="29169"/>
                      <a:pt x="16824" y="31653"/>
                    </a:cubicBezTo>
                    <a:cubicBezTo>
                      <a:pt x="11818" y="34571"/>
                      <a:pt x="6484" y="36606"/>
                      <a:pt x="723" y="37414"/>
                    </a:cubicBezTo>
                    <a:cubicBezTo>
                      <a:pt x="502" y="37444"/>
                      <a:pt x="289" y="37536"/>
                      <a:pt x="99" y="37581"/>
                    </a:cubicBezTo>
                    <a:cubicBezTo>
                      <a:pt x="0" y="38557"/>
                      <a:pt x="15" y="66255"/>
                      <a:pt x="106" y="66995"/>
                    </a:cubicBezTo>
                    <a:cubicBezTo>
                      <a:pt x="358" y="67101"/>
                      <a:pt x="617" y="67223"/>
                      <a:pt x="891" y="67345"/>
                    </a:cubicBezTo>
                    <a:cubicBezTo>
                      <a:pt x="5890" y="69486"/>
                      <a:pt x="9113" y="74355"/>
                      <a:pt x="9090" y="79796"/>
                    </a:cubicBezTo>
                    <a:cubicBezTo>
                      <a:pt x="9090" y="80581"/>
                      <a:pt x="8961" y="81373"/>
                      <a:pt x="8900" y="82166"/>
                    </a:cubicBezTo>
                    <a:cubicBezTo>
                      <a:pt x="8884" y="82326"/>
                      <a:pt x="8900" y="82494"/>
                      <a:pt x="8900" y="82692"/>
                    </a:cubicBezTo>
                    <a:cubicBezTo>
                      <a:pt x="9250" y="82707"/>
                      <a:pt x="9540" y="82722"/>
                      <a:pt x="9829" y="82722"/>
                    </a:cubicBezTo>
                    <a:cubicBezTo>
                      <a:pt x="29626" y="82722"/>
                      <a:pt x="49408" y="82722"/>
                      <a:pt x="69197" y="82715"/>
                    </a:cubicBezTo>
                    <a:cubicBezTo>
                      <a:pt x="67924" y="81511"/>
                      <a:pt x="66789" y="80162"/>
                      <a:pt x="65821" y="78691"/>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4" name="Free Form 323">
                <a:extLst>
                  <a:ext uri="{FF2B5EF4-FFF2-40B4-BE49-F238E27FC236}">
                    <a16:creationId xmlns:a16="http://schemas.microsoft.com/office/drawing/2014/main" id="{5EE5A38F-C6E2-4CA2-B33E-0CEAB07F6316}"/>
                  </a:ext>
                </a:extLst>
              </p:cNvPr>
              <p:cNvSpPr>
                <a:spLocks noChangeAspect="1"/>
              </p:cNvSpPr>
              <p:nvPr/>
            </p:nvSpPr>
            <p:spPr>
              <a:xfrm>
                <a:off x="4062177" y="3615207"/>
                <a:ext cx="15804" cy="14920"/>
              </a:xfrm>
              <a:custGeom>
                <a:avLst/>
                <a:gdLst/>
                <a:ahLst/>
                <a:cxnLst/>
                <a:rect l="0" t="0" r="0" b="0"/>
                <a:pathLst>
                  <a:path w="15803" h="14919">
                    <a:moveTo>
                      <a:pt x="15803" y="7459"/>
                    </a:moveTo>
                    <a:cubicBezTo>
                      <a:pt x="15803" y="11574"/>
                      <a:pt x="12268" y="14919"/>
                      <a:pt x="7901" y="14919"/>
                    </a:cubicBezTo>
                    <a:cubicBezTo>
                      <a:pt x="3543" y="14919"/>
                      <a:pt x="0" y="11574"/>
                      <a:pt x="0" y="7459"/>
                    </a:cubicBezTo>
                    <a:cubicBezTo>
                      <a:pt x="0" y="3345"/>
                      <a:pt x="3543" y="0"/>
                      <a:pt x="7901" y="0"/>
                    </a:cubicBezTo>
                    <a:cubicBezTo>
                      <a:pt x="12268" y="0"/>
                      <a:pt x="15803" y="3345"/>
                      <a:pt x="15803" y="7459"/>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5" name="Free Form 324">
                <a:extLst>
                  <a:ext uri="{FF2B5EF4-FFF2-40B4-BE49-F238E27FC236}">
                    <a16:creationId xmlns:a16="http://schemas.microsoft.com/office/drawing/2014/main" id="{0B75DBED-6720-44A8-B07C-B6F2EFDCE0A0}"/>
                  </a:ext>
                </a:extLst>
              </p:cNvPr>
              <p:cNvSpPr>
                <a:spLocks noChangeAspect="1"/>
              </p:cNvSpPr>
              <p:nvPr/>
            </p:nvSpPr>
            <p:spPr>
              <a:xfrm>
                <a:off x="4089662" y="3615207"/>
                <a:ext cx="15796" cy="14920"/>
              </a:xfrm>
              <a:custGeom>
                <a:avLst/>
                <a:gdLst/>
                <a:ahLst/>
                <a:cxnLst/>
                <a:rect l="0" t="0" r="0" b="0"/>
                <a:pathLst>
                  <a:path w="15796" h="14919">
                    <a:moveTo>
                      <a:pt x="15796" y="7459"/>
                    </a:moveTo>
                    <a:cubicBezTo>
                      <a:pt x="15796" y="11574"/>
                      <a:pt x="12260" y="14919"/>
                      <a:pt x="7894" y="14919"/>
                    </a:cubicBezTo>
                    <a:cubicBezTo>
                      <a:pt x="3535" y="14919"/>
                      <a:pt x="0" y="11574"/>
                      <a:pt x="0" y="7459"/>
                    </a:cubicBezTo>
                    <a:cubicBezTo>
                      <a:pt x="0" y="3345"/>
                      <a:pt x="3535" y="0"/>
                      <a:pt x="7894" y="0"/>
                    </a:cubicBezTo>
                    <a:cubicBezTo>
                      <a:pt x="12260" y="0"/>
                      <a:pt x="15796" y="3345"/>
                      <a:pt x="15796" y="7459"/>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6" name="Free Form 325">
                <a:extLst>
                  <a:ext uri="{FF2B5EF4-FFF2-40B4-BE49-F238E27FC236}">
                    <a16:creationId xmlns:a16="http://schemas.microsoft.com/office/drawing/2014/main" id="{2D32227C-FF1D-4048-804D-1563435C06F3}"/>
                  </a:ext>
                </a:extLst>
              </p:cNvPr>
              <p:cNvSpPr>
                <a:spLocks noChangeAspect="1"/>
              </p:cNvSpPr>
              <p:nvPr/>
            </p:nvSpPr>
            <p:spPr>
              <a:xfrm>
                <a:off x="4117136" y="3615207"/>
                <a:ext cx="15804" cy="14920"/>
              </a:xfrm>
              <a:custGeom>
                <a:avLst/>
                <a:gdLst/>
                <a:ahLst/>
                <a:cxnLst/>
                <a:rect l="0" t="0" r="0" b="0"/>
                <a:pathLst>
                  <a:path w="15803" h="14919">
                    <a:moveTo>
                      <a:pt x="15803" y="7459"/>
                    </a:moveTo>
                    <a:cubicBezTo>
                      <a:pt x="15803" y="11574"/>
                      <a:pt x="12268" y="14919"/>
                      <a:pt x="7901" y="14919"/>
                    </a:cubicBezTo>
                    <a:cubicBezTo>
                      <a:pt x="3543" y="14919"/>
                      <a:pt x="0" y="11574"/>
                      <a:pt x="0" y="7459"/>
                    </a:cubicBezTo>
                    <a:cubicBezTo>
                      <a:pt x="0" y="3345"/>
                      <a:pt x="3543" y="0"/>
                      <a:pt x="7901" y="0"/>
                    </a:cubicBezTo>
                    <a:cubicBezTo>
                      <a:pt x="12268" y="0"/>
                      <a:pt x="15803" y="3345"/>
                      <a:pt x="15803" y="7459"/>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7" name="Free Form 326">
                <a:extLst>
                  <a:ext uri="{FF2B5EF4-FFF2-40B4-BE49-F238E27FC236}">
                    <a16:creationId xmlns:a16="http://schemas.microsoft.com/office/drawing/2014/main" id="{4FD8792E-A54C-49C2-A4C0-995FF38FD92D}"/>
                  </a:ext>
                </a:extLst>
              </p:cNvPr>
              <p:cNvSpPr>
                <a:spLocks noChangeAspect="1"/>
              </p:cNvSpPr>
              <p:nvPr/>
            </p:nvSpPr>
            <p:spPr>
              <a:xfrm>
                <a:off x="3961646" y="3709671"/>
                <a:ext cx="11529" cy="10874"/>
              </a:xfrm>
              <a:custGeom>
                <a:avLst/>
                <a:gdLst/>
                <a:ahLst/>
                <a:cxnLst/>
                <a:rect l="0" t="0" r="0" b="0"/>
                <a:pathLst>
                  <a:path w="11529" h="10873">
                    <a:moveTo>
                      <a:pt x="0" y="5440"/>
                    </a:moveTo>
                    <a:cubicBezTo>
                      <a:pt x="0" y="8442"/>
                      <a:pt x="2583" y="10873"/>
                      <a:pt x="5768" y="10873"/>
                    </a:cubicBezTo>
                    <a:cubicBezTo>
                      <a:pt x="8945" y="10873"/>
                      <a:pt x="11529" y="8442"/>
                      <a:pt x="11529" y="5440"/>
                    </a:cubicBezTo>
                    <a:cubicBezTo>
                      <a:pt x="11529" y="2430"/>
                      <a:pt x="8945" y="0"/>
                      <a:pt x="5768" y="0"/>
                    </a:cubicBezTo>
                    <a:cubicBezTo>
                      <a:pt x="2583" y="0"/>
                      <a:pt x="0" y="2430"/>
                      <a:pt x="0" y="544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8" name="Free Form 327">
                <a:extLst>
                  <a:ext uri="{FF2B5EF4-FFF2-40B4-BE49-F238E27FC236}">
                    <a16:creationId xmlns:a16="http://schemas.microsoft.com/office/drawing/2014/main" id="{62B35CB9-4592-49F7-B483-3FFBEDACBACB}"/>
                  </a:ext>
                </a:extLst>
              </p:cNvPr>
              <p:cNvSpPr>
                <a:spLocks noChangeAspect="1"/>
              </p:cNvSpPr>
              <p:nvPr/>
            </p:nvSpPr>
            <p:spPr>
              <a:xfrm>
                <a:off x="3941598" y="3709671"/>
                <a:ext cx="11529" cy="10874"/>
              </a:xfrm>
              <a:custGeom>
                <a:avLst/>
                <a:gdLst/>
                <a:ahLst/>
                <a:cxnLst/>
                <a:rect l="0" t="0" r="0" b="0"/>
                <a:pathLst>
                  <a:path w="11529" h="10873">
                    <a:moveTo>
                      <a:pt x="0" y="5440"/>
                    </a:moveTo>
                    <a:cubicBezTo>
                      <a:pt x="0" y="8442"/>
                      <a:pt x="2575" y="10873"/>
                      <a:pt x="5760" y="10873"/>
                    </a:cubicBezTo>
                    <a:cubicBezTo>
                      <a:pt x="8945" y="10873"/>
                      <a:pt x="11529" y="8442"/>
                      <a:pt x="11529" y="5440"/>
                    </a:cubicBezTo>
                    <a:cubicBezTo>
                      <a:pt x="11529" y="2430"/>
                      <a:pt x="8945" y="0"/>
                      <a:pt x="5760" y="0"/>
                    </a:cubicBezTo>
                    <a:cubicBezTo>
                      <a:pt x="2575" y="0"/>
                      <a:pt x="0" y="2430"/>
                      <a:pt x="0" y="544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69" name="Free Form 328">
                <a:extLst>
                  <a:ext uri="{FF2B5EF4-FFF2-40B4-BE49-F238E27FC236}">
                    <a16:creationId xmlns:a16="http://schemas.microsoft.com/office/drawing/2014/main" id="{1A524A76-F49F-4C43-9D62-1C16598E474F}"/>
                  </a:ext>
                </a:extLst>
              </p:cNvPr>
              <p:cNvSpPr>
                <a:spLocks noChangeAspect="1"/>
              </p:cNvSpPr>
              <p:nvPr/>
            </p:nvSpPr>
            <p:spPr>
              <a:xfrm>
                <a:off x="3921548" y="3709671"/>
                <a:ext cx="11529" cy="10874"/>
              </a:xfrm>
              <a:custGeom>
                <a:avLst/>
                <a:gdLst/>
                <a:ahLst/>
                <a:cxnLst/>
                <a:rect l="0" t="0" r="0" b="0"/>
                <a:pathLst>
                  <a:path w="11529" h="10873">
                    <a:moveTo>
                      <a:pt x="0" y="5440"/>
                    </a:moveTo>
                    <a:cubicBezTo>
                      <a:pt x="0" y="8442"/>
                      <a:pt x="2583" y="10873"/>
                      <a:pt x="5760" y="10873"/>
                    </a:cubicBezTo>
                    <a:cubicBezTo>
                      <a:pt x="8945" y="10873"/>
                      <a:pt x="11529" y="8442"/>
                      <a:pt x="11529" y="5440"/>
                    </a:cubicBezTo>
                    <a:cubicBezTo>
                      <a:pt x="11529" y="2430"/>
                      <a:pt x="8945" y="0"/>
                      <a:pt x="5760" y="0"/>
                    </a:cubicBezTo>
                    <a:cubicBezTo>
                      <a:pt x="2583" y="0"/>
                      <a:pt x="0" y="2430"/>
                      <a:pt x="0" y="544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70" name="Free Form 329">
                <a:extLst>
                  <a:ext uri="{FF2B5EF4-FFF2-40B4-BE49-F238E27FC236}">
                    <a16:creationId xmlns:a16="http://schemas.microsoft.com/office/drawing/2014/main" id="{7BFACF9B-78F6-4BE7-98D5-1B2F1BC5B61E}"/>
                  </a:ext>
                </a:extLst>
              </p:cNvPr>
              <p:cNvSpPr>
                <a:spLocks noChangeAspect="1"/>
              </p:cNvSpPr>
              <p:nvPr/>
            </p:nvSpPr>
            <p:spPr>
              <a:xfrm>
                <a:off x="4134124" y="3582709"/>
                <a:ext cx="112738" cy="103975"/>
              </a:xfrm>
              <a:custGeom>
                <a:avLst/>
                <a:gdLst/>
                <a:ahLst/>
                <a:cxnLst/>
                <a:rect l="0" t="0" r="0" b="0"/>
                <a:pathLst>
                  <a:path w="112737" h="103974">
                    <a:moveTo>
                      <a:pt x="88552" y="102824"/>
                    </a:moveTo>
                    <a:lnTo>
                      <a:pt x="63482" y="77762"/>
                    </a:lnTo>
                    <a:lnTo>
                      <a:pt x="21412" y="77762"/>
                    </a:lnTo>
                    <a:cubicBezTo>
                      <a:pt x="10401" y="77762"/>
                      <a:pt x="0" y="67353"/>
                      <a:pt x="0" y="56357"/>
                    </a:cubicBezTo>
                    <a:lnTo>
                      <a:pt x="0" y="21396"/>
                    </a:lnTo>
                    <a:cubicBezTo>
                      <a:pt x="0" y="10401"/>
                      <a:pt x="10401" y="0"/>
                      <a:pt x="21412" y="0"/>
                    </a:cubicBezTo>
                    <a:lnTo>
                      <a:pt x="91333" y="0"/>
                    </a:lnTo>
                    <a:cubicBezTo>
                      <a:pt x="102328" y="0"/>
                      <a:pt x="112737" y="10401"/>
                      <a:pt x="112737" y="21396"/>
                    </a:cubicBezTo>
                    <a:lnTo>
                      <a:pt x="112737" y="56357"/>
                    </a:lnTo>
                    <a:cubicBezTo>
                      <a:pt x="112737" y="66034"/>
                      <a:pt x="104683" y="75247"/>
                      <a:pt x="95257" y="77320"/>
                    </a:cubicBezTo>
                    <a:lnTo>
                      <a:pt x="95257" y="100042"/>
                    </a:lnTo>
                    <a:cubicBezTo>
                      <a:pt x="95257" y="101635"/>
                      <a:pt x="94297" y="103068"/>
                      <a:pt x="92834" y="103677"/>
                    </a:cubicBezTo>
                    <a:cubicBezTo>
                      <a:pt x="92346" y="103875"/>
                      <a:pt x="91836" y="103974"/>
                      <a:pt x="91333" y="103974"/>
                    </a:cubicBezTo>
                    <a:cubicBezTo>
                      <a:pt x="90304" y="103974"/>
                      <a:pt x="89298" y="103578"/>
                      <a:pt x="88552" y="102824"/>
                    </a:cubicBezTo>
                    <a:close/>
                    <a:moveTo>
                      <a:pt x="87378" y="73830"/>
                    </a:moveTo>
                    <a:cubicBezTo>
                      <a:pt x="87378" y="71658"/>
                      <a:pt x="89138" y="69898"/>
                      <a:pt x="91310" y="69898"/>
                    </a:cubicBezTo>
                    <a:lnTo>
                      <a:pt x="91607" y="69898"/>
                    </a:lnTo>
                    <a:cubicBezTo>
                      <a:pt x="98191" y="69898"/>
                      <a:pt x="104881" y="62933"/>
                      <a:pt x="104881" y="56357"/>
                    </a:cubicBezTo>
                    <a:lnTo>
                      <a:pt x="104881" y="21396"/>
                    </a:lnTo>
                    <a:cubicBezTo>
                      <a:pt x="104881" y="14813"/>
                      <a:pt x="97917" y="7848"/>
                      <a:pt x="91333" y="7848"/>
                    </a:cubicBezTo>
                    <a:lnTo>
                      <a:pt x="21412" y="7848"/>
                    </a:lnTo>
                    <a:cubicBezTo>
                      <a:pt x="14828" y="7848"/>
                      <a:pt x="7856" y="14813"/>
                      <a:pt x="7856" y="21396"/>
                    </a:cubicBezTo>
                    <a:lnTo>
                      <a:pt x="7856" y="56357"/>
                    </a:lnTo>
                    <a:cubicBezTo>
                      <a:pt x="7856" y="62933"/>
                      <a:pt x="14828" y="69898"/>
                      <a:pt x="21412" y="69898"/>
                    </a:cubicBezTo>
                    <a:lnTo>
                      <a:pt x="65112" y="69898"/>
                    </a:lnTo>
                    <a:cubicBezTo>
                      <a:pt x="66149" y="69898"/>
                      <a:pt x="67155" y="70309"/>
                      <a:pt x="67886" y="71056"/>
                    </a:cubicBezTo>
                    <a:lnTo>
                      <a:pt x="87401" y="90556"/>
                    </a:lnTo>
                    <a:cubicBezTo>
                      <a:pt x="87401" y="90556"/>
                      <a:pt x="87378" y="74355"/>
                      <a:pt x="87378" y="7383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sp>
            <p:nvSpPr>
              <p:cNvPr id="71" name="Free Form 330">
                <a:extLst>
                  <a:ext uri="{FF2B5EF4-FFF2-40B4-BE49-F238E27FC236}">
                    <a16:creationId xmlns:a16="http://schemas.microsoft.com/office/drawing/2014/main" id="{35B88A50-4C55-454B-B6D9-044FEF35FB32}"/>
                  </a:ext>
                </a:extLst>
              </p:cNvPr>
              <p:cNvSpPr>
                <a:spLocks noChangeAspect="1"/>
              </p:cNvSpPr>
              <p:nvPr/>
            </p:nvSpPr>
            <p:spPr>
              <a:xfrm>
                <a:off x="3909034" y="3686919"/>
                <a:ext cx="75918" cy="70021"/>
              </a:xfrm>
              <a:custGeom>
                <a:avLst/>
                <a:gdLst/>
                <a:ahLst/>
                <a:cxnLst/>
                <a:rect l="0" t="0" r="0" b="0"/>
                <a:pathLst>
                  <a:path w="75918" h="70020">
                    <a:moveTo>
                      <a:pt x="59634" y="69250"/>
                    </a:moveTo>
                    <a:lnTo>
                      <a:pt x="42748" y="52364"/>
                    </a:lnTo>
                    <a:lnTo>
                      <a:pt x="14417" y="52364"/>
                    </a:lnTo>
                    <a:cubicBezTo>
                      <a:pt x="7002" y="52364"/>
                      <a:pt x="0" y="45361"/>
                      <a:pt x="0" y="37947"/>
                    </a:cubicBezTo>
                    <a:lnTo>
                      <a:pt x="0" y="14409"/>
                    </a:lnTo>
                    <a:cubicBezTo>
                      <a:pt x="0" y="7002"/>
                      <a:pt x="7002" y="0"/>
                      <a:pt x="14417" y="0"/>
                    </a:cubicBezTo>
                    <a:lnTo>
                      <a:pt x="61501" y="0"/>
                    </a:lnTo>
                    <a:cubicBezTo>
                      <a:pt x="68915" y="0"/>
                      <a:pt x="75918" y="7002"/>
                      <a:pt x="75918" y="14409"/>
                    </a:cubicBezTo>
                    <a:lnTo>
                      <a:pt x="75918" y="37947"/>
                    </a:lnTo>
                    <a:cubicBezTo>
                      <a:pt x="75918" y="44470"/>
                      <a:pt x="70500" y="50673"/>
                      <a:pt x="64145" y="52075"/>
                    </a:cubicBezTo>
                    <a:lnTo>
                      <a:pt x="64145" y="67368"/>
                    </a:lnTo>
                    <a:cubicBezTo>
                      <a:pt x="64145" y="68442"/>
                      <a:pt x="63505" y="69410"/>
                      <a:pt x="62514" y="69822"/>
                    </a:cubicBezTo>
                    <a:cubicBezTo>
                      <a:pt x="62186" y="69951"/>
                      <a:pt x="61843" y="70020"/>
                      <a:pt x="61501" y="70020"/>
                    </a:cubicBezTo>
                    <a:cubicBezTo>
                      <a:pt x="60815" y="70020"/>
                      <a:pt x="60137" y="69753"/>
                      <a:pt x="59634" y="69250"/>
                    </a:cubicBezTo>
                    <a:close/>
                    <a:moveTo>
                      <a:pt x="58841" y="49720"/>
                    </a:moveTo>
                    <a:cubicBezTo>
                      <a:pt x="58841" y="48257"/>
                      <a:pt x="60030" y="47068"/>
                      <a:pt x="61485" y="47068"/>
                    </a:cubicBezTo>
                    <a:lnTo>
                      <a:pt x="61691" y="47068"/>
                    </a:lnTo>
                    <a:cubicBezTo>
                      <a:pt x="66126" y="47068"/>
                      <a:pt x="70629" y="42382"/>
                      <a:pt x="70629" y="37947"/>
                    </a:cubicBezTo>
                    <a:lnTo>
                      <a:pt x="70629" y="14409"/>
                    </a:lnTo>
                    <a:cubicBezTo>
                      <a:pt x="70629" y="9974"/>
                      <a:pt x="65935" y="5288"/>
                      <a:pt x="61501" y="5288"/>
                    </a:cubicBezTo>
                    <a:lnTo>
                      <a:pt x="14417" y="5288"/>
                    </a:lnTo>
                    <a:cubicBezTo>
                      <a:pt x="9982" y="5288"/>
                      <a:pt x="5288" y="9974"/>
                      <a:pt x="5288" y="14409"/>
                    </a:cubicBezTo>
                    <a:lnTo>
                      <a:pt x="5288" y="37947"/>
                    </a:lnTo>
                    <a:cubicBezTo>
                      <a:pt x="5288" y="42382"/>
                      <a:pt x="9982" y="47068"/>
                      <a:pt x="14417" y="47068"/>
                    </a:cubicBezTo>
                    <a:lnTo>
                      <a:pt x="43845" y="47068"/>
                    </a:lnTo>
                    <a:cubicBezTo>
                      <a:pt x="44546" y="47068"/>
                      <a:pt x="45217" y="47343"/>
                      <a:pt x="45712" y="47845"/>
                    </a:cubicBezTo>
                    <a:lnTo>
                      <a:pt x="58856" y="60990"/>
                    </a:lnTo>
                    <a:cubicBezTo>
                      <a:pt x="58856" y="60990"/>
                      <a:pt x="58841" y="50078"/>
                      <a:pt x="58841" y="4972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93D41"/>
                  </a:solidFill>
                  <a:effectLst/>
                  <a:uLnTx/>
                  <a:uFillTx/>
                  <a:latin typeface="Arial" panose="020B0604020202020204"/>
                  <a:ea typeface="+mn-ea"/>
                  <a:cs typeface="Arial" panose="020B0604020202020204" pitchFamily="34" charset="0"/>
                </a:endParaRPr>
              </a:p>
            </p:txBody>
          </p:sp>
        </p:grpSp>
        <p:sp>
          <p:nvSpPr>
            <p:cNvPr id="85" name="TextBox 84">
              <a:extLst>
                <a:ext uri="{FF2B5EF4-FFF2-40B4-BE49-F238E27FC236}">
                  <a16:creationId xmlns:a16="http://schemas.microsoft.com/office/drawing/2014/main" id="{54FA992A-BFAC-47D6-BAE8-10D7971E1D69}"/>
                </a:ext>
              </a:extLst>
            </p:cNvPr>
            <p:cNvSpPr txBox="1"/>
            <p:nvPr/>
          </p:nvSpPr>
          <p:spPr>
            <a:xfrm>
              <a:off x="1866251" y="1487593"/>
              <a:ext cx="2621859" cy="553998"/>
            </a:xfrm>
            <a:prstGeom prst="rect">
              <a:avLst/>
            </a:prstGeom>
            <a:noFill/>
          </p:spPr>
          <p:txBody>
            <a:bodyPr wrap="square" lIns="0" tIns="0" rIns="0" bIns="0" rtlCol="0" anchor="t" anchorCtr="0">
              <a:spAutoFit/>
            </a:bodyPr>
            <a:lstStyle/>
            <a:p>
              <a:pPr marL="0" marR="0" lvl="0" indent="0" algn="r" defTabSz="914400" rtl="0" eaLnBrk="1" fontAlgn="base" latinLnBrk="0" hangingPunct="1">
                <a:lnSpc>
                  <a:spcPct val="100000"/>
                </a:lnSpc>
                <a:spcBef>
                  <a:spcPts val="1200"/>
                </a:spcBef>
                <a:spcAft>
                  <a:spcPct val="0"/>
                </a:spcAft>
                <a:buClrTx/>
                <a:buSzTx/>
                <a:buFontTx/>
                <a:buNone/>
                <a:tabLst/>
                <a:defRPr/>
              </a:pPr>
              <a:r>
                <a:rPr kumimoji="0" lang="en-US" sz="1800" b="1" i="0" u="none" strike="noStrike" kern="1200" cap="none" spc="0" normalizeH="0" baseline="0" noProof="0" dirty="0">
                  <a:ln>
                    <a:noFill/>
                  </a:ln>
                  <a:solidFill>
                    <a:schemeClr val="accent3">
                      <a:lumMod val="75000"/>
                    </a:schemeClr>
                  </a:solidFill>
                  <a:effectLst/>
                  <a:uLnTx/>
                  <a:uFillTx/>
                  <a:latin typeface="Arial" panose="020B0604020202020204"/>
                  <a:ea typeface="ＭＳ Ｐゴシック" pitchFamily="34" charset="-128"/>
                  <a:cs typeface="Segoe UI" panose="020B0502040204020203" pitchFamily="34" charset="0"/>
                </a:rPr>
                <a:t>Client interviews and focus groups</a:t>
              </a:r>
            </a:p>
          </p:txBody>
        </p:sp>
        <p:sp>
          <p:nvSpPr>
            <p:cNvPr id="13" name="TextBox 12">
              <a:extLst>
                <a:ext uri="{FF2B5EF4-FFF2-40B4-BE49-F238E27FC236}">
                  <a16:creationId xmlns:a16="http://schemas.microsoft.com/office/drawing/2014/main" id="{6FC0A588-07F7-4E62-885A-7EDD356E54D3}"/>
                </a:ext>
              </a:extLst>
            </p:cNvPr>
            <p:cNvSpPr txBox="1"/>
            <p:nvPr/>
          </p:nvSpPr>
          <p:spPr>
            <a:xfrm>
              <a:off x="4650112" y="1561340"/>
              <a:ext cx="6725360" cy="43088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770"/>
                  </a:solidFill>
                  <a:effectLst/>
                  <a:uLnTx/>
                  <a:uFillTx/>
                  <a:latin typeface="Arial"/>
                  <a:ea typeface="+mn-ea"/>
                  <a:cs typeface="Arial"/>
                </a:rPr>
                <a:t>Targets clients with both positive and negative NPS scores to develop action planning aligned with client pain points and best practices</a:t>
              </a:r>
              <a:endParaRPr kumimoji="0" lang="en-US" sz="1400" b="0" i="0" u="none" strike="noStrike" kern="1200" cap="none" spc="0" normalizeH="0" baseline="0" noProof="0">
                <a:ln>
                  <a:noFill/>
                </a:ln>
                <a:solidFill>
                  <a:srgbClr val="5C6770"/>
                </a:solidFill>
                <a:effectLst/>
                <a:uLnTx/>
                <a:uFillTx/>
                <a:latin typeface="Arial" panose="020B0604020202020204" pitchFamily="34" charset="0"/>
                <a:ea typeface="+mn-ea"/>
                <a:cs typeface="Arial" panose="020B0604020202020204" pitchFamily="34" charset="0"/>
              </a:endParaRPr>
            </a:p>
          </p:txBody>
        </p:sp>
        <p:sp>
          <p:nvSpPr>
            <p:cNvPr id="11" name="Oval 10">
              <a:extLst>
                <a:ext uri="{FF2B5EF4-FFF2-40B4-BE49-F238E27FC236}">
                  <a16:creationId xmlns:a16="http://schemas.microsoft.com/office/drawing/2014/main" id="{DF1316F4-C536-437B-AB4B-72CB00C365CD}"/>
                </a:ext>
              </a:extLst>
            </p:cNvPr>
            <p:cNvSpPr/>
            <p:nvPr/>
          </p:nvSpPr>
          <p:spPr>
            <a:xfrm>
              <a:off x="371080" y="1465621"/>
              <a:ext cx="876936" cy="548640"/>
            </a:xfrm>
            <a:prstGeom prst="ellipse">
              <a:avLst/>
            </a:prstGeom>
            <a:solidFill>
              <a:schemeClr val="bg2">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rgbClr val="FFFFFF"/>
                  </a:solidFill>
                  <a:latin typeface="Arial" panose="020B0604020202020204"/>
                </a:rPr>
                <a:t>Inputs</a:t>
              </a:r>
              <a:endParaRPr kumimoji="0" lang="en-US" sz="900" b="1"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15" name="Group 14">
            <a:extLst>
              <a:ext uri="{FF2B5EF4-FFF2-40B4-BE49-F238E27FC236}">
                <a16:creationId xmlns:a16="http://schemas.microsoft.com/office/drawing/2014/main" id="{880DAAD9-5AB3-4951-8F0D-4458175125DF}"/>
              </a:ext>
            </a:extLst>
          </p:cNvPr>
          <p:cNvGrpSpPr/>
          <p:nvPr/>
        </p:nvGrpSpPr>
        <p:grpSpPr>
          <a:xfrm>
            <a:off x="310361" y="1107643"/>
            <a:ext cx="11352543" cy="756394"/>
            <a:chOff x="318751" y="2322813"/>
            <a:chExt cx="11352543" cy="756394"/>
          </a:xfrm>
        </p:grpSpPr>
        <p:grpSp>
          <p:nvGrpSpPr>
            <p:cNvPr id="89" name="Group 88">
              <a:extLst>
                <a:ext uri="{FF2B5EF4-FFF2-40B4-BE49-F238E27FC236}">
                  <a16:creationId xmlns:a16="http://schemas.microsoft.com/office/drawing/2014/main" id="{46A7C024-FCB8-4A47-B74F-346D3D1263AC}"/>
                </a:ext>
              </a:extLst>
            </p:cNvPr>
            <p:cNvGrpSpPr/>
            <p:nvPr/>
          </p:nvGrpSpPr>
          <p:grpSpPr>
            <a:xfrm>
              <a:off x="318751" y="2322813"/>
              <a:ext cx="9738332" cy="756394"/>
              <a:chOff x="772994" y="1439228"/>
              <a:chExt cx="9738332" cy="756394"/>
            </a:xfrm>
          </p:grpSpPr>
          <p:sp>
            <p:nvSpPr>
              <p:cNvPr id="108" name="Rectangle 107">
                <a:extLst>
                  <a:ext uri="{FF2B5EF4-FFF2-40B4-BE49-F238E27FC236}">
                    <a16:creationId xmlns:a16="http://schemas.microsoft.com/office/drawing/2014/main" id="{D58FA774-930F-46B7-A89E-241BD0CE6826}"/>
                  </a:ext>
                </a:extLst>
              </p:cNvPr>
              <p:cNvSpPr/>
              <p:nvPr/>
            </p:nvSpPr>
            <p:spPr>
              <a:xfrm rot="5400000">
                <a:off x="5958889" y="-2357577"/>
                <a:ext cx="755631" cy="8349242"/>
              </a:xfrm>
              <a:prstGeom prst="rect">
                <a:avLst/>
              </a:prstGeom>
              <a:gradFill>
                <a:gsLst>
                  <a:gs pos="30000">
                    <a:schemeClr val="bg1">
                      <a:alpha val="59000"/>
                    </a:schemeClr>
                  </a:gs>
                  <a:gs pos="100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09" name="Group 108">
                <a:extLst>
                  <a:ext uri="{FF2B5EF4-FFF2-40B4-BE49-F238E27FC236}">
                    <a16:creationId xmlns:a16="http://schemas.microsoft.com/office/drawing/2014/main" id="{17FA9252-FFE8-4E92-B7FD-1050153FB3D8}"/>
                  </a:ext>
                </a:extLst>
              </p:cNvPr>
              <p:cNvGrpSpPr/>
              <p:nvPr/>
            </p:nvGrpSpPr>
            <p:grpSpPr>
              <a:xfrm>
                <a:off x="772994" y="1439228"/>
                <a:ext cx="1833986" cy="756394"/>
                <a:chOff x="772994" y="1440659"/>
                <a:chExt cx="1833986" cy="756394"/>
              </a:xfrm>
            </p:grpSpPr>
            <p:sp>
              <p:nvSpPr>
                <p:cNvPr id="110" name="Rectangle: Diagonal Corners Snipped 109">
                  <a:extLst>
                    <a:ext uri="{FF2B5EF4-FFF2-40B4-BE49-F238E27FC236}">
                      <a16:creationId xmlns:a16="http://schemas.microsoft.com/office/drawing/2014/main" id="{9F811EB9-4C07-4450-9D95-FD8639B1EF1B}"/>
                    </a:ext>
                  </a:extLst>
                </p:cNvPr>
                <p:cNvSpPr/>
                <p:nvPr/>
              </p:nvSpPr>
              <p:spPr>
                <a:xfrm>
                  <a:off x="2062782" y="1958057"/>
                  <a:ext cx="544198" cy="238996"/>
                </a:xfrm>
                <a:prstGeom prst="snip2DiagRect">
                  <a:avLst>
                    <a:gd name="adj1" fmla="val 50000"/>
                    <a:gd name="adj2" fmla="val 16667"/>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1" name="Rectangle: Top Corners Rounded 110">
                  <a:extLst>
                    <a:ext uri="{FF2B5EF4-FFF2-40B4-BE49-F238E27FC236}">
                      <a16:creationId xmlns:a16="http://schemas.microsoft.com/office/drawing/2014/main" id="{BD5685BB-7C70-4EB4-923D-48FFDF32B7D5}"/>
                    </a:ext>
                  </a:extLst>
                </p:cNvPr>
                <p:cNvSpPr/>
                <p:nvPr/>
              </p:nvSpPr>
              <p:spPr>
                <a:xfrm rot="16200000">
                  <a:off x="1367211" y="846442"/>
                  <a:ext cx="644513" cy="1832947"/>
                </a:xfrm>
                <a:prstGeom prst="round2SameRect">
                  <a:avLst>
                    <a:gd name="adj1" fmla="val 50000"/>
                    <a:gd name="adj2" fmla="val 0"/>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sp>
          <p:nvSpPr>
            <p:cNvPr id="90" name="Oval 89">
              <a:extLst>
                <a:ext uri="{FF2B5EF4-FFF2-40B4-BE49-F238E27FC236}">
                  <a16:creationId xmlns:a16="http://schemas.microsoft.com/office/drawing/2014/main" id="{060B1EFF-8649-47C6-87BE-B82F90445ACD}"/>
                </a:ext>
              </a:extLst>
            </p:cNvPr>
            <p:cNvSpPr/>
            <p:nvPr/>
          </p:nvSpPr>
          <p:spPr>
            <a:xfrm>
              <a:off x="374672" y="2374135"/>
              <a:ext cx="956871" cy="548640"/>
            </a:xfrm>
            <a:prstGeom prst="ellipse">
              <a:avLst/>
            </a:prstGeom>
            <a:solidFill>
              <a:schemeClr val="accent2">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a:solidFill>
                    <a:srgbClr val="FFFFFF"/>
                  </a:solidFill>
                  <a:latin typeface="Arial" panose="020B0604020202020204"/>
                </a:rPr>
                <a:t>Strategy 1</a:t>
              </a:r>
              <a:endParaRPr kumimoji="0" lang="en-US" sz="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2" name="TextBox 91">
              <a:extLst>
                <a:ext uri="{FF2B5EF4-FFF2-40B4-BE49-F238E27FC236}">
                  <a16:creationId xmlns:a16="http://schemas.microsoft.com/office/drawing/2014/main" id="{045F4B34-967F-43CA-AFAE-58E3D5CB1831}"/>
                </a:ext>
              </a:extLst>
            </p:cNvPr>
            <p:cNvSpPr txBox="1"/>
            <p:nvPr/>
          </p:nvSpPr>
          <p:spPr>
            <a:xfrm>
              <a:off x="2091143" y="2398377"/>
              <a:ext cx="2618268" cy="553998"/>
            </a:xfrm>
            <a:prstGeom prst="rect">
              <a:avLst/>
            </a:prstGeom>
            <a:noFill/>
          </p:spPr>
          <p:txBody>
            <a:bodyPr wrap="square" lIns="0" tIns="0" rIns="0" bIns="0" rtlCol="0" anchor="t" anchorCtr="0">
              <a:spAutoFit/>
            </a:bodyPr>
            <a:lstStyle/>
            <a:p>
              <a:pPr marL="0" marR="0" lvl="0" indent="0" algn="r" defTabSz="914400" rtl="0" eaLnBrk="1" fontAlgn="base" latinLnBrk="0" hangingPunct="1">
                <a:lnSpc>
                  <a:spcPct val="100000"/>
                </a:lnSpc>
                <a:spcBef>
                  <a:spcPts val="1200"/>
                </a:spcBef>
                <a:spcAft>
                  <a:spcPct val="0"/>
                </a:spcAft>
                <a:buClrTx/>
                <a:buSzTx/>
                <a:buFontTx/>
                <a:buNone/>
                <a:tabLst/>
                <a:defRPr/>
              </a:pPr>
              <a:r>
                <a:rPr kumimoji="0" lang="en-US" sz="1800" b="1" i="0" u="none" strike="noStrike" kern="1200" cap="none" spc="0" normalizeH="0" baseline="0" noProof="0" dirty="0">
                  <a:ln>
                    <a:noFill/>
                  </a:ln>
                  <a:solidFill>
                    <a:schemeClr val="tx2">
                      <a:lumMod val="75000"/>
                      <a:lumOff val="25000"/>
                    </a:schemeClr>
                  </a:solidFill>
                  <a:effectLst/>
                  <a:uLnTx/>
                  <a:uFillTx/>
                  <a:latin typeface="Arial" panose="020B0604020202020204"/>
                  <a:ea typeface="ＭＳ Ｐゴシック" pitchFamily="34" charset="-128"/>
                  <a:cs typeface="Segoe UI" panose="020B0502040204020203" pitchFamily="34" charset="0"/>
                </a:rPr>
                <a:t>Segmentation analysis for at-risk clients</a:t>
              </a:r>
            </a:p>
          </p:txBody>
        </p:sp>
        <p:sp>
          <p:nvSpPr>
            <p:cNvPr id="88" name="TextBox 87">
              <a:extLst>
                <a:ext uri="{FF2B5EF4-FFF2-40B4-BE49-F238E27FC236}">
                  <a16:creationId xmlns:a16="http://schemas.microsoft.com/office/drawing/2014/main" id="{8A405508-E358-4B55-9470-C559022F6CFE}"/>
                </a:ext>
              </a:extLst>
            </p:cNvPr>
            <p:cNvSpPr txBox="1"/>
            <p:nvPr/>
          </p:nvSpPr>
          <p:spPr>
            <a:xfrm>
              <a:off x="4945934" y="2470206"/>
              <a:ext cx="672536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770"/>
                  </a:solidFill>
                  <a:effectLst/>
                  <a:uLnTx/>
                  <a:uFillTx/>
                  <a:latin typeface="Arial" panose="020B0604020202020204" pitchFamily="34" charset="0"/>
                  <a:ea typeface="+mn-ea"/>
                  <a:cs typeface="Arial" panose="020B0604020202020204" pitchFamily="34" charset="0"/>
                </a:rPr>
                <a:t>Leverages cluster analysis to create client segmentation; aligned characteristics utilized to determine specific and meaningful retention approaches</a:t>
              </a:r>
            </a:p>
          </p:txBody>
        </p:sp>
        <p:grpSp>
          <p:nvGrpSpPr>
            <p:cNvPr id="46" name="Group 45">
              <a:extLst>
                <a:ext uri="{FF2B5EF4-FFF2-40B4-BE49-F238E27FC236}">
                  <a16:creationId xmlns:a16="http://schemas.microsoft.com/office/drawing/2014/main" id="{F2212267-C95B-4E91-A7E7-F9E76DDE5D02}"/>
                </a:ext>
              </a:extLst>
            </p:cNvPr>
            <p:cNvGrpSpPr/>
            <p:nvPr/>
          </p:nvGrpSpPr>
          <p:grpSpPr>
            <a:xfrm>
              <a:off x="1378373" y="2365412"/>
              <a:ext cx="630576" cy="546884"/>
              <a:chOff x="10553974" y="401125"/>
              <a:chExt cx="562641" cy="487965"/>
            </a:xfrm>
            <a:solidFill>
              <a:schemeClr val="bg1"/>
            </a:solidFill>
          </p:grpSpPr>
          <p:sp>
            <p:nvSpPr>
              <p:cNvPr id="47" name="Freeform: Shape 46">
                <a:extLst>
                  <a:ext uri="{FF2B5EF4-FFF2-40B4-BE49-F238E27FC236}">
                    <a16:creationId xmlns:a16="http://schemas.microsoft.com/office/drawing/2014/main" id="{8E836FA5-4848-4662-9BD9-5D7A055AE24B}"/>
                  </a:ext>
                </a:extLst>
              </p:cNvPr>
              <p:cNvSpPr/>
              <p:nvPr/>
            </p:nvSpPr>
            <p:spPr>
              <a:xfrm>
                <a:off x="10685802" y="749359"/>
                <a:ext cx="102298" cy="139731"/>
              </a:xfrm>
              <a:custGeom>
                <a:avLst/>
                <a:gdLst>
                  <a:gd name="connsiteX0" fmla="*/ 102299 w 102298"/>
                  <a:gd name="connsiteY0" fmla="*/ 139732 h 139731"/>
                  <a:gd name="connsiteX1" fmla="*/ 102299 w 102298"/>
                  <a:gd name="connsiteY1" fmla="*/ 0 h 139731"/>
                  <a:gd name="connsiteX2" fmla="*/ 0 w 102298"/>
                  <a:gd name="connsiteY2" fmla="*/ 29813 h 139731"/>
                  <a:gd name="connsiteX3" fmla="*/ 0 w 102298"/>
                  <a:gd name="connsiteY3" fmla="*/ 139732 h 139731"/>
                </a:gdLst>
                <a:ahLst/>
                <a:cxnLst>
                  <a:cxn ang="0">
                    <a:pos x="connsiteX0" y="connsiteY0"/>
                  </a:cxn>
                  <a:cxn ang="0">
                    <a:pos x="connsiteX1" y="connsiteY1"/>
                  </a:cxn>
                  <a:cxn ang="0">
                    <a:pos x="connsiteX2" y="connsiteY2"/>
                  </a:cxn>
                  <a:cxn ang="0">
                    <a:pos x="connsiteX3" y="connsiteY3"/>
                  </a:cxn>
                </a:cxnLst>
                <a:rect l="l" t="t" r="r" b="b"/>
                <a:pathLst>
                  <a:path w="102298" h="139731">
                    <a:moveTo>
                      <a:pt x="102299" y="139732"/>
                    </a:moveTo>
                    <a:lnTo>
                      <a:pt x="102299" y="0"/>
                    </a:lnTo>
                    <a:cubicBezTo>
                      <a:pt x="69073" y="12723"/>
                      <a:pt x="34859" y="22694"/>
                      <a:pt x="0" y="29813"/>
                    </a:cubicBezTo>
                    <a:lnTo>
                      <a:pt x="0" y="13973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8" name="Freeform: Shape 47">
                <a:extLst>
                  <a:ext uri="{FF2B5EF4-FFF2-40B4-BE49-F238E27FC236}">
                    <a16:creationId xmlns:a16="http://schemas.microsoft.com/office/drawing/2014/main" id="{52CF8DA3-9275-4BCC-A91A-E521E10AA1FE}"/>
                  </a:ext>
                </a:extLst>
              </p:cNvPr>
              <p:cNvSpPr/>
              <p:nvPr/>
            </p:nvSpPr>
            <p:spPr>
              <a:xfrm>
                <a:off x="10553977" y="784506"/>
                <a:ext cx="102203" cy="104584"/>
              </a:xfrm>
              <a:custGeom>
                <a:avLst/>
                <a:gdLst>
                  <a:gd name="connsiteX0" fmla="*/ 102203 w 102203"/>
                  <a:gd name="connsiteY0" fmla="*/ 0 h 104584"/>
                  <a:gd name="connsiteX1" fmla="*/ 3143 w 102203"/>
                  <a:gd name="connsiteY1" fmla="*/ 7810 h 104584"/>
                  <a:gd name="connsiteX2" fmla="*/ 0 w 102203"/>
                  <a:gd name="connsiteY2" fmla="*/ 7810 h 104584"/>
                  <a:gd name="connsiteX3" fmla="*/ 0 w 102203"/>
                  <a:gd name="connsiteY3" fmla="*/ 104584 h 104584"/>
                  <a:gd name="connsiteX4" fmla="*/ 102203 w 102203"/>
                  <a:gd name="connsiteY4" fmla="*/ 104584 h 104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03" h="104584">
                    <a:moveTo>
                      <a:pt x="102203" y="0"/>
                    </a:moveTo>
                    <a:cubicBezTo>
                      <a:pt x="69436" y="5171"/>
                      <a:pt x="36316" y="7783"/>
                      <a:pt x="3143" y="7810"/>
                    </a:cubicBezTo>
                    <a:lnTo>
                      <a:pt x="0" y="7810"/>
                    </a:lnTo>
                    <a:lnTo>
                      <a:pt x="0" y="104584"/>
                    </a:lnTo>
                    <a:lnTo>
                      <a:pt x="102203" y="10458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9" name="Freeform: Shape 48">
                <a:extLst>
                  <a:ext uri="{FF2B5EF4-FFF2-40B4-BE49-F238E27FC236}">
                    <a16:creationId xmlns:a16="http://schemas.microsoft.com/office/drawing/2014/main" id="{5F25B4A8-0BB4-421E-89C3-F92FE4AA7E51}"/>
                  </a:ext>
                </a:extLst>
              </p:cNvPr>
              <p:cNvSpPr/>
              <p:nvPr/>
            </p:nvSpPr>
            <p:spPr>
              <a:xfrm>
                <a:off x="10817625" y="681827"/>
                <a:ext cx="102298" cy="207263"/>
              </a:xfrm>
              <a:custGeom>
                <a:avLst/>
                <a:gdLst>
                  <a:gd name="connsiteX0" fmla="*/ 102299 w 102298"/>
                  <a:gd name="connsiteY0" fmla="*/ 207264 h 207263"/>
                  <a:gd name="connsiteX1" fmla="*/ 102299 w 102298"/>
                  <a:gd name="connsiteY1" fmla="*/ 0 h 207263"/>
                  <a:gd name="connsiteX2" fmla="*/ 0 w 102298"/>
                  <a:gd name="connsiteY2" fmla="*/ 55817 h 207263"/>
                  <a:gd name="connsiteX3" fmla="*/ 0 w 102298"/>
                  <a:gd name="connsiteY3" fmla="*/ 207264 h 207263"/>
                </a:gdLst>
                <a:ahLst/>
                <a:cxnLst>
                  <a:cxn ang="0">
                    <a:pos x="connsiteX0" y="connsiteY0"/>
                  </a:cxn>
                  <a:cxn ang="0">
                    <a:pos x="connsiteX1" y="connsiteY1"/>
                  </a:cxn>
                  <a:cxn ang="0">
                    <a:pos x="connsiteX2" y="connsiteY2"/>
                  </a:cxn>
                  <a:cxn ang="0">
                    <a:pos x="connsiteX3" y="connsiteY3"/>
                  </a:cxn>
                </a:cxnLst>
                <a:rect l="l" t="t" r="r" b="b"/>
                <a:pathLst>
                  <a:path w="102298" h="207263">
                    <a:moveTo>
                      <a:pt x="102299" y="207264"/>
                    </a:moveTo>
                    <a:lnTo>
                      <a:pt x="102299" y="0"/>
                    </a:lnTo>
                    <a:cubicBezTo>
                      <a:pt x="69853" y="21487"/>
                      <a:pt x="35628" y="40161"/>
                      <a:pt x="0" y="55817"/>
                    </a:cubicBezTo>
                    <a:lnTo>
                      <a:pt x="0" y="20726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50" name="Freeform: Shape 49">
                <a:extLst>
                  <a:ext uri="{FF2B5EF4-FFF2-40B4-BE49-F238E27FC236}">
                    <a16:creationId xmlns:a16="http://schemas.microsoft.com/office/drawing/2014/main" id="{AF28BD5B-380C-4756-9637-36AE74AB7B70}"/>
                  </a:ext>
                </a:extLst>
              </p:cNvPr>
              <p:cNvSpPr/>
              <p:nvPr/>
            </p:nvSpPr>
            <p:spPr>
              <a:xfrm>
                <a:off x="10949547" y="568955"/>
                <a:ext cx="102203" cy="320135"/>
              </a:xfrm>
              <a:custGeom>
                <a:avLst/>
                <a:gdLst>
                  <a:gd name="connsiteX0" fmla="*/ 0 w 102203"/>
                  <a:gd name="connsiteY0" fmla="*/ 320135 h 320135"/>
                  <a:gd name="connsiteX1" fmla="*/ 102203 w 102203"/>
                  <a:gd name="connsiteY1" fmla="*/ 320135 h 320135"/>
                  <a:gd name="connsiteX2" fmla="*/ 102203 w 102203"/>
                  <a:gd name="connsiteY2" fmla="*/ 88868 h 320135"/>
                  <a:gd name="connsiteX3" fmla="*/ 102203 w 102203"/>
                  <a:gd name="connsiteY3" fmla="*/ 88868 h 320135"/>
                  <a:gd name="connsiteX4" fmla="*/ 102203 w 102203"/>
                  <a:gd name="connsiteY4" fmla="*/ 0 h 320135"/>
                  <a:gd name="connsiteX5" fmla="*/ 0 w 102203"/>
                  <a:gd name="connsiteY5" fmla="*/ 91631 h 320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203" h="320135">
                    <a:moveTo>
                      <a:pt x="0" y="320135"/>
                    </a:moveTo>
                    <a:lnTo>
                      <a:pt x="102203" y="320135"/>
                    </a:lnTo>
                    <a:lnTo>
                      <a:pt x="102203" y="88868"/>
                    </a:lnTo>
                    <a:lnTo>
                      <a:pt x="102203" y="88868"/>
                    </a:lnTo>
                    <a:lnTo>
                      <a:pt x="102203" y="0"/>
                    </a:lnTo>
                    <a:cubicBezTo>
                      <a:pt x="71085" y="33681"/>
                      <a:pt x="36867" y="64360"/>
                      <a:pt x="0" y="9163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51" name="Freeform: Shape 50">
                <a:extLst>
                  <a:ext uri="{FF2B5EF4-FFF2-40B4-BE49-F238E27FC236}">
                    <a16:creationId xmlns:a16="http://schemas.microsoft.com/office/drawing/2014/main" id="{41D98711-7121-4D04-B793-3B67C99A7519}"/>
                  </a:ext>
                </a:extLst>
              </p:cNvPr>
              <p:cNvSpPr/>
              <p:nvPr/>
            </p:nvSpPr>
            <p:spPr>
              <a:xfrm>
                <a:off x="10553974" y="401125"/>
                <a:ext cx="562641" cy="345471"/>
              </a:xfrm>
              <a:custGeom>
                <a:avLst/>
                <a:gdLst>
                  <a:gd name="connsiteX0" fmla="*/ 493109 w 562641"/>
                  <a:gd name="connsiteY0" fmla="*/ 109252 h 345471"/>
                  <a:gd name="connsiteX1" fmla="*/ 528923 w 562641"/>
                  <a:gd name="connsiteY1" fmla="*/ 142875 h 345471"/>
                  <a:gd name="connsiteX2" fmla="*/ 562642 w 562641"/>
                  <a:gd name="connsiteY2" fmla="*/ 0 h 345471"/>
                  <a:gd name="connsiteX3" fmla="*/ 422243 w 562641"/>
                  <a:gd name="connsiteY3" fmla="*/ 42577 h 345471"/>
                  <a:gd name="connsiteX4" fmla="*/ 459486 w 562641"/>
                  <a:gd name="connsiteY4" fmla="*/ 77629 h 345471"/>
                  <a:gd name="connsiteX5" fmla="*/ 3143 w 562641"/>
                  <a:gd name="connsiteY5" fmla="*/ 292132 h 345471"/>
                  <a:gd name="connsiteX6" fmla="*/ 0 w 562641"/>
                  <a:gd name="connsiteY6" fmla="*/ 292132 h 345471"/>
                  <a:gd name="connsiteX7" fmla="*/ 0 w 562641"/>
                  <a:gd name="connsiteY7" fmla="*/ 345472 h 345471"/>
                  <a:gd name="connsiteX8" fmla="*/ 3143 w 562641"/>
                  <a:gd name="connsiteY8" fmla="*/ 345472 h 345471"/>
                  <a:gd name="connsiteX9" fmla="*/ 493109 w 562641"/>
                  <a:gd name="connsiteY9" fmla="*/ 109252 h 34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2641" h="345471">
                    <a:moveTo>
                      <a:pt x="493109" y="109252"/>
                    </a:moveTo>
                    <a:lnTo>
                      <a:pt x="528923" y="142875"/>
                    </a:lnTo>
                    <a:lnTo>
                      <a:pt x="562642" y="0"/>
                    </a:lnTo>
                    <a:lnTo>
                      <a:pt x="422243" y="42577"/>
                    </a:lnTo>
                    <a:lnTo>
                      <a:pt x="459486" y="77629"/>
                    </a:lnTo>
                    <a:cubicBezTo>
                      <a:pt x="342233" y="210026"/>
                      <a:pt x="181166" y="292132"/>
                      <a:pt x="3143" y="292132"/>
                    </a:cubicBezTo>
                    <a:lnTo>
                      <a:pt x="0" y="292132"/>
                    </a:lnTo>
                    <a:lnTo>
                      <a:pt x="0" y="345472"/>
                    </a:lnTo>
                    <a:lnTo>
                      <a:pt x="3143" y="345472"/>
                    </a:lnTo>
                    <a:cubicBezTo>
                      <a:pt x="195643" y="345472"/>
                      <a:pt x="369284" y="254794"/>
                      <a:pt x="493109" y="10925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grpSp>
      </p:grpSp>
      <p:grpSp>
        <p:nvGrpSpPr>
          <p:cNvPr id="18" name="Group 17">
            <a:extLst>
              <a:ext uri="{FF2B5EF4-FFF2-40B4-BE49-F238E27FC236}">
                <a16:creationId xmlns:a16="http://schemas.microsoft.com/office/drawing/2014/main" id="{DFB3B2B9-05EB-4E90-BCEC-F04FFB00A01D}"/>
              </a:ext>
            </a:extLst>
          </p:cNvPr>
          <p:cNvGrpSpPr/>
          <p:nvPr/>
        </p:nvGrpSpPr>
        <p:grpSpPr>
          <a:xfrm>
            <a:off x="310363" y="2171357"/>
            <a:ext cx="11172150" cy="755631"/>
            <a:chOff x="315161" y="3255662"/>
            <a:chExt cx="11172150" cy="755631"/>
          </a:xfrm>
        </p:grpSpPr>
        <p:grpSp>
          <p:nvGrpSpPr>
            <p:cNvPr id="113" name="Group 112">
              <a:extLst>
                <a:ext uri="{FF2B5EF4-FFF2-40B4-BE49-F238E27FC236}">
                  <a16:creationId xmlns:a16="http://schemas.microsoft.com/office/drawing/2014/main" id="{66C618C7-65C8-4668-B982-CF8A8710FEA0}"/>
                </a:ext>
              </a:extLst>
            </p:cNvPr>
            <p:cNvGrpSpPr/>
            <p:nvPr/>
          </p:nvGrpSpPr>
          <p:grpSpPr>
            <a:xfrm>
              <a:off x="315161" y="3255662"/>
              <a:ext cx="9738330" cy="755631"/>
              <a:chOff x="772996" y="1439228"/>
              <a:chExt cx="9738330" cy="755631"/>
            </a:xfrm>
          </p:grpSpPr>
          <p:sp>
            <p:nvSpPr>
              <p:cNvPr id="125" name="Rectangle 124">
                <a:extLst>
                  <a:ext uri="{FF2B5EF4-FFF2-40B4-BE49-F238E27FC236}">
                    <a16:creationId xmlns:a16="http://schemas.microsoft.com/office/drawing/2014/main" id="{2530DF13-3380-4CCC-BF4A-742C8A88C195}"/>
                  </a:ext>
                </a:extLst>
              </p:cNvPr>
              <p:cNvSpPr/>
              <p:nvPr/>
            </p:nvSpPr>
            <p:spPr>
              <a:xfrm rot="5400000">
                <a:off x="5958889" y="-2357577"/>
                <a:ext cx="755631" cy="8349242"/>
              </a:xfrm>
              <a:prstGeom prst="rect">
                <a:avLst/>
              </a:prstGeom>
              <a:gradFill>
                <a:gsLst>
                  <a:gs pos="30000">
                    <a:schemeClr val="bg1">
                      <a:alpha val="59000"/>
                    </a:schemeClr>
                  </a:gs>
                  <a:gs pos="100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26" name="Group 125">
                <a:extLst>
                  <a:ext uri="{FF2B5EF4-FFF2-40B4-BE49-F238E27FC236}">
                    <a16:creationId xmlns:a16="http://schemas.microsoft.com/office/drawing/2014/main" id="{C5299D07-CDF0-42AD-A0B7-6625459D011D}"/>
                  </a:ext>
                </a:extLst>
              </p:cNvPr>
              <p:cNvGrpSpPr/>
              <p:nvPr/>
            </p:nvGrpSpPr>
            <p:grpSpPr>
              <a:xfrm>
                <a:off x="772996" y="1439228"/>
                <a:ext cx="1832946" cy="745278"/>
                <a:chOff x="772996" y="1440659"/>
                <a:chExt cx="1832946" cy="745278"/>
              </a:xfrm>
            </p:grpSpPr>
            <p:sp>
              <p:nvSpPr>
                <p:cNvPr id="127" name="Rectangle: Diagonal Corners Snipped 126">
                  <a:extLst>
                    <a:ext uri="{FF2B5EF4-FFF2-40B4-BE49-F238E27FC236}">
                      <a16:creationId xmlns:a16="http://schemas.microsoft.com/office/drawing/2014/main" id="{62071020-9FAD-4C4B-96E6-661DEBDC7C34}"/>
                    </a:ext>
                  </a:extLst>
                </p:cNvPr>
                <p:cNvSpPr/>
                <p:nvPr/>
              </p:nvSpPr>
              <p:spPr>
                <a:xfrm>
                  <a:off x="2049492" y="1966922"/>
                  <a:ext cx="544198" cy="219015"/>
                </a:xfrm>
                <a:prstGeom prst="snip2DiagRect">
                  <a:avLst>
                    <a:gd name="adj1" fmla="val 50000"/>
                    <a:gd name="adj2" fmla="val 16667"/>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8" name="Rectangle: Top Corners Rounded 127">
                  <a:extLst>
                    <a:ext uri="{FF2B5EF4-FFF2-40B4-BE49-F238E27FC236}">
                      <a16:creationId xmlns:a16="http://schemas.microsoft.com/office/drawing/2014/main" id="{6334809D-C3A2-4DFC-A9C8-1AF8CEDB04D9}"/>
                    </a:ext>
                  </a:extLst>
                </p:cNvPr>
                <p:cNvSpPr/>
                <p:nvPr/>
              </p:nvSpPr>
              <p:spPr>
                <a:xfrm rot="16200000">
                  <a:off x="1367212" y="846443"/>
                  <a:ext cx="644513" cy="1832946"/>
                </a:xfrm>
                <a:prstGeom prst="round2SameRect">
                  <a:avLst>
                    <a:gd name="adj1" fmla="val 50000"/>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sp>
          <p:nvSpPr>
            <p:cNvPr id="114" name="Oval 113">
              <a:extLst>
                <a:ext uri="{FF2B5EF4-FFF2-40B4-BE49-F238E27FC236}">
                  <a16:creationId xmlns:a16="http://schemas.microsoft.com/office/drawing/2014/main" id="{D5612D3E-A55B-475C-90E7-F6A5799892C7}"/>
                </a:ext>
              </a:extLst>
            </p:cNvPr>
            <p:cNvSpPr/>
            <p:nvPr/>
          </p:nvSpPr>
          <p:spPr>
            <a:xfrm>
              <a:off x="371079" y="3306984"/>
              <a:ext cx="1016268" cy="548640"/>
            </a:xfrm>
            <a:prstGeom prst="ellipse">
              <a:avLst/>
            </a:prstGeom>
            <a:solidFill>
              <a:schemeClr val="tx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a:solidFill>
                    <a:srgbClr val="FFFFFF"/>
                  </a:solidFill>
                  <a:latin typeface="Arial" panose="020B0604020202020204"/>
                </a:rPr>
                <a:t>Strategy 2</a:t>
              </a:r>
              <a:endParaRPr kumimoji="0" lang="en-US" sz="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5" name="TextBox 114">
              <a:extLst>
                <a:ext uri="{FF2B5EF4-FFF2-40B4-BE49-F238E27FC236}">
                  <a16:creationId xmlns:a16="http://schemas.microsoft.com/office/drawing/2014/main" id="{C42C5112-F381-4909-8651-767FA45A8054}"/>
                </a:ext>
              </a:extLst>
            </p:cNvPr>
            <p:cNvSpPr txBox="1"/>
            <p:nvPr/>
          </p:nvSpPr>
          <p:spPr>
            <a:xfrm>
              <a:off x="1866250" y="3328956"/>
              <a:ext cx="2618268" cy="553998"/>
            </a:xfrm>
            <a:prstGeom prst="rect">
              <a:avLst/>
            </a:prstGeom>
            <a:noFill/>
          </p:spPr>
          <p:txBody>
            <a:bodyPr wrap="square" lIns="0" tIns="0" rIns="0" bIns="0" rtlCol="0" anchor="t" anchorCtr="0">
              <a:spAutoFit/>
            </a:bodyPr>
            <a:lstStyle/>
            <a:p>
              <a:pPr marL="0" marR="0" lvl="0" indent="0" algn="r" defTabSz="914400" rtl="0" eaLnBrk="1" fontAlgn="base" latinLnBrk="0" hangingPunct="1">
                <a:lnSpc>
                  <a:spcPct val="100000"/>
                </a:lnSpc>
                <a:spcBef>
                  <a:spcPts val="1200"/>
                </a:spcBef>
                <a:spcAft>
                  <a:spcPct val="0"/>
                </a:spcAft>
                <a:buClrTx/>
                <a:buSzTx/>
                <a:buFontTx/>
                <a:buNone/>
                <a:tabLst/>
                <a:defRPr/>
              </a:pPr>
              <a:r>
                <a:rPr kumimoji="0" lang="en-US" sz="1800" b="1" i="0" u="none" strike="noStrike" kern="1200" cap="none" spc="0" normalizeH="0" baseline="0" noProof="0">
                  <a:ln>
                    <a:noFill/>
                  </a:ln>
                  <a:solidFill>
                    <a:srgbClr val="5C6770"/>
                  </a:solidFill>
                  <a:effectLst/>
                  <a:uLnTx/>
                  <a:uFillTx/>
                  <a:latin typeface="Arial" panose="020B0604020202020204"/>
                  <a:ea typeface="ＭＳ Ｐゴシック" pitchFamily="34" charset="-128"/>
                  <a:cs typeface="Segoe UI" panose="020B0502040204020203" pitchFamily="34" charset="0"/>
                </a:rPr>
                <a:t>Real-time product feedback through AI</a:t>
              </a:r>
            </a:p>
          </p:txBody>
        </p:sp>
        <p:sp>
          <p:nvSpPr>
            <p:cNvPr id="116" name="TextBox 115">
              <a:extLst>
                <a:ext uri="{FF2B5EF4-FFF2-40B4-BE49-F238E27FC236}">
                  <a16:creationId xmlns:a16="http://schemas.microsoft.com/office/drawing/2014/main" id="{86AC12B9-4CFA-4358-B848-63CB7683E4A5}"/>
                </a:ext>
              </a:extLst>
            </p:cNvPr>
            <p:cNvSpPr txBox="1"/>
            <p:nvPr/>
          </p:nvSpPr>
          <p:spPr>
            <a:xfrm>
              <a:off x="4761951" y="3400716"/>
              <a:ext cx="672536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770"/>
                  </a:solidFill>
                  <a:effectLst/>
                  <a:uLnTx/>
                  <a:uFillTx/>
                  <a:latin typeface="Arial" panose="020B0604020202020204" pitchFamily="34" charset="0"/>
                  <a:ea typeface="+mn-ea"/>
                  <a:cs typeface="Arial" panose="020B0604020202020204" pitchFamily="34" charset="0"/>
                </a:rPr>
                <a:t>Leverage tools (i.e. Pendo) to survey along the product journey, close whitespace gaps through projects, and close the inner-loop</a:t>
              </a:r>
            </a:p>
          </p:txBody>
        </p:sp>
        <p:grpSp>
          <p:nvGrpSpPr>
            <p:cNvPr id="73" name="Group 72">
              <a:extLst>
                <a:ext uri="{FF2B5EF4-FFF2-40B4-BE49-F238E27FC236}">
                  <a16:creationId xmlns:a16="http://schemas.microsoft.com/office/drawing/2014/main" id="{845E6655-470D-4B79-980E-B64B6995CC22}"/>
                </a:ext>
              </a:extLst>
            </p:cNvPr>
            <p:cNvGrpSpPr/>
            <p:nvPr/>
          </p:nvGrpSpPr>
          <p:grpSpPr>
            <a:xfrm>
              <a:off x="1644588" y="3282600"/>
              <a:ext cx="442963" cy="558493"/>
              <a:chOff x="1455206" y="5794552"/>
              <a:chExt cx="418117" cy="527167"/>
            </a:xfrm>
            <a:solidFill>
              <a:schemeClr val="bg1"/>
            </a:solidFill>
          </p:grpSpPr>
          <p:sp>
            <p:nvSpPr>
              <p:cNvPr id="76" name="Free Form 13">
                <a:extLst>
                  <a:ext uri="{FF2B5EF4-FFF2-40B4-BE49-F238E27FC236}">
                    <a16:creationId xmlns:a16="http://schemas.microsoft.com/office/drawing/2014/main" id="{7ACFC2BA-EB57-4BEB-A9B9-75DA47A797CE}"/>
                  </a:ext>
                </a:extLst>
              </p:cNvPr>
              <p:cNvSpPr/>
              <p:nvPr/>
            </p:nvSpPr>
            <p:spPr>
              <a:xfrm>
                <a:off x="1724789" y="5918083"/>
                <a:ext cx="39899" cy="42261"/>
              </a:xfrm>
              <a:custGeom>
                <a:avLst/>
                <a:gdLst/>
                <a:ahLst/>
                <a:cxnLst/>
                <a:rect l="0" t="0" r="0" b="0"/>
                <a:pathLst>
                  <a:path w="39898" h="42260">
                    <a:moveTo>
                      <a:pt x="19941" y="0"/>
                    </a:moveTo>
                    <a:cubicBezTo>
                      <a:pt x="8923" y="0"/>
                      <a:pt x="0" y="9471"/>
                      <a:pt x="0" y="21145"/>
                    </a:cubicBezTo>
                    <a:cubicBezTo>
                      <a:pt x="0" y="32826"/>
                      <a:pt x="8923" y="42260"/>
                      <a:pt x="19941" y="42260"/>
                    </a:cubicBezTo>
                    <a:cubicBezTo>
                      <a:pt x="30967" y="42260"/>
                      <a:pt x="39898" y="32826"/>
                      <a:pt x="39898" y="21145"/>
                    </a:cubicBezTo>
                    <a:cubicBezTo>
                      <a:pt x="39898" y="9471"/>
                      <a:pt x="30967" y="0"/>
                      <a:pt x="19941" y="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77" name="Free Form 14">
                <a:extLst>
                  <a:ext uri="{FF2B5EF4-FFF2-40B4-BE49-F238E27FC236}">
                    <a16:creationId xmlns:a16="http://schemas.microsoft.com/office/drawing/2014/main" id="{0E9C4353-93BD-43DD-9AF3-AD40675DB856}"/>
                  </a:ext>
                </a:extLst>
              </p:cNvPr>
              <p:cNvSpPr/>
              <p:nvPr/>
            </p:nvSpPr>
            <p:spPr>
              <a:xfrm>
                <a:off x="1455206" y="5794552"/>
                <a:ext cx="418117" cy="527167"/>
              </a:xfrm>
              <a:custGeom>
                <a:avLst/>
                <a:gdLst/>
                <a:ahLst/>
                <a:cxnLst/>
                <a:rect l="0" t="0" r="0" b="0"/>
                <a:pathLst>
                  <a:path w="418117" h="527166">
                    <a:moveTo>
                      <a:pt x="229438" y="0"/>
                    </a:moveTo>
                    <a:cubicBezTo>
                      <a:pt x="143774" y="0"/>
                      <a:pt x="64762" y="68115"/>
                      <a:pt x="48371" y="143217"/>
                    </a:cubicBezTo>
                    <a:cubicBezTo>
                      <a:pt x="44630" y="159913"/>
                      <a:pt x="40568" y="203476"/>
                      <a:pt x="40568" y="203476"/>
                    </a:cubicBezTo>
                    <a:lnTo>
                      <a:pt x="1127" y="308739"/>
                    </a:lnTo>
                    <a:cubicBezTo>
                      <a:pt x="388" y="310644"/>
                      <a:pt x="0" y="312770"/>
                      <a:pt x="0" y="315026"/>
                    </a:cubicBezTo>
                    <a:cubicBezTo>
                      <a:pt x="0" y="323872"/>
                      <a:pt x="6865" y="331134"/>
                      <a:pt x="15270" y="331134"/>
                    </a:cubicBezTo>
                    <a:lnTo>
                      <a:pt x="40568" y="331134"/>
                    </a:lnTo>
                    <a:lnTo>
                      <a:pt x="40568" y="386996"/>
                    </a:lnTo>
                    <a:cubicBezTo>
                      <a:pt x="40568" y="430606"/>
                      <a:pt x="73898" y="465924"/>
                      <a:pt x="114985" y="465924"/>
                    </a:cubicBezTo>
                    <a:lnTo>
                      <a:pt x="144559" y="465924"/>
                    </a:lnTo>
                    <a:lnTo>
                      <a:pt x="144559" y="527166"/>
                    </a:lnTo>
                    <a:lnTo>
                      <a:pt x="345993" y="527166"/>
                    </a:lnTo>
                    <a:lnTo>
                      <a:pt x="345993" y="357378"/>
                    </a:lnTo>
                    <a:cubicBezTo>
                      <a:pt x="389907" y="320779"/>
                      <a:pt x="418117" y="263888"/>
                      <a:pt x="418117" y="200070"/>
                    </a:cubicBezTo>
                    <a:cubicBezTo>
                      <a:pt x="418117" y="89535"/>
                      <a:pt x="333618" y="0"/>
                      <a:pt x="229438" y="0"/>
                    </a:cubicBezTo>
                    <a:close/>
                    <a:moveTo>
                      <a:pt x="86928" y="243390"/>
                    </a:moveTo>
                    <a:cubicBezTo>
                      <a:pt x="75392" y="243390"/>
                      <a:pt x="65943" y="233385"/>
                      <a:pt x="65943" y="220987"/>
                    </a:cubicBezTo>
                    <a:cubicBezTo>
                      <a:pt x="65943" y="208696"/>
                      <a:pt x="75392" y="198721"/>
                      <a:pt x="86928" y="198721"/>
                    </a:cubicBezTo>
                    <a:cubicBezTo>
                      <a:pt x="98587" y="198721"/>
                      <a:pt x="108059" y="208696"/>
                      <a:pt x="108059" y="220987"/>
                    </a:cubicBezTo>
                    <a:cubicBezTo>
                      <a:pt x="108059" y="233385"/>
                      <a:pt x="98587" y="243390"/>
                      <a:pt x="86928" y="243390"/>
                    </a:cubicBezTo>
                    <a:close/>
                    <a:moveTo>
                      <a:pt x="365493" y="213131"/>
                    </a:moveTo>
                    <a:lnTo>
                      <a:pt x="345871" y="233941"/>
                    </a:lnTo>
                    <a:lnTo>
                      <a:pt x="321914" y="216027"/>
                    </a:lnTo>
                    <a:cubicBezTo>
                      <a:pt x="317304" y="218602"/>
                      <a:pt x="312480" y="220629"/>
                      <a:pt x="307406" y="221985"/>
                    </a:cubicBezTo>
                    <a:lnTo>
                      <a:pt x="303001" y="249600"/>
                    </a:lnTo>
                    <a:lnTo>
                      <a:pt x="312138" y="249600"/>
                    </a:lnTo>
                    <a:lnTo>
                      <a:pt x="314576" y="264337"/>
                    </a:lnTo>
                    <a:cubicBezTo>
                      <a:pt x="315551" y="264619"/>
                      <a:pt x="316519" y="264779"/>
                      <a:pt x="317456" y="265145"/>
                    </a:cubicBezTo>
                    <a:cubicBezTo>
                      <a:pt x="319918" y="266113"/>
                      <a:pt x="322196" y="267324"/>
                      <a:pt x="324291" y="268787"/>
                    </a:cubicBezTo>
                    <a:lnTo>
                      <a:pt x="335333" y="260543"/>
                    </a:lnTo>
                    <a:lnTo>
                      <a:pt x="344385" y="270129"/>
                    </a:lnTo>
                    <a:lnTo>
                      <a:pt x="336247" y="282343"/>
                    </a:lnTo>
                    <a:cubicBezTo>
                      <a:pt x="338015" y="285635"/>
                      <a:pt x="339379" y="289156"/>
                      <a:pt x="340156" y="292813"/>
                    </a:cubicBezTo>
                    <a:lnTo>
                      <a:pt x="353507" y="295259"/>
                    </a:lnTo>
                    <a:lnTo>
                      <a:pt x="353507" y="308846"/>
                    </a:lnTo>
                    <a:lnTo>
                      <a:pt x="339615" y="311345"/>
                    </a:lnTo>
                    <a:cubicBezTo>
                      <a:pt x="339356" y="312374"/>
                      <a:pt x="339204" y="313441"/>
                      <a:pt x="338861" y="314477"/>
                    </a:cubicBezTo>
                    <a:cubicBezTo>
                      <a:pt x="337954" y="317075"/>
                      <a:pt x="336758" y="319491"/>
                      <a:pt x="335401" y="321777"/>
                    </a:cubicBezTo>
                    <a:lnTo>
                      <a:pt x="343174" y="333420"/>
                    </a:lnTo>
                    <a:lnTo>
                      <a:pt x="334129" y="343006"/>
                    </a:lnTo>
                    <a:lnTo>
                      <a:pt x="322646" y="334388"/>
                    </a:lnTo>
                    <a:cubicBezTo>
                      <a:pt x="319559" y="336247"/>
                      <a:pt x="316245" y="337703"/>
                      <a:pt x="312747" y="338510"/>
                    </a:cubicBezTo>
                    <a:lnTo>
                      <a:pt x="310408" y="352653"/>
                    </a:lnTo>
                    <a:lnTo>
                      <a:pt x="297599" y="352653"/>
                    </a:lnTo>
                    <a:lnTo>
                      <a:pt x="295290" y="337893"/>
                    </a:lnTo>
                    <a:cubicBezTo>
                      <a:pt x="294292" y="337596"/>
                      <a:pt x="293309" y="337482"/>
                      <a:pt x="292318" y="337085"/>
                    </a:cubicBezTo>
                    <a:cubicBezTo>
                      <a:pt x="289857" y="336118"/>
                      <a:pt x="287571" y="334876"/>
                      <a:pt x="285445" y="333458"/>
                    </a:cubicBezTo>
                    <a:lnTo>
                      <a:pt x="274396" y="341757"/>
                    </a:lnTo>
                    <a:lnTo>
                      <a:pt x="265389" y="332132"/>
                    </a:lnTo>
                    <a:lnTo>
                      <a:pt x="273519" y="319948"/>
                    </a:lnTo>
                    <a:cubicBezTo>
                      <a:pt x="271759" y="316626"/>
                      <a:pt x="270395" y="313143"/>
                      <a:pt x="269633" y="309417"/>
                    </a:cubicBezTo>
                    <a:lnTo>
                      <a:pt x="256252" y="306979"/>
                    </a:lnTo>
                    <a:lnTo>
                      <a:pt x="256252" y="293461"/>
                    </a:lnTo>
                    <a:lnTo>
                      <a:pt x="270243" y="290916"/>
                    </a:lnTo>
                    <a:cubicBezTo>
                      <a:pt x="270510" y="289887"/>
                      <a:pt x="270631" y="288851"/>
                      <a:pt x="270997" y="287792"/>
                    </a:cubicBezTo>
                    <a:cubicBezTo>
                      <a:pt x="271904" y="285216"/>
                      <a:pt x="273062" y="282808"/>
                      <a:pt x="274396" y="280553"/>
                    </a:cubicBezTo>
                    <a:lnTo>
                      <a:pt x="266593" y="268841"/>
                    </a:lnTo>
                    <a:lnTo>
                      <a:pt x="275645" y="259255"/>
                    </a:lnTo>
                    <a:lnTo>
                      <a:pt x="287182" y="267911"/>
                    </a:lnTo>
                    <a:cubicBezTo>
                      <a:pt x="290283" y="266037"/>
                      <a:pt x="293560" y="264589"/>
                      <a:pt x="297058" y="263766"/>
                    </a:cubicBezTo>
                    <a:lnTo>
                      <a:pt x="299031" y="251498"/>
                    </a:lnTo>
                    <a:lnTo>
                      <a:pt x="274914" y="251498"/>
                    </a:lnTo>
                    <a:lnTo>
                      <a:pt x="269869" y="220858"/>
                    </a:lnTo>
                    <a:cubicBezTo>
                      <a:pt x="268787" y="220507"/>
                      <a:pt x="267713" y="220225"/>
                      <a:pt x="266631" y="219791"/>
                    </a:cubicBezTo>
                    <a:cubicBezTo>
                      <a:pt x="262737" y="218252"/>
                      <a:pt x="259133" y="216392"/>
                      <a:pt x="255696" y="214236"/>
                    </a:cubicBezTo>
                    <a:lnTo>
                      <a:pt x="232554" y="231510"/>
                    </a:lnTo>
                    <a:lnTo>
                      <a:pt x="212971" y="210654"/>
                    </a:lnTo>
                    <a:lnTo>
                      <a:pt x="229819" y="185364"/>
                    </a:lnTo>
                    <a:cubicBezTo>
                      <a:pt x="227418" y="180487"/>
                      <a:pt x="225506" y="175336"/>
                      <a:pt x="224203" y="169956"/>
                    </a:cubicBezTo>
                    <a:lnTo>
                      <a:pt x="196428" y="164873"/>
                    </a:lnTo>
                    <a:lnTo>
                      <a:pt x="196428" y="140703"/>
                    </a:lnTo>
                    <a:lnTo>
                      <a:pt x="182422" y="143248"/>
                    </a:lnTo>
                    <a:cubicBezTo>
                      <a:pt x="182217" y="143987"/>
                      <a:pt x="182148" y="144703"/>
                      <a:pt x="181881" y="145404"/>
                    </a:cubicBezTo>
                    <a:cubicBezTo>
                      <a:pt x="180959" y="148010"/>
                      <a:pt x="179778" y="150418"/>
                      <a:pt x="178506" y="152742"/>
                    </a:cubicBezTo>
                    <a:lnTo>
                      <a:pt x="189227" y="168859"/>
                    </a:lnTo>
                    <a:lnTo>
                      <a:pt x="176326" y="182491"/>
                    </a:lnTo>
                    <a:lnTo>
                      <a:pt x="160553" y="170718"/>
                    </a:lnTo>
                    <a:cubicBezTo>
                      <a:pt x="157650" y="172341"/>
                      <a:pt x="154640" y="173652"/>
                      <a:pt x="151447" y="174528"/>
                    </a:cubicBezTo>
                    <a:lnTo>
                      <a:pt x="148262" y="193860"/>
                    </a:lnTo>
                    <a:lnTo>
                      <a:pt x="130141" y="193860"/>
                    </a:lnTo>
                    <a:lnTo>
                      <a:pt x="126827" y="173720"/>
                    </a:lnTo>
                    <a:cubicBezTo>
                      <a:pt x="126187" y="173499"/>
                      <a:pt x="125524" y="173431"/>
                      <a:pt x="124884" y="173172"/>
                    </a:cubicBezTo>
                    <a:cubicBezTo>
                      <a:pt x="122400" y="172173"/>
                      <a:pt x="120075" y="170916"/>
                      <a:pt x="117866" y="169545"/>
                    </a:cubicBezTo>
                    <a:lnTo>
                      <a:pt x="102633" y="180929"/>
                    </a:lnTo>
                    <a:lnTo>
                      <a:pt x="89748" y="167259"/>
                    </a:lnTo>
                    <a:lnTo>
                      <a:pt x="100919" y="150517"/>
                    </a:lnTo>
                    <a:cubicBezTo>
                      <a:pt x="99441" y="147469"/>
                      <a:pt x="98290" y="144216"/>
                      <a:pt x="97436" y="140893"/>
                    </a:cubicBezTo>
                    <a:lnTo>
                      <a:pt x="79095" y="137579"/>
                    </a:lnTo>
                    <a:lnTo>
                      <a:pt x="79095" y="118239"/>
                    </a:lnTo>
                    <a:lnTo>
                      <a:pt x="98008" y="114802"/>
                    </a:lnTo>
                    <a:cubicBezTo>
                      <a:pt x="98221" y="114094"/>
                      <a:pt x="98374" y="113385"/>
                      <a:pt x="98618" y="112707"/>
                    </a:cubicBezTo>
                    <a:cubicBezTo>
                      <a:pt x="99524" y="110063"/>
                      <a:pt x="100713" y="107624"/>
                      <a:pt x="102016" y="105308"/>
                    </a:cubicBezTo>
                    <a:lnTo>
                      <a:pt x="91272" y="89184"/>
                    </a:lnTo>
                    <a:lnTo>
                      <a:pt x="104112" y="75544"/>
                    </a:lnTo>
                    <a:lnTo>
                      <a:pt x="119931" y="87325"/>
                    </a:lnTo>
                    <a:cubicBezTo>
                      <a:pt x="122842" y="85709"/>
                      <a:pt x="125890" y="84391"/>
                      <a:pt x="129105" y="83499"/>
                    </a:cubicBezTo>
                    <a:lnTo>
                      <a:pt x="132260" y="64190"/>
                    </a:lnTo>
                    <a:lnTo>
                      <a:pt x="150418" y="64190"/>
                    </a:lnTo>
                    <a:lnTo>
                      <a:pt x="153725" y="84330"/>
                    </a:lnTo>
                    <a:cubicBezTo>
                      <a:pt x="154358" y="84559"/>
                      <a:pt x="155028" y="84612"/>
                      <a:pt x="155661" y="84871"/>
                    </a:cubicBezTo>
                    <a:cubicBezTo>
                      <a:pt x="158160" y="85839"/>
                      <a:pt x="160469" y="87127"/>
                      <a:pt x="162687" y="88483"/>
                    </a:cubicBezTo>
                    <a:lnTo>
                      <a:pt x="177873" y="77144"/>
                    </a:lnTo>
                    <a:lnTo>
                      <a:pt x="190804" y="90792"/>
                    </a:lnTo>
                    <a:lnTo>
                      <a:pt x="179633" y="107533"/>
                    </a:lnTo>
                    <a:cubicBezTo>
                      <a:pt x="181119" y="110573"/>
                      <a:pt x="182361" y="113804"/>
                      <a:pt x="183184" y="117180"/>
                    </a:cubicBezTo>
                    <a:lnTo>
                      <a:pt x="201411" y="120502"/>
                    </a:lnTo>
                    <a:lnTo>
                      <a:pt x="201411" y="134523"/>
                    </a:lnTo>
                    <a:lnTo>
                      <a:pt x="225270" y="130210"/>
                    </a:lnTo>
                    <a:cubicBezTo>
                      <a:pt x="225635" y="129052"/>
                      <a:pt x="225910" y="127894"/>
                      <a:pt x="226298" y="126743"/>
                    </a:cubicBezTo>
                    <a:cubicBezTo>
                      <a:pt x="227731" y="122613"/>
                      <a:pt x="229560" y="118727"/>
                      <a:pt x="231587" y="115054"/>
                    </a:cubicBezTo>
                    <a:lnTo>
                      <a:pt x="215181" y="90678"/>
                    </a:lnTo>
                    <a:lnTo>
                      <a:pt x="234924" y="69814"/>
                    </a:lnTo>
                    <a:lnTo>
                      <a:pt x="258820" y="87736"/>
                    </a:lnTo>
                    <a:cubicBezTo>
                      <a:pt x="263469" y="85161"/>
                      <a:pt x="268323" y="83134"/>
                      <a:pt x="273397" y="81754"/>
                    </a:cubicBezTo>
                    <a:lnTo>
                      <a:pt x="278076" y="52311"/>
                    </a:lnTo>
                    <a:lnTo>
                      <a:pt x="305882" y="52311"/>
                    </a:lnTo>
                    <a:lnTo>
                      <a:pt x="310926" y="82882"/>
                    </a:lnTo>
                    <a:cubicBezTo>
                      <a:pt x="312016" y="83233"/>
                      <a:pt x="313090" y="83560"/>
                      <a:pt x="314172" y="83972"/>
                    </a:cubicBezTo>
                    <a:cubicBezTo>
                      <a:pt x="318035" y="85488"/>
                      <a:pt x="321685" y="87393"/>
                      <a:pt x="325114" y="89535"/>
                    </a:cubicBezTo>
                    <a:lnTo>
                      <a:pt x="348211" y="72260"/>
                    </a:lnTo>
                    <a:lnTo>
                      <a:pt x="367794" y="93093"/>
                    </a:lnTo>
                    <a:lnTo>
                      <a:pt x="350916" y="118468"/>
                    </a:lnTo>
                    <a:cubicBezTo>
                      <a:pt x="353316" y="123329"/>
                      <a:pt x="355229" y="128473"/>
                      <a:pt x="356539" y="133830"/>
                    </a:cubicBezTo>
                    <a:lnTo>
                      <a:pt x="384390" y="138912"/>
                    </a:lnTo>
                    <a:lnTo>
                      <a:pt x="384390" y="168348"/>
                    </a:lnTo>
                    <a:lnTo>
                      <a:pt x="355488" y="173614"/>
                    </a:lnTo>
                    <a:cubicBezTo>
                      <a:pt x="355145" y="174741"/>
                      <a:pt x="354863" y="175907"/>
                      <a:pt x="354467" y="177043"/>
                    </a:cubicBezTo>
                    <a:cubicBezTo>
                      <a:pt x="353011" y="181150"/>
                      <a:pt x="351221" y="185013"/>
                      <a:pt x="349194" y="188678"/>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grpSp>
      </p:grpSp>
      <p:grpSp>
        <p:nvGrpSpPr>
          <p:cNvPr id="17" name="Group 16">
            <a:extLst>
              <a:ext uri="{FF2B5EF4-FFF2-40B4-BE49-F238E27FC236}">
                <a16:creationId xmlns:a16="http://schemas.microsoft.com/office/drawing/2014/main" id="{4F2069EE-75E7-4E63-9235-90FD84C448A6}"/>
              </a:ext>
            </a:extLst>
          </p:cNvPr>
          <p:cNvGrpSpPr/>
          <p:nvPr/>
        </p:nvGrpSpPr>
        <p:grpSpPr>
          <a:xfrm>
            <a:off x="439993" y="5490245"/>
            <a:ext cx="11060311" cy="755631"/>
            <a:chOff x="312097" y="4229581"/>
            <a:chExt cx="11060311" cy="755631"/>
          </a:xfrm>
        </p:grpSpPr>
        <p:grpSp>
          <p:nvGrpSpPr>
            <p:cNvPr id="130" name="Group 129">
              <a:extLst>
                <a:ext uri="{FF2B5EF4-FFF2-40B4-BE49-F238E27FC236}">
                  <a16:creationId xmlns:a16="http://schemas.microsoft.com/office/drawing/2014/main" id="{FBA21C0D-523D-4F79-96AA-E8A040AA9E46}"/>
                </a:ext>
              </a:extLst>
            </p:cNvPr>
            <p:cNvGrpSpPr/>
            <p:nvPr/>
          </p:nvGrpSpPr>
          <p:grpSpPr>
            <a:xfrm>
              <a:off x="312097" y="4229581"/>
              <a:ext cx="9738331" cy="755631"/>
              <a:chOff x="772995" y="1439228"/>
              <a:chExt cx="9738331" cy="755631"/>
            </a:xfrm>
          </p:grpSpPr>
          <p:sp>
            <p:nvSpPr>
              <p:cNvPr id="142" name="Rectangle 141">
                <a:extLst>
                  <a:ext uri="{FF2B5EF4-FFF2-40B4-BE49-F238E27FC236}">
                    <a16:creationId xmlns:a16="http://schemas.microsoft.com/office/drawing/2014/main" id="{E024F728-704F-4481-959B-54AA59E1D2D7}"/>
                  </a:ext>
                </a:extLst>
              </p:cNvPr>
              <p:cNvSpPr/>
              <p:nvPr/>
            </p:nvSpPr>
            <p:spPr>
              <a:xfrm rot="5400000">
                <a:off x="5958889" y="-2357577"/>
                <a:ext cx="755631" cy="8349242"/>
              </a:xfrm>
              <a:prstGeom prst="rect">
                <a:avLst/>
              </a:prstGeom>
              <a:gradFill>
                <a:gsLst>
                  <a:gs pos="30000">
                    <a:schemeClr val="bg1">
                      <a:alpha val="59000"/>
                    </a:schemeClr>
                  </a:gs>
                  <a:gs pos="100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43" name="Group 142">
                <a:extLst>
                  <a:ext uri="{FF2B5EF4-FFF2-40B4-BE49-F238E27FC236}">
                    <a16:creationId xmlns:a16="http://schemas.microsoft.com/office/drawing/2014/main" id="{93F0A88A-C1A5-4232-8250-4B90AA8A7C3D}"/>
                  </a:ext>
                </a:extLst>
              </p:cNvPr>
              <p:cNvGrpSpPr/>
              <p:nvPr/>
            </p:nvGrpSpPr>
            <p:grpSpPr>
              <a:xfrm>
                <a:off x="772995" y="1439228"/>
                <a:ext cx="1792353" cy="755631"/>
                <a:chOff x="772995" y="1440659"/>
                <a:chExt cx="1792353" cy="755631"/>
              </a:xfrm>
            </p:grpSpPr>
            <p:sp>
              <p:nvSpPr>
                <p:cNvPr id="144" name="Rectangle: Diagonal Corners Snipped 143">
                  <a:extLst>
                    <a:ext uri="{FF2B5EF4-FFF2-40B4-BE49-F238E27FC236}">
                      <a16:creationId xmlns:a16="http://schemas.microsoft.com/office/drawing/2014/main" id="{C7939DA7-ED44-4FD5-B705-53623930D724}"/>
                    </a:ext>
                  </a:extLst>
                </p:cNvPr>
                <p:cNvSpPr/>
                <p:nvPr/>
              </p:nvSpPr>
              <p:spPr>
                <a:xfrm>
                  <a:off x="2021150" y="1957294"/>
                  <a:ext cx="544198" cy="238996"/>
                </a:xfrm>
                <a:prstGeom prst="snip2DiagRect">
                  <a:avLst>
                    <a:gd name="adj1" fmla="val 50000"/>
                    <a:gd name="adj2" fmla="val 1666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5" name="Rectangle: Top Corners Rounded 144">
                  <a:extLst>
                    <a:ext uri="{FF2B5EF4-FFF2-40B4-BE49-F238E27FC236}">
                      <a16:creationId xmlns:a16="http://schemas.microsoft.com/office/drawing/2014/main" id="{79B7E579-681D-43B6-A2FF-41023E53C79F}"/>
                    </a:ext>
                  </a:extLst>
                </p:cNvPr>
                <p:cNvSpPr/>
                <p:nvPr/>
              </p:nvSpPr>
              <p:spPr>
                <a:xfrm rot="16200000">
                  <a:off x="1345489" y="868165"/>
                  <a:ext cx="644513" cy="1789502"/>
                </a:xfrm>
                <a:prstGeom prst="round2SameRect">
                  <a:avLst>
                    <a:gd name="adj1" fmla="val 50000"/>
                    <a:gd name="adj2" fmla="val 0"/>
                  </a:avLst>
                </a:prstGeom>
                <a:solidFill>
                  <a:srgbClr val="ED5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sp>
          <p:nvSpPr>
            <p:cNvPr id="131" name="Oval 130">
              <a:extLst>
                <a:ext uri="{FF2B5EF4-FFF2-40B4-BE49-F238E27FC236}">
                  <a16:creationId xmlns:a16="http://schemas.microsoft.com/office/drawing/2014/main" id="{C6ADDE74-4F67-465D-A649-514EFC37584F}"/>
                </a:ext>
              </a:extLst>
            </p:cNvPr>
            <p:cNvSpPr/>
            <p:nvPr/>
          </p:nvSpPr>
          <p:spPr>
            <a:xfrm>
              <a:off x="368016" y="4280903"/>
              <a:ext cx="824389" cy="548640"/>
            </a:xfrm>
            <a:prstGeom prst="ellipse">
              <a:avLst/>
            </a:prstGeom>
            <a:solidFill>
              <a:schemeClr val="accent4">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FFFFFF"/>
                  </a:solidFill>
                  <a:latin typeface="Arial" panose="020B0604020202020204"/>
                </a:rPr>
                <a:t>Outputs</a:t>
              </a:r>
              <a:endParaRPr kumimoji="0" lang="en-US" sz="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2" name="TextBox 131">
              <a:extLst>
                <a:ext uri="{FF2B5EF4-FFF2-40B4-BE49-F238E27FC236}">
                  <a16:creationId xmlns:a16="http://schemas.microsoft.com/office/drawing/2014/main" id="{724CF7F2-A090-4D3B-8A3F-7DF83467612A}"/>
                </a:ext>
              </a:extLst>
            </p:cNvPr>
            <p:cNvSpPr txBox="1"/>
            <p:nvPr/>
          </p:nvSpPr>
          <p:spPr>
            <a:xfrm>
              <a:off x="1863187" y="4302875"/>
              <a:ext cx="2618268" cy="553998"/>
            </a:xfrm>
            <a:prstGeom prst="rect">
              <a:avLst/>
            </a:prstGeom>
            <a:noFill/>
          </p:spPr>
          <p:txBody>
            <a:bodyPr wrap="square" lIns="0" tIns="0" rIns="0" bIns="0" rtlCol="0" anchor="t" anchorCtr="0">
              <a:spAutoFit/>
            </a:bodyPr>
            <a:lstStyle/>
            <a:p>
              <a:pPr marL="0" marR="0" lvl="0" indent="0" algn="r" defTabSz="914400" rtl="0" eaLnBrk="1" fontAlgn="base" latinLnBrk="0" hangingPunct="1">
                <a:lnSpc>
                  <a:spcPct val="100000"/>
                </a:lnSpc>
                <a:spcBef>
                  <a:spcPts val="1200"/>
                </a:spcBef>
                <a:spcAft>
                  <a:spcPct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Arial" panose="020B0604020202020204"/>
                  <a:ea typeface="ＭＳ Ｐゴシック" pitchFamily="34" charset="-128"/>
                  <a:cs typeface="Segoe UI" panose="020B0502040204020203" pitchFamily="34" charset="0"/>
                </a:rPr>
                <a:t>Bring the feedback to our clients</a:t>
              </a:r>
            </a:p>
          </p:txBody>
        </p:sp>
        <p:sp>
          <p:nvSpPr>
            <p:cNvPr id="133" name="TextBox 132">
              <a:extLst>
                <a:ext uri="{FF2B5EF4-FFF2-40B4-BE49-F238E27FC236}">
                  <a16:creationId xmlns:a16="http://schemas.microsoft.com/office/drawing/2014/main" id="{9CF94A9B-D202-4086-B1D4-802B12479D82}"/>
                </a:ext>
              </a:extLst>
            </p:cNvPr>
            <p:cNvSpPr txBox="1"/>
            <p:nvPr/>
          </p:nvSpPr>
          <p:spPr>
            <a:xfrm>
              <a:off x="4647048" y="4258566"/>
              <a:ext cx="6725360" cy="646331"/>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770"/>
                  </a:solidFill>
                  <a:effectLst/>
                  <a:uLnTx/>
                  <a:uFillTx/>
                  <a:latin typeface="Arial"/>
                  <a:ea typeface="+mn-ea"/>
                  <a:cs typeface="Arial"/>
                </a:rPr>
                <a:t>Create a holistic view of the client experience and share valuable action with stakeholders through roadshows and partnering to fix client pain points as identified in data gathering</a:t>
              </a:r>
            </a:p>
          </p:txBody>
        </p:sp>
        <p:grpSp>
          <p:nvGrpSpPr>
            <p:cNvPr id="155" name="Group 154">
              <a:extLst>
                <a:ext uri="{FF2B5EF4-FFF2-40B4-BE49-F238E27FC236}">
                  <a16:creationId xmlns:a16="http://schemas.microsoft.com/office/drawing/2014/main" id="{D62860D1-E271-4908-8563-24E1D76FE085}"/>
                </a:ext>
              </a:extLst>
            </p:cNvPr>
            <p:cNvGrpSpPr/>
            <p:nvPr/>
          </p:nvGrpSpPr>
          <p:grpSpPr>
            <a:xfrm>
              <a:off x="1195257" y="4283275"/>
              <a:ext cx="447786" cy="574566"/>
              <a:chOff x="8045379" y="1593196"/>
              <a:chExt cx="663426" cy="851262"/>
            </a:xfrm>
            <a:solidFill>
              <a:schemeClr val="bg1"/>
            </a:solidFill>
          </p:grpSpPr>
          <p:grpSp>
            <p:nvGrpSpPr>
              <p:cNvPr id="25" name="Group 24">
                <a:extLst>
                  <a:ext uri="{FF2B5EF4-FFF2-40B4-BE49-F238E27FC236}">
                    <a16:creationId xmlns:a16="http://schemas.microsoft.com/office/drawing/2014/main" id="{3954E421-5F13-4F20-89AA-DC721E4E6868}"/>
                  </a:ext>
                </a:extLst>
              </p:cNvPr>
              <p:cNvGrpSpPr/>
              <p:nvPr/>
            </p:nvGrpSpPr>
            <p:grpSpPr>
              <a:xfrm>
                <a:off x="8191386" y="1741417"/>
                <a:ext cx="371340" cy="703041"/>
                <a:chOff x="3317393" y="3243069"/>
                <a:chExt cx="278450" cy="527173"/>
              </a:xfrm>
              <a:grpFill/>
            </p:grpSpPr>
            <p:sp>
              <p:nvSpPr>
                <p:cNvPr id="26" name="Free Form 159">
                  <a:extLst>
                    <a:ext uri="{FF2B5EF4-FFF2-40B4-BE49-F238E27FC236}">
                      <a16:creationId xmlns:a16="http://schemas.microsoft.com/office/drawing/2014/main" id="{779F01D3-6AF5-49AD-9EDC-3D149A586954}"/>
                    </a:ext>
                  </a:extLst>
                </p:cNvPr>
                <p:cNvSpPr/>
                <p:nvPr/>
              </p:nvSpPr>
              <p:spPr>
                <a:xfrm>
                  <a:off x="3400275" y="3650721"/>
                  <a:ext cx="112708" cy="22068"/>
                </a:xfrm>
                <a:custGeom>
                  <a:avLst/>
                  <a:gdLst/>
                  <a:ahLst/>
                  <a:cxnLst/>
                  <a:rect l="0" t="0" r="0" b="0"/>
                  <a:pathLst>
                    <a:path w="112707" h="22067">
                      <a:moveTo>
                        <a:pt x="106299" y="22067"/>
                      </a:moveTo>
                      <a:cubicBezTo>
                        <a:pt x="109827" y="22067"/>
                        <a:pt x="112707" y="18707"/>
                        <a:pt x="112707" y="14577"/>
                      </a:cubicBezTo>
                      <a:lnTo>
                        <a:pt x="112707" y="7490"/>
                      </a:lnTo>
                      <a:cubicBezTo>
                        <a:pt x="112707" y="3360"/>
                        <a:pt x="109827" y="0"/>
                        <a:pt x="106299" y="0"/>
                      </a:cubicBezTo>
                      <a:lnTo>
                        <a:pt x="6423" y="0"/>
                      </a:lnTo>
                      <a:cubicBezTo>
                        <a:pt x="2872" y="0"/>
                        <a:pt x="0" y="3360"/>
                        <a:pt x="0" y="7490"/>
                      </a:cubicBezTo>
                      <a:lnTo>
                        <a:pt x="0" y="14577"/>
                      </a:lnTo>
                      <a:cubicBezTo>
                        <a:pt x="0" y="18707"/>
                        <a:pt x="2872" y="22067"/>
                        <a:pt x="6423" y="2206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27" name="Free Form 160">
                  <a:extLst>
                    <a:ext uri="{FF2B5EF4-FFF2-40B4-BE49-F238E27FC236}">
                      <a16:creationId xmlns:a16="http://schemas.microsoft.com/office/drawing/2014/main" id="{770A391D-FD32-4100-9448-CAEF862C6749}"/>
                    </a:ext>
                  </a:extLst>
                </p:cNvPr>
                <p:cNvSpPr/>
                <p:nvPr/>
              </p:nvSpPr>
              <p:spPr>
                <a:xfrm>
                  <a:off x="3400275" y="3682980"/>
                  <a:ext cx="112708" cy="22067"/>
                </a:xfrm>
                <a:custGeom>
                  <a:avLst/>
                  <a:gdLst/>
                  <a:ahLst/>
                  <a:cxnLst/>
                  <a:rect l="0" t="0" r="0" b="0"/>
                  <a:pathLst>
                    <a:path w="112707" h="22067">
                      <a:moveTo>
                        <a:pt x="106299" y="22067"/>
                      </a:moveTo>
                      <a:cubicBezTo>
                        <a:pt x="109827" y="22067"/>
                        <a:pt x="112707" y="18714"/>
                        <a:pt x="112707" y="14546"/>
                      </a:cubicBezTo>
                      <a:lnTo>
                        <a:pt x="112707" y="7490"/>
                      </a:lnTo>
                      <a:cubicBezTo>
                        <a:pt x="112707" y="3329"/>
                        <a:pt x="109827" y="0"/>
                        <a:pt x="106299" y="0"/>
                      </a:cubicBezTo>
                      <a:lnTo>
                        <a:pt x="6423" y="0"/>
                      </a:lnTo>
                      <a:cubicBezTo>
                        <a:pt x="2872" y="0"/>
                        <a:pt x="0" y="3329"/>
                        <a:pt x="0" y="7490"/>
                      </a:cubicBezTo>
                      <a:lnTo>
                        <a:pt x="0" y="14546"/>
                      </a:lnTo>
                      <a:cubicBezTo>
                        <a:pt x="0" y="18714"/>
                        <a:pt x="2872" y="22067"/>
                        <a:pt x="6423" y="2206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28" name="Free Form 161">
                  <a:extLst>
                    <a:ext uri="{FF2B5EF4-FFF2-40B4-BE49-F238E27FC236}">
                      <a16:creationId xmlns:a16="http://schemas.microsoft.com/office/drawing/2014/main" id="{AAF2827D-3E79-4266-BDCB-F4794A552F94}"/>
                    </a:ext>
                  </a:extLst>
                </p:cNvPr>
                <p:cNvSpPr/>
                <p:nvPr/>
              </p:nvSpPr>
              <p:spPr>
                <a:xfrm>
                  <a:off x="3400275" y="3715238"/>
                  <a:ext cx="112708" cy="22068"/>
                </a:xfrm>
                <a:custGeom>
                  <a:avLst/>
                  <a:gdLst/>
                  <a:ahLst/>
                  <a:cxnLst/>
                  <a:rect l="0" t="0" r="0" b="0"/>
                  <a:pathLst>
                    <a:path w="112707" h="22067">
                      <a:moveTo>
                        <a:pt x="106299" y="22067"/>
                      </a:moveTo>
                      <a:cubicBezTo>
                        <a:pt x="109827" y="22067"/>
                        <a:pt x="112707" y="18707"/>
                        <a:pt x="112707" y="14577"/>
                      </a:cubicBezTo>
                      <a:lnTo>
                        <a:pt x="112707" y="7498"/>
                      </a:lnTo>
                      <a:cubicBezTo>
                        <a:pt x="112707" y="3329"/>
                        <a:pt x="109827" y="0"/>
                        <a:pt x="106299" y="0"/>
                      </a:cubicBezTo>
                      <a:lnTo>
                        <a:pt x="6423" y="0"/>
                      </a:lnTo>
                      <a:cubicBezTo>
                        <a:pt x="2872" y="0"/>
                        <a:pt x="0" y="3329"/>
                        <a:pt x="0" y="7498"/>
                      </a:cubicBezTo>
                      <a:lnTo>
                        <a:pt x="0" y="14577"/>
                      </a:lnTo>
                      <a:cubicBezTo>
                        <a:pt x="0" y="18707"/>
                        <a:pt x="2872" y="22067"/>
                        <a:pt x="6423" y="2206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29" name="Free Form 162">
                  <a:extLst>
                    <a:ext uri="{FF2B5EF4-FFF2-40B4-BE49-F238E27FC236}">
                      <a16:creationId xmlns:a16="http://schemas.microsoft.com/office/drawing/2014/main" id="{9CEC30FC-D391-4276-BCC6-45602CB105F3}"/>
                    </a:ext>
                  </a:extLst>
                </p:cNvPr>
                <p:cNvSpPr/>
                <p:nvPr/>
              </p:nvSpPr>
              <p:spPr>
                <a:xfrm>
                  <a:off x="3423712" y="3748594"/>
                  <a:ext cx="65814" cy="21648"/>
                </a:xfrm>
                <a:custGeom>
                  <a:avLst/>
                  <a:gdLst/>
                  <a:ahLst/>
                  <a:cxnLst/>
                  <a:rect l="0" t="0" r="0" b="0"/>
                  <a:pathLst>
                    <a:path w="65813" h="21648">
                      <a:moveTo>
                        <a:pt x="65813" y="0"/>
                      </a:moveTo>
                      <a:cubicBezTo>
                        <a:pt x="59794" y="12733"/>
                        <a:pt x="47373" y="21648"/>
                        <a:pt x="32971" y="21648"/>
                      </a:cubicBezTo>
                      <a:cubicBezTo>
                        <a:pt x="18714" y="21648"/>
                        <a:pt x="6065" y="12580"/>
                        <a:pt x="0" y="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30" name="Free Form 163">
                  <a:extLst>
                    <a:ext uri="{FF2B5EF4-FFF2-40B4-BE49-F238E27FC236}">
                      <a16:creationId xmlns:a16="http://schemas.microsoft.com/office/drawing/2014/main" id="{1CC80ED3-E818-49BE-99A5-BA96927BC559}"/>
                    </a:ext>
                  </a:extLst>
                </p:cNvPr>
                <p:cNvSpPr/>
                <p:nvPr/>
              </p:nvSpPr>
              <p:spPr>
                <a:xfrm>
                  <a:off x="3317393" y="3243069"/>
                  <a:ext cx="278450" cy="395242"/>
                </a:xfrm>
                <a:custGeom>
                  <a:avLst/>
                  <a:gdLst/>
                  <a:ahLst/>
                  <a:cxnLst/>
                  <a:rect l="0" t="0" r="0" b="0"/>
                  <a:pathLst>
                    <a:path w="278450" h="395241">
                      <a:moveTo>
                        <a:pt x="139240" y="0"/>
                      </a:moveTo>
                      <a:cubicBezTo>
                        <a:pt x="62346" y="0"/>
                        <a:pt x="0" y="66019"/>
                        <a:pt x="0" y="147515"/>
                      </a:cubicBezTo>
                      <a:cubicBezTo>
                        <a:pt x="0" y="174360"/>
                        <a:pt x="7109" y="199293"/>
                        <a:pt x="18562" y="221170"/>
                      </a:cubicBezTo>
                      <a:cubicBezTo>
                        <a:pt x="52753" y="286466"/>
                        <a:pt x="61805" y="323110"/>
                        <a:pt x="67383" y="358612"/>
                      </a:cubicBezTo>
                      <a:cubicBezTo>
                        <a:pt x="72077" y="388360"/>
                        <a:pt x="78554" y="395241"/>
                        <a:pt x="99745" y="395241"/>
                      </a:cubicBezTo>
                      <a:lnTo>
                        <a:pt x="139240" y="395241"/>
                      </a:lnTo>
                      <a:lnTo>
                        <a:pt x="178696" y="395241"/>
                      </a:lnTo>
                      <a:cubicBezTo>
                        <a:pt x="199925" y="395241"/>
                        <a:pt x="206372" y="388338"/>
                        <a:pt x="211051" y="358612"/>
                      </a:cubicBezTo>
                      <a:cubicBezTo>
                        <a:pt x="216644" y="323110"/>
                        <a:pt x="225712" y="286466"/>
                        <a:pt x="259902" y="221170"/>
                      </a:cubicBezTo>
                      <a:cubicBezTo>
                        <a:pt x="271348" y="199293"/>
                        <a:pt x="278450" y="174360"/>
                        <a:pt x="278450" y="147515"/>
                      </a:cubicBezTo>
                      <a:cubicBezTo>
                        <a:pt x="278450" y="66019"/>
                        <a:pt x="216095" y="0"/>
                        <a:pt x="139240" y="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grpSp>
          <p:grpSp>
            <p:nvGrpSpPr>
              <p:cNvPr id="31" name="Group 30">
                <a:extLst>
                  <a:ext uri="{FF2B5EF4-FFF2-40B4-BE49-F238E27FC236}">
                    <a16:creationId xmlns:a16="http://schemas.microsoft.com/office/drawing/2014/main" id="{25576C6D-8182-451E-9EF1-FB73ACCE94F7}"/>
                  </a:ext>
                </a:extLst>
              </p:cNvPr>
              <p:cNvGrpSpPr/>
              <p:nvPr/>
            </p:nvGrpSpPr>
            <p:grpSpPr>
              <a:xfrm>
                <a:off x="8045379" y="1593196"/>
                <a:ext cx="663426" cy="559646"/>
                <a:chOff x="3207884" y="3836174"/>
                <a:chExt cx="497468" cy="419652"/>
              </a:xfrm>
              <a:grpFill/>
            </p:grpSpPr>
            <p:sp>
              <p:nvSpPr>
                <p:cNvPr id="32" name="Free Form 239">
                  <a:extLst>
                    <a:ext uri="{FF2B5EF4-FFF2-40B4-BE49-F238E27FC236}">
                      <a16:creationId xmlns:a16="http://schemas.microsoft.com/office/drawing/2014/main" id="{0AA1C040-3FDF-4DB9-AA67-C26387D8E644}"/>
                    </a:ext>
                  </a:extLst>
                </p:cNvPr>
                <p:cNvSpPr/>
                <p:nvPr/>
              </p:nvSpPr>
              <p:spPr>
                <a:xfrm>
                  <a:off x="3454543" y="3836174"/>
                  <a:ext cx="33186" cy="83477"/>
                </a:xfrm>
                <a:custGeom>
                  <a:avLst/>
                  <a:gdLst/>
                  <a:ahLst/>
                  <a:cxnLst/>
                  <a:rect l="0" t="0" r="0" b="0"/>
                  <a:pathLst>
                    <a:path w="33185" h="83477">
                      <a:moveTo>
                        <a:pt x="33185" y="64686"/>
                      </a:moveTo>
                      <a:cubicBezTo>
                        <a:pt x="33185" y="75072"/>
                        <a:pt x="25694" y="83477"/>
                        <a:pt x="16588" y="83477"/>
                      </a:cubicBezTo>
                      <a:cubicBezTo>
                        <a:pt x="7490" y="83477"/>
                        <a:pt x="0" y="75072"/>
                        <a:pt x="0" y="64686"/>
                      </a:cubicBezTo>
                      <a:lnTo>
                        <a:pt x="0" y="18760"/>
                      </a:lnTo>
                      <a:cubicBezTo>
                        <a:pt x="0" y="8420"/>
                        <a:pt x="7490" y="0"/>
                        <a:pt x="16588" y="0"/>
                      </a:cubicBezTo>
                      <a:cubicBezTo>
                        <a:pt x="25694" y="0"/>
                        <a:pt x="33185" y="8420"/>
                        <a:pt x="33185" y="1876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33" name="Free Form 240">
                  <a:extLst>
                    <a:ext uri="{FF2B5EF4-FFF2-40B4-BE49-F238E27FC236}">
                      <a16:creationId xmlns:a16="http://schemas.microsoft.com/office/drawing/2014/main" id="{F0CAEB53-7E03-4C59-8F4E-13486E240AB8}"/>
                    </a:ext>
                  </a:extLst>
                </p:cNvPr>
                <p:cNvSpPr/>
                <p:nvPr/>
              </p:nvSpPr>
              <p:spPr>
                <a:xfrm>
                  <a:off x="3327716" y="3858823"/>
                  <a:ext cx="60130" cy="82022"/>
                </a:xfrm>
                <a:custGeom>
                  <a:avLst/>
                  <a:gdLst/>
                  <a:ahLst/>
                  <a:cxnLst/>
                  <a:rect l="0" t="0" r="0" b="0"/>
                  <a:pathLst>
                    <a:path w="60129" h="82021">
                      <a:moveTo>
                        <a:pt x="55267" y="52090"/>
                      </a:moveTo>
                      <a:cubicBezTo>
                        <a:pt x="60129" y="61013"/>
                        <a:pt x="57637" y="72306"/>
                        <a:pt x="49743" y="77152"/>
                      </a:cubicBezTo>
                      <a:cubicBezTo>
                        <a:pt x="41849" y="82021"/>
                        <a:pt x="31455" y="78607"/>
                        <a:pt x="26563" y="69692"/>
                      </a:cubicBezTo>
                      <a:lnTo>
                        <a:pt x="4914" y="29938"/>
                      </a:lnTo>
                      <a:cubicBezTo>
                        <a:pt x="0" y="20977"/>
                        <a:pt x="2491" y="9685"/>
                        <a:pt x="10393" y="4869"/>
                      </a:cubicBezTo>
                      <a:cubicBezTo>
                        <a:pt x="18288" y="0"/>
                        <a:pt x="28712" y="3375"/>
                        <a:pt x="33604" y="12344"/>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34" name="Free Form 241">
                  <a:extLst>
                    <a:ext uri="{FF2B5EF4-FFF2-40B4-BE49-F238E27FC236}">
                      <a16:creationId xmlns:a16="http://schemas.microsoft.com/office/drawing/2014/main" id="{20651355-60E0-427D-92EB-7B7FE5BB50C7}"/>
                    </a:ext>
                  </a:extLst>
                </p:cNvPr>
                <p:cNvSpPr/>
                <p:nvPr/>
              </p:nvSpPr>
              <p:spPr>
                <a:xfrm>
                  <a:off x="3243953" y="3943622"/>
                  <a:ext cx="77305" cy="63726"/>
                </a:xfrm>
                <a:custGeom>
                  <a:avLst/>
                  <a:gdLst/>
                  <a:ahLst/>
                  <a:cxnLst/>
                  <a:rect l="0" t="0" r="0" b="0"/>
                  <a:pathLst>
                    <a:path w="77304" h="63726">
                      <a:moveTo>
                        <a:pt x="65669" y="28125"/>
                      </a:moveTo>
                      <a:cubicBezTo>
                        <a:pt x="74134" y="33329"/>
                        <a:pt x="77304" y="44371"/>
                        <a:pt x="72748" y="52730"/>
                      </a:cubicBezTo>
                      <a:cubicBezTo>
                        <a:pt x="68206" y="61097"/>
                        <a:pt x="57561" y="63726"/>
                        <a:pt x="49126" y="58574"/>
                      </a:cubicBezTo>
                      <a:lnTo>
                        <a:pt x="11612" y="35631"/>
                      </a:lnTo>
                      <a:cubicBezTo>
                        <a:pt x="3185" y="30419"/>
                        <a:pt x="0" y="19370"/>
                        <a:pt x="4564" y="11018"/>
                      </a:cubicBezTo>
                      <a:cubicBezTo>
                        <a:pt x="9105" y="2651"/>
                        <a:pt x="19758" y="0"/>
                        <a:pt x="28163" y="5173"/>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35" name="Free Form 242">
                  <a:extLst>
                    <a:ext uri="{FF2B5EF4-FFF2-40B4-BE49-F238E27FC236}">
                      <a16:creationId xmlns:a16="http://schemas.microsoft.com/office/drawing/2014/main" id="{FFE3427B-2F14-4E64-A49C-F7006D7D3CB8}"/>
                    </a:ext>
                  </a:extLst>
                </p:cNvPr>
                <p:cNvSpPr/>
                <p:nvPr/>
              </p:nvSpPr>
              <p:spPr>
                <a:xfrm>
                  <a:off x="3207884" y="4066781"/>
                  <a:ext cx="78783" cy="35152"/>
                </a:xfrm>
                <a:custGeom>
                  <a:avLst/>
                  <a:gdLst/>
                  <a:ahLst/>
                  <a:cxnLst/>
                  <a:rect l="0" t="0" r="0" b="0"/>
                  <a:pathLst>
                    <a:path w="78783" h="35151">
                      <a:moveTo>
                        <a:pt x="61104" y="0"/>
                      </a:moveTo>
                      <a:cubicBezTo>
                        <a:pt x="70805" y="0"/>
                        <a:pt x="78783" y="7940"/>
                        <a:pt x="78783" y="17571"/>
                      </a:cubicBezTo>
                      <a:cubicBezTo>
                        <a:pt x="78783" y="27195"/>
                        <a:pt x="70805" y="35151"/>
                        <a:pt x="61104" y="35151"/>
                      </a:cubicBezTo>
                      <a:lnTo>
                        <a:pt x="17754" y="35151"/>
                      </a:lnTo>
                      <a:cubicBezTo>
                        <a:pt x="8008" y="35151"/>
                        <a:pt x="0" y="27195"/>
                        <a:pt x="0" y="17571"/>
                      </a:cubicBezTo>
                      <a:cubicBezTo>
                        <a:pt x="0" y="7940"/>
                        <a:pt x="8008" y="0"/>
                        <a:pt x="17754" y="0"/>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36" name="Free Form 243">
                  <a:extLst>
                    <a:ext uri="{FF2B5EF4-FFF2-40B4-BE49-F238E27FC236}">
                      <a16:creationId xmlns:a16="http://schemas.microsoft.com/office/drawing/2014/main" id="{F5288195-434A-4F38-AFA3-68CBB2F39FA5}"/>
                    </a:ext>
                  </a:extLst>
                </p:cNvPr>
                <p:cNvSpPr/>
                <p:nvPr/>
              </p:nvSpPr>
              <p:spPr>
                <a:xfrm>
                  <a:off x="3229409" y="4165467"/>
                  <a:ext cx="77366" cy="63726"/>
                </a:xfrm>
                <a:custGeom>
                  <a:avLst/>
                  <a:gdLst/>
                  <a:ahLst/>
                  <a:cxnLst/>
                  <a:rect l="0" t="0" r="0" b="0"/>
                  <a:pathLst>
                    <a:path w="77365" h="63726">
                      <a:moveTo>
                        <a:pt x="49156" y="5151"/>
                      </a:moveTo>
                      <a:cubicBezTo>
                        <a:pt x="57599" y="0"/>
                        <a:pt x="68206" y="2628"/>
                        <a:pt x="72786" y="10988"/>
                      </a:cubicBezTo>
                      <a:cubicBezTo>
                        <a:pt x="77365" y="19347"/>
                        <a:pt x="74165" y="30403"/>
                        <a:pt x="65737" y="35623"/>
                      </a:cubicBezTo>
                      <a:lnTo>
                        <a:pt x="28201" y="58552"/>
                      </a:lnTo>
                      <a:cubicBezTo>
                        <a:pt x="19766" y="63726"/>
                        <a:pt x="9113" y="61059"/>
                        <a:pt x="4572" y="52684"/>
                      </a:cubicBezTo>
                      <a:cubicBezTo>
                        <a:pt x="0" y="44333"/>
                        <a:pt x="3192" y="33276"/>
                        <a:pt x="11635" y="28133"/>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0" name="Free Form 247">
                  <a:extLst>
                    <a:ext uri="{FF2B5EF4-FFF2-40B4-BE49-F238E27FC236}">
                      <a16:creationId xmlns:a16="http://schemas.microsoft.com/office/drawing/2014/main" id="{8D061B36-3881-4EAA-93D2-2EFA73A6F5A5}"/>
                    </a:ext>
                  </a:extLst>
                </p:cNvPr>
                <p:cNvSpPr/>
                <p:nvPr/>
              </p:nvSpPr>
              <p:spPr>
                <a:xfrm>
                  <a:off x="3591971" y="4192092"/>
                  <a:ext cx="77335" cy="63734"/>
                </a:xfrm>
                <a:custGeom>
                  <a:avLst/>
                  <a:gdLst/>
                  <a:ahLst/>
                  <a:cxnLst/>
                  <a:rect l="0" t="0" r="0" b="0"/>
                  <a:pathLst>
                    <a:path w="77335" h="63733">
                      <a:moveTo>
                        <a:pt x="11628" y="35638"/>
                      </a:moveTo>
                      <a:cubicBezTo>
                        <a:pt x="3200" y="30426"/>
                        <a:pt x="0" y="19354"/>
                        <a:pt x="4587" y="11003"/>
                      </a:cubicBezTo>
                      <a:cubicBezTo>
                        <a:pt x="9151" y="2628"/>
                        <a:pt x="19743" y="0"/>
                        <a:pt x="28201" y="5151"/>
                      </a:cubicBezTo>
                      <a:lnTo>
                        <a:pt x="65752" y="28133"/>
                      </a:lnTo>
                      <a:cubicBezTo>
                        <a:pt x="74142" y="33276"/>
                        <a:pt x="77335" y="44409"/>
                        <a:pt x="72755" y="52745"/>
                      </a:cubicBezTo>
                      <a:cubicBezTo>
                        <a:pt x="68229" y="61112"/>
                        <a:pt x="57599" y="63733"/>
                        <a:pt x="49141" y="58552"/>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1" name="Free Form 248">
                  <a:extLst>
                    <a:ext uri="{FF2B5EF4-FFF2-40B4-BE49-F238E27FC236}">
                      <a16:creationId xmlns:a16="http://schemas.microsoft.com/office/drawing/2014/main" id="{8AE71518-CD23-48C9-AE58-807289DCFA90}"/>
                    </a:ext>
                  </a:extLst>
                </p:cNvPr>
                <p:cNvSpPr/>
                <p:nvPr/>
              </p:nvSpPr>
              <p:spPr>
                <a:xfrm>
                  <a:off x="3626599" y="4097530"/>
                  <a:ext cx="78753" cy="35174"/>
                </a:xfrm>
                <a:custGeom>
                  <a:avLst/>
                  <a:gdLst/>
                  <a:ahLst/>
                  <a:cxnLst/>
                  <a:rect l="0" t="0" r="0" b="0"/>
                  <a:pathLst>
                    <a:path w="78752" h="35173">
                      <a:moveTo>
                        <a:pt x="17670" y="35173"/>
                      </a:moveTo>
                      <a:cubicBezTo>
                        <a:pt x="7955" y="35173"/>
                        <a:pt x="0" y="27218"/>
                        <a:pt x="0" y="17564"/>
                      </a:cubicBezTo>
                      <a:cubicBezTo>
                        <a:pt x="0" y="7863"/>
                        <a:pt x="7955" y="0"/>
                        <a:pt x="17670" y="0"/>
                      </a:cubicBezTo>
                      <a:lnTo>
                        <a:pt x="61013" y="0"/>
                      </a:lnTo>
                      <a:cubicBezTo>
                        <a:pt x="70751" y="0"/>
                        <a:pt x="78752" y="7863"/>
                        <a:pt x="78752" y="17564"/>
                      </a:cubicBezTo>
                      <a:cubicBezTo>
                        <a:pt x="78752" y="27218"/>
                        <a:pt x="70751" y="35173"/>
                        <a:pt x="61013" y="35173"/>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2" name="Free Form 249">
                  <a:extLst>
                    <a:ext uri="{FF2B5EF4-FFF2-40B4-BE49-F238E27FC236}">
                      <a16:creationId xmlns:a16="http://schemas.microsoft.com/office/drawing/2014/main" id="{0859E9B7-881B-4E9C-9357-195A4F179EAD}"/>
                    </a:ext>
                  </a:extLst>
                </p:cNvPr>
                <p:cNvSpPr/>
                <p:nvPr/>
              </p:nvSpPr>
              <p:spPr>
                <a:xfrm>
                  <a:off x="3606514" y="3970263"/>
                  <a:ext cx="77297" cy="63703"/>
                </a:xfrm>
                <a:custGeom>
                  <a:avLst/>
                  <a:gdLst/>
                  <a:ahLst/>
                  <a:cxnLst/>
                  <a:rect l="0" t="0" r="0" b="0"/>
                  <a:pathLst>
                    <a:path w="77297" h="63703">
                      <a:moveTo>
                        <a:pt x="28209" y="58552"/>
                      </a:moveTo>
                      <a:cubicBezTo>
                        <a:pt x="19735" y="63703"/>
                        <a:pt x="9121" y="61089"/>
                        <a:pt x="4533" y="52715"/>
                      </a:cubicBezTo>
                      <a:cubicBezTo>
                        <a:pt x="0" y="44356"/>
                        <a:pt x="3154" y="33367"/>
                        <a:pt x="11597" y="28117"/>
                      </a:cubicBezTo>
                      <a:lnTo>
                        <a:pt x="49095" y="5204"/>
                      </a:lnTo>
                      <a:cubicBezTo>
                        <a:pt x="57569" y="0"/>
                        <a:pt x="68221" y="2651"/>
                        <a:pt x="72763" y="10988"/>
                      </a:cubicBezTo>
                      <a:cubicBezTo>
                        <a:pt x="77297" y="19347"/>
                        <a:pt x="74150" y="30464"/>
                        <a:pt x="65707" y="35623"/>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43" name="Free Form 250">
                  <a:extLst>
                    <a:ext uri="{FF2B5EF4-FFF2-40B4-BE49-F238E27FC236}">
                      <a16:creationId xmlns:a16="http://schemas.microsoft.com/office/drawing/2014/main" id="{1E7AD853-2DD2-41F0-9A58-61C138D11308}"/>
                    </a:ext>
                  </a:extLst>
                </p:cNvPr>
                <p:cNvSpPr/>
                <p:nvPr/>
              </p:nvSpPr>
              <p:spPr>
                <a:xfrm>
                  <a:off x="3543786" y="3874358"/>
                  <a:ext cx="60129" cy="81877"/>
                </a:xfrm>
                <a:custGeom>
                  <a:avLst/>
                  <a:gdLst/>
                  <a:ahLst/>
                  <a:cxnLst/>
                  <a:rect l="0" t="0" r="0" b="0"/>
                  <a:pathLst>
                    <a:path w="60129" h="81876">
                      <a:moveTo>
                        <a:pt x="33627" y="69662"/>
                      </a:moveTo>
                      <a:cubicBezTo>
                        <a:pt x="28735" y="78562"/>
                        <a:pt x="18265" y="81876"/>
                        <a:pt x="10363" y="77068"/>
                      </a:cubicBezTo>
                      <a:cubicBezTo>
                        <a:pt x="2468" y="72252"/>
                        <a:pt x="0" y="60960"/>
                        <a:pt x="4853" y="52059"/>
                      </a:cubicBezTo>
                      <a:lnTo>
                        <a:pt x="26532" y="12283"/>
                      </a:lnTo>
                      <a:cubicBezTo>
                        <a:pt x="31417" y="3352"/>
                        <a:pt x="41864" y="0"/>
                        <a:pt x="49796" y="4808"/>
                      </a:cubicBezTo>
                      <a:cubicBezTo>
                        <a:pt x="57683" y="9624"/>
                        <a:pt x="60129" y="20916"/>
                        <a:pt x="55267" y="2981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grpSp>
        </p:grpSp>
      </p:grpSp>
      <p:grpSp>
        <p:nvGrpSpPr>
          <p:cNvPr id="16" name="Group 15">
            <a:extLst>
              <a:ext uri="{FF2B5EF4-FFF2-40B4-BE49-F238E27FC236}">
                <a16:creationId xmlns:a16="http://schemas.microsoft.com/office/drawing/2014/main" id="{7710C18E-908D-4D0B-BF91-C36BB612B1B6}"/>
              </a:ext>
            </a:extLst>
          </p:cNvPr>
          <p:cNvGrpSpPr/>
          <p:nvPr/>
        </p:nvGrpSpPr>
        <p:grpSpPr>
          <a:xfrm>
            <a:off x="366281" y="3119894"/>
            <a:ext cx="11060312" cy="755631"/>
            <a:chOff x="208273" y="5325205"/>
            <a:chExt cx="11060312" cy="755631"/>
          </a:xfrm>
        </p:grpSpPr>
        <p:grpSp>
          <p:nvGrpSpPr>
            <p:cNvPr id="147" name="Group 146">
              <a:extLst>
                <a:ext uri="{FF2B5EF4-FFF2-40B4-BE49-F238E27FC236}">
                  <a16:creationId xmlns:a16="http://schemas.microsoft.com/office/drawing/2014/main" id="{DD8D260A-7615-4AFE-BC22-6C80411264C5}"/>
                </a:ext>
              </a:extLst>
            </p:cNvPr>
            <p:cNvGrpSpPr/>
            <p:nvPr/>
          </p:nvGrpSpPr>
          <p:grpSpPr>
            <a:xfrm>
              <a:off x="208273" y="5325205"/>
              <a:ext cx="9738332" cy="755631"/>
              <a:chOff x="772994" y="1439228"/>
              <a:chExt cx="9738332" cy="755631"/>
            </a:xfrm>
          </p:grpSpPr>
          <p:sp>
            <p:nvSpPr>
              <p:cNvPr id="165" name="Rectangle 164">
                <a:extLst>
                  <a:ext uri="{FF2B5EF4-FFF2-40B4-BE49-F238E27FC236}">
                    <a16:creationId xmlns:a16="http://schemas.microsoft.com/office/drawing/2014/main" id="{B1E56494-6491-469C-AF7E-314E34F5EC05}"/>
                  </a:ext>
                </a:extLst>
              </p:cNvPr>
              <p:cNvSpPr/>
              <p:nvPr/>
            </p:nvSpPr>
            <p:spPr>
              <a:xfrm rot="5400000">
                <a:off x="5958889" y="-2357577"/>
                <a:ext cx="755631" cy="8349242"/>
              </a:xfrm>
              <a:prstGeom prst="rect">
                <a:avLst/>
              </a:prstGeom>
              <a:gradFill>
                <a:gsLst>
                  <a:gs pos="30000">
                    <a:schemeClr val="bg1">
                      <a:alpha val="59000"/>
                    </a:schemeClr>
                  </a:gs>
                  <a:gs pos="100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66" name="Group 165">
                <a:extLst>
                  <a:ext uri="{FF2B5EF4-FFF2-40B4-BE49-F238E27FC236}">
                    <a16:creationId xmlns:a16="http://schemas.microsoft.com/office/drawing/2014/main" id="{CA2EA8A4-5FA4-43A0-90C6-03A4EC3FE594}"/>
                  </a:ext>
                </a:extLst>
              </p:cNvPr>
              <p:cNvGrpSpPr/>
              <p:nvPr/>
            </p:nvGrpSpPr>
            <p:grpSpPr>
              <a:xfrm>
                <a:off x="772994" y="1439228"/>
                <a:ext cx="1832947" cy="755631"/>
                <a:chOff x="772994" y="1440659"/>
                <a:chExt cx="1832947" cy="755631"/>
              </a:xfrm>
            </p:grpSpPr>
            <p:sp>
              <p:nvSpPr>
                <p:cNvPr id="167" name="Rectangle: Diagonal Corners Snipped 166">
                  <a:extLst>
                    <a:ext uri="{FF2B5EF4-FFF2-40B4-BE49-F238E27FC236}">
                      <a16:creationId xmlns:a16="http://schemas.microsoft.com/office/drawing/2014/main" id="{EDD07BB7-1E2E-44DB-A5EC-756FB3AAB7DD}"/>
                    </a:ext>
                  </a:extLst>
                </p:cNvPr>
                <p:cNvSpPr/>
                <p:nvPr/>
              </p:nvSpPr>
              <p:spPr>
                <a:xfrm>
                  <a:off x="1974015" y="1957294"/>
                  <a:ext cx="625624" cy="238996"/>
                </a:xfrm>
                <a:prstGeom prst="snip2DiagRect">
                  <a:avLst>
                    <a:gd name="adj1" fmla="val 50000"/>
                    <a:gd name="adj2" fmla="val 16667"/>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68" name="Rectangle: Top Corners Rounded 167">
                  <a:extLst>
                    <a:ext uri="{FF2B5EF4-FFF2-40B4-BE49-F238E27FC236}">
                      <a16:creationId xmlns:a16="http://schemas.microsoft.com/office/drawing/2014/main" id="{0430B67C-55CC-4346-A849-A341FDA90092}"/>
                    </a:ext>
                  </a:extLst>
                </p:cNvPr>
                <p:cNvSpPr/>
                <p:nvPr/>
              </p:nvSpPr>
              <p:spPr>
                <a:xfrm rot="16200000">
                  <a:off x="1367211" y="846442"/>
                  <a:ext cx="644513" cy="1832947"/>
                </a:xfrm>
                <a:prstGeom prst="round2SameRect">
                  <a:avLst>
                    <a:gd name="adj1" fmla="val 50000"/>
                    <a:gd name="adj2" fmla="val 0"/>
                  </a:avLst>
                </a:prstGeom>
                <a:solidFill>
                  <a:srgbClr val="D3BA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sp>
          <p:nvSpPr>
            <p:cNvPr id="148" name="Oval 147">
              <a:extLst>
                <a:ext uri="{FF2B5EF4-FFF2-40B4-BE49-F238E27FC236}">
                  <a16:creationId xmlns:a16="http://schemas.microsoft.com/office/drawing/2014/main" id="{A4DB84A4-728C-44F0-ACB5-B1DF0D7E7923}"/>
                </a:ext>
              </a:extLst>
            </p:cNvPr>
            <p:cNvSpPr/>
            <p:nvPr/>
          </p:nvSpPr>
          <p:spPr>
            <a:xfrm>
              <a:off x="264193" y="5376527"/>
              <a:ext cx="960347" cy="548640"/>
            </a:xfrm>
            <a:prstGeom prst="ellipse">
              <a:avLst/>
            </a:prstGeom>
            <a:solidFill>
              <a:schemeClr val="accent2">
                <a:lumMod val="40000"/>
                <a:lumOff val="6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a:solidFill>
                    <a:srgbClr val="FFFFFF"/>
                  </a:solidFill>
                  <a:latin typeface="Arial" panose="020B0604020202020204"/>
                </a:rPr>
                <a:t>Strategy 3</a:t>
              </a:r>
              <a:endParaRPr kumimoji="0" lang="en-US" sz="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9" name="TextBox 148">
              <a:extLst>
                <a:ext uri="{FF2B5EF4-FFF2-40B4-BE49-F238E27FC236}">
                  <a16:creationId xmlns:a16="http://schemas.microsoft.com/office/drawing/2014/main" id="{0C8913AE-8097-4758-B08D-0CDD8B8CD159}"/>
                </a:ext>
              </a:extLst>
            </p:cNvPr>
            <p:cNvSpPr txBox="1"/>
            <p:nvPr/>
          </p:nvSpPr>
          <p:spPr>
            <a:xfrm>
              <a:off x="1759364" y="5398499"/>
              <a:ext cx="2618268" cy="553998"/>
            </a:xfrm>
            <a:prstGeom prst="rect">
              <a:avLst/>
            </a:prstGeom>
            <a:noFill/>
          </p:spPr>
          <p:txBody>
            <a:bodyPr wrap="square" lIns="0" tIns="0" rIns="0" bIns="0" rtlCol="0" anchor="t" anchorCtr="0">
              <a:spAutoFit/>
            </a:bodyPr>
            <a:lstStyle/>
            <a:p>
              <a:pPr marL="0" marR="0" lvl="0" indent="0" algn="r" defTabSz="914400" rtl="0" eaLnBrk="1" fontAlgn="base"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dirty="0">
                  <a:ln>
                    <a:noFill/>
                  </a:ln>
                  <a:solidFill>
                    <a:schemeClr val="accent2"/>
                  </a:solidFill>
                  <a:effectLst/>
                  <a:uLnTx/>
                  <a:uFillTx/>
                  <a:latin typeface="Arial" panose="020B0604020202020204"/>
                  <a:ea typeface="ＭＳ Ｐゴシック" pitchFamily="34" charset="-128"/>
                  <a:cs typeface="Segoe UI" panose="020B0502040204020203" pitchFamily="34" charset="0"/>
                </a:rPr>
                <a:t>Machine learning</a:t>
              </a:r>
            </a:p>
            <a:p>
              <a:pPr marL="0" marR="0" lvl="0" indent="0" algn="r" defTabSz="914400" rtl="0" eaLnBrk="1" fontAlgn="base" latinLnBrk="0" hangingPunct="1">
                <a:lnSpc>
                  <a:spcPct val="100000"/>
                </a:lnSpc>
                <a:spcBef>
                  <a:spcPts val="0"/>
                </a:spcBef>
                <a:spcAft>
                  <a:spcPct val="0"/>
                </a:spcAft>
                <a:buClrTx/>
                <a:buSzTx/>
                <a:buFontTx/>
                <a:buNone/>
                <a:tabLst/>
                <a:defRPr/>
              </a:pPr>
              <a:r>
                <a:rPr kumimoji="0" lang="en-US" sz="1800" b="1" i="0" u="none" strike="noStrike" kern="1200" cap="none" spc="0" normalizeH="0" baseline="0" noProof="0" dirty="0">
                  <a:ln>
                    <a:noFill/>
                  </a:ln>
                  <a:solidFill>
                    <a:schemeClr val="accent2"/>
                  </a:solidFill>
                  <a:effectLst/>
                  <a:uLnTx/>
                  <a:uFillTx/>
                  <a:latin typeface="Arial" panose="020B0604020202020204"/>
                  <a:ea typeface="ＭＳ Ｐゴシック" pitchFamily="34" charset="-128"/>
                  <a:cs typeface="Segoe UI" panose="020B0502040204020203" pitchFamily="34" charset="0"/>
                </a:rPr>
                <a:t>model creation</a:t>
              </a:r>
            </a:p>
          </p:txBody>
        </p:sp>
        <p:sp>
          <p:nvSpPr>
            <p:cNvPr id="150" name="TextBox 149">
              <a:extLst>
                <a:ext uri="{FF2B5EF4-FFF2-40B4-BE49-F238E27FC236}">
                  <a16:creationId xmlns:a16="http://schemas.microsoft.com/office/drawing/2014/main" id="{80045C66-A67E-42FB-9B4F-55D339136D3B}"/>
                </a:ext>
              </a:extLst>
            </p:cNvPr>
            <p:cNvSpPr txBox="1"/>
            <p:nvPr/>
          </p:nvSpPr>
          <p:spPr>
            <a:xfrm>
              <a:off x="4543225" y="5472246"/>
              <a:ext cx="672536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770"/>
                  </a:solidFill>
                  <a:effectLst/>
                  <a:uLnTx/>
                  <a:uFillTx/>
                  <a:latin typeface="Arial" panose="020B0604020202020204" pitchFamily="34" charset="0"/>
                  <a:ea typeface="+mn-ea"/>
                  <a:cs typeface="Arial" panose="020B0604020202020204" pitchFamily="34" charset="0"/>
                </a:rPr>
                <a:t>Create predictive models around client NPS scores to pinpoint factors that make successful and unsuccessful clients</a:t>
              </a:r>
            </a:p>
          </p:txBody>
        </p:sp>
        <p:grpSp>
          <p:nvGrpSpPr>
            <p:cNvPr id="54" name="Group 17">
              <a:extLst>
                <a:ext uri="{FF2B5EF4-FFF2-40B4-BE49-F238E27FC236}">
                  <a16:creationId xmlns:a16="http://schemas.microsoft.com/office/drawing/2014/main" id="{6B21D520-351B-4E02-BD86-0005B3EC6049}"/>
                </a:ext>
              </a:extLst>
            </p:cNvPr>
            <p:cNvGrpSpPr/>
            <p:nvPr/>
          </p:nvGrpSpPr>
          <p:grpSpPr>
            <a:xfrm>
              <a:off x="1317006" y="5388438"/>
              <a:ext cx="645331" cy="550905"/>
              <a:chOff x="4948211" y="1259928"/>
              <a:chExt cx="617123" cy="526825"/>
            </a:xfrm>
            <a:solidFill>
              <a:schemeClr val="bg1"/>
            </a:solidFill>
          </p:grpSpPr>
          <p:sp>
            <p:nvSpPr>
              <p:cNvPr id="55" name="Free Form 18">
                <a:extLst>
                  <a:ext uri="{FF2B5EF4-FFF2-40B4-BE49-F238E27FC236}">
                    <a16:creationId xmlns:a16="http://schemas.microsoft.com/office/drawing/2014/main" id="{CD98B5EF-5496-4F75-969C-DD4A488B6EB3}"/>
                  </a:ext>
                </a:extLst>
              </p:cNvPr>
              <p:cNvSpPr/>
              <p:nvPr/>
            </p:nvSpPr>
            <p:spPr>
              <a:xfrm>
                <a:off x="4948211" y="1429520"/>
                <a:ext cx="357279" cy="357233"/>
              </a:xfrm>
              <a:custGeom>
                <a:avLst/>
                <a:gdLst/>
                <a:ahLst/>
                <a:cxnLst/>
                <a:rect l="0" t="0" r="0" b="0"/>
                <a:pathLst>
                  <a:path w="357278" h="357233">
                    <a:moveTo>
                      <a:pt x="355625" y="191025"/>
                    </a:moveTo>
                    <a:lnTo>
                      <a:pt x="352630" y="210403"/>
                    </a:lnTo>
                    <a:cubicBezTo>
                      <a:pt x="350969" y="221208"/>
                      <a:pt x="340949" y="228493"/>
                      <a:pt x="330182" y="226832"/>
                    </a:cubicBezTo>
                    <a:lnTo>
                      <a:pt x="283913" y="219692"/>
                    </a:lnTo>
                    <a:cubicBezTo>
                      <a:pt x="280454" y="228996"/>
                      <a:pt x="275752" y="237622"/>
                      <a:pt x="270235" y="245463"/>
                    </a:cubicBezTo>
                    <a:lnTo>
                      <a:pt x="299199" y="285048"/>
                    </a:lnTo>
                    <a:cubicBezTo>
                      <a:pt x="305699" y="293850"/>
                      <a:pt x="303801" y="306118"/>
                      <a:pt x="295008" y="312496"/>
                    </a:cubicBezTo>
                    <a:lnTo>
                      <a:pt x="279173" y="324131"/>
                    </a:lnTo>
                    <a:cubicBezTo>
                      <a:pt x="270357" y="330555"/>
                      <a:pt x="258142" y="328673"/>
                      <a:pt x="251673" y="319887"/>
                    </a:cubicBezTo>
                    <a:lnTo>
                      <a:pt x="225270" y="283753"/>
                    </a:lnTo>
                    <a:cubicBezTo>
                      <a:pt x="215950" y="288424"/>
                      <a:pt x="206006" y="291579"/>
                      <a:pt x="195651" y="293537"/>
                    </a:cubicBezTo>
                    <a:lnTo>
                      <a:pt x="188610" y="339158"/>
                    </a:lnTo>
                    <a:cubicBezTo>
                      <a:pt x="186956" y="349857"/>
                      <a:pt x="176913" y="357233"/>
                      <a:pt x="166253" y="355587"/>
                    </a:cubicBezTo>
                    <a:lnTo>
                      <a:pt x="146799" y="352585"/>
                    </a:lnTo>
                    <a:cubicBezTo>
                      <a:pt x="136093" y="350939"/>
                      <a:pt x="128755" y="340873"/>
                      <a:pt x="130408" y="330174"/>
                    </a:cubicBezTo>
                    <a:lnTo>
                      <a:pt x="136672" y="289590"/>
                    </a:lnTo>
                    <a:cubicBezTo>
                      <a:pt x="125600" y="285978"/>
                      <a:pt x="115389" y="280758"/>
                      <a:pt x="106215" y="274281"/>
                    </a:cubicBezTo>
                    <a:lnTo>
                      <a:pt x="72169" y="299199"/>
                    </a:lnTo>
                    <a:cubicBezTo>
                      <a:pt x="63421" y="305607"/>
                      <a:pt x="51137" y="303710"/>
                      <a:pt x="44668" y="294954"/>
                    </a:cubicBezTo>
                    <a:lnTo>
                      <a:pt x="33086" y="279128"/>
                    </a:lnTo>
                    <a:cubicBezTo>
                      <a:pt x="26708" y="270456"/>
                      <a:pt x="28613" y="258112"/>
                      <a:pt x="37383" y="251642"/>
                    </a:cubicBezTo>
                    <a:lnTo>
                      <a:pt x="67825" y="229323"/>
                    </a:lnTo>
                    <a:cubicBezTo>
                      <a:pt x="62506" y="218503"/>
                      <a:pt x="58841" y="206875"/>
                      <a:pt x="57119" y="194591"/>
                    </a:cubicBezTo>
                    <a:lnTo>
                      <a:pt x="18127" y="188572"/>
                    </a:lnTo>
                    <a:cubicBezTo>
                      <a:pt x="7368" y="186910"/>
                      <a:pt x="0" y="176890"/>
                      <a:pt x="1653" y="166215"/>
                    </a:cubicBezTo>
                    <a:lnTo>
                      <a:pt x="4640" y="146791"/>
                    </a:lnTo>
                    <a:cubicBezTo>
                      <a:pt x="6301" y="136055"/>
                      <a:pt x="16344" y="128709"/>
                      <a:pt x="27111" y="130370"/>
                    </a:cubicBezTo>
                    <a:lnTo>
                      <a:pt x="63649" y="136009"/>
                    </a:lnTo>
                    <a:cubicBezTo>
                      <a:pt x="68016" y="124480"/>
                      <a:pt x="74211" y="113888"/>
                      <a:pt x="81709" y="104500"/>
                    </a:cubicBezTo>
                    <a:lnTo>
                      <a:pt x="58041" y="72191"/>
                    </a:lnTo>
                    <a:cubicBezTo>
                      <a:pt x="51678" y="63398"/>
                      <a:pt x="53477" y="51092"/>
                      <a:pt x="62224" y="44660"/>
                    </a:cubicBezTo>
                    <a:lnTo>
                      <a:pt x="78112" y="33101"/>
                    </a:lnTo>
                    <a:cubicBezTo>
                      <a:pt x="86845" y="26708"/>
                      <a:pt x="99204" y="28613"/>
                      <a:pt x="105582" y="37338"/>
                    </a:cubicBezTo>
                    <a:lnTo>
                      <a:pt x="128808" y="69037"/>
                    </a:lnTo>
                    <a:cubicBezTo>
                      <a:pt x="139316" y="64663"/>
                      <a:pt x="150472" y="61874"/>
                      <a:pt x="162077" y="60739"/>
                    </a:cubicBezTo>
                    <a:lnTo>
                      <a:pt x="168668" y="18082"/>
                    </a:lnTo>
                    <a:cubicBezTo>
                      <a:pt x="170322" y="7383"/>
                      <a:pt x="180350" y="0"/>
                      <a:pt x="191018" y="1645"/>
                    </a:cubicBezTo>
                    <a:lnTo>
                      <a:pt x="210449" y="4648"/>
                    </a:lnTo>
                    <a:cubicBezTo>
                      <a:pt x="221185" y="6309"/>
                      <a:pt x="228493" y="16367"/>
                      <a:pt x="226839" y="27066"/>
                    </a:cubicBezTo>
                    <a:lnTo>
                      <a:pt x="220263" y="69715"/>
                    </a:lnTo>
                    <a:cubicBezTo>
                      <a:pt x="230047" y="73967"/>
                      <a:pt x="239107" y="79331"/>
                      <a:pt x="247162" y="85740"/>
                    </a:cubicBezTo>
                    <a:lnTo>
                      <a:pt x="285117" y="58041"/>
                    </a:lnTo>
                    <a:cubicBezTo>
                      <a:pt x="293819" y="51663"/>
                      <a:pt x="306141" y="53538"/>
                      <a:pt x="312541" y="62278"/>
                    </a:cubicBezTo>
                    <a:lnTo>
                      <a:pt x="324131" y="78074"/>
                    </a:lnTo>
                    <a:cubicBezTo>
                      <a:pt x="330601" y="86852"/>
                      <a:pt x="328696" y="99174"/>
                      <a:pt x="319895" y="105506"/>
                    </a:cubicBezTo>
                    <a:lnTo>
                      <a:pt x="282641" y="132915"/>
                    </a:lnTo>
                    <a:cubicBezTo>
                      <a:pt x="286313" y="141861"/>
                      <a:pt x="289018" y="151333"/>
                      <a:pt x="290474" y="161086"/>
                    </a:cubicBezTo>
                    <a:lnTo>
                      <a:pt x="339173" y="168600"/>
                    </a:lnTo>
                    <a:cubicBezTo>
                      <a:pt x="349940" y="170261"/>
                      <a:pt x="357278" y="180312"/>
                      <a:pt x="355625" y="191025"/>
                    </a:cubicBezTo>
                    <a:close/>
                    <a:moveTo>
                      <a:pt x="181279" y="129357"/>
                    </a:moveTo>
                    <a:cubicBezTo>
                      <a:pt x="154487" y="125219"/>
                      <a:pt x="129410" y="143560"/>
                      <a:pt x="125272" y="170367"/>
                    </a:cubicBezTo>
                    <a:cubicBezTo>
                      <a:pt x="121127" y="197228"/>
                      <a:pt x="139514" y="222237"/>
                      <a:pt x="166306" y="226374"/>
                    </a:cubicBezTo>
                    <a:cubicBezTo>
                      <a:pt x="193121" y="230512"/>
                      <a:pt x="218191" y="212209"/>
                      <a:pt x="222336" y="185356"/>
                    </a:cubicBezTo>
                    <a:cubicBezTo>
                      <a:pt x="226481" y="158541"/>
                      <a:pt x="208094" y="133494"/>
                      <a:pt x="181279" y="129357"/>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56" name="Free Form 19">
                <a:extLst>
                  <a:ext uri="{FF2B5EF4-FFF2-40B4-BE49-F238E27FC236}">
                    <a16:creationId xmlns:a16="http://schemas.microsoft.com/office/drawing/2014/main" id="{2033866B-13C0-4E9D-BF14-AA5F202F2251}"/>
                  </a:ext>
                </a:extLst>
              </p:cNvPr>
              <p:cNvSpPr/>
              <p:nvPr/>
            </p:nvSpPr>
            <p:spPr>
              <a:xfrm>
                <a:off x="5295716" y="1427433"/>
                <a:ext cx="269618" cy="269626"/>
              </a:xfrm>
              <a:custGeom>
                <a:avLst/>
                <a:gdLst/>
                <a:ahLst/>
                <a:cxnLst/>
                <a:rect l="0" t="0" r="0" b="0"/>
                <a:pathLst>
                  <a:path w="269618" h="269626">
                    <a:moveTo>
                      <a:pt x="255628" y="139430"/>
                    </a:moveTo>
                    <a:lnTo>
                      <a:pt x="220294" y="143591"/>
                    </a:lnTo>
                    <a:cubicBezTo>
                      <a:pt x="219616" y="151074"/>
                      <a:pt x="217947" y="158290"/>
                      <a:pt x="215531" y="165224"/>
                    </a:cubicBezTo>
                    <a:lnTo>
                      <a:pt x="244739" y="188313"/>
                    </a:lnTo>
                    <a:cubicBezTo>
                      <a:pt x="251307" y="193471"/>
                      <a:pt x="252412" y="202813"/>
                      <a:pt x="247246" y="209275"/>
                    </a:cubicBezTo>
                    <a:lnTo>
                      <a:pt x="238041" y="221002"/>
                    </a:lnTo>
                    <a:cubicBezTo>
                      <a:pt x="232897" y="227502"/>
                      <a:pt x="223494" y="228607"/>
                      <a:pt x="217017" y="223486"/>
                    </a:cubicBezTo>
                    <a:lnTo>
                      <a:pt x="190378" y="202387"/>
                    </a:lnTo>
                    <a:cubicBezTo>
                      <a:pt x="184464" y="207683"/>
                      <a:pt x="177766" y="212026"/>
                      <a:pt x="170642" y="215546"/>
                    </a:cubicBezTo>
                    <a:lnTo>
                      <a:pt x="174734" y="250362"/>
                    </a:lnTo>
                    <a:cubicBezTo>
                      <a:pt x="175701" y="258531"/>
                      <a:pt x="169834" y="265960"/>
                      <a:pt x="161643" y="266920"/>
                    </a:cubicBezTo>
                    <a:lnTo>
                      <a:pt x="146829" y="268673"/>
                    </a:lnTo>
                    <a:cubicBezTo>
                      <a:pt x="138653" y="269626"/>
                      <a:pt x="131231" y="263773"/>
                      <a:pt x="130279" y="255590"/>
                    </a:cubicBezTo>
                    <a:lnTo>
                      <a:pt x="126629" y="224614"/>
                    </a:lnTo>
                    <a:cubicBezTo>
                      <a:pt x="117820" y="224203"/>
                      <a:pt x="109240" y="222443"/>
                      <a:pt x="101246" y="219600"/>
                    </a:cubicBezTo>
                    <a:lnTo>
                      <a:pt x="81358" y="244731"/>
                    </a:lnTo>
                    <a:cubicBezTo>
                      <a:pt x="76260" y="251239"/>
                      <a:pt x="66835" y="252351"/>
                      <a:pt x="60350" y="247215"/>
                    </a:cubicBezTo>
                    <a:lnTo>
                      <a:pt x="48676" y="238025"/>
                    </a:lnTo>
                    <a:cubicBezTo>
                      <a:pt x="42222" y="232890"/>
                      <a:pt x="41117" y="223494"/>
                      <a:pt x="46222" y="216979"/>
                    </a:cubicBezTo>
                    <a:lnTo>
                      <a:pt x="64030" y="194454"/>
                    </a:lnTo>
                    <a:cubicBezTo>
                      <a:pt x="57950" y="187596"/>
                      <a:pt x="52890" y="179839"/>
                      <a:pt x="49156" y="171183"/>
                    </a:cubicBezTo>
                    <a:lnTo>
                      <a:pt x="19316" y="174696"/>
                    </a:lnTo>
                    <a:cubicBezTo>
                      <a:pt x="11094" y="175671"/>
                      <a:pt x="3665" y="169826"/>
                      <a:pt x="2712" y="161665"/>
                    </a:cubicBezTo>
                    <a:lnTo>
                      <a:pt x="967" y="146875"/>
                    </a:lnTo>
                    <a:cubicBezTo>
                      <a:pt x="0" y="138623"/>
                      <a:pt x="5852" y="131246"/>
                      <a:pt x="14074" y="130271"/>
                    </a:cubicBezTo>
                    <a:lnTo>
                      <a:pt x="41963" y="126972"/>
                    </a:lnTo>
                    <a:cubicBezTo>
                      <a:pt x="42824" y="117591"/>
                      <a:pt x="45262" y="108638"/>
                      <a:pt x="48828" y="100203"/>
                    </a:cubicBezTo>
                    <a:lnTo>
                      <a:pt x="24940" y="81373"/>
                    </a:lnTo>
                    <a:cubicBezTo>
                      <a:pt x="18478" y="76215"/>
                      <a:pt x="17282" y="66812"/>
                      <a:pt x="22418" y="60358"/>
                    </a:cubicBezTo>
                    <a:lnTo>
                      <a:pt x="31699" y="48699"/>
                    </a:lnTo>
                    <a:cubicBezTo>
                      <a:pt x="36819" y="42207"/>
                      <a:pt x="46192" y="41102"/>
                      <a:pt x="52654" y="46238"/>
                    </a:cubicBezTo>
                    <a:lnTo>
                      <a:pt x="76116" y="64678"/>
                    </a:lnTo>
                    <a:cubicBezTo>
                      <a:pt x="82928" y="59344"/>
                      <a:pt x="90540" y="55062"/>
                      <a:pt x="98808" y="51884"/>
                    </a:cubicBezTo>
                    <a:lnTo>
                      <a:pt x="94975" y="19278"/>
                    </a:lnTo>
                    <a:cubicBezTo>
                      <a:pt x="94007" y="11109"/>
                      <a:pt x="99860" y="3672"/>
                      <a:pt x="108051" y="2712"/>
                    </a:cubicBezTo>
                    <a:lnTo>
                      <a:pt x="122834" y="960"/>
                    </a:lnTo>
                    <a:cubicBezTo>
                      <a:pt x="131003" y="0"/>
                      <a:pt x="138424" y="5882"/>
                      <a:pt x="139400" y="14058"/>
                    </a:cubicBezTo>
                    <a:lnTo>
                      <a:pt x="143240" y="46649"/>
                    </a:lnTo>
                    <a:cubicBezTo>
                      <a:pt x="151295" y="47754"/>
                      <a:pt x="158976" y="49857"/>
                      <a:pt x="166215" y="52936"/>
                    </a:cubicBezTo>
                    <a:lnTo>
                      <a:pt x="188343" y="24932"/>
                    </a:lnTo>
                    <a:cubicBezTo>
                      <a:pt x="193448" y="18478"/>
                      <a:pt x="202844" y="17373"/>
                      <a:pt x="209290" y="22456"/>
                    </a:cubicBezTo>
                    <a:lnTo>
                      <a:pt x="221018" y="31699"/>
                    </a:lnTo>
                    <a:cubicBezTo>
                      <a:pt x="227502" y="36781"/>
                      <a:pt x="228607" y="46200"/>
                      <a:pt x="223486" y="52616"/>
                    </a:cubicBezTo>
                    <a:lnTo>
                      <a:pt x="201739" y="80238"/>
                    </a:lnTo>
                    <a:cubicBezTo>
                      <a:pt x="206288" y="86128"/>
                      <a:pt x="210113" y="92476"/>
                      <a:pt x="213192" y="99288"/>
                    </a:cubicBezTo>
                    <a:lnTo>
                      <a:pt x="250370" y="94899"/>
                    </a:lnTo>
                    <a:cubicBezTo>
                      <a:pt x="258607" y="93931"/>
                      <a:pt x="265953" y="99852"/>
                      <a:pt x="266981" y="107983"/>
                    </a:cubicBezTo>
                    <a:lnTo>
                      <a:pt x="268734" y="122781"/>
                    </a:lnTo>
                    <a:cubicBezTo>
                      <a:pt x="269618" y="131033"/>
                      <a:pt x="263850" y="138463"/>
                      <a:pt x="255628" y="139430"/>
                    </a:cubicBezTo>
                    <a:close/>
                    <a:moveTo>
                      <a:pt x="126804" y="98244"/>
                    </a:moveTo>
                    <a:cubicBezTo>
                      <a:pt x="106367" y="100644"/>
                      <a:pt x="91721" y="119138"/>
                      <a:pt x="94122" y="139575"/>
                    </a:cubicBezTo>
                    <a:cubicBezTo>
                      <a:pt x="96530" y="160126"/>
                      <a:pt x="115092" y="174711"/>
                      <a:pt x="135529" y="172303"/>
                    </a:cubicBezTo>
                    <a:cubicBezTo>
                      <a:pt x="155981" y="169887"/>
                      <a:pt x="170619" y="151394"/>
                      <a:pt x="168203" y="130850"/>
                    </a:cubicBezTo>
                    <a:cubicBezTo>
                      <a:pt x="165811" y="110413"/>
                      <a:pt x="147279" y="95836"/>
                      <a:pt x="126804" y="98244"/>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sp>
            <p:nvSpPr>
              <p:cNvPr id="57" name="Free Form 20">
                <a:extLst>
                  <a:ext uri="{FF2B5EF4-FFF2-40B4-BE49-F238E27FC236}">
                    <a16:creationId xmlns:a16="http://schemas.microsoft.com/office/drawing/2014/main" id="{9E28CF04-3693-43C2-BBE7-C69F6AE3F8E0}"/>
                  </a:ext>
                </a:extLst>
              </p:cNvPr>
              <p:cNvSpPr/>
              <p:nvPr/>
            </p:nvSpPr>
            <p:spPr>
              <a:xfrm>
                <a:off x="5156530" y="1259928"/>
                <a:ext cx="211546" cy="211554"/>
              </a:xfrm>
              <a:custGeom>
                <a:avLst/>
                <a:gdLst/>
                <a:ahLst/>
                <a:cxnLst/>
                <a:rect l="0" t="0" r="0" b="0"/>
                <a:pathLst>
                  <a:path w="211546" h="211554">
                    <a:moveTo>
                      <a:pt x="11033" y="102207"/>
                    </a:moveTo>
                    <a:lnTo>
                      <a:pt x="32918" y="99623"/>
                    </a:lnTo>
                    <a:cubicBezTo>
                      <a:pt x="33596" y="92262"/>
                      <a:pt x="35501" y="85237"/>
                      <a:pt x="38298" y="78623"/>
                    </a:cubicBezTo>
                    <a:lnTo>
                      <a:pt x="19552" y="63840"/>
                    </a:lnTo>
                    <a:cubicBezTo>
                      <a:pt x="14493" y="59801"/>
                      <a:pt x="13555" y="52417"/>
                      <a:pt x="17586" y="47358"/>
                    </a:cubicBezTo>
                    <a:lnTo>
                      <a:pt x="24864" y="38206"/>
                    </a:lnTo>
                    <a:cubicBezTo>
                      <a:pt x="28887" y="33116"/>
                      <a:pt x="36240" y="32247"/>
                      <a:pt x="41308" y="36278"/>
                    </a:cubicBezTo>
                    <a:lnTo>
                      <a:pt x="59717" y="50741"/>
                    </a:lnTo>
                    <a:cubicBezTo>
                      <a:pt x="65067" y="46565"/>
                      <a:pt x="71033" y="43205"/>
                      <a:pt x="77525" y="40706"/>
                    </a:cubicBezTo>
                    <a:lnTo>
                      <a:pt x="74508" y="15125"/>
                    </a:lnTo>
                    <a:cubicBezTo>
                      <a:pt x="73753" y="8717"/>
                      <a:pt x="78341" y="2880"/>
                      <a:pt x="84780" y="2125"/>
                    </a:cubicBezTo>
                    <a:lnTo>
                      <a:pt x="96370" y="754"/>
                    </a:lnTo>
                    <a:cubicBezTo>
                      <a:pt x="102778" y="0"/>
                      <a:pt x="108607" y="4617"/>
                      <a:pt x="109369" y="11026"/>
                    </a:cubicBezTo>
                    <a:lnTo>
                      <a:pt x="112379" y="36606"/>
                    </a:lnTo>
                    <a:cubicBezTo>
                      <a:pt x="118696" y="37467"/>
                      <a:pt x="124731" y="39121"/>
                      <a:pt x="130408" y="41536"/>
                    </a:cubicBezTo>
                    <a:lnTo>
                      <a:pt x="147767" y="19568"/>
                    </a:lnTo>
                    <a:cubicBezTo>
                      <a:pt x="151775" y="14500"/>
                      <a:pt x="159143" y="13624"/>
                      <a:pt x="164211" y="17617"/>
                    </a:cubicBezTo>
                    <a:lnTo>
                      <a:pt x="173415" y="24864"/>
                    </a:lnTo>
                    <a:cubicBezTo>
                      <a:pt x="178498" y="28856"/>
                      <a:pt x="179367" y="36248"/>
                      <a:pt x="175351" y="41277"/>
                    </a:cubicBezTo>
                    <a:lnTo>
                      <a:pt x="158275" y="62956"/>
                    </a:lnTo>
                    <a:cubicBezTo>
                      <a:pt x="161848" y="67574"/>
                      <a:pt x="164851" y="72557"/>
                      <a:pt x="167266" y="77899"/>
                    </a:cubicBezTo>
                    <a:lnTo>
                      <a:pt x="196435" y="74455"/>
                    </a:lnTo>
                    <a:cubicBezTo>
                      <a:pt x="202905" y="73693"/>
                      <a:pt x="208666" y="78348"/>
                      <a:pt x="209473" y="84719"/>
                    </a:cubicBezTo>
                    <a:lnTo>
                      <a:pt x="210853" y="96332"/>
                    </a:lnTo>
                    <a:cubicBezTo>
                      <a:pt x="211546" y="102809"/>
                      <a:pt x="207020" y="108638"/>
                      <a:pt x="200558" y="109400"/>
                    </a:cubicBezTo>
                    <a:lnTo>
                      <a:pt x="172844" y="112661"/>
                    </a:lnTo>
                    <a:cubicBezTo>
                      <a:pt x="172303" y="118536"/>
                      <a:pt x="171000" y="124198"/>
                      <a:pt x="169095" y="129639"/>
                    </a:cubicBezTo>
                    <a:lnTo>
                      <a:pt x="192016" y="147751"/>
                    </a:lnTo>
                    <a:cubicBezTo>
                      <a:pt x="197167" y="151798"/>
                      <a:pt x="198043" y="159128"/>
                      <a:pt x="193989" y="164203"/>
                    </a:cubicBezTo>
                    <a:lnTo>
                      <a:pt x="186766" y="173400"/>
                    </a:lnTo>
                    <a:cubicBezTo>
                      <a:pt x="182727" y="178506"/>
                      <a:pt x="175359" y="179367"/>
                      <a:pt x="170276" y="175351"/>
                    </a:cubicBezTo>
                    <a:lnTo>
                      <a:pt x="149359" y="158793"/>
                    </a:lnTo>
                    <a:cubicBezTo>
                      <a:pt x="144726" y="162953"/>
                      <a:pt x="139476" y="166352"/>
                      <a:pt x="133883" y="169125"/>
                    </a:cubicBezTo>
                    <a:lnTo>
                      <a:pt x="137091" y="196435"/>
                    </a:lnTo>
                    <a:cubicBezTo>
                      <a:pt x="137853" y="202844"/>
                      <a:pt x="133250" y="208681"/>
                      <a:pt x="126819" y="209428"/>
                    </a:cubicBezTo>
                    <a:lnTo>
                      <a:pt x="115199" y="210807"/>
                    </a:lnTo>
                    <a:cubicBezTo>
                      <a:pt x="108775" y="211554"/>
                      <a:pt x="102961" y="206959"/>
                      <a:pt x="102214" y="200543"/>
                    </a:cubicBezTo>
                    <a:lnTo>
                      <a:pt x="99349" y="176235"/>
                    </a:lnTo>
                    <a:cubicBezTo>
                      <a:pt x="92445" y="175915"/>
                      <a:pt x="85702" y="174528"/>
                      <a:pt x="79430" y="172303"/>
                    </a:cubicBezTo>
                    <a:lnTo>
                      <a:pt x="63832" y="192024"/>
                    </a:lnTo>
                    <a:cubicBezTo>
                      <a:pt x="59824" y="197121"/>
                      <a:pt x="52433" y="197998"/>
                      <a:pt x="47350" y="193967"/>
                    </a:cubicBezTo>
                    <a:lnTo>
                      <a:pt x="38183" y="186758"/>
                    </a:lnTo>
                    <a:cubicBezTo>
                      <a:pt x="33131" y="182727"/>
                      <a:pt x="32247" y="175359"/>
                      <a:pt x="36263" y="170246"/>
                    </a:cubicBezTo>
                    <a:lnTo>
                      <a:pt x="50238" y="152567"/>
                    </a:lnTo>
                    <a:cubicBezTo>
                      <a:pt x="45460" y="147187"/>
                      <a:pt x="41490" y="141099"/>
                      <a:pt x="38557" y="134317"/>
                    </a:cubicBezTo>
                    <a:lnTo>
                      <a:pt x="15140" y="137068"/>
                    </a:lnTo>
                    <a:cubicBezTo>
                      <a:pt x="8694" y="137830"/>
                      <a:pt x="2872" y="133250"/>
                      <a:pt x="2118" y="126842"/>
                    </a:cubicBezTo>
                    <a:lnTo>
                      <a:pt x="754" y="115237"/>
                    </a:lnTo>
                    <a:cubicBezTo>
                      <a:pt x="0" y="108767"/>
                      <a:pt x="4579" y="102969"/>
                      <a:pt x="11033" y="102207"/>
                    </a:cubicBezTo>
                    <a:close/>
                    <a:moveTo>
                      <a:pt x="106329" y="135194"/>
                    </a:moveTo>
                    <a:cubicBezTo>
                      <a:pt x="122377" y="133296"/>
                      <a:pt x="133860" y="118788"/>
                      <a:pt x="131970" y="102664"/>
                    </a:cubicBezTo>
                    <a:cubicBezTo>
                      <a:pt x="130088" y="86624"/>
                      <a:pt x="115549" y="75186"/>
                      <a:pt x="99494" y="77083"/>
                    </a:cubicBezTo>
                    <a:cubicBezTo>
                      <a:pt x="83454" y="78973"/>
                      <a:pt x="71963" y="93474"/>
                      <a:pt x="73837" y="109507"/>
                    </a:cubicBezTo>
                    <a:cubicBezTo>
                      <a:pt x="75735" y="125630"/>
                      <a:pt x="90297" y="137083"/>
                      <a:pt x="106329" y="135194"/>
                    </a:cubicBezTo>
                    <a:close/>
                  </a:path>
                </a:pathLst>
              </a:custGeom>
              <a:grpFill/>
              <a:ln w="0" cap="flat" cmpd="sng">
                <a:noFill/>
                <a:prstDash val="solid"/>
                <a:miter lim="800000"/>
              </a:ln>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C6770"/>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2183316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2CEE91-EC26-00AC-E605-80B5CF8DCF14}"/>
              </a:ext>
            </a:extLst>
          </p:cNvPr>
          <p:cNvSpPr>
            <a:spLocks noGrp="1"/>
          </p:cNvSpPr>
          <p:nvPr>
            <p:ph type="title"/>
          </p:nvPr>
        </p:nvSpPr>
        <p:spPr>
          <a:xfrm>
            <a:off x="182880" y="170785"/>
            <a:ext cx="4348480" cy="2862699"/>
          </a:xfrm>
        </p:spPr>
        <p:txBody>
          <a:bodyPr vert="horz" lIns="91440" tIns="45720" rIns="91440" bIns="45720" rtlCol="0" anchor="b">
            <a:normAutofit/>
          </a:bodyPr>
          <a:lstStyle/>
          <a:p>
            <a:r>
              <a:rPr lang="en-US" sz="4000" dirty="0"/>
              <a:t>“Project Illumination”</a:t>
            </a:r>
            <a:br>
              <a:rPr lang="en-US" sz="4000" dirty="0"/>
            </a:br>
            <a:r>
              <a:rPr lang="en-US" sz="4000" dirty="0"/>
              <a:t>Client Facing      Research</a:t>
            </a:r>
          </a:p>
        </p:txBody>
      </p:sp>
      <p:sp>
        <p:nvSpPr>
          <p:cNvPr id="6" name="Text Placeholder 5">
            <a:extLst>
              <a:ext uri="{FF2B5EF4-FFF2-40B4-BE49-F238E27FC236}">
                <a16:creationId xmlns:a16="http://schemas.microsoft.com/office/drawing/2014/main" id="{C8311CD7-ED87-A6C2-1F74-E5C1520C18BA}"/>
              </a:ext>
            </a:extLst>
          </p:cNvPr>
          <p:cNvSpPr>
            <a:spLocks noGrp="1"/>
          </p:cNvSpPr>
          <p:nvPr>
            <p:ph type="body" sz="half" idx="2"/>
          </p:nvPr>
        </p:nvSpPr>
        <p:spPr>
          <a:xfrm>
            <a:off x="435869" y="3824516"/>
            <a:ext cx="3659246" cy="2393403"/>
          </a:xfrm>
        </p:spPr>
        <p:txBody>
          <a:bodyPr vert="horz" lIns="91440" tIns="45720" rIns="91440" bIns="45720" rtlCol="0">
            <a:normAutofit/>
          </a:bodyPr>
          <a:lstStyle/>
          <a:p>
            <a:pPr>
              <a:lnSpc>
                <a:spcPct val="100000"/>
              </a:lnSpc>
            </a:pPr>
            <a:r>
              <a:rPr lang="en-US" sz="1500" cap="all" spc="200" dirty="0"/>
              <a:t>“Supposing is good but finding out through research is better.” Mark Twain</a:t>
            </a:r>
          </a:p>
        </p:txBody>
      </p:sp>
      <p:pic>
        <p:nvPicPr>
          <p:cNvPr id="10" name="Picture 9">
            <a:extLst>
              <a:ext uri="{FF2B5EF4-FFF2-40B4-BE49-F238E27FC236}">
                <a16:creationId xmlns:a16="http://schemas.microsoft.com/office/drawing/2014/main" id="{4C0BFEA3-3017-0C54-81ED-324F1BE95A97}"/>
              </a:ext>
            </a:extLst>
          </p:cNvPr>
          <p:cNvPicPr>
            <a:picLocks noChangeAspect="1"/>
          </p:cNvPicPr>
          <p:nvPr/>
        </p:nvPicPr>
        <p:blipFill>
          <a:blip r:embed="rId2"/>
          <a:stretch>
            <a:fillRect/>
          </a:stretch>
        </p:blipFill>
        <p:spPr>
          <a:xfrm>
            <a:off x="4709418" y="2323663"/>
            <a:ext cx="7326825" cy="2187377"/>
          </a:xfrm>
          <a:prstGeom prst="rect">
            <a:avLst/>
          </a:prstGeom>
        </p:spPr>
      </p:pic>
    </p:spTree>
    <p:extLst>
      <p:ext uri="{BB962C8B-B14F-4D97-AF65-F5344CB8AC3E}">
        <p14:creationId xmlns:p14="http://schemas.microsoft.com/office/powerpoint/2010/main" val="2067945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87E9AD2-79E0-99EB-509F-D3F6DF8D216D}"/>
              </a:ext>
            </a:extLst>
          </p:cNvPr>
          <p:cNvGraphicFramePr>
            <a:graphicFrameLocks noGrp="1"/>
          </p:cNvGraphicFramePr>
          <p:nvPr>
            <p:extLst>
              <p:ext uri="{D42A27DB-BD31-4B8C-83A1-F6EECF244321}">
                <p14:modId xmlns:p14="http://schemas.microsoft.com/office/powerpoint/2010/main" val="617947966"/>
              </p:ext>
            </p:extLst>
          </p:nvPr>
        </p:nvGraphicFramePr>
        <p:xfrm>
          <a:off x="273326" y="489697"/>
          <a:ext cx="11655819" cy="5948680"/>
        </p:xfrm>
        <a:graphic>
          <a:graphicData uri="http://schemas.openxmlformats.org/drawingml/2006/table">
            <a:tbl>
              <a:tblPr firstRow="1" bandRow="1">
                <a:tableStyleId>{F5AB1C69-6EDB-4FF4-983F-18BD219EF322}</a:tableStyleId>
              </a:tblPr>
              <a:tblGrid>
                <a:gridCol w="7600302">
                  <a:extLst>
                    <a:ext uri="{9D8B030D-6E8A-4147-A177-3AD203B41FA5}">
                      <a16:colId xmlns:a16="http://schemas.microsoft.com/office/drawing/2014/main" val="2252746179"/>
                    </a:ext>
                  </a:extLst>
                </a:gridCol>
                <a:gridCol w="1547209">
                  <a:extLst>
                    <a:ext uri="{9D8B030D-6E8A-4147-A177-3AD203B41FA5}">
                      <a16:colId xmlns:a16="http://schemas.microsoft.com/office/drawing/2014/main" val="4098709189"/>
                    </a:ext>
                  </a:extLst>
                </a:gridCol>
                <a:gridCol w="2508308">
                  <a:extLst>
                    <a:ext uri="{9D8B030D-6E8A-4147-A177-3AD203B41FA5}">
                      <a16:colId xmlns:a16="http://schemas.microsoft.com/office/drawing/2014/main" val="1711189375"/>
                    </a:ext>
                  </a:extLst>
                </a:gridCol>
              </a:tblGrid>
              <a:tr h="300878">
                <a:tc>
                  <a:txBody>
                    <a:bodyPr/>
                    <a:lstStyle/>
                    <a:p>
                      <a:pPr algn="ctr"/>
                      <a:r>
                        <a:rPr lang="en-US" dirty="0"/>
                        <a:t>Deliverables</a:t>
                      </a:r>
                    </a:p>
                  </a:txBody>
                  <a:tcPr anchor="ctr"/>
                </a:tc>
                <a:tc>
                  <a:txBody>
                    <a:bodyPr/>
                    <a:lstStyle/>
                    <a:p>
                      <a:pPr algn="ctr"/>
                      <a:r>
                        <a:rPr lang="en-US" dirty="0"/>
                        <a:t>Target date</a:t>
                      </a:r>
                    </a:p>
                  </a:txBody>
                  <a:tcPr anchor="ctr"/>
                </a:tc>
                <a:tc>
                  <a:txBody>
                    <a:bodyPr/>
                    <a:lstStyle/>
                    <a:p>
                      <a:pPr algn="ctr"/>
                      <a:r>
                        <a:rPr lang="en-US" dirty="0"/>
                        <a:t>CX Owner</a:t>
                      </a:r>
                    </a:p>
                  </a:txBody>
                  <a:tcPr anchor="ctr"/>
                </a:tc>
                <a:extLst>
                  <a:ext uri="{0D108BD9-81ED-4DB2-BD59-A6C34878D82A}">
                    <a16:rowId xmlns:a16="http://schemas.microsoft.com/office/drawing/2014/main" val="2313468396"/>
                  </a:ext>
                </a:extLst>
              </a:tr>
              <a:tr h="370840">
                <a:tc>
                  <a:txBody>
                    <a:bodyPr/>
                    <a:lstStyle/>
                    <a:p>
                      <a:pPr lvl="0">
                        <a:buNone/>
                      </a:pPr>
                      <a:r>
                        <a:rPr lang="en-US" sz="1400" b="0" u="none" strike="noStrike" noProof="0" dirty="0">
                          <a:solidFill>
                            <a:schemeClr val="tx1">
                              <a:lumMod val="75000"/>
                            </a:schemeClr>
                          </a:solidFill>
                        </a:rPr>
                        <a:t>CX Robust project plan created</a:t>
                      </a:r>
                      <a:endParaRPr lang="en-US" sz="1400" dirty="0">
                        <a:solidFill>
                          <a:schemeClr val="tx1">
                            <a:lumMod val="75000"/>
                          </a:schemeClr>
                        </a:solidFill>
                        <a:latin typeface="Montserrat Light"/>
                      </a:endParaRPr>
                    </a:p>
                  </a:txBody>
                  <a:tcPr/>
                </a:tc>
                <a:tc>
                  <a:txBody>
                    <a:bodyPr/>
                    <a:lstStyle/>
                    <a:p>
                      <a:pPr algn="ctr"/>
                      <a:r>
                        <a:rPr lang="en-US" sz="1600" dirty="0">
                          <a:solidFill>
                            <a:schemeClr val="tx1">
                              <a:lumMod val="75000"/>
                            </a:schemeClr>
                          </a:solidFill>
                        </a:rPr>
                        <a:t>8/15/2022</a:t>
                      </a:r>
                      <a:endParaRPr lang="en-US" sz="1600" dirty="0">
                        <a:solidFill>
                          <a:schemeClr val="tx1">
                            <a:lumMod val="75000"/>
                          </a:schemeClr>
                        </a:solidFill>
                        <a:latin typeface="Montserrat Light"/>
                      </a:endParaRP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24846203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u="none" strike="noStrike" noProof="0" dirty="0">
                          <a:solidFill>
                            <a:schemeClr val="tx1">
                              <a:lumMod val="75000"/>
                            </a:schemeClr>
                          </a:solidFill>
                        </a:rPr>
                        <a:t>Client journey mapping – pain points and delighters – Current state</a:t>
                      </a:r>
                      <a:endParaRPr lang="en-US" sz="1400" dirty="0">
                        <a:solidFill>
                          <a:schemeClr val="tx1">
                            <a:lumMod val="75000"/>
                          </a:schemeClr>
                        </a:solidFill>
                        <a:latin typeface="Montserrat Light"/>
                      </a:endParaRPr>
                    </a:p>
                  </a:txBody>
                  <a:tcPr/>
                </a:tc>
                <a:tc>
                  <a:txBody>
                    <a:bodyPr/>
                    <a:lstStyle/>
                    <a:p>
                      <a:pPr marL="0" lvl="0" algn="ctr" defTabSz="914400" rtl="0" eaLnBrk="1" latinLnBrk="0" hangingPunct="1">
                        <a:buNone/>
                      </a:pPr>
                      <a:r>
                        <a:rPr lang="en-US" sz="1600" kern="1200" dirty="0">
                          <a:solidFill>
                            <a:schemeClr val="tx1">
                              <a:lumMod val="75000"/>
                            </a:schemeClr>
                          </a:solidFill>
                          <a:latin typeface="+mn-lt"/>
                          <a:ea typeface="+mn-ea"/>
                          <a:cs typeface="+mn-cs"/>
                        </a:rPr>
                        <a:t>9/30/2022</a:t>
                      </a:r>
                    </a:p>
                  </a:txBody>
                  <a:tcPr anchor="ctr"/>
                </a:tc>
                <a:tc>
                  <a:txBody>
                    <a:bodyPr/>
                    <a:lstStyle/>
                    <a:p>
                      <a:pPr lvl="0" algn="ctr">
                        <a:buNone/>
                      </a:pP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376243974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lumMod val="75000"/>
                            </a:schemeClr>
                          </a:solidFill>
                        </a:rPr>
                        <a:t>Create process to collect &amp; leverage feedback from clients along the impacted journey: Contracting – whitespace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u="none" strike="noStrike" noProof="0" dirty="0">
                          <a:solidFill>
                            <a:schemeClr val="tx1">
                              <a:lumMod val="75000"/>
                            </a:schemeClr>
                          </a:solidFill>
                        </a:rPr>
                        <a:t>Identify gaps - whitespace</a:t>
                      </a:r>
                      <a:endParaRPr lang="en-US" sz="1400" dirty="0">
                        <a:solidFill>
                          <a:schemeClr val="tx1">
                            <a:lumMod val="75000"/>
                          </a:schemeClr>
                        </a:solidFill>
                        <a:latin typeface="Montserrat Light"/>
                      </a:endParaRPr>
                    </a:p>
                  </a:txBody>
                  <a:tcPr/>
                </a:tc>
                <a:tc>
                  <a:txBody>
                    <a:bodyPr/>
                    <a:lstStyle/>
                    <a:p>
                      <a:pPr marL="0" lvl="0" algn="ctr" defTabSz="914400" rtl="0" eaLnBrk="1" latinLnBrk="0" hangingPunct="1">
                        <a:buNone/>
                      </a:pPr>
                      <a:r>
                        <a:rPr lang="en-US" sz="1600" kern="1200" dirty="0">
                          <a:solidFill>
                            <a:schemeClr val="tx1">
                              <a:lumMod val="75000"/>
                            </a:schemeClr>
                          </a:solidFill>
                          <a:latin typeface="+mn-lt"/>
                          <a:ea typeface="+mn-ea"/>
                          <a:cs typeface="+mn-cs"/>
                        </a:rPr>
                        <a:t>10/15/2022</a:t>
                      </a:r>
                    </a:p>
                  </a:txBody>
                  <a:tcPr anchor="ctr"/>
                </a:tc>
                <a:tc>
                  <a:txBody>
                    <a:bodyPr/>
                    <a:lstStyle/>
                    <a:p>
                      <a:pPr lvl="0" algn="ctr">
                        <a:buNone/>
                      </a:pP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4166039581"/>
                  </a:ext>
                </a:extLst>
              </a:tr>
              <a:tr h="370840">
                <a:tc>
                  <a:txBody>
                    <a:bodyPr/>
                    <a:lstStyle/>
                    <a:p>
                      <a:pPr lvl="0">
                        <a:buNone/>
                      </a:pPr>
                      <a:r>
                        <a:rPr lang="en-US" sz="1400" b="0" u="none" strike="noStrike" noProof="0" dirty="0">
                          <a:solidFill>
                            <a:schemeClr val="tx1">
                              <a:lumMod val="75000"/>
                            </a:schemeClr>
                          </a:solidFill>
                        </a:rPr>
                        <a:t>Value outcomes identified – how do we structure our questions</a:t>
                      </a:r>
                      <a:endParaRPr lang="en-US" sz="140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9/30/2022</a:t>
                      </a:r>
                    </a:p>
                  </a:txBody>
                  <a:tcPr anchor="ctr"/>
                </a:tc>
                <a:tc>
                  <a:txBody>
                    <a:bodyPr/>
                    <a:lstStyle/>
                    <a:p>
                      <a:pPr lvl="0" algn="ctr">
                        <a:buNone/>
                      </a:pP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1781830076"/>
                  </a:ext>
                </a:extLst>
              </a:tr>
              <a:tr h="370840">
                <a:tc>
                  <a:txBody>
                    <a:bodyPr/>
                    <a:lstStyle/>
                    <a:p>
                      <a:pPr marL="0" marR="0" lvl="0" indent="0" algn="l" defTabSz="914400" rtl="0" eaLnBrk="1" fontAlgn="auto" latinLnBrk="0" hangingPunct="1">
                        <a:lnSpc>
                          <a:spcPct val="100000"/>
                        </a:lnSpc>
                        <a:spcBef>
                          <a:spcPts val="0"/>
                        </a:spcBef>
                        <a:spcAft>
                          <a:spcPts val="0"/>
                        </a:spcAft>
                        <a:buClr>
                          <a:srgbClr val="5B6770"/>
                        </a:buClr>
                        <a:buSzTx/>
                        <a:buFontTx/>
                        <a:buNone/>
                        <a:tabLst/>
                        <a:defRPr/>
                      </a:pPr>
                      <a:r>
                        <a:rPr lang="en-US" sz="1400" dirty="0">
                          <a:solidFill>
                            <a:schemeClr val="tx1">
                              <a:lumMod val="75000"/>
                            </a:schemeClr>
                          </a:solidFill>
                        </a:rPr>
                        <a:t>Create process to collect &amp; leverage feedback from clients along the impacted journey.  - </a:t>
                      </a:r>
                      <a:r>
                        <a:rPr lang="en-US" sz="1400" b="0" u="none" strike="noStrike" noProof="0" dirty="0">
                          <a:solidFill>
                            <a:schemeClr val="tx1">
                              <a:lumMod val="75000"/>
                            </a:schemeClr>
                          </a:solidFill>
                        </a:rPr>
                        <a:t>Current research inventoried:</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Existing research we can use to baseline</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Adjustments to existing surveys</a:t>
                      </a:r>
                      <a:endParaRPr lang="en-US" sz="1200" b="0" i="0" u="none" strike="noStrike" noProof="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10/15/2022</a:t>
                      </a:r>
                    </a:p>
                    <a:p>
                      <a:pPr marL="0" algn="ctr" defTabSz="914400" rtl="0" eaLnBrk="1" latinLnBrk="0" hangingPunct="1"/>
                      <a:endParaRPr lang="en-US" sz="1600" kern="1200" dirty="0">
                        <a:solidFill>
                          <a:schemeClr val="tx1">
                            <a:lumMod val="75000"/>
                          </a:schemeClr>
                        </a:solidFill>
                        <a:latin typeface="+mn-lt"/>
                        <a:ea typeface="+mn-ea"/>
                        <a:cs typeface="+mn-cs"/>
                      </a:endParaRP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2122966988"/>
                  </a:ext>
                </a:extLst>
              </a:tr>
              <a:tr h="370840">
                <a:tc>
                  <a:txBody>
                    <a:bodyPr/>
                    <a:lstStyle/>
                    <a:p>
                      <a:pPr marL="0" marR="0" lvl="0" indent="0" algn="l">
                        <a:lnSpc>
                          <a:spcPct val="100000"/>
                        </a:lnSpc>
                        <a:spcBef>
                          <a:spcPts val="0"/>
                        </a:spcBef>
                        <a:spcAft>
                          <a:spcPts val="0"/>
                        </a:spcAft>
                        <a:buClr>
                          <a:srgbClr val="5B6770"/>
                        </a:buClr>
                        <a:buFont typeface="Arial,Sans-Serif"/>
                        <a:buNone/>
                      </a:pPr>
                      <a:r>
                        <a:rPr lang="en-US" sz="1400" dirty="0">
                          <a:solidFill>
                            <a:schemeClr val="tx1">
                              <a:lumMod val="75000"/>
                            </a:schemeClr>
                          </a:solidFill>
                        </a:rPr>
                        <a:t>Create new research listening posts – As needed</a:t>
                      </a:r>
                      <a:endParaRPr lang="en-US" sz="140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Ongoing</a:t>
                      </a: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2111764361"/>
                  </a:ext>
                </a:extLst>
              </a:tr>
              <a:tr h="166182">
                <a:tc>
                  <a:txBody>
                    <a:bodyPr/>
                    <a:lstStyle/>
                    <a:p>
                      <a:pPr lvl="0" algn="l">
                        <a:lnSpc>
                          <a:spcPct val="100000"/>
                        </a:lnSpc>
                        <a:spcBef>
                          <a:spcPts val="0"/>
                        </a:spcBef>
                        <a:spcAft>
                          <a:spcPts val="0"/>
                        </a:spcAft>
                        <a:buNone/>
                      </a:pPr>
                      <a:r>
                        <a:rPr lang="en-US" sz="1400" b="0" u="none" strike="noStrike" noProof="0" dirty="0">
                          <a:solidFill>
                            <a:schemeClr val="tx1">
                              <a:lumMod val="75000"/>
                            </a:schemeClr>
                          </a:solidFill>
                        </a:rPr>
                        <a:t>Impacted operational groups identified – Who do we work with/key stakeholders?</a:t>
                      </a:r>
                      <a:endParaRPr lang="en-US" sz="1400" b="0" i="0" u="none" strike="noStrike" noProof="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9/15/2022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3351950306"/>
                  </a:ext>
                </a:extLst>
              </a:tr>
              <a:tr h="370840">
                <a:tc>
                  <a:txBody>
                    <a:bodyPr/>
                    <a:lstStyle/>
                    <a:p>
                      <a:pPr lvl="0" algn="l">
                        <a:lnSpc>
                          <a:spcPct val="100000"/>
                        </a:lnSpc>
                        <a:spcBef>
                          <a:spcPts val="0"/>
                        </a:spcBef>
                        <a:spcAft>
                          <a:spcPts val="0"/>
                        </a:spcAft>
                        <a:buNone/>
                      </a:pPr>
                      <a:r>
                        <a:rPr lang="en-US" sz="1400" b="0" u="none" strike="noStrike" noProof="0" dirty="0">
                          <a:solidFill>
                            <a:schemeClr val="tx1">
                              <a:lumMod val="75000"/>
                            </a:schemeClr>
                          </a:solidFill>
                        </a:rPr>
                        <a:t>Buildout of Qualtrics – Survey’s, dashboards etc.</a:t>
                      </a:r>
                      <a:endParaRPr lang="en-US" sz="1400" b="0" i="0" u="none" strike="noStrike" noProof="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11/30/2022</a:t>
                      </a: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1763133357"/>
                  </a:ext>
                </a:extLst>
              </a:tr>
              <a:tr h="370840">
                <a:tc>
                  <a:txBody>
                    <a:bodyPr/>
                    <a:lstStyle/>
                    <a:p>
                      <a:pPr marL="0" marR="0" lvl="0" indent="0" algn="l">
                        <a:lnSpc>
                          <a:spcPct val="100000"/>
                        </a:lnSpc>
                        <a:spcBef>
                          <a:spcPts val="0"/>
                        </a:spcBef>
                        <a:spcAft>
                          <a:spcPts val="0"/>
                        </a:spcAft>
                        <a:buClr>
                          <a:srgbClr val="5B6770"/>
                        </a:buClr>
                        <a:buNone/>
                      </a:pPr>
                      <a:r>
                        <a:rPr lang="en-US" sz="1400" b="0" u="none" strike="noStrike" noProof="0" dirty="0">
                          <a:solidFill>
                            <a:schemeClr val="tx1">
                              <a:lumMod val="75000"/>
                            </a:schemeClr>
                          </a:solidFill>
                        </a:rPr>
                        <a:t>Process documentation</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Document the repeatable steps CX Insights &amp; Research will go through for this project</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Deliver the right info to the right people at the right time so they can take action</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Assign ongoing touchpoint intervals</a:t>
                      </a:r>
                    </a:p>
                    <a:p>
                      <a:pPr marL="914400" marR="0" lvl="1" indent="-457200" algn="l">
                        <a:lnSpc>
                          <a:spcPct val="100000"/>
                        </a:lnSpc>
                        <a:spcBef>
                          <a:spcPts val="0"/>
                        </a:spcBef>
                        <a:spcAft>
                          <a:spcPts val="0"/>
                        </a:spcAft>
                        <a:buClr>
                          <a:srgbClr val="5B6770"/>
                        </a:buClr>
                        <a:buFont typeface="Arial,Sans-Serif"/>
                        <a:buChar char="•"/>
                      </a:pPr>
                      <a:r>
                        <a:rPr lang="en-US" sz="1200" b="0" u="none" strike="noStrike" noProof="0" dirty="0">
                          <a:solidFill>
                            <a:schemeClr val="tx1">
                              <a:lumMod val="75000"/>
                            </a:schemeClr>
                          </a:solidFill>
                        </a:rPr>
                        <a:t>Establish governance process of the data</a:t>
                      </a:r>
                      <a:endParaRPr lang="en-US" sz="1200" b="0" i="0" u="none" strike="noStrike" noProof="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11/30/2022</a:t>
                      </a:r>
                    </a:p>
                    <a:p>
                      <a:pPr marL="0" algn="ctr" defTabSz="914400" rtl="0" eaLnBrk="1" latinLnBrk="0" hangingPunct="1"/>
                      <a:endParaRPr lang="en-US" sz="1600" kern="1200" dirty="0">
                        <a:solidFill>
                          <a:schemeClr val="tx1">
                            <a:lumMod val="75000"/>
                          </a:schemeClr>
                        </a:solidFill>
                        <a:latin typeface="+mn-lt"/>
                        <a:ea typeface="+mn-ea"/>
                        <a:cs typeface="+mn-cs"/>
                      </a:endParaRP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1791176276"/>
                  </a:ext>
                </a:extLst>
              </a:tr>
              <a:tr h="370840">
                <a:tc>
                  <a:txBody>
                    <a:bodyPr/>
                    <a:lstStyle/>
                    <a:p>
                      <a:pPr marL="0" marR="0" lvl="0" indent="0" algn="l">
                        <a:lnSpc>
                          <a:spcPct val="100000"/>
                        </a:lnSpc>
                        <a:spcBef>
                          <a:spcPts val="0"/>
                        </a:spcBef>
                        <a:spcAft>
                          <a:spcPts val="0"/>
                        </a:spcAft>
                        <a:buClr>
                          <a:srgbClr val="5B6770"/>
                        </a:buClr>
                        <a:buFont typeface="Arial,Sans-Serif"/>
                        <a:buNone/>
                      </a:pPr>
                      <a:r>
                        <a:rPr lang="en-US" sz="1400" dirty="0">
                          <a:solidFill>
                            <a:schemeClr val="tx1">
                              <a:lumMod val="75000"/>
                            </a:schemeClr>
                          </a:solidFill>
                        </a:rPr>
                        <a:t>Create new reporting and insights based on data gathered</a:t>
                      </a:r>
                      <a:endParaRPr lang="en-US" sz="140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1/30/2023</a:t>
                      </a: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3742504580"/>
                  </a:ext>
                </a:extLst>
              </a:tr>
              <a:tr h="370840">
                <a:tc>
                  <a:txBody>
                    <a:bodyPr/>
                    <a:lstStyle/>
                    <a:p>
                      <a:pPr marL="0" marR="0" lvl="0" indent="0" algn="l">
                        <a:lnSpc>
                          <a:spcPct val="100000"/>
                        </a:lnSpc>
                        <a:spcBef>
                          <a:spcPts val="0"/>
                        </a:spcBef>
                        <a:spcAft>
                          <a:spcPts val="0"/>
                        </a:spcAft>
                        <a:buClr>
                          <a:srgbClr val="5B6770"/>
                        </a:buClr>
                        <a:buNone/>
                      </a:pPr>
                      <a:r>
                        <a:rPr lang="en-US" sz="1400" b="0" u="none" strike="noStrike" noProof="0" dirty="0">
                          <a:solidFill>
                            <a:schemeClr val="tx1">
                              <a:lumMod val="75000"/>
                            </a:schemeClr>
                          </a:solidFill>
                        </a:rPr>
                        <a:t>Communication planning TBD</a:t>
                      </a:r>
                      <a:endParaRPr lang="en-US" sz="1400" b="0" i="0" u="none" strike="noStrike" noProof="0" dirty="0">
                        <a:solidFill>
                          <a:schemeClr val="tx1">
                            <a:lumMod val="75000"/>
                          </a:schemeClr>
                        </a:solidFill>
                        <a:latin typeface="Montserrat Ligh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schemeClr>
                          </a:solidFill>
                          <a:latin typeface="+mn-lt"/>
                          <a:ea typeface="+mn-ea"/>
                          <a:cs typeface="+mn-cs"/>
                        </a:rPr>
                        <a:t>Ongoing</a:t>
                      </a:r>
                    </a:p>
                  </a:txBody>
                  <a:tcPr anchor="ctr"/>
                </a:tc>
                <a:tc>
                  <a:txBody>
                    <a:bodyPr/>
                    <a:lstStyle/>
                    <a:p>
                      <a:pPr algn="ctr"/>
                      <a:endParaRPr lang="en-US" sz="1200" dirty="0">
                        <a:solidFill>
                          <a:schemeClr val="tx1">
                            <a:lumMod val="75000"/>
                          </a:schemeClr>
                        </a:solidFill>
                        <a:latin typeface="Montserrat Light"/>
                      </a:endParaRPr>
                    </a:p>
                  </a:txBody>
                  <a:tcPr anchor="ctr"/>
                </a:tc>
                <a:extLst>
                  <a:ext uri="{0D108BD9-81ED-4DB2-BD59-A6C34878D82A}">
                    <a16:rowId xmlns:a16="http://schemas.microsoft.com/office/drawing/2014/main" val="874764633"/>
                  </a:ext>
                </a:extLst>
              </a:tr>
            </a:tbl>
          </a:graphicData>
        </a:graphic>
      </p:graphicFrame>
      <p:sp>
        <p:nvSpPr>
          <p:cNvPr id="4" name="TextBox 3">
            <a:extLst>
              <a:ext uri="{FF2B5EF4-FFF2-40B4-BE49-F238E27FC236}">
                <a16:creationId xmlns:a16="http://schemas.microsoft.com/office/drawing/2014/main" id="{EB3535C4-5159-C2A3-ED07-59E259012E51}"/>
              </a:ext>
            </a:extLst>
          </p:cNvPr>
          <p:cNvSpPr txBox="1"/>
          <p:nvPr/>
        </p:nvSpPr>
        <p:spPr>
          <a:xfrm>
            <a:off x="273326" y="52077"/>
            <a:ext cx="6117996" cy="369332"/>
          </a:xfrm>
          <a:prstGeom prst="rect">
            <a:avLst/>
          </a:prstGeom>
          <a:noFill/>
        </p:spPr>
        <p:txBody>
          <a:bodyPr wrap="square">
            <a:spAutoFit/>
          </a:bodyPr>
          <a:lstStyle/>
          <a:p>
            <a:r>
              <a:rPr lang="en-US" sz="1800" dirty="0">
                <a:solidFill>
                  <a:srgbClr val="C00000"/>
                </a:solidFill>
                <a:latin typeface="Montserrat" panose="00000500000000000000" pitchFamily="2" charset="0"/>
                <a:cs typeface="+mj-cs"/>
              </a:rPr>
              <a:t>Project Illumination – CX Project Plan </a:t>
            </a:r>
            <a:endParaRPr lang="en-US" dirty="0">
              <a:solidFill>
                <a:srgbClr val="C00000"/>
              </a:solidFill>
            </a:endParaRPr>
          </a:p>
        </p:txBody>
      </p:sp>
    </p:spTree>
    <p:extLst>
      <p:ext uri="{BB962C8B-B14F-4D97-AF65-F5344CB8AC3E}">
        <p14:creationId xmlns:p14="http://schemas.microsoft.com/office/powerpoint/2010/main" val="2725079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B791358-7DC1-419F-BCBD-EEA69AAAB407}"/>
              </a:ext>
            </a:extLst>
          </p:cNvPr>
          <p:cNvSpPr/>
          <p:nvPr/>
        </p:nvSpPr>
        <p:spPr>
          <a:xfrm>
            <a:off x="6620256" y="3624977"/>
            <a:ext cx="5012942" cy="2097664"/>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Title 1">
            <a:extLst>
              <a:ext uri="{FF2B5EF4-FFF2-40B4-BE49-F238E27FC236}">
                <a16:creationId xmlns:a16="http://schemas.microsoft.com/office/drawing/2014/main" id="{882F2E54-7EF6-4945-BD9E-56135D5CED4E}"/>
              </a:ext>
            </a:extLst>
          </p:cNvPr>
          <p:cNvSpPr>
            <a:spLocks noGrp="1"/>
          </p:cNvSpPr>
          <p:nvPr>
            <p:ph type="title" idx="4294967295"/>
          </p:nvPr>
        </p:nvSpPr>
        <p:spPr>
          <a:xfrm>
            <a:off x="103341" y="272666"/>
            <a:ext cx="12301651" cy="606425"/>
          </a:xfrm>
        </p:spPr>
        <p:txBody>
          <a:bodyPr>
            <a:normAutofit fontScale="90000"/>
          </a:bodyPr>
          <a:lstStyle/>
          <a:p>
            <a:r>
              <a:rPr lang="en-US" sz="4100" dirty="0">
                <a:solidFill>
                  <a:srgbClr val="C00000"/>
                </a:solidFill>
              </a:rPr>
              <a:t>“Project Illumination” Program Offering – World class VOC process</a:t>
            </a:r>
          </a:p>
        </p:txBody>
      </p:sp>
      <p:sp>
        <p:nvSpPr>
          <p:cNvPr id="18" name="Rectangle 17">
            <a:extLst>
              <a:ext uri="{FF2B5EF4-FFF2-40B4-BE49-F238E27FC236}">
                <a16:creationId xmlns:a16="http://schemas.microsoft.com/office/drawing/2014/main" id="{010001C7-8DE1-451F-B11E-C8416B193B91}"/>
              </a:ext>
            </a:extLst>
          </p:cNvPr>
          <p:cNvSpPr/>
          <p:nvPr/>
        </p:nvSpPr>
        <p:spPr>
          <a:xfrm>
            <a:off x="6620257" y="1220158"/>
            <a:ext cx="5012942" cy="197672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Rectangle 19">
            <a:extLst>
              <a:ext uri="{FF2B5EF4-FFF2-40B4-BE49-F238E27FC236}">
                <a16:creationId xmlns:a16="http://schemas.microsoft.com/office/drawing/2014/main" id="{14F96405-C668-4824-83B1-BC512184CF14}"/>
              </a:ext>
            </a:extLst>
          </p:cNvPr>
          <p:cNvSpPr/>
          <p:nvPr/>
        </p:nvSpPr>
        <p:spPr>
          <a:xfrm>
            <a:off x="279998" y="3645668"/>
            <a:ext cx="5267510" cy="2097664"/>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 name="TextBox 10">
            <a:extLst>
              <a:ext uri="{FF2B5EF4-FFF2-40B4-BE49-F238E27FC236}">
                <a16:creationId xmlns:a16="http://schemas.microsoft.com/office/drawing/2014/main" id="{8E0D4AEB-B3C9-4684-B6F8-4992BC501385}"/>
              </a:ext>
            </a:extLst>
          </p:cNvPr>
          <p:cNvSpPr txBox="1"/>
          <p:nvPr/>
        </p:nvSpPr>
        <p:spPr>
          <a:xfrm>
            <a:off x="7262699" y="1398916"/>
            <a:ext cx="4505578" cy="1908215"/>
          </a:xfrm>
          <a:prstGeom prst="rect">
            <a:avLst/>
          </a:prstGeom>
          <a:noFill/>
          <a:ln w="28575">
            <a:noFill/>
          </a:ln>
        </p:spPr>
        <p:txBody>
          <a:bodyPr wrap="square" lIns="0" tIns="0" rIns="0" bIns="0" numCol="2" rtlCol="0">
            <a:spAutoFit/>
          </a:bodyPr>
          <a:lstStyle>
            <a:defPPr>
              <a:defRPr lang="en-US"/>
            </a:defPPr>
            <a:lvl1pPr>
              <a:defRPr sz="120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2"/>
                </a:solidFill>
                <a:latin typeface="+mj-lt"/>
              </a:rPr>
              <a:t>Scope of work:</a:t>
            </a:r>
          </a:p>
          <a:p>
            <a:pPr marL="171450" indent="-171450">
              <a:spcBef>
                <a:spcPts val="300"/>
              </a:spcBef>
              <a:buFont typeface="Arial" panose="020B0604020202020204" pitchFamily="34" charset="0"/>
              <a:buChar char="•"/>
              <a:defRPr/>
            </a:pPr>
            <a:r>
              <a:rPr lang="en-US" sz="1000">
                <a:latin typeface="Montserrat Light"/>
                <a:cs typeface="+mn-cs"/>
              </a:rPr>
              <a:t>Monitor feedback</a:t>
            </a:r>
          </a:p>
          <a:p>
            <a:pPr marL="171450" indent="-171450">
              <a:spcBef>
                <a:spcPts val="300"/>
              </a:spcBef>
              <a:buFont typeface="Arial" panose="020B0604020202020204" pitchFamily="34" charset="0"/>
              <a:buChar char="•"/>
              <a:defRPr/>
            </a:pPr>
            <a:r>
              <a:rPr lang="en-US" sz="1000">
                <a:latin typeface="Montserrat Light"/>
                <a:cs typeface="+mn-cs"/>
              </a:rPr>
              <a:t>Initial results </a:t>
            </a:r>
          </a:p>
          <a:p>
            <a:pPr marL="171450" indent="-171450">
              <a:spcBef>
                <a:spcPts val="300"/>
              </a:spcBef>
              <a:buFont typeface="Arial" panose="020B0604020202020204" pitchFamily="34" charset="0"/>
              <a:buChar char="•"/>
              <a:defRPr/>
            </a:pPr>
            <a:r>
              <a:rPr lang="en-US" sz="1000">
                <a:latin typeface="Montserrat Light"/>
                <a:cs typeface="+mn-cs"/>
              </a:rPr>
              <a:t>Key driver analysis</a:t>
            </a:r>
          </a:p>
          <a:p>
            <a:pPr marL="171450" indent="-171450">
              <a:spcBef>
                <a:spcPts val="300"/>
              </a:spcBef>
              <a:buFont typeface="Arial" panose="020B0604020202020204" pitchFamily="34" charset="0"/>
              <a:buChar char="•"/>
              <a:defRPr/>
            </a:pPr>
            <a:r>
              <a:rPr lang="en-US" sz="1000">
                <a:latin typeface="Montserrat Light"/>
                <a:cs typeface="+mn-cs"/>
              </a:rPr>
              <a:t>Data splits</a:t>
            </a:r>
          </a:p>
          <a:p>
            <a:pPr marL="171450" indent="-171450">
              <a:spcBef>
                <a:spcPts val="300"/>
              </a:spcBef>
              <a:buFont typeface="Arial" panose="020B0604020202020204" pitchFamily="34" charset="0"/>
              <a:buChar char="•"/>
              <a:defRPr/>
            </a:pPr>
            <a:r>
              <a:rPr lang="en-US" sz="1000">
                <a:latin typeface="Montserrat Light"/>
                <a:cs typeface="+mn-cs"/>
              </a:rPr>
              <a:t>Development of insight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2"/>
                </a:solidFill>
                <a:effectLst/>
                <a:uLnTx/>
                <a:uFillTx/>
                <a:latin typeface="+mj-lt"/>
                <a:ea typeface="+mn-ea"/>
                <a:cs typeface="Arial" panose="020B0604020202020204" pitchFamily="34" charset="0"/>
              </a:rPr>
              <a:t>Timeframe:</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a:latin typeface="Montserrat Light"/>
                <a:cs typeface="+mn-cs"/>
              </a:rPr>
              <a:t>2 days for initial results</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a:latin typeface="Montserrat Light"/>
                <a:cs typeface="+mn-cs"/>
              </a:rPr>
              <a:t>3-4 weeks for development of insights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2"/>
              </a:solidFill>
              <a:effectLst/>
              <a:uLnTx/>
              <a:uFillTx/>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2"/>
                </a:solidFill>
                <a:latin typeface="+mj-lt"/>
              </a:rPr>
              <a:t>Deliverables:</a:t>
            </a:r>
          </a:p>
          <a:p>
            <a:pPr marL="171450" indent="-171450">
              <a:spcBef>
                <a:spcPts val="300"/>
              </a:spcBef>
              <a:buFont typeface="Arial" panose="020B0604020202020204" pitchFamily="34" charset="0"/>
              <a:buChar char="•"/>
              <a:defRPr/>
            </a:pPr>
            <a:r>
              <a:rPr lang="en-US" sz="1000">
                <a:latin typeface="Montserrat Light"/>
                <a:cs typeface="+mn-cs"/>
              </a:rPr>
              <a:t>Presentation of insights</a:t>
            </a:r>
          </a:p>
          <a:p>
            <a:pPr marL="171450" indent="-171450">
              <a:spcBef>
                <a:spcPts val="300"/>
              </a:spcBef>
              <a:buFont typeface="Arial" panose="020B0604020202020204" pitchFamily="34" charset="0"/>
              <a:buChar char="•"/>
              <a:defRPr/>
            </a:pPr>
            <a:r>
              <a:rPr lang="en-US" sz="1000">
                <a:latin typeface="Montserrat Light"/>
                <a:cs typeface="+mn-cs"/>
              </a:rPr>
              <a:t>Raw data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2"/>
              </a:solidFill>
              <a:effectLst/>
              <a:uLnTx/>
              <a:uFillTx/>
              <a:latin typeface="+mj-lt"/>
              <a:ea typeface="+mn-ea"/>
              <a:cs typeface="Arial" panose="020B0604020202020204" pitchFamily="34" charset="0"/>
            </a:endParaRPr>
          </a:p>
        </p:txBody>
      </p:sp>
      <p:sp>
        <p:nvSpPr>
          <p:cNvPr id="14" name="TextBox 13">
            <a:extLst>
              <a:ext uri="{FF2B5EF4-FFF2-40B4-BE49-F238E27FC236}">
                <a16:creationId xmlns:a16="http://schemas.microsoft.com/office/drawing/2014/main" id="{C7DA09D3-F339-4EB3-B57E-6F7033DCC167}"/>
              </a:ext>
            </a:extLst>
          </p:cNvPr>
          <p:cNvSpPr txBox="1"/>
          <p:nvPr/>
        </p:nvSpPr>
        <p:spPr>
          <a:xfrm>
            <a:off x="7185468" y="3692666"/>
            <a:ext cx="4373146" cy="2223686"/>
          </a:xfrm>
          <a:prstGeom prst="rect">
            <a:avLst/>
          </a:prstGeom>
          <a:noFill/>
          <a:ln w="28575">
            <a:noFill/>
          </a:ln>
        </p:spPr>
        <p:txBody>
          <a:bodyPr wrap="square" lIns="0" tIns="0" rIns="0" bIns="0" numCol="2" rtlCol="0" anchor="t">
            <a:spAutoFit/>
          </a:bodyPr>
          <a:lstStyle>
            <a:defPPr>
              <a:defRPr lang="en-US"/>
            </a:defPPr>
            <a:lvl1pPr>
              <a:defRPr sz="120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Scope of work:</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Document key actions from presentation of insights</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Create improvement plans utilizing the Arch playbook (CSIP)</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Monitor and manage actions</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Work with BGs to address Cerner actions</a:t>
            </a:r>
          </a:p>
          <a:p>
            <a:pPr marL="171450" indent="-171450">
              <a:spcBef>
                <a:spcPts val="300"/>
              </a:spcBef>
              <a:buFont typeface="Arial" panose="020B0604020202020204" pitchFamily="34" charset="0"/>
              <a:buChar char="•"/>
              <a:defRPr/>
            </a:pPr>
            <a:r>
              <a:rPr lang="en-US" sz="1000" dirty="0">
                <a:solidFill>
                  <a:srgbClr val="5B6770"/>
                </a:solidFill>
                <a:latin typeface="+mj-lt"/>
                <a:cs typeface="Arial"/>
              </a:rPr>
              <a:t>Align clients with Peers to collaborate on best practice</a:t>
            </a:r>
            <a:endParaRPr lang="en-US" sz="1000" dirty="0">
              <a:solidFill>
                <a:srgbClr val="5B6770"/>
              </a:solidFill>
              <a:latin typeface="+mj-lt"/>
            </a:endParaRPr>
          </a:p>
          <a:p>
            <a:pPr>
              <a:defRPr/>
            </a:pPr>
            <a:endParaRPr lang="en-US" sz="1600" dirty="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2"/>
                </a:solidFill>
                <a:effectLst/>
                <a:uLnTx/>
                <a:uFillTx/>
                <a:latin typeface="+mj-lt"/>
                <a:ea typeface="+mn-ea"/>
                <a:cs typeface="Arial"/>
              </a:rPr>
              <a:t>Timeframe:</a:t>
            </a:r>
            <a:endParaRPr lang="en-US" sz="1600" b="0" i="0" u="none" strike="noStrike" kern="1200" cap="none" spc="0" normalizeH="0" baseline="0" noProof="0" dirty="0">
              <a:ln>
                <a:noFill/>
              </a:ln>
              <a:solidFill>
                <a:schemeClr val="tx2"/>
              </a:solidFill>
              <a:effectLst/>
              <a:uLnTx/>
              <a:uFillTx/>
              <a:latin typeface="+mj-lt"/>
              <a:cs typeface="Arial"/>
            </a:endParaRPr>
          </a:p>
          <a:p>
            <a:pPr marL="171450" indent="-171450">
              <a:spcBef>
                <a:spcPts val="300"/>
              </a:spcBef>
              <a:buFont typeface="Arial" panose="020B0604020202020204" pitchFamily="34" charset="0"/>
              <a:buChar char="•"/>
              <a:defRPr/>
            </a:pPr>
            <a:r>
              <a:rPr lang="en-US" sz="1000" dirty="0">
                <a:latin typeface="Montserrat Light"/>
                <a:cs typeface="+mn-cs"/>
              </a:rPr>
              <a:t>2 days prep time for meetings</a:t>
            </a:r>
          </a:p>
          <a:p>
            <a:pPr marL="171450" indent="-171450">
              <a:spcBef>
                <a:spcPts val="300"/>
              </a:spcBef>
              <a:buFont typeface="Arial" panose="020B0604020202020204" pitchFamily="34" charset="0"/>
              <a:buChar char="•"/>
              <a:defRPr/>
            </a:pPr>
            <a:r>
              <a:rPr lang="en-US" sz="1000" dirty="0">
                <a:latin typeface="Montserrat Light"/>
                <a:cs typeface="+mn-cs"/>
              </a:rPr>
              <a:t>4-8 months for improvement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Deliverables:</a:t>
            </a:r>
          </a:p>
          <a:p>
            <a:pPr marL="171450" indent="-171450">
              <a:spcBef>
                <a:spcPts val="300"/>
              </a:spcBef>
              <a:buFont typeface="Arial" panose="020B0604020202020204" pitchFamily="34" charset="0"/>
              <a:buChar char="•"/>
              <a:defRPr/>
            </a:pPr>
            <a:r>
              <a:rPr lang="en-US" sz="1000" dirty="0">
                <a:latin typeface="Montserrat Light"/>
                <a:cs typeface="+mn-cs"/>
              </a:rPr>
              <a:t>Monthly meeting to discuss actions/follow-ups – client level inner loops based on ongoing feedback if applicable</a:t>
            </a:r>
          </a:p>
        </p:txBody>
      </p:sp>
      <p:grpSp>
        <p:nvGrpSpPr>
          <p:cNvPr id="23" name="Group 22">
            <a:extLst>
              <a:ext uri="{FF2B5EF4-FFF2-40B4-BE49-F238E27FC236}">
                <a16:creationId xmlns:a16="http://schemas.microsoft.com/office/drawing/2014/main" id="{E9A6D43B-F338-4E78-AA54-4E724CF1B1CC}"/>
              </a:ext>
            </a:extLst>
          </p:cNvPr>
          <p:cNvGrpSpPr/>
          <p:nvPr/>
        </p:nvGrpSpPr>
        <p:grpSpPr>
          <a:xfrm>
            <a:off x="304234" y="1264635"/>
            <a:ext cx="5603590" cy="2132502"/>
            <a:chOff x="1359568" y="2088409"/>
            <a:chExt cx="3256833" cy="1243810"/>
          </a:xfrm>
          <a:noFill/>
        </p:grpSpPr>
        <p:sp>
          <p:nvSpPr>
            <p:cNvPr id="17" name="Rectangle 16">
              <a:extLst>
                <a:ext uri="{FF2B5EF4-FFF2-40B4-BE49-F238E27FC236}">
                  <a16:creationId xmlns:a16="http://schemas.microsoft.com/office/drawing/2014/main" id="{DACA0F72-BD95-4AD9-B807-9933A1268CC9}"/>
                </a:ext>
              </a:extLst>
            </p:cNvPr>
            <p:cNvSpPr/>
            <p:nvPr/>
          </p:nvSpPr>
          <p:spPr>
            <a:xfrm>
              <a:off x="1359568" y="2088409"/>
              <a:ext cx="3061502" cy="1152951"/>
            </a:xfrm>
            <a:prstGeom prst="rect">
              <a:avLst/>
            </a:prstGeom>
            <a:grp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TextBox 11">
              <a:extLst>
                <a:ext uri="{FF2B5EF4-FFF2-40B4-BE49-F238E27FC236}">
                  <a16:creationId xmlns:a16="http://schemas.microsoft.com/office/drawing/2014/main" id="{BC37E0F2-FA52-4E21-B3B1-72BD2715C564}"/>
                </a:ext>
              </a:extLst>
            </p:cNvPr>
            <p:cNvSpPr txBox="1"/>
            <p:nvPr/>
          </p:nvSpPr>
          <p:spPr>
            <a:xfrm>
              <a:off x="1643534" y="2156398"/>
              <a:ext cx="2972867" cy="1175821"/>
            </a:xfrm>
            <a:prstGeom prst="rect">
              <a:avLst/>
            </a:prstGeom>
            <a:grpFill/>
            <a:ln w="28575">
              <a:noFill/>
            </a:ln>
          </p:spPr>
          <p:txBody>
            <a:bodyPr wrap="square" lIns="0" tIns="0" rIns="0" bIns="0" numCol="2" spcCol="182880" rtlCol="0" anchor="t">
              <a:spAutoFit/>
            </a:bodyPr>
            <a:lstStyle>
              <a:defPPr>
                <a:defRPr lang="en-US"/>
              </a:defPPr>
              <a:lvl1pPr>
                <a:defRPr sz="120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Scope of work:</a:t>
              </a:r>
            </a:p>
            <a:p>
              <a:pPr marL="171450" indent="-171450">
                <a:spcBef>
                  <a:spcPts val="300"/>
                </a:spcBef>
                <a:buFont typeface="Arial" panose="020B0604020202020204" pitchFamily="34" charset="0"/>
                <a:buChar char="•"/>
              </a:pPr>
              <a:r>
                <a:rPr lang="en-US" sz="1000" b="0" i="0" kern="1200" dirty="0">
                  <a:latin typeface="Montserrat Light"/>
                  <a:ea typeface="+mn-ea"/>
                  <a:cs typeface="+mn-cs"/>
                </a:rPr>
                <a:t>Initial consult</a:t>
              </a:r>
              <a:r>
                <a:rPr lang="en-US" sz="1000" dirty="0">
                  <a:latin typeface="Montserrat Light"/>
                  <a:cs typeface="+mn-cs"/>
                </a:rPr>
                <a:t> – On-site visit and info gathering</a:t>
              </a:r>
              <a:endParaRPr lang="en-US" sz="1000" b="0" i="0" kern="1200" dirty="0">
                <a:latin typeface="Montserrat Light"/>
                <a:cs typeface="+mn-cs"/>
              </a:endParaRPr>
            </a:p>
            <a:p>
              <a:pPr marL="171450" indent="-171450">
                <a:spcBef>
                  <a:spcPts val="300"/>
                </a:spcBef>
                <a:buFont typeface="Arial" panose="020B0604020202020204" pitchFamily="34" charset="0"/>
                <a:buChar char="•"/>
              </a:pPr>
              <a:r>
                <a:rPr lang="en-US" sz="1000" b="0" i="0" kern="1200" dirty="0">
                  <a:latin typeface="Montserrat Light"/>
                  <a:ea typeface="+mn-ea"/>
                  <a:cs typeface="+mn-cs"/>
                </a:rPr>
                <a:t>Client end-user surveys design or </a:t>
              </a:r>
              <a:r>
                <a:rPr lang="en-US" sz="1000" i="1" dirty="0">
                  <a:latin typeface="Montserrat Light"/>
                  <a:cs typeface="+mn-cs"/>
                </a:rPr>
                <a:t>c</a:t>
              </a:r>
              <a:r>
                <a:rPr lang="en-US" sz="1000" b="0" i="1" kern="1200" dirty="0">
                  <a:latin typeface="Montserrat Light"/>
                  <a:ea typeface="+mn-ea"/>
                  <a:cs typeface="+mn-cs"/>
                </a:rPr>
                <a:t>lient facing interviews moderator guide</a:t>
              </a:r>
              <a:endParaRPr lang="en-US" sz="1000" b="0" i="1" kern="1200" dirty="0">
                <a:latin typeface="Montserrat Light"/>
                <a:cs typeface="+mn-cs"/>
              </a:endParaRPr>
            </a:p>
            <a:p>
              <a:pPr marL="171450" indent="-171450">
                <a:spcBef>
                  <a:spcPts val="300"/>
                </a:spcBef>
                <a:buFont typeface="Arial" panose="020B0604020202020204" pitchFamily="34" charset="0"/>
                <a:buChar char="•"/>
              </a:pPr>
              <a:r>
                <a:rPr lang="en-US" sz="1000" dirty="0">
                  <a:latin typeface="Montserrat Light"/>
                  <a:cs typeface="+mn-cs"/>
                </a:rPr>
                <a:t>Build, launch , reminders &amp; close survey or </a:t>
              </a:r>
              <a:r>
                <a:rPr lang="en-US" sz="1000" i="1" dirty="0">
                  <a:latin typeface="Montserrat Light"/>
                  <a:cs typeface="+mn-cs"/>
                </a:rPr>
                <a:t>facilitate interviews</a:t>
              </a:r>
            </a:p>
            <a:p>
              <a:pPr marL="171450" indent="-171450">
                <a:spcBef>
                  <a:spcPts val="300"/>
                </a:spcBef>
                <a:buFont typeface="Arial" panose="020B0604020202020204" pitchFamily="34" charset="0"/>
                <a:buChar char="•"/>
              </a:pPr>
              <a:endParaRPr lang="en-US" sz="1000" dirty="0">
                <a:latin typeface="Montserrat Light"/>
                <a:cs typeface="+mn-cs"/>
              </a:endParaRPr>
            </a:p>
            <a:p>
              <a:pPr marL="171450" indent="-171450">
                <a:spcBef>
                  <a:spcPts val="300"/>
                </a:spcBef>
                <a:buFont typeface="Arial" panose="020B0604020202020204" pitchFamily="34" charset="0"/>
                <a:buChar char="•"/>
              </a:pPr>
              <a:endParaRPr lang="en-US" sz="1000" dirty="0">
                <a:solidFill>
                  <a:schemeClr val="tx2"/>
                </a:solidFill>
                <a:latin typeface="Montserrat Light"/>
                <a:cs typeface="+mn-cs"/>
              </a:endParaRPr>
            </a:p>
            <a:p>
              <a:pPr marL="171450" indent="-171450">
                <a:spcBef>
                  <a:spcPts val="300"/>
                </a:spcBef>
                <a:buFont typeface="Arial" panose="020B0604020202020204" pitchFamily="34" charset="0"/>
                <a:buChar char="•"/>
              </a:pPr>
              <a:endParaRPr lang="en-US" sz="1000" dirty="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2"/>
                  </a:solidFill>
                  <a:effectLst/>
                  <a:uLnTx/>
                  <a:uFillTx/>
                  <a:latin typeface="+mj-lt"/>
                  <a:ea typeface="+mn-ea"/>
                  <a:cs typeface="Arial"/>
                </a:rPr>
                <a:t>Timeframe:</a:t>
              </a:r>
              <a:endParaRPr lang="en-US" sz="1600" b="0" i="0" u="none" strike="noStrike" kern="1200" cap="none" spc="0" normalizeH="0" baseline="0" noProof="0" dirty="0">
                <a:ln>
                  <a:noFill/>
                </a:ln>
                <a:solidFill>
                  <a:schemeClr val="tx2"/>
                </a:solidFill>
                <a:effectLst/>
                <a:uLnTx/>
                <a:uFillTx/>
                <a:latin typeface="+mj-lt"/>
                <a:cs typeface="Arial"/>
              </a:endParaRP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4 weeks for survey design</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3-4 weeks for research to be conducted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2"/>
                </a:solidFill>
                <a:effectLst/>
                <a:uLnTx/>
                <a:uFillTx/>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Deliverables:</a:t>
              </a:r>
            </a:p>
            <a:p>
              <a:pPr marL="285750" indent="-285750">
                <a:buFont typeface="Arial" panose="020B0604020202020204" pitchFamily="34" charset="0"/>
                <a:buChar char="•"/>
                <a:defRPr/>
              </a:pPr>
              <a:r>
                <a:rPr lang="en-US" sz="1000" dirty="0">
                  <a:latin typeface="Montserrat Light"/>
                  <a:cs typeface="+mn-cs"/>
                </a:rPr>
                <a:t>Survey design / moderate</a:t>
              </a:r>
              <a:br>
                <a:rPr lang="en-US" sz="1000" dirty="0">
                  <a:latin typeface="Montserrat Light"/>
                  <a:cs typeface="+mn-cs"/>
                </a:rPr>
              </a:br>
              <a:r>
                <a:rPr lang="en-US" sz="1000" dirty="0">
                  <a:latin typeface="Montserrat Light"/>
                  <a:cs typeface="+mn-cs"/>
                </a:rPr>
                <a:t>guide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Montserrat Light"/>
                  <a:cs typeface="+mn-cs"/>
                </a:rPr>
                <a:t>Survey preview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Montserrat Light"/>
                  <a:cs typeface="+mn-cs"/>
                </a:rPr>
                <a:t>Interviews</a:t>
              </a:r>
            </a:p>
          </p:txBody>
        </p:sp>
      </p:grpSp>
      <p:grpSp>
        <p:nvGrpSpPr>
          <p:cNvPr id="3" name="Group 2">
            <a:extLst>
              <a:ext uri="{FF2B5EF4-FFF2-40B4-BE49-F238E27FC236}">
                <a16:creationId xmlns:a16="http://schemas.microsoft.com/office/drawing/2014/main" id="{2253E404-BF7F-4C1D-A4BC-4776DF98E6BA}"/>
              </a:ext>
            </a:extLst>
          </p:cNvPr>
          <p:cNvGrpSpPr/>
          <p:nvPr/>
        </p:nvGrpSpPr>
        <p:grpSpPr>
          <a:xfrm>
            <a:off x="5010812" y="2689531"/>
            <a:ext cx="1915807" cy="1893444"/>
            <a:chOff x="4998695" y="2634711"/>
            <a:chExt cx="1915807" cy="1893444"/>
          </a:xfrm>
          <a:solidFill>
            <a:schemeClr val="accent1">
              <a:lumMod val="75000"/>
            </a:schemeClr>
          </a:solidFill>
        </p:grpSpPr>
        <p:pic>
          <p:nvPicPr>
            <p:cNvPr id="21" name="Picture 20">
              <a:extLst>
                <a:ext uri="{FF2B5EF4-FFF2-40B4-BE49-F238E27FC236}">
                  <a16:creationId xmlns:a16="http://schemas.microsoft.com/office/drawing/2014/main" id="{0E3BB0C8-3F49-4130-8B8D-630443E6506B}"/>
                </a:ext>
              </a:extLst>
            </p:cNvPr>
            <p:cNvPicPr>
              <a:picLocks noChangeAspect="1"/>
            </p:cNvPicPr>
            <p:nvPr/>
          </p:nvPicPr>
          <p:blipFill>
            <a:blip r:embed="rId3"/>
            <a:stretch>
              <a:fillRect/>
            </a:stretch>
          </p:blipFill>
          <p:spPr>
            <a:xfrm>
              <a:off x="4998695" y="2634711"/>
              <a:ext cx="1915807" cy="1893444"/>
            </a:xfrm>
            <a:prstGeom prst="rect">
              <a:avLst/>
            </a:prstGeom>
            <a:grpFill/>
          </p:spPr>
        </p:pic>
        <p:sp>
          <p:nvSpPr>
            <p:cNvPr id="27" name="Oval 26">
              <a:extLst>
                <a:ext uri="{FF2B5EF4-FFF2-40B4-BE49-F238E27FC236}">
                  <a16:creationId xmlns:a16="http://schemas.microsoft.com/office/drawing/2014/main" id="{381A685B-CB65-4920-AE2C-6FCF9C437039}"/>
                </a:ext>
              </a:extLst>
            </p:cNvPr>
            <p:cNvSpPr/>
            <p:nvPr/>
          </p:nvSpPr>
          <p:spPr>
            <a:xfrm>
              <a:off x="5474813" y="3081491"/>
              <a:ext cx="987806" cy="9568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4" name="Graphic 3" descr="Heart with pulse with solid fill">
              <a:extLst>
                <a:ext uri="{FF2B5EF4-FFF2-40B4-BE49-F238E27FC236}">
                  <a16:creationId xmlns:a16="http://schemas.microsoft.com/office/drawing/2014/main" id="{48795EB5-494C-445B-8A58-0EF4D9DCBA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2052" y="3184139"/>
              <a:ext cx="773328" cy="773328"/>
            </a:xfrm>
            <a:prstGeom prst="rect">
              <a:avLst/>
            </a:prstGeom>
          </p:spPr>
        </p:pic>
      </p:grpSp>
      <p:sp>
        <p:nvSpPr>
          <p:cNvPr id="8" name="TextBox 7">
            <a:extLst>
              <a:ext uri="{FF2B5EF4-FFF2-40B4-BE49-F238E27FC236}">
                <a16:creationId xmlns:a16="http://schemas.microsoft.com/office/drawing/2014/main" id="{CA1406D7-E661-4479-9CA5-DDF5F33009B5}"/>
              </a:ext>
            </a:extLst>
          </p:cNvPr>
          <p:cNvSpPr txBox="1"/>
          <p:nvPr/>
        </p:nvSpPr>
        <p:spPr>
          <a:xfrm rot="16200000">
            <a:off x="-459033" y="1546260"/>
            <a:ext cx="1893447" cy="461665"/>
          </a:xfrm>
          <a:prstGeom prst="rect">
            <a:avLst/>
          </a:prstGeom>
          <a:noFill/>
        </p:spPr>
        <p:txBody>
          <a:bodyPr wrap="square" rtlCol="0">
            <a:spAutoFit/>
          </a:bodyPr>
          <a:lstStyle/>
          <a:p>
            <a:r>
              <a:rPr lang="en-US" sz="2400" b="1" dirty="0">
                <a:solidFill>
                  <a:schemeClr val="accent3">
                    <a:lumMod val="75000"/>
                  </a:schemeClr>
                </a:solidFill>
              </a:rPr>
              <a:t>Listen</a:t>
            </a:r>
          </a:p>
        </p:txBody>
      </p:sp>
      <p:sp>
        <p:nvSpPr>
          <p:cNvPr id="22" name="TextBox 21">
            <a:extLst>
              <a:ext uri="{FF2B5EF4-FFF2-40B4-BE49-F238E27FC236}">
                <a16:creationId xmlns:a16="http://schemas.microsoft.com/office/drawing/2014/main" id="{CD4906F5-6755-4FBF-9F67-46A1783516EA}"/>
              </a:ext>
            </a:extLst>
          </p:cNvPr>
          <p:cNvSpPr txBox="1"/>
          <p:nvPr/>
        </p:nvSpPr>
        <p:spPr>
          <a:xfrm rot="16200000">
            <a:off x="5978659" y="1429693"/>
            <a:ext cx="1893447" cy="461665"/>
          </a:xfrm>
          <a:prstGeom prst="rect">
            <a:avLst/>
          </a:prstGeom>
          <a:noFill/>
        </p:spPr>
        <p:txBody>
          <a:bodyPr wrap="square" rtlCol="0">
            <a:spAutoFit/>
          </a:bodyPr>
          <a:lstStyle/>
          <a:p>
            <a:r>
              <a:rPr lang="en-US" sz="2400" b="1">
                <a:solidFill>
                  <a:schemeClr val="accent3">
                    <a:lumMod val="75000"/>
                  </a:schemeClr>
                </a:solidFill>
              </a:rPr>
              <a:t>Insight</a:t>
            </a:r>
          </a:p>
        </p:txBody>
      </p:sp>
      <p:sp>
        <p:nvSpPr>
          <p:cNvPr id="24" name="TextBox 23">
            <a:extLst>
              <a:ext uri="{FF2B5EF4-FFF2-40B4-BE49-F238E27FC236}">
                <a16:creationId xmlns:a16="http://schemas.microsoft.com/office/drawing/2014/main" id="{540E65F7-889B-4FA0-9960-FA596D43096F}"/>
              </a:ext>
            </a:extLst>
          </p:cNvPr>
          <p:cNvSpPr txBox="1"/>
          <p:nvPr/>
        </p:nvSpPr>
        <p:spPr>
          <a:xfrm rot="16200000">
            <a:off x="5956140" y="4215140"/>
            <a:ext cx="1893445" cy="461665"/>
          </a:xfrm>
          <a:prstGeom prst="rect">
            <a:avLst/>
          </a:prstGeom>
          <a:noFill/>
        </p:spPr>
        <p:txBody>
          <a:bodyPr wrap="square" rtlCol="0">
            <a:spAutoFit/>
          </a:bodyPr>
          <a:lstStyle/>
          <a:p>
            <a:r>
              <a:rPr lang="en-US" sz="2400" b="1">
                <a:solidFill>
                  <a:schemeClr val="accent3">
                    <a:lumMod val="75000"/>
                  </a:schemeClr>
                </a:solidFill>
              </a:rPr>
              <a:t>Action</a:t>
            </a:r>
          </a:p>
        </p:txBody>
      </p:sp>
      <p:sp>
        <p:nvSpPr>
          <p:cNvPr id="25" name="TextBox 24">
            <a:extLst>
              <a:ext uri="{FF2B5EF4-FFF2-40B4-BE49-F238E27FC236}">
                <a16:creationId xmlns:a16="http://schemas.microsoft.com/office/drawing/2014/main" id="{3BFF094C-6ECB-4C10-ABBA-CB89A47010A1}"/>
              </a:ext>
            </a:extLst>
          </p:cNvPr>
          <p:cNvSpPr txBox="1"/>
          <p:nvPr/>
        </p:nvSpPr>
        <p:spPr>
          <a:xfrm rot="16200000">
            <a:off x="-420715" y="4258253"/>
            <a:ext cx="1893445" cy="461665"/>
          </a:xfrm>
          <a:prstGeom prst="rect">
            <a:avLst/>
          </a:prstGeom>
          <a:noFill/>
        </p:spPr>
        <p:txBody>
          <a:bodyPr wrap="square" rtlCol="0">
            <a:spAutoFit/>
          </a:bodyPr>
          <a:lstStyle/>
          <a:p>
            <a:r>
              <a:rPr lang="en-US" sz="2400" b="1">
                <a:solidFill>
                  <a:schemeClr val="accent3">
                    <a:lumMod val="75000"/>
                  </a:schemeClr>
                </a:solidFill>
              </a:rPr>
              <a:t>Close Loop</a:t>
            </a:r>
          </a:p>
        </p:txBody>
      </p:sp>
      <p:sp>
        <p:nvSpPr>
          <p:cNvPr id="13" name="TextBox 12">
            <a:extLst>
              <a:ext uri="{FF2B5EF4-FFF2-40B4-BE49-F238E27FC236}">
                <a16:creationId xmlns:a16="http://schemas.microsoft.com/office/drawing/2014/main" id="{5E76EFFF-A2E4-42AC-85AC-B6C5E48D48F2}"/>
              </a:ext>
            </a:extLst>
          </p:cNvPr>
          <p:cNvSpPr txBox="1"/>
          <p:nvPr/>
        </p:nvSpPr>
        <p:spPr>
          <a:xfrm>
            <a:off x="756820" y="3820844"/>
            <a:ext cx="4863448" cy="1785104"/>
          </a:xfrm>
          <a:prstGeom prst="rect">
            <a:avLst/>
          </a:prstGeom>
          <a:noFill/>
          <a:ln w="28575">
            <a:noFill/>
          </a:ln>
        </p:spPr>
        <p:txBody>
          <a:bodyPr wrap="square" lIns="0" tIns="0" rIns="0" bIns="0" numCol="2" rtlCol="0" anchor="t">
            <a:spAutoFit/>
          </a:bodyPr>
          <a:lstStyle>
            <a:defPPr>
              <a:defRPr lang="en-US"/>
            </a:defPPr>
            <a:lvl1pPr>
              <a:defRPr sz="120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Scope of work:</a:t>
            </a:r>
          </a:p>
          <a:p>
            <a:pPr marL="171450" indent="-171450">
              <a:spcBef>
                <a:spcPts val="300"/>
              </a:spcBef>
              <a:buFont typeface="Arial" panose="020B0604020202020204" pitchFamily="34" charset="0"/>
              <a:buChar char="•"/>
            </a:pPr>
            <a:r>
              <a:rPr lang="en-US" sz="1000" dirty="0">
                <a:latin typeface="Montserrat Light"/>
                <a:cs typeface="+mn-cs"/>
              </a:rPr>
              <a:t>Communicating back to the client progress on actions</a:t>
            </a:r>
          </a:p>
          <a:p>
            <a:pPr marL="171450" indent="-171450">
              <a:spcBef>
                <a:spcPts val="300"/>
              </a:spcBef>
              <a:buFont typeface="Arial" panose="020B0604020202020204" pitchFamily="34" charset="0"/>
              <a:buChar char="•"/>
            </a:pPr>
            <a:r>
              <a:rPr lang="en-US" sz="1000" dirty="0">
                <a:latin typeface="Montserrat Light"/>
                <a:cs typeface="+mn-cs"/>
              </a:rPr>
              <a:t>Communication to Cerner associates on project outcomes</a:t>
            </a:r>
          </a:p>
          <a:p>
            <a:pPr marL="171450" indent="-171450">
              <a:spcBef>
                <a:spcPts val="300"/>
              </a:spcBef>
              <a:buFont typeface="Arial" panose="020B0604020202020204" pitchFamily="34" charset="0"/>
              <a:buChar char="•"/>
            </a:pPr>
            <a:r>
              <a:rPr lang="en-US" sz="1000" dirty="0">
                <a:latin typeface="Montserrat Light"/>
                <a:cs typeface="+mn-cs"/>
              </a:rPr>
              <a:t>Work with client to communicate to end-user the actions taken based on feedback</a:t>
            </a:r>
          </a:p>
          <a:p>
            <a:pPr marL="171450" indent="-171450">
              <a:spcBef>
                <a:spcPts val="300"/>
              </a:spcBef>
              <a:buFont typeface="Arial" panose="020B0604020202020204" pitchFamily="34" charset="0"/>
              <a:buChar char="•"/>
            </a:pPr>
            <a:r>
              <a:rPr lang="en-US" sz="1000" dirty="0">
                <a:latin typeface="Montserrat Light"/>
                <a:cs typeface="+mn-cs"/>
              </a:rPr>
              <a:t>Send out a CSIP survey to measure success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tx2"/>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2"/>
                </a:solidFill>
                <a:effectLst/>
                <a:uLnTx/>
                <a:uFillTx/>
                <a:latin typeface="+mj-lt"/>
                <a:ea typeface="+mn-ea"/>
                <a:cs typeface="Arial"/>
              </a:rPr>
              <a:t>Timeframe:</a:t>
            </a:r>
            <a:endParaRPr lang="en-US" sz="1600" b="0" i="0" u="none" strike="noStrike" kern="1200" cap="none" spc="0" normalizeH="0" baseline="0" noProof="0" dirty="0">
              <a:ln>
                <a:noFill/>
              </a:ln>
              <a:solidFill>
                <a:schemeClr val="tx2"/>
              </a:solidFill>
              <a:effectLst/>
              <a:uLnTx/>
              <a:uFillTx/>
              <a:latin typeface="+mj-lt"/>
              <a:cs typeface="Arial"/>
            </a:endParaRP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60-90 days post survey close</a:t>
            </a:r>
          </a:p>
          <a:p>
            <a:pPr marL="171450" marR="0" lvl="0" indent="-171450" fontAlgn="auto">
              <a:lnSpc>
                <a:spcPct val="100000"/>
              </a:lnSpc>
              <a:spcBef>
                <a:spcPts val="300"/>
              </a:spcBef>
              <a:spcAft>
                <a:spcPts val="0"/>
              </a:spcAft>
              <a:buClrTx/>
              <a:buSzTx/>
              <a:buFont typeface="Arial" panose="020B0604020202020204" pitchFamily="34" charset="0"/>
              <a:buChar char="•"/>
              <a:tabLst/>
              <a:defRPr/>
            </a:pPr>
            <a:r>
              <a:rPr lang="en-US" sz="1000" dirty="0">
                <a:latin typeface="Montserrat Light"/>
                <a:cs typeface="+mn-cs"/>
              </a:rPr>
              <a:t>30 days post improvement 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2"/>
              </a:solidFill>
              <a:effectLst/>
              <a:uLnTx/>
              <a:uFillTx/>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solidFill>
                <a:latin typeface="+mj-lt"/>
                <a:cs typeface="Arial"/>
              </a:rPr>
              <a:t>Deliverables: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Montserrat Light"/>
                <a:cs typeface="+mn-cs"/>
              </a:rPr>
              <a:t>Email to clients/ end-users</a:t>
            </a:r>
          </a:p>
        </p:txBody>
      </p:sp>
    </p:spTree>
    <p:extLst>
      <p:ext uri="{BB962C8B-B14F-4D97-AF65-F5344CB8AC3E}">
        <p14:creationId xmlns:p14="http://schemas.microsoft.com/office/powerpoint/2010/main" val="2900901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F5DE-BFCE-47CD-9640-0F76EFAAC20E}"/>
              </a:ext>
            </a:extLst>
          </p:cNvPr>
          <p:cNvSpPr>
            <a:spLocks noGrp="1"/>
          </p:cNvSpPr>
          <p:nvPr>
            <p:ph type="title" idx="4294967295"/>
          </p:nvPr>
        </p:nvSpPr>
        <p:spPr>
          <a:xfrm>
            <a:off x="299376" y="-522956"/>
            <a:ext cx="10058400" cy="1449387"/>
          </a:xfrm>
        </p:spPr>
        <p:txBody>
          <a:bodyPr/>
          <a:lstStyle/>
          <a:p>
            <a:r>
              <a:rPr lang="en-US" sz="4100" dirty="0">
                <a:solidFill>
                  <a:srgbClr val="C00000"/>
                </a:solidFill>
              </a:rPr>
              <a:t>Guide | </a:t>
            </a:r>
            <a:r>
              <a:rPr lang="en-US" sz="2400" dirty="0">
                <a:solidFill>
                  <a:srgbClr val="C00000"/>
                </a:solidFill>
              </a:rPr>
              <a:t>Client Facing Research</a:t>
            </a:r>
            <a:endParaRPr lang="en-US" sz="4100" dirty="0">
              <a:solidFill>
                <a:srgbClr val="C00000"/>
              </a:solidFill>
            </a:endParaRPr>
          </a:p>
        </p:txBody>
      </p:sp>
      <p:sp>
        <p:nvSpPr>
          <p:cNvPr id="3" name="Rectangle 2">
            <a:extLst>
              <a:ext uri="{FF2B5EF4-FFF2-40B4-BE49-F238E27FC236}">
                <a16:creationId xmlns:a16="http://schemas.microsoft.com/office/drawing/2014/main" id="{76D78E30-8505-4269-BF0F-62F4D03482BF}"/>
              </a:ext>
            </a:extLst>
          </p:cNvPr>
          <p:cNvSpPr/>
          <p:nvPr/>
        </p:nvSpPr>
        <p:spPr>
          <a:xfrm>
            <a:off x="0" y="1022684"/>
            <a:ext cx="2791329" cy="7579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Overview </a:t>
            </a:r>
          </a:p>
        </p:txBody>
      </p:sp>
      <p:sp>
        <p:nvSpPr>
          <p:cNvPr id="4" name="Rectangle 3">
            <a:extLst>
              <a:ext uri="{FF2B5EF4-FFF2-40B4-BE49-F238E27FC236}">
                <a16:creationId xmlns:a16="http://schemas.microsoft.com/office/drawing/2014/main" id="{5FE941C8-A999-4C3B-80E2-513827B81DB3}"/>
              </a:ext>
            </a:extLst>
          </p:cNvPr>
          <p:cNvSpPr/>
          <p:nvPr/>
        </p:nvSpPr>
        <p:spPr>
          <a:xfrm>
            <a:off x="2899608" y="1016668"/>
            <a:ext cx="279132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Advantages</a:t>
            </a:r>
          </a:p>
        </p:txBody>
      </p:sp>
      <p:sp>
        <p:nvSpPr>
          <p:cNvPr id="5" name="Rectangle 4">
            <a:extLst>
              <a:ext uri="{FF2B5EF4-FFF2-40B4-BE49-F238E27FC236}">
                <a16:creationId xmlns:a16="http://schemas.microsoft.com/office/drawing/2014/main" id="{3B7D96FF-C9EB-4EB8-9974-3E183F56870B}"/>
              </a:ext>
            </a:extLst>
          </p:cNvPr>
          <p:cNvSpPr/>
          <p:nvPr/>
        </p:nvSpPr>
        <p:spPr>
          <a:xfrm>
            <a:off x="5799220" y="1016668"/>
            <a:ext cx="279132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How to sell</a:t>
            </a:r>
          </a:p>
        </p:txBody>
      </p:sp>
      <p:sp>
        <p:nvSpPr>
          <p:cNvPr id="6" name="Rectangle 5">
            <a:extLst>
              <a:ext uri="{FF2B5EF4-FFF2-40B4-BE49-F238E27FC236}">
                <a16:creationId xmlns:a16="http://schemas.microsoft.com/office/drawing/2014/main" id="{6F76C2FF-E6DD-428F-97A4-4519DE4071F4}"/>
              </a:ext>
            </a:extLst>
          </p:cNvPr>
          <p:cNvSpPr/>
          <p:nvPr/>
        </p:nvSpPr>
        <p:spPr>
          <a:xfrm>
            <a:off x="8698832" y="1016668"/>
            <a:ext cx="349316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Additional Resources</a:t>
            </a:r>
          </a:p>
        </p:txBody>
      </p:sp>
      <p:cxnSp>
        <p:nvCxnSpPr>
          <p:cNvPr id="8" name="Straight Connector 7">
            <a:extLst>
              <a:ext uri="{FF2B5EF4-FFF2-40B4-BE49-F238E27FC236}">
                <a16:creationId xmlns:a16="http://schemas.microsoft.com/office/drawing/2014/main" id="{3802B28A-EAD8-4AB6-812F-69855380C976}"/>
              </a:ext>
            </a:extLst>
          </p:cNvPr>
          <p:cNvCxnSpPr>
            <a:cxnSpLocks/>
          </p:cNvCxnSpPr>
          <p:nvPr/>
        </p:nvCxnSpPr>
        <p:spPr>
          <a:xfrm>
            <a:off x="5799220" y="1961148"/>
            <a:ext cx="0" cy="39704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678E95F-42D9-421F-A62C-46F43ABDF68B}"/>
              </a:ext>
            </a:extLst>
          </p:cNvPr>
          <p:cNvSpPr txBox="1"/>
          <p:nvPr/>
        </p:nvSpPr>
        <p:spPr>
          <a:xfrm>
            <a:off x="299376" y="2097233"/>
            <a:ext cx="5386703" cy="3385542"/>
          </a:xfrm>
          <a:prstGeom prst="rect">
            <a:avLst/>
          </a:prstGeom>
          <a:noFill/>
        </p:spPr>
        <p:txBody>
          <a:bodyPr wrap="square" lIns="0" tIns="0" rIns="0" bIns="0" rtlCol="0">
            <a:spAutoFit/>
          </a:bodyPr>
          <a:lstStyle/>
          <a:p>
            <a:pPr algn="l"/>
            <a:r>
              <a:rPr lang="en-US" b="1" dirty="0">
                <a:solidFill>
                  <a:schemeClr val="accent3">
                    <a:lumMod val="75000"/>
                  </a:schemeClr>
                </a:solidFill>
                <a:latin typeface="Montserrat" pitchFamily="2" charset="77"/>
              </a:rPr>
              <a:t>Summary</a:t>
            </a:r>
          </a:p>
          <a:p>
            <a:pPr algn="l"/>
            <a:endParaRPr lang="en-US" sz="1400" b="1" dirty="0">
              <a:solidFill>
                <a:schemeClr val="accent1"/>
              </a:solidFill>
              <a:latin typeface="Montserrat" pitchFamily="2" charset="77"/>
            </a:endParaRPr>
          </a:p>
          <a:p>
            <a:r>
              <a:rPr lang="en-US" sz="1200" dirty="0">
                <a:latin typeface="Montserrat" pitchFamily="2" charset="77"/>
              </a:rPr>
              <a:t>Client Experience Research – a comprehensive service that spotlights your user experience with your products using proven market research. Work is done in partnership with you to help understand any experience gaps and how to moderate them.</a:t>
            </a:r>
          </a:p>
          <a:p>
            <a:pPr algn="l"/>
            <a:endParaRPr lang="en-US" sz="1600" dirty="0">
              <a:latin typeface="Montserrat" pitchFamily="2" charset="77"/>
            </a:endParaRPr>
          </a:p>
          <a:p>
            <a:r>
              <a:rPr lang="en-US" sz="1200" dirty="0">
                <a:latin typeface="Montserrat" pitchFamily="2" charset="77"/>
              </a:rPr>
              <a:t>Client Experience Research has 50+ years of experience in client experience and has supported over 10 unique companies with their research needs. We work closely with the client to understand their needs, their environment and key impacts to overall satisfaction with the products.</a:t>
            </a:r>
          </a:p>
          <a:p>
            <a:endParaRPr lang="en-US" sz="1600" dirty="0">
              <a:latin typeface="Montserrat" pitchFamily="2" charset="77"/>
            </a:endParaRPr>
          </a:p>
          <a:p>
            <a:pPr algn="l"/>
            <a:endParaRPr lang="en-US" sz="1600" dirty="0">
              <a:latin typeface="Montserrat" pitchFamily="2" charset="77"/>
            </a:endParaRPr>
          </a:p>
          <a:p>
            <a:pPr algn="l"/>
            <a:r>
              <a:rPr lang="en-US" b="1" dirty="0">
                <a:solidFill>
                  <a:schemeClr val="accent3">
                    <a:lumMod val="75000"/>
                  </a:schemeClr>
                </a:solidFill>
                <a:latin typeface="Montserrat" pitchFamily="2" charset="77"/>
              </a:rPr>
              <a:t>Value proposition</a:t>
            </a:r>
          </a:p>
          <a:p>
            <a:pPr algn="l"/>
            <a:endParaRPr lang="en-US" sz="1400" dirty="0">
              <a:latin typeface="Montserrat" pitchFamily="2" charset="77"/>
            </a:endParaRPr>
          </a:p>
        </p:txBody>
      </p:sp>
      <p:sp>
        <p:nvSpPr>
          <p:cNvPr id="11" name="TextBox 10">
            <a:extLst>
              <a:ext uri="{FF2B5EF4-FFF2-40B4-BE49-F238E27FC236}">
                <a16:creationId xmlns:a16="http://schemas.microsoft.com/office/drawing/2014/main" id="{4897C124-DC7E-4F84-9486-CE842AB44CC2}"/>
              </a:ext>
            </a:extLst>
          </p:cNvPr>
          <p:cNvSpPr txBox="1"/>
          <p:nvPr/>
        </p:nvSpPr>
        <p:spPr>
          <a:xfrm>
            <a:off x="5907504" y="1774658"/>
            <a:ext cx="6112274" cy="4401205"/>
          </a:xfrm>
          <a:prstGeom prst="rect">
            <a:avLst/>
          </a:prstGeom>
          <a:noFill/>
        </p:spPr>
        <p:txBody>
          <a:bodyPr wrap="square">
            <a:spAutoFit/>
          </a:bodyPr>
          <a:lstStyle/>
          <a:p>
            <a:pPr algn="l"/>
            <a:endParaRPr lang="en-US" sz="1800" dirty="0">
              <a:latin typeface="Montserrat" pitchFamily="2" charset="77"/>
            </a:endParaRPr>
          </a:p>
          <a:p>
            <a:r>
              <a:rPr lang="en-US" sz="1800" b="1" dirty="0">
                <a:solidFill>
                  <a:schemeClr val="accent3">
                    <a:lumMod val="75000"/>
                  </a:schemeClr>
                </a:solidFill>
                <a:latin typeface="Montserrat" pitchFamily="2" charset="77"/>
              </a:rPr>
              <a:t>Business Strategy</a:t>
            </a:r>
          </a:p>
          <a:p>
            <a:pPr algn="l"/>
            <a:endParaRPr lang="en-US" sz="1400" dirty="0">
              <a:latin typeface="Montserrat" pitchFamily="2" charset="77"/>
            </a:endParaRPr>
          </a:p>
          <a:p>
            <a:pPr algn="l"/>
            <a:r>
              <a:rPr lang="en-US" sz="1200" dirty="0">
                <a:latin typeface="Montserrat" pitchFamily="2" charset="77"/>
              </a:rPr>
              <a:t>Bring caregiver research in-house to prevent risk of 3rd party research biasing results. We will use the research to bring awareness, understand positive and negative gaps in a users product experience and partner with clients to mitigate issues to reduce churn. </a:t>
            </a:r>
          </a:p>
          <a:p>
            <a:pPr algn="l"/>
            <a:endParaRPr lang="en-US" sz="1200" dirty="0">
              <a:latin typeface="Montserrat" pitchFamily="2" charset="77"/>
            </a:endParaRPr>
          </a:p>
          <a:p>
            <a:pPr algn="l"/>
            <a:r>
              <a:rPr lang="en-US" sz="1200" dirty="0">
                <a:latin typeface="Montserrat" pitchFamily="2" charset="77"/>
              </a:rPr>
              <a:t>End user data can be used within our data warehouse to drive predictive analytics and bring visibility to client facing teams.</a:t>
            </a:r>
          </a:p>
          <a:p>
            <a:pPr algn="l"/>
            <a:endParaRPr lang="en-US" sz="1800" dirty="0">
              <a:latin typeface="Montserrat" pitchFamily="2" charset="77"/>
            </a:endParaRPr>
          </a:p>
          <a:p>
            <a:r>
              <a:rPr lang="en-US" sz="1800" b="1" dirty="0">
                <a:solidFill>
                  <a:schemeClr val="accent3">
                    <a:lumMod val="75000"/>
                  </a:schemeClr>
                </a:solidFill>
                <a:latin typeface="Montserrat" pitchFamily="2" charset="77"/>
              </a:rPr>
              <a:t>Market solution</a:t>
            </a:r>
          </a:p>
          <a:p>
            <a:endParaRPr lang="en-US" sz="1400" b="1" dirty="0">
              <a:solidFill>
                <a:schemeClr val="accent1"/>
              </a:solidFill>
              <a:latin typeface="Montserrat" pitchFamily="2" charset="77"/>
            </a:endParaRPr>
          </a:p>
          <a:p>
            <a:r>
              <a:rPr lang="en-US" sz="1200" dirty="0">
                <a:latin typeface="Montserrat" pitchFamily="2" charset="77"/>
              </a:rPr>
              <a:t>Employee burnout and attrition is at an all time high. Clients need insights into areas to help improve their experience. </a:t>
            </a:r>
          </a:p>
          <a:p>
            <a:endParaRPr lang="en-US" sz="1200" dirty="0">
              <a:latin typeface="Montserrat" pitchFamily="2" charset="77"/>
            </a:endParaRPr>
          </a:p>
          <a:p>
            <a:r>
              <a:rPr lang="en-US" sz="1200" dirty="0">
                <a:latin typeface="Montserrat" pitchFamily="2" charset="77"/>
              </a:rPr>
              <a:t>Client research is designed to help:</a:t>
            </a:r>
          </a:p>
          <a:p>
            <a:pPr marL="285750" indent="-285750">
              <a:buFont typeface="Arial" panose="020B0604020202020204" pitchFamily="34" charset="0"/>
              <a:buChar char="•"/>
            </a:pPr>
            <a:r>
              <a:rPr lang="en-US" sz="1200" dirty="0">
                <a:latin typeface="Montserrat" pitchFamily="2" charset="77"/>
              </a:rPr>
              <a:t>Bring visibility to perception and satisfaction with the products/services</a:t>
            </a:r>
          </a:p>
          <a:p>
            <a:pPr marL="285750" indent="-285750">
              <a:buFont typeface="Arial" panose="020B0604020202020204" pitchFamily="34" charset="0"/>
              <a:buChar char="•"/>
            </a:pPr>
            <a:r>
              <a:rPr lang="en-US" sz="1200" dirty="0">
                <a:latin typeface="Montserrat" pitchFamily="2" charset="77"/>
              </a:rPr>
              <a:t>Pinpoint insight to improve experience</a:t>
            </a:r>
          </a:p>
          <a:p>
            <a:pPr marL="285750" indent="-285750">
              <a:buFont typeface="Arial" panose="020B0604020202020204" pitchFamily="34" charset="0"/>
              <a:buChar char="•"/>
            </a:pPr>
            <a:r>
              <a:rPr lang="en-US" sz="1200" dirty="0">
                <a:latin typeface="Montserrat" pitchFamily="2" charset="77"/>
              </a:rPr>
              <a:t>Partner on addressing any areas of dissatisfaction</a:t>
            </a:r>
          </a:p>
          <a:p>
            <a:pPr marL="285750" indent="-285750">
              <a:buFont typeface="Arial" panose="020B0604020202020204" pitchFamily="34" charset="0"/>
              <a:buChar char="•"/>
            </a:pPr>
            <a:endParaRPr lang="en-US" sz="1200" dirty="0">
              <a:latin typeface="Montserrat" pitchFamily="2" charset="77"/>
            </a:endParaRPr>
          </a:p>
        </p:txBody>
      </p:sp>
      <p:sp>
        <p:nvSpPr>
          <p:cNvPr id="12" name="TextBox 11">
            <a:extLst>
              <a:ext uri="{FF2B5EF4-FFF2-40B4-BE49-F238E27FC236}">
                <a16:creationId xmlns:a16="http://schemas.microsoft.com/office/drawing/2014/main" id="{1E0BCCB1-5B6A-49A0-990E-E68A5DD766C1}"/>
              </a:ext>
            </a:extLst>
          </p:cNvPr>
          <p:cNvSpPr txBox="1"/>
          <p:nvPr/>
        </p:nvSpPr>
        <p:spPr>
          <a:xfrm>
            <a:off x="334561" y="5346794"/>
            <a:ext cx="5130094" cy="584775"/>
          </a:xfrm>
          <a:prstGeom prst="rect">
            <a:avLst/>
          </a:prstGeom>
          <a:noFill/>
        </p:spPr>
        <p:txBody>
          <a:bodyPr wrap="square">
            <a:spAutoFit/>
          </a:bodyPr>
          <a:lstStyle/>
          <a:p>
            <a:pPr algn="ctr"/>
            <a:r>
              <a:rPr lang="en-US" sz="1600" b="0" i="0" u="none" strike="noStrike" noProof="0" dirty="0">
                <a:solidFill>
                  <a:schemeClr val="accent3">
                    <a:lumMod val="75000"/>
                  </a:schemeClr>
                </a:solidFill>
                <a:latin typeface="Montserrat"/>
              </a:rPr>
              <a:t>Helping organizations use  insights to make their</a:t>
            </a:r>
            <a:r>
              <a:rPr lang="en-US" sz="1600" dirty="0">
                <a:solidFill>
                  <a:schemeClr val="accent3">
                    <a:lumMod val="75000"/>
                  </a:schemeClr>
                </a:solidFill>
                <a:latin typeface="Montserrat"/>
              </a:rPr>
              <a:t> environment </a:t>
            </a:r>
            <a:r>
              <a:rPr lang="en-US" sz="1600" b="0" i="0" u="none" strike="noStrike" noProof="0" dirty="0">
                <a:solidFill>
                  <a:schemeClr val="accent3">
                    <a:lumMod val="75000"/>
                  </a:schemeClr>
                </a:solidFill>
                <a:latin typeface="Montserrat"/>
              </a:rPr>
              <a:t>more effective and efficient</a:t>
            </a:r>
            <a:endParaRPr lang="en-US" sz="1600" dirty="0">
              <a:solidFill>
                <a:schemeClr val="accent3">
                  <a:lumMod val="75000"/>
                </a:schemeClr>
              </a:solidFill>
            </a:endParaRPr>
          </a:p>
        </p:txBody>
      </p:sp>
    </p:spTree>
    <p:extLst>
      <p:ext uri="{BB962C8B-B14F-4D97-AF65-F5344CB8AC3E}">
        <p14:creationId xmlns:p14="http://schemas.microsoft.com/office/powerpoint/2010/main" val="2246293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F5DE-BFCE-47CD-9640-0F76EFAAC20E}"/>
              </a:ext>
            </a:extLst>
          </p:cNvPr>
          <p:cNvSpPr>
            <a:spLocks noGrp="1"/>
          </p:cNvSpPr>
          <p:nvPr>
            <p:ph type="title"/>
          </p:nvPr>
        </p:nvSpPr>
        <p:spPr>
          <a:xfrm>
            <a:off x="193965" y="-208547"/>
            <a:ext cx="10058400" cy="1097280"/>
          </a:xfrm>
        </p:spPr>
        <p:txBody>
          <a:bodyPr>
            <a:normAutofit/>
          </a:bodyPr>
          <a:lstStyle/>
          <a:p>
            <a:r>
              <a:rPr lang="en-US" sz="4000" dirty="0">
                <a:solidFill>
                  <a:srgbClr val="C00000"/>
                </a:solidFill>
              </a:rPr>
              <a:t>Guide</a:t>
            </a:r>
            <a:r>
              <a:rPr lang="en-US" sz="4800" dirty="0">
                <a:solidFill>
                  <a:srgbClr val="C00000"/>
                </a:solidFill>
              </a:rPr>
              <a:t> | </a:t>
            </a:r>
            <a:r>
              <a:rPr lang="en-US" sz="2400" dirty="0">
                <a:solidFill>
                  <a:srgbClr val="C00000"/>
                </a:solidFill>
              </a:rPr>
              <a:t>Client Facing Research</a:t>
            </a:r>
            <a:endParaRPr lang="en-US" sz="2400" dirty="0">
              <a:solidFill>
                <a:schemeClr val="accent1"/>
              </a:solidFill>
              <a:latin typeface="+mn-lt"/>
            </a:endParaRPr>
          </a:p>
        </p:txBody>
      </p:sp>
      <p:sp>
        <p:nvSpPr>
          <p:cNvPr id="3" name="Rectangle 2">
            <a:extLst>
              <a:ext uri="{FF2B5EF4-FFF2-40B4-BE49-F238E27FC236}">
                <a16:creationId xmlns:a16="http://schemas.microsoft.com/office/drawing/2014/main" id="{76D78E30-8505-4269-BF0F-62F4D03482BF}"/>
              </a:ext>
            </a:extLst>
          </p:cNvPr>
          <p:cNvSpPr/>
          <p:nvPr/>
        </p:nvSpPr>
        <p:spPr>
          <a:xfrm>
            <a:off x="0" y="1022684"/>
            <a:ext cx="2791329" cy="75799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Overview </a:t>
            </a:r>
          </a:p>
        </p:txBody>
      </p:sp>
      <p:sp>
        <p:nvSpPr>
          <p:cNvPr id="4" name="Rectangle 3">
            <a:extLst>
              <a:ext uri="{FF2B5EF4-FFF2-40B4-BE49-F238E27FC236}">
                <a16:creationId xmlns:a16="http://schemas.microsoft.com/office/drawing/2014/main" id="{5FE941C8-A999-4C3B-80E2-513827B81DB3}"/>
              </a:ext>
            </a:extLst>
          </p:cNvPr>
          <p:cNvSpPr/>
          <p:nvPr/>
        </p:nvSpPr>
        <p:spPr>
          <a:xfrm>
            <a:off x="2899608" y="1016668"/>
            <a:ext cx="279132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Advantages</a:t>
            </a:r>
          </a:p>
        </p:txBody>
      </p:sp>
      <p:sp>
        <p:nvSpPr>
          <p:cNvPr id="5" name="Rectangle 4">
            <a:extLst>
              <a:ext uri="{FF2B5EF4-FFF2-40B4-BE49-F238E27FC236}">
                <a16:creationId xmlns:a16="http://schemas.microsoft.com/office/drawing/2014/main" id="{3B7D96FF-C9EB-4EB8-9974-3E183F56870B}"/>
              </a:ext>
            </a:extLst>
          </p:cNvPr>
          <p:cNvSpPr/>
          <p:nvPr/>
        </p:nvSpPr>
        <p:spPr>
          <a:xfrm>
            <a:off x="5799220" y="1016668"/>
            <a:ext cx="279132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How to sell</a:t>
            </a:r>
          </a:p>
        </p:txBody>
      </p:sp>
      <p:sp>
        <p:nvSpPr>
          <p:cNvPr id="6" name="Rectangle 5">
            <a:extLst>
              <a:ext uri="{FF2B5EF4-FFF2-40B4-BE49-F238E27FC236}">
                <a16:creationId xmlns:a16="http://schemas.microsoft.com/office/drawing/2014/main" id="{6F76C2FF-E6DD-428F-97A4-4519DE4071F4}"/>
              </a:ext>
            </a:extLst>
          </p:cNvPr>
          <p:cNvSpPr/>
          <p:nvPr/>
        </p:nvSpPr>
        <p:spPr>
          <a:xfrm>
            <a:off x="8698832" y="1016668"/>
            <a:ext cx="3493169" cy="75799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mj-lt"/>
              </a:rPr>
              <a:t>Additional Resources</a:t>
            </a:r>
          </a:p>
        </p:txBody>
      </p:sp>
      <p:cxnSp>
        <p:nvCxnSpPr>
          <p:cNvPr id="8" name="Straight Connector 7">
            <a:extLst>
              <a:ext uri="{FF2B5EF4-FFF2-40B4-BE49-F238E27FC236}">
                <a16:creationId xmlns:a16="http://schemas.microsoft.com/office/drawing/2014/main" id="{3802B28A-EAD8-4AB6-812F-69855380C976}"/>
              </a:ext>
            </a:extLst>
          </p:cNvPr>
          <p:cNvCxnSpPr>
            <a:cxnSpLocks/>
          </p:cNvCxnSpPr>
          <p:nvPr/>
        </p:nvCxnSpPr>
        <p:spPr>
          <a:xfrm>
            <a:off x="5799220" y="1961148"/>
            <a:ext cx="0" cy="39704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678E95F-42D9-421F-A62C-46F43ABDF68B}"/>
              </a:ext>
            </a:extLst>
          </p:cNvPr>
          <p:cNvSpPr txBox="1"/>
          <p:nvPr/>
        </p:nvSpPr>
        <p:spPr>
          <a:xfrm>
            <a:off x="193965" y="1998847"/>
            <a:ext cx="11497920" cy="3970420"/>
          </a:xfrm>
          <a:prstGeom prst="rect">
            <a:avLst/>
          </a:prstGeom>
          <a:noFill/>
        </p:spPr>
        <p:txBody>
          <a:bodyPr wrap="square" lIns="0" tIns="0" rIns="0" bIns="0" numCol="2" spcCol="457200" rtlCol="0" anchor="t">
            <a:spAutoFit/>
          </a:bodyPr>
          <a:lstStyle/>
          <a:p>
            <a:pPr algn="l"/>
            <a:r>
              <a:rPr lang="en-US" sz="1600" b="1" dirty="0">
                <a:solidFill>
                  <a:schemeClr val="accent3">
                    <a:lumMod val="75000"/>
                  </a:schemeClr>
                </a:solidFill>
                <a:latin typeface="Montserrat" pitchFamily="2" charset="77"/>
              </a:rPr>
              <a:t>Product offerings</a:t>
            </a:r>
          </a:p>
          <a:p>
            <a:pPr algn="l"/>
            <a:endParaRPr lang="en-US" sz="1600" b="1" dirty="0">
              <a:solidFill>
                <a:schemeClr val="accent1"/>
              </a:solidFill>
              <a:latin typeface="Montserrat" pitchFamily="2" charset="77"/>
            </a:endParaRPr>
          </a:p>
          <a:p>
            <a:pPr algn="l"/>
            <a:r>
              <a:rPr lang="en-US" sz="1400" b="1" dirty="0">
                <a:solidFill>
                  <a:schemeClr val="accent3">
                    <a:lumMod val="75000"/>
                  </a:schemeClr>
                </a:solidFill>
                <a:latin typeface="Montserrat" pitchFamily="2" charset="77"/>
              </a:rPr>
              <a:t>Voice of client research</a:t>
            </a:r>
          </a:p>
          <a:p>
            <a:pPr marL="171450" indent="-171450">
              <a:spcBef>
                <a:spcPts val="300"/>
              </a:spcBef>
              <a:buFont typeface="Arial" panose="020B0604020202020204" pitchFamily="34" charset="0"/>
              <a:buChar char="•"/>
            </a:pPr>
            <a:r>
              <a:rPr lang="en-US" sz="1200" b="1" i="0" kern="1200" dirty="0">
                <a:latin typeface="Montserrat Light"/>
                <a:ea typeface="+mn-ea"/>
                <a:cs typeface="+mn-cs"/>
              </a:rPr>
              <a:t>Initial consult:</a:t>
            </a:r>
            <a:r>
              <a:rPr lang="en-US" sz="1200" b="1" i="0" kern="1200" dirty="0">
                <a:latin typeface="Montserrat Light"/>
                <a:ea typeface="+mn-ea"/>
              </a:rPr>
              <a:t> </a:t>
            </a:r>
            <a:r>
              <a:rPr lang="en-US" sz="1200" b="0" i="0" kern="1200" dirty="0">
                <a:latin typeface="Montserrat Light"/>
                <a:ea typeface="+mn-ea"/>
              </a:rPr>
              <a:t>on site visit / virtual meeting to</a:t>
            </a:r>
            <a:r>
              <a:rPr lang="en-US" sz="1200" dirty="0">
                <a:latin typeface="Montserrat Light"/>
                <a:cs typeface="+mn-cs"/>
              </a:rPr>
              <a:t> understand organizations needs, educate on program and discuss process.</a:t>
            </a:r>
            <a:endParaRPr lang="en-US" sz="1200" dirty="0">
              <a:latin typeface="Montserrat Light"/>
            </a:endParaRPr>
          </a:p>
          <a:p>
            <a:pPr marL="171450" indent="-171450">
              <a:spcBef>
                <a:spcPts val="300"/>
              </a:spcBef>
              <a:buFont typeface="Arial" panose="020B0604020202020204" pitchFamily="34" charset="0"/>
              <a:buChar char="•"/>
            </a:pPr>
            <a:r>
              <a:rPr lang="en-US" sz="1200" b="1" i="0" kern="1200" dirty="0">
                <a:latin typeface="Montserrat Light"/>
                <a:ea typeface="+mn-ea"/>
                <a:cs typeface="+mn-cs"/>
              </a:rPr>
              <a:t>Survey execution: </a:t>
            </a:r>
            <a:r>
              <a:rPr lang="en-US" sz="1200" b="0" i="0" kern="1200" dirty="0">
                <a:latin typeface="Montserrat Light"/>
                <a:ea typeface="+mn-ea"/>
                <a:cs typeface="+mn-cs"/>
              </a:rPr>
              <a:t>surveys design</a:t>
            </a:r>
            <a:r>
              <a:rPr lang="en-US" sz="1200" dirty="0">
                <a:latin typeface="Montserrat Light"/>
                <a:ea typeface="+mn-ea"/>
              </a:rPr>
              <a:t>, b</a:t>
            </a:r>
            <a:r>
              <a:rPr lang="en-US" sz="1200" dirty="0">
                <a:latin typeface="Montserrat Light"/>
                <a:cs typeface="+mn-cs"/>
              </a:rPr>
              <a:t>uild, launch, reminders, monitor feedback &amp; close survey</a:t>
            </a:r>
            <a:endParaRPr lang="en-US" sz="1200" dirty="0">
              <a:latin typeface="Montserrat Light"/>
            </a:endParaRPr>
          </a:p>
          <a:p>
            <a:pPr marL="171450" indent="-171450">
              <a:spcBef>
                <a:spcPts val="300"/>
              </a:spcBef>
              <a:buFont typeface="Arial" panose="020B0604020202020204" pitchFamily="34" charset="0"/>
              <a:buChar char="•"/>
              <a:defRPr/>
            </a:pPr>
            <a:r>
              <a:rPr lang="en-US" sz="1200" b="1" dirty="0">
                <a:latin typeface="Montserrat Light"/>
                <a:cs typeface="+mn-cs"/>
              </a:rPr>
              <a:t>Insights: </a:t>
            </a:r>
            <a:r>
              <a:rPr lang="en-US" sz="1200" dirty="0">
                <a:latin typeface="Montserrat Light"/>
              </a:rPr>
              <a:t>conduct k</a:t>
            </a:r>
            <a:r>
              <a:rPr lang="en-US" sz="1200" dirty="0">
                <a:latin typeface="Montserrat Light"/>
                <a:cs typeface="+mn-cs"/>
              </a:rPr>
              <a:t>ey driver analysis, data splits &amp; development of insight presentation to key client stakeholders</a:t>
            </a:r>
            <a:endParaRPr lang="en-US" sz="1200" i="1" dirty="0">
              <a:latin typeface="Montserrat Light"/>
            </a:endParaRPr>
          </a:p>
          <a:p>
            <a:pPr marL="171450" indent="-171450">
              <a:spcBef>
                <a:spcPts val="300"/>
              </a:spcBef>
              <a:buFont typeface="Arial" panose="020B0604020202020204" pitchFamily="34" charset="0"/>
              <a:buChar char="•"/>
              <a:defRPr/>
            </a:pPr>
            <a:r>
              <a:rPr lang="en-US" sz="1200" b="1" dirty="0">
                <a:latin typeface="Montserrat Light"/>
              </a:rPr>
              <a:t>Actions: </a:t>
            </a:r>
            <a:r>
              <a:rPr lang="en-US" sz="1200" dirty="0">
                <a:latin typeface="Montserrat Light"/>
              </a:rPr>
              <a:t>document key insights &amp; get alignment on ownership to create action plans based on the key areas defined</a:t>
            </a:r>
          </a:p>
          <a:p>
            <a:pPr>
              <a:spcBef>
                <a:spcPts val="300"/>
              </a:spcBef>
              <a:defRPr/>
            </a:pPr>
            <a:endParaRPr lang="en-US" sz="1200" dirty="0">
              <a:latin typeface="Montserrat Light"/>
            </a:endParaRPr>
          </a:p>
          <a:p>
            <a:pPr>
              <a:lnSpc>
                <a:spcPct val="150000"/>
              </a:lnSpc>
              <a:spcBef>
                <a:spcPts val="300"/>
              </a:spcBef>
              <a:defRPr/>
            </a:pPr>
            <a:r>
              <a:rPr lang="en-US" sz="1400" b="1" dirty="0">
                <a:solidFill>
                  <a:schemeClr val="accent3">
                    <a:lumMod val="75000"/>
                  </a:schemeClr>
                </a:solidFill>
                <a:latin typeface="Montserrat"/>
              </a:rPr>
              <a:t>Insight deep-dive</a:t>
            </a:r>
          </a:p>
          <a:p>
            <a:pPr marL="285750" indent="-285750">
              <a:buFont typeface="Arial" panose="020B0604020202020204" pitchFamily="34" charset="0"/>
              <a:buChar char="•"/>
            </a:pPr>
            <a:r>
              <a:rPr lang="en-US" sz="1200" b="1" dirty="0">
                <a:latin typeface="Montserrat Light"/>
              </a:rPr>
              <a:t>Operational Network Analysis: </a:t>
            </a:r>
            <a:r>
              <a:rPr lang="en-US" sz="1200" dirty="0">
                <a:latin typeface="Montserrat Light"/>
              </a:rPr>
              <a:t>utilized usage and adoption metrices from ancillary systems and data points to help pinpoint root cause </a:t>
            </a:r>
          </a:p>
          <a:p>
            <a:pPr marL="285750" indent="-285750">
              <a:buFont typeface="Arial" panose="020B0604020202020204" pitchFamily="34" charset="0"/>
              <a:buChar char="•"/>
            </a:pPr>
            <a:r>
              <a:rPr lang="en-US" sz="1200" b="1" dirty="0">
                <a:latin typeface="Montserrat Light"/>
              </a:rPr>
              <a:t>Day in the Life: </a:t>
            </a:r>
            <a:r>
              <a:rPr lang="en-US" sz="1200" dirty="0">
                <a:latin typeface="Montserrat Light"/>
              </a:rPr>
              <a:t>Facilitate workshop to review comments and narrow in on key themes to understand the experience and better align actions.</a:t>
            </a:r>
          </a:p>
          <a:p>
            <a:endParaRPr lang="en-US" sz="1200" dirty="0">
              <a:latin typeface="Montserrat Light"/>
            </a:endParaRPr>
          </a:p>
          <a:p>
            <a:endParaRPr lang="en-US" sz="1200" dirty="0">
              <a:latin typeface="Montserrat Light"/>
            </a:endParaRPr>
          </a:p>
          <a:p>
            <a:pPr>
              <a:lnSpc>
                <a:spcPct val="150000"/>
              </a:lnSpc>
            </a:pPr>
            <a:r>
              <a:rPr lang="en-US" sz="1400" b="1" dirty="0">
                <a:solidFill>
                  <a:schemeClr val="accent3">
                    <a:lumMod val="75000"/>
                  </a:schemeClr>
                </a:solidFill>
                <a:latin typeface="Montserrat"/>
              </a:rPr>
              <a:t>Peer collaboration</a:t>
            </a:r>
          </a:p>
          <a:p>
            <a:pPr marL="171450" indent="-171450">
              <a:buFont typeface="Arial" panose="020B0604020202020204" pitchFamily="34" charset="0"/>
              <a:buChar char="•"/>
            </a:pPr>
            <a:r>
              <a:rPr lang="en-US" sz="1200" b="1" dirty="0">
                <a:latin typeface="Montserrat Light"/>
              </a:rPr>
              <a:t>Reference visit: </a:t>
            </a:r>
            <a:r>
              <a:rPr lang="en-US" sz="1200" dirty="0">
                <a:latin typeface="Montserrat Light"/>
              </a:rPr>
              <a:t>Clients can share their own unique stories with the prospective/ target clients. This dialogue can be anything from a telephone conversation, a web conference, or an on-site meeting with one or more organizations to discuss experiences with solution design/workflow, lessons learned, best practices/success, value/benefits realized, feedback on improvement programs, and/or future vison.</a:t>
            </a:r>
            <a:r>
              <a:rPr lang="en-US" sz="1050" dirty="0">
                <a:highlight>
                  <a:srgbClr val="FFFF00"/>
                </a:highlight>
                <a:latin typeface="Montserrat Light"/>
              </a:rPr>
              <a:t> </a:t>
            </a:r>
            <a:endParaRPr lang="en-US" sz="1600" b="1" dirty="0">
              <a:solidFill>
                <a:schemeClr val="accent3"/>
              </a:solidFill>
              <a:latin typeface="Montserrat" pitchFamily="2" charset="77"/>
            </a:endParaRPr>
          </a:p>
          <a:p>
            <a:pPr>
              <a:lnSpc>
                <a:spcPct val="150000"/>
              </a:lnSpc>
            </a:pPr>
            <a:r>
              <a:rPr lang="en-US" sz="1400" b="1" dirty="0">
                <a:solidFill>
                  <a:schemeClr val="accent3">
                    <a:lumMod val="75000"/>
                  </a:schemeClr>
                </a:solidFill>
                <a:latin typeface="Montserrat"/>
              </a:rPr>
              <a:t>Measurement strategy</a:t>
            </a:r>
          </a:p>
          <a:p>
            <a:pPr marL="285750" indent="-285750" algn="l">
              <a:buFont typeface="Arial" panose="020B0604020202020204" pitchFamily="34" charset="0"/>
              <a:buChar char="•"/>
            </a:pPr>
            <a:r>
              <a:rPr lang="en-US" sz="1200" b="1" dirty="0">
                <a:latin typeface="Montserrat Light"/>
              </a:rPr>
              <a:t>PDCA</a:t>
            </a:r>
            <a:r>
              <a:rPr lang="en-US" sz="1200" dirty="0">
                <a:latin typeface="Montserrat Light"/>
              </a:rPr>
              <a:t>: Follow the Plan, Do, Check, Act (PDCA six sigma) methodology to track success of action plans</a:t>
            </a:r>
          </a:p>
          <a:p>
            <a:pPr marL="285750" indent="-285750" algn="l">
              <a:buFont typeface="Arial" panose="020B0604020202020204" pitchFamily="34" charset="0"/>
              <a:buChar char="•"/>
            </a:pPr>
            <a:endParaRPr lang="en-US" sz="1200" dirty="0">
              <a:highlight>
                <a:srgbClr val="FFFF00"/>
              </a:highlight>
              <a:latin typeface="Montserrat Light"/>
            </a:endParaRPr>
          </a:p>
          <a:p>
            <a:pPr marL="285750" indent="-285750" algn="l">
              <a:buFont typeface="Arial" panose="020B0604020202020204" pitchFamily="34" charset="0"/>
              <a:buChar char="•"/>
            </a:pPr>
            <a:r>
              <a:rPr lang="en-US" sz="1200" b="1" dirty="0">
                <a:latin typeface="Montserrat Light"/>
              </a:rPr>
              <a:t>Remeasure</a:t>
            </a:r>
            <a:r>
              <a:rPr lang="en-US" sz="1200" dirty="0">
                <a:latin typeface="Montserrat Light"/>
              </a:rPr>
              <a:t>: Reach out to end users via follow-up survey and/or facilitate interviews to understand further details</a:t>
            </a:r>
            <a:endParaRPr lang="en-US" sz="1050" dirty="0">
              <a:highlight>
                <a:srgbClr val="FFFF00"/>
              </a:highlight>
              <a:latin typeface="Montserrat Light"/>
            </a:endParaRPr>
          </a:p>
        </p:txBody>
      </p:sp>
    </p:spTree>
    <p:extLst>
      <p:ext uri="{BB962C8B-B14F-4D97-AF65-F5344CB8AC3E}">
        <p14:creationId xmlns:p14="http://schemas.microsoft.com/office/powerpoint/2010/main" val="3878755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41EA5-23DD-8503-9208-A9D9E07FEE51}"/>
              </a:ext>
            </a:extLst>
          </p:cNvPr>
          <p:cNvSpPr>
            <a:spLocks noGrp="1"/>
          </p:cNvSpPr>
          <p:nvPr>
            <p:ph type="title" idx="4294967295"/>
          </p:nvPr>
        </p:nvSpPr>
        <p:spPr>
          <a:xfrm>
            <a:off x="67836" y="-838022"/>
            <a:ext cx="11002035" cy="1449387"/>
          </a:xfrm>
        </p:spPr>
        <p:txBody>
          <a:bodyPr>
            <a:normAutofit/>
          </a:bodyPr>
          <a:lstStyle/>
          <a:p>
            <a:r>
              <a:rPr lang="en-US" sz="3200" dirty="0">
                <a:solidFill>
                  <a:srgbClr val="C00000"/>
                </a:solidFill>
              </a:rPr>
              <a:t>Sample Output: Research Reporting &amp; Overview</a:t>
            </a:r>
          </a:p>
        </p:txBody>
      </p:sp>
      <p:pic>
        <p:nvPicPr>
          <p:cNvPr id="4" name="Picture 3">
            <a:extLst>
              <a:ext uri="{FF2B5EF4-FFF2-40B4-BE49-F238E27FC236}">
                <a16:creationId xmlns:a16="http://schemas.microsoft.com/office/drawing/2014/main" id="{79FFEBAA-F399-405C-7B78-02EE83CB8E59}"/>
              </a:ext>
            </a:extLst>
          </p:cNvPr>
          <p:cNvPicPr>
            <a:picLocks noChangeAspect="1"/>
          </p:cNvPicPr>
          <p:nvPr/>
        </p:nvPicPr>
        <p:blipFill>
          <a:blip r:embed="rId2"/>
          <a:stretch>
            <a:fillRect/>
          </a:stretch>
        </p:blipFill>
        <p:spPr>
          <a:xfrm>
            <a:off x="6400800" y="627685"/>
            <a:ext cx="5800652" cy="1895884"/>
          </a:xfrm>
          <a:prstGeom prst="rect">
            <a:avLst/>
          </a:prstGeom>
        </p:spPr>
      </p:pic>
      <p:pic>
        <p:nvPicPr>
          <p:cNvPr id="6" name="Picture 5">
            <a:extLst>
              <a:ext uri="{FF2B5EF4-FFF2-40B4-BE49-F238E27FC236}">
                <a16:creationId xmlns:a16="http://schemas.microsoft.com/office/drawing/2014/main" id="{EE66D828-FF4B-2492-4268-D32474F8D240}"/>
              </a:ext>
            </a:extLst>
          </p:cNvPr>
          <p:cNvPicPr>
            <a:picLocks noChangeAspect="1"/>
          </p:cNvPicPr>
          <p:nvPr/>
        </p:nvPicPr>
        <p:blipFill>
          <a:blip r:embed="rId3"/>
          <a:stretch>
            <a:fillRect/>
          </a:stretch>
        </p:blipFill>
        <p:spPr>
          <a:xfrm>
            <a:off x="6400800" y="4435773"/>
            <a:ext cx="5791200" cy="2085009"/>
          </a:xfrm>
          <a:prstGeom prst="rect">
            <a:avLst/>
          </a:prstGeom>
        </p:spPr>
      </p:pic>
      <p:pic>
        <p:nvPicPr>
          <p:cNvPr id="8" name="Picture 7">
            <a:extLst>
              <a:ext uri="{FF2B5EF4-FFF2-40B4-BE49-F238E27FC236}">
                <a16:creationId xmlns:a16="http://schemas.microsoft.com/office/drawing/2014/main" id="{ADD07C01-26BD-C449-5CAC-AD733B7644C3}"/>
              </a:ext>
            </a:extLst>
          </p:cNvPr>
          <p:cNvPicPr>
            <a:picLocks noChangeAspect="1"/>
          </p:cNvPicPr>
          <p:nvPr/>
        </p:nvPicPr>
        <p:blipFill>
          <a:blip r:embed="rId4"/>
          <a:stretch>
            <a:fillRect/>
          </a:stretch>
        </p:blipFill>
        <p:spPr>
          <a:xfrm>
            <a:off x="6400800" y="2439426"/>
            <a:ext cx="5576237" cy="2013547"/>
          </a:xfrm>
          <a:prstGeom prst="rect">
            <a:avLst/>
          </a:prstGeom>
        </p:spPr>
      </p:pic>
      <p:graphicFrame>
        <p:nvGraphicFramePr>
          <p:cNvPr id="3" name="Table 4">
            <a:extLst>
              <a:ext uri="{FF2B5EF4-FFF2-40B4-BE49-F238E27FC236}">
                <a16:creationId xmlns:a16="http://schemas.microsoft.com/office/drawing/2014/main" id="{6D14FDE6-413D-9FF9-3CBA-5E85B8C4DDC1}"/>
              </a:ext>
            </a:extLst>
          </p:cNvPr>
          <p:cNvGraphicFramePr>
            <a:graphicFrameLocks noGrp="1"/>
          </p:cNvGraphicFramePr>
          <p:nvPr>
            <p:extLst>
              <p:ext uri="{D42A27DB-BD31-4B8C-83A1-F6EECF244321}">
                <p14:modId xmlns:p14="http://schemas.microsoft.com/office/powerpoint/2010/main" val="990039512"/>
              </p:ext>
            </p:extLst>
          </p:nvPr>
        </p:nvGraphicFramePr>
        <p:xfrm>
          <a:off x="95329" y="1993539"/>
          <a:ext cx="6028164" cy="3769697"/>
        </p:xfrm>
        <a:graphic>
          <a:graphicData uri="http://schemas.openxmlformats.org/drawingml/2006/table">
            <a:tbl>
              <a:tblPr firstRow="1" bandRow="1">
                <a:tableStyleId>{F5AB1C69-6EDB-4FF4-983F-18BD219EF322}</a:tableStyleId>
              </a:tblPr>
              <a:tblGrid>
                <a:gridCol w="1530865">
                  <a:extLst>
                    <a:ext uri="{9D8B030D-6E8A-4147-A177-3AD203B41FA5}">
                      <a16:colId xmlns:a16="http://schemas.microsoft.com/office/drawing/2014/main" val="4088704909"/>
                    </a:ext>
                  </a:extLst>
                </a:gridCol>
                <a:gridCol w="724590">
                  <a:extLst>
                    <a:ext uri="{9D8B030D-6E8A-4147-A177-3AD203B41FA5}">
                      <a16:colId xmlns:a16="http://schemas.microsoft.com/office/drawing/2014/main" val="2622814225"/>
                    </a:ext>
                  </a:extLst>
                </a:gridCol>
                <a:gridCol w="2432808">
                  <a:extLst>
                    <a:ext uri="{9D8B030D-6E8A-4147-A177-3AD203B41FA5}">
                      <a16:colId xmlns:a16="http://schemas.microsoft.com/office/drawing/2014/main" val="1802061477"/>
                    </a:ext>
                  </a:extLst>
                </a:gridCol>
                <a:gridCol w="1339901">
                  <a:extLst>
                    <a:ext uri="{9D8B030D-6E8A-4147-A177-3AD203B41FA5}">
                      <a16:colId xmlns:a16="http://schemas.microsoft.com/office/drawing/2014/main" val="266097926"/>
                    </a:ext>
                  </a:extLst>
                </a:gridCol>
              </a:tblGrid>
              <a:tr h="320825">
                <a:tc>
                  <a:txBody>
                    <a:bodyPr/>
                    <a:lstStyle/>
                    <a:p>
                      <a:r>
                        <a:rPr lang="en-US" sz="1200" dirty="0"/>
                        <a:t>Format</a:t>
                      </a:r>
                    </a:p>
                  </a:txBody>
                  <a:tcPr/>
                </a:tc>
                <a:tc>
                  <a:txBody>
                    <a:bodyPr/>
                    <a:lstStyle/>
                    <a:p>
                      <a:r>
                        <a:rPr lang="en-US" sz="1000" dirty="0"/>
                        <a:t>Frequency</a:t>
                      </a:r>
                    </a:p>
                  </a:txBody>
                  <a:tcPr/>
                </a:tc>
                <a:tc>
                  <a:txBody>
                    <a:bodyPr/>
                    <a:lstStyle/>
                    <a:p>
                      <a:r>
                        <a:rPr lang="en-US" sz="1200" dirty="0"/>
                        <a:t>Purpose</a:t>
                      </a:r>
                    </a:p>
                  </a:txBody>
                  <a:tcPr/>
                </a:tc>
                <a:tc>
                  <a:txBody>
                    <a:bodyPr/>
                    <a:lstStyle/>
                    <a:p>
                      <a:r>
                        <a:rPr lang="en-US" sz="1200" dirty="0"/>
                        <a:t>Audience</a:t>
                      </a:r>
                    </a:p>
                  </a:txBody>
                  <a:tcPr/>
                </a:tc>
                <a:extLst>
                  <a:ext uri="{0D108BD9-81ED-4DB2-BD59-A6C34878D82A}">
                    <a16:rowId xmlns:a16="http://schemas.microsoft.com/office/drawing/2014/main" val="1520030831"/>
                  </a:ext>
                </a:extLst>
              </a:tr>
              <a:tr h="534709">
                <a:tc>
                  <a:txBody>
                    <a:bodyPr/>
                    <a:lstStyle/>
                    <a:p>
                      <a:r>
                        <a:rPr lang="en-US" sz="1200" dirty="0"/>
                        <a:t>PP State of the Union Presentation/Address</a:t>
                      </a:r>
                    </a:p>
                  </a:txBody>
                  <a:tcPr/>
                </a:tc>
                <a:tc>
                  <a:txBody>
                    <a:bodyPr/>
                    <a:lstStyle/>
                    <a:p>
                      <a:r>
                        <a:rPr lang="en-US" sz="1050" dirty="0"/>
                        <a:t>Quarterly</a:t>
                      </a:r>
                    </a:p>
                  </a:txBody>
                  <a:tcPr/>
                </a:tc>
                <a:tc>
                  <a:txBody>
                    <a:bodyPr/>
                    <a:lstStyle/>
                    <a:p>
                      <a:r>
                        <a:rPr lang="en-US" sz="1050" dirty="0"/>
                        <a:t>Share quarterly feedback results with key leaders of the business</a:t>
                      </a:r>
                    </a:p>
                  </a:txBody>
                  <a:tcPr/>
                </a:tc>
                <a:tc>
                  <a:txBody>
                    <a:bodyPr/>
                    <a:lstStyle/>
                    <a:p>
                      <a:r>
                        <a:rPr lang="en-US" sz="1050" kern="1200" dirty="0">
                          <a:solidFill>
                            <a:schemeClr val="dk1"/>
                          </a:solidFill>
                        </a:rPr>
                        <a:t>C-Suite</a:t>
                      </a:r>
                    </a:p>
                    <a:p>
                      <a:r>
                        <a:rPr lang="en-US" sz="1050" kern="1200" dirty="0">
                          <a:solidFill>
                            <a:schemeClr val="dk1"/>
                          </a:solidFill>
                        </a:rPr>
                        <a:t>VP and above</a:t>
                      </a:r>
                      <a:endParaRPr lang="en-US" sz="1050" kern="1200" dirty="0">
                        <a:solidFill>
                          <a:schemeClr val="dk1"/>
                        </a:solidFill>
                        <a:latin typeface="+mn-lt"/>
                        <a:ea typeface="+mn-ea"/>
                        <a:cs typeface="+mn-cs"/>
                      </a:endParaRPr>
                    </a:p>
                  </a:txBody>
                  <a:tcPr/>
                </a:tc>
                <a:extLst>
                  <a:ext uri="{0D108BD9-81ED-4DB2-BD59-A6C34878D82A}">
                    <a16:rowId xmlns:a16="http://schemas.microsoft.com/office/drawing/2014/main" val="3080876387"/>
                  </a:ext>
                </a:extLst>
              </a:tr>
              <a:tr h="668386">
                <a:tc>
                  <a:txBody>
                    <a:bodyPr/>
                    <a:lstStyle/>
                    <a:p>
                      <a:r>
                        <a:rPr lang="en-US" sz="1200" dirty="0"/>
                        <a:t>PDF Comprehensive Report</a:t>
                      </a:r>
                    </a:p>
                  </a:txBody>
                  <a:tcPr/>
                </a:tc>
                <a:tc>
                  <a:txBody>
                    <a:bodyPr/>
                    <a:lstStyle/>
                    <a:p>
                      <a:r>
                        <a:rPr lang="en-US" sz="1050" dirty="0"/>
                        <a:t>Quarterly</a:t>
                      </a:r>
                    </a:p>
                  </a:txBody>
                  <a:tcPr/>
                </a:tc>
                <a:tc>
                  <a:txBody>
                    <a:bodyPr/>
                    <a:lstStyle/>
                    <a:p>
                      <a:r>
                        <a:rPr lang="en-US" sz="1050" kern="1200" dirty="0">
                          <a:solidFill>
                            <a:schemeClr val="dk1"/>
                          </a:solidFill>
                        </a:rPr>
                        <a:t>Share quarterly feedback as a report for external analysts and internal consumption of the business</a:t>
                      </a:r>
                      <a:endParaRPr lang="en-US" sz="1050" kern="1200" dirty="0">
                        <a:solidFill>
                          <a:schemeClr val="dk1"/>
                        </a:solidFill>
                        <a:latin typeface="+mn-lt"/>
                        <a:ea typeface="+mn-ea"/>
                        <a:cs typeface="+mn-cs"/>
                      </a:endParaRPr>
                    </a:p>
                  </a:txBody>
                  <a:tcPr/>
                </a:tc>
                <a:tc>
                  <a:txBody>
                    <a:bodyPr/>
                    <a:lstStyle/>
                    <a:p>
                      <a:r>
                        <a:rPr lang="en-US" sz="1050" kern="1200" dirty="0">
                          <a:solidFill>
                            <a:schemeClr val="dk1"/>
                          </a:solidFill>
                        </a:rPr>
                        <a:t>All Company</a:t>
                      </a:r>
                    </a:p>
                    <a:p>
                      <a:r>
                        <a:rPr lang="en-US" sz="1050" kern="1200" dirty="0">
                          <a:solidFill>
                            <a:schemeClr val="dk1"/>
                          </a:solidFill>
                        </a:rPr>
                        <a:t>External parties such as Gartner</a:t>
                      </a:r>
                      <a:endParaRPr lang="en-US" sz="1050" kern="1200" dirty="0">
                        <a:solidFill>
                          <a:schemeClr val="dk1"/>
                        </a:solidFill>
                        <a:latin typeface="+mn-lt"/>
                        <a:ea typeface="+mn-ea"/>
                        <a:cs typeface="+mn-cs"/>
                      </a:endParaRPr>
                    </a:p>
                  </a:txBody>
                  <a:tcPr/>
                </a:tc>
                <a:extLst>
                  <a:ext uri="{0D108BD9-81ED-4DB2-BD59-A6C34878D82A}">
                    <a16:rowId xmlns:a16="http://schemas.microsoft.com/office/drawing/2014/main" val="1275956984"/>
                  </a:ext>
                </a:extLst>
              </a:tr>
              <a:tr h="855534">
                <a:tc>
                  <a:txBody>
                    <a:bodyPr/>
                    <a:lstStyle/>
                    <a:p>
                      <a:r>
                        <a:rPr lang="en-US" sz="1200" dirty="0"/>
                        <a:t>Office Hours</a:t>
                      </a:r>
                    </a:p>
                  </a:txBody>
                  <a:tcPr/>
                </a:tc>
                <a:tc>
                  <a:txBody>
                    <a:bodyPr/>
                    <a:lstStyle/>
                    <a:p>
                      <a:r>
                        <a:rPr lang="en-US" sz="1050" dirty="0"/>
                        <a:t>Monthly</a:t>
                      </a:r>
                    </a:p>
                  </a:txBody>
                  <a:tcPr/>
                </a:tc>
                <a:tc>
                  <a:txBody>
                    <a:bodyPr/>
                    <a:lstStyle/>
                    <a:p>
                      <a:r>
                        <a:rPr lang="en-US" sz="1050" kern="1200" dirty="0">
                          <a:solidFill>
                            <a:schemeClr val="dk1"/>
                          </a:solidFill>
                        </a:rPr>
                        <a:t>Work with key partners across the organization on research efforts/needs and review of data for inner loop action planning sessions</a:t>
                      </a:r>
                      <a:endParaRPr lang="en-US" sz="1050" kern="1200" dirty="0">
                        <a:solidFill>
                          <a:schemeClr val="dk1"/>
                        </a:solidFill>
                        <a:latin typeface="+mn-lt"/>
                        <a:ea typeface="+mn-ea"/>
                        <a:cs typeface="+mn-cs"/>
                      </a:endParaRPr>
                    </a:p>
                  </a:txBody>
                  <a:tcPr/>
                </a:tc>
                <a:tc>
                  <a:txBody>
                    <a:bodyPr/>
                    <a:lstStyle/>
                    <a:p>
                      <a:r>
                        <a:rPr lang="en-US" sz="1050" kern="1200" dirty="0">
                          <a:solidFill>
                            <a:schemeClr val="dk1"/>
                          </a:solidFill>
                        </a:rPr>
                        <a:t>Program Managers</a:t>
                      </a:r>
                    </a:p>
                    <a:p>
                      <a:r>
                        <a:rPr lang="en-US" sz="1050" kern="1200" dirty="0">
                          <a:solidFill>
                            <a:schemeClr val="dk1"/>
                          </a:solidFill>
                        </a:rPr>
                        <a:t>Business Unit Leaders</a:t>
                      </a:r>
                      <a:endParaRPr lang="en-US" sz="1050" kern="1200" dirty="0">
                        <a:solidFill>
                          <a:schemeClr val="dk1"/>
                        </a:solidFill>
                        <a:latin typeface="+mn-lt"/>
                        <a:ea typeface="+mn-ea"/>
                        <a:cs typeface="+mn-cs"/>
                      </a:endParaRPr>
                    </a:p>
                  </a:txBody>
                  <a:tcPr/>
                </a:tc>
                <a:extLst>
                  <a:ext uri="{0D108BD9-81ED-4DB2-BD59-A6C34878D82A}">
                    <a16:rowId xmlns:a16="http://schemas.microsoft.com/office/drawing/2014/main" val="1537030635"/>
                  </a:ext>
                </a:extLst>
              </a:tr>
              <a:tr h="855534">
                <a:tc>
                  <a:txBody>
                    <a:bodyPr/>
                    <a:lstStyle/>
                    <a:p>
                      <a:r>
                        <a:rPr lang="en-US" sz="1200" dirty="0"/>
                        <a:t>Team Meetings &amp; Action Planning Sessions</a:t>
                      </a:r>
                    </a:p>
                  </a:txBody>
                  <a:tcPr/>
                </a:tc>
                <a:tc>
                  <a:txBody>
                    <a:bodyPr/>
                    <a:lstStyle/>
                    <a:p>
                      <a:r>
                        <a:rPr lang="en-US" sz="1050" dirty="0"/>
                        <a:t>Monthly</a:t>
                      </a:r>
                    </a:p>
                  </a:txBody>
                  <a:tcPr/>
                </a:tc>
                <a:tc>
                  <a:txBody>
                    <a:bodyPr/>
                    <a:lstStyle/>
                    <a:p>
                      <a:r>
                        <a:rPr lang="en-US" sz="1050" kern="1200" dirty="0">
                          <a:solidFill>
                            <a:schemeClr val="dk1"/>
                          </a:solidFill>
                        </a:rPr>
                        <a:t>Work on sharing insights gathered for the month along the client journey. Create action plans with owners and deliverables based on pain points</a:t>
                      </a:r>
                      <a:endParaRPr lang="en-US" sz="1050" kern="1200" dirty="0">
                        <a:solidFill>
                          <a:schemeClr val="dk1"/>
                        </a:solidFill>
                        <a:latin typeface="+mn-lt"/>
                        <a:ea typeface="+mn-ea"/>
                        <a:cs typeface="+mn-cs"/>
                      </a:endParaRPr>
                    </a:p>
                  </a:txBody>
                  <a:tcPr/>
                </a:tc>
                <a:tc>
                  <a:txBody>
                    <a:bodyPr/>
                    <a:lstStyle/>
                    <a:p>
                      <a:r>
                        <a:rPr lang="en-US" sz="1050" kern="1200" dirty="0">
                          <a:solidFill>
                            <a:schemeClr val="dk1"/>
                          </a:solidFill>
                        </a:rPr>
                        <a:t>Program Managers</a:t>
                      </a:r>
                    </a:p>
                    <a:p>
                      <a:r>
                        <a:rPr lang="en-US" sz="1050" kern="1200" dirty="0">
                          <a:solidFill>
                            <a:schemeClr val="dk1"/>
                          </a:solidFill>
                        </a:rPr>
                        <a:t>Business Unit Leaders</a:t>
                      </a:r>
                    </a:p>
                    <a:p>
                      <a:endParaRPr lang="en-US" sz="1050" kern="1200" dirty="0">
                        <a:solidFill>
                          <a:schemeClr val="dk1"/>
                        </a:solidFill>
                        <a:latin typeface="+mn-lt"/>
                        <a:ea typeface="+mn-ea"/>
                        <a:cs typeface="+mn-cs"/>
                      </a:endParaRPr>
                    </a:p>
                  </a:txBody>
                  <a:tcPr/>
                </a:tc>
                <a:extLst>
                  <a:ext uri="{0D108BD9-81ED-4DB2-BD59-A6C34878D82A}">
                    <a16:rowId xmlns:a16="http://schemas.microsoft.com/office/drawing/2014/main" val="2528576527"/>
                  </a:ext>
                </a:extLst>
              </a:tr>
              <a:tr h="534709">
                <a:tc>
                  <a:txBody>
                    <a:bodyPr/>
                    <a:lstStyle/>
                    <a:p>
                      <a:r>
                        <a:rPr lang="en-US" sz="1200" dirty="0"/>
                        <a:t>Closed Loop- Client Facing Output</a:t>
                      </a:r>
                    </a:p>
                  </a:txBody>
                  <a:tcPr/>
                </a:tc>
                <a:tc>
                  <a:txBody>
                    <a:bodyPr/>
                    <a:lstStyle/>
                    <a:p>
                      <a:r>
                        <a:rPr lang="en-US" sz="1050" dirty="0"/>
                        <a:t>Quarterly</a:t>
                      </a:r>
                    </a:p>
                  </a:txBody>
                  <a:tcPr/>
                </a:tc>
                <a:tc>
                  <a:txBody>
                    <a:bodyPr/>
                    <a:lstStyle/>
                    <a:p>
                      <a:r>
                        <a:rPr lang="en-US" sz="1050" kern="1200" dirty="0">
                          <a:solidFill>
                            <a:schemeClr val="dk1"/>
                          </a:solidFill>
                        </a:rPr>
                        <a:t>Share feedback with clients to ensure they know they are being heard</a:t>
                      </a:r>
                      <a:endParaRPr lang="en-US" sz="1050" kern="1200" dirty="0">
                        <a:solidFill>
                          <a:schemeClr val="dk1"/>
                        </a:solidFill>
                        <a:latin typeface="+mn-lt"/>
                        <a:ea typeface="+mn-ea"/>
                        <a:cs typeface="+mn-cs"/>
                      </a:endParaRPr>
                    </a:p>
                  </a:txBody>
                  <a:tcPr/>
                </a:tc>
                <a:tc>
                  <a:txBody>
                    <a:bodyPr/>
                    <a:lstStyle/>
                    <a:p>
                      <a:r>
                        <a:rPr lang="en-US" sz="1050" kern="1200" dirty="0">
                          <a:solidFill>
                            <a:schemeClr val="dk1"/>
                          </a:solidFill>
                        </a:rPr>
                        <a:t>Client Managers Clients</a:t>
                      </a:r>
                      <a:endParaRPr lang="en-US" sz="1050" kern="1200" dirty="0">
                        <a:solidFill>
                          <a:schemeClr val="dk1"/>
                        </a:solidFill>
                        <a:latin typeface="+mn-lt"/>
                        <a:ea typeface="+mn-ea"/>
                        <a:cs typeface="+mn-cs"/>
                      </a:endParaRPr>
                    </a:p>
                  </a:txBody>
                  <a:tcPr/>
                </a:tc>
                <a:extLst>
                  <a:ext uri="{0D108BD9-81ED-4DB2-BD59-A6C34878D82A}">
                    <a16:rowId xmlns:a16="http://schemas.microsoft.com/office/drawing/2014/main" val="3959438563"/>
                  </a:ext>
                </a:extLst>
              </a:tr>
            </a:tbl>
          </a:graphicData>
        </a:graphic>
      </p:graphicFrame>
      <p:sp>
        <p:nvSpPr>
          <p:cNvPr id="7" name="TextBox 6">
            <a:extLst>
              <a:ext uri="{FF2B5EF4-FFF2-40B4-BE49-F238E27FC236}">
                <a16:creationId xmlns:a16="http://schemas.microsoft.com/office/drawing/2014/main" id="{C1998BCF-9EEE-EAE6-FF18-6D2EA7CAED6A}"/>
              </a:ext>
            </a:extLst>
          </p:cNvPr>
          <p:cNvSpPr txBox="1"/>
          <p:nvPr/>
        </p:nvSpPr>
        <p:spPr>
          <a:xfrm>
            <a:off x="95329" y="1094764"/>
            <a:ext cx="6157518" cy="707886"/>
          </a:xfrm>
          <a:prstGeom prst="rect">
            <a:avLst/>
          </a:prstGeom>
          <a:noFill/>
        </p:spPr>
        <p:txBody>
          <a:bodyPr wrap="square">
            <a:spAutoFit/>
          </a:bodyPr>
          <a:lstStyle/>
          <a:p>
            <a:r>
              <a:rPr lang="en-US" sz="2000" b="1" dirty="0">
                <a:solidFill>
                  <a:srgbClr val="C00000"/>
                </a:solidFill>
              </a:rPr>
              <a:t>Sample Media Output Based on Audience or Leadership Preference:</a:t>
            </a:r>
            <a:endParaRPr lang="en-US" sz="2000" b="1" dirty="0"/>
          </a:p>
        </p:txBody>
      </p:sp>
      <p:sp>
        <p:nvSpPr>
          <p:cNvPr id="5" name="Rectangle 4">
            <a:extLst>
              <a:ext uri="{FF2B5EF4-FFF2-40B4-BE49-F238E27FC236}">
                <a16:creationId xmlns:a16="http://schemas.microsoft.com/office/drawing/2014/main" id="{FE74C989-C084-EFFC-D495-11DB3AA36A9D}"/>
              </a:ext>
            </a:extLst>
          </p:cNvPr>
          <p:cNvSpPr/>
          <p:nvPr/>
        </p:nvSpPr>
        <p:spPr>
          <a:xfrm rot="19295008">
            <a:off x="5989536" y="3003172"/>
            <a:ext cx="5754539" cy="769441"/>
          </a:xfrm>
          <a:prstGeom prst="rect">
            <a:avLst/>
          </a:prstGeom>
          <a:noFill/>
        </p:spPr>
        <p:txBody>
          <a:bodyPr wrap="square" lIns="91440" tIns="45720" rIns="91440" bIns="45720">
            <a:spAutoFit/>
          </a:bodyPr>
          <a:lstStyle/>
          <a:p>
            <a:pPr algn="ctr"/>
            <a:r>
              <a:rPr lang="en-US" sz="4400" b="1" cap="none" spc="0" dirty="0">
                <a:ln w="6600">
                  <a:solidFill>
                    <a:schemeClr val="accent2">
                      <a:alpha val="20000"/>
                    </a:schemeClr>
                  </a:solidFill>
                  <a:prstDash val="solid"/>
                </a:ln>
                <a:solidFill>
                  <a:srgbClr val="FFFFFF"/>
                </a:solidFill>
                <a:effectLst>
                  <a:outerShdw dist="38100" dir="2700000" algn="tl" rotWithShape="0">
                    <a:schemeClr val="accent2"/>
                  </a:outerShdw>
                </a:effectLst>
              </a:rPr>
              <a:t> Sample Report</a:t>
            </a:r>
          </a:p>
        </p:txBody>
      </p:sp>
    </p:spTree>
    <p:extLst>
      <p:ext uri="{BB962C8B-B14F-4D97-AF65-F5344CB8AC3E}">
        <p14:creationId xmlns:p14="http://schemas.microsoft.com/office/powerpoint/2010/main" val="2210256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420624" y="941832"/>
            <a:ext cx="11356848" cy="493776"/>
          </a:xfrm>
          <a:prstGeom prst="roundRect">
            <a:avLst>
              <a:gd name="adj" fmla="val 22222"/>
            </a:avLst>
          </a:prstGeom>
          <a:solidFill>
            <a:schemeClr val="tx2">
              <a:lumMod val="10000"/>
              <a:lumOff val="90000"/>
            </a:schemeClr>
          </a:solidFill>
          <a:ln w="8890">
            <a:solidFill>
              <a:srgbClr val="B7DCD8"/>
            </a:solidFill>
            <a:prstDash val="solid"/>
          </a:ln>
        </p:spPr>
        <p:txBody>
          <a:bodyPr/>
          <a:lstStyle/>
          <a:p>
            <a:endParaRPr lang="en-US" sz="1600" dirty="0"/>
          </a:p>
        </p:txBody>
      </p:sp>
      <p:sp>
        <p:nvSpPr>
          <p:cNvPr id="8" name="Text 6"/>
          <p:cNvSpPr/>
          <p:nvPr/>
        </p:nvSpPr>
        <p:spPr>
          <a:xfrm>
            <a:off x="575674" y="1088136"/>
            <a:ext cx="11037206" cy="283464"/>
          </a:xfrm>
          <a:prstGeom prst="rect">
            <a:avLst/>
          </a:prstGeom>
          <a:noFill/>
          <a:ln/>
        </p:spPr>
        <p:txBody>
          <a:bodyPr wrap="square" lIns="381" tIns="381" rIns="381" bIns="381" rtlCol="0" anchor="ctr">
            <a:normAutofit lnSpcReduction="10000"/>
          </a:bodyPr>
          <a:lstStyle/>
          <a:p>
            <a:pPr marL="0" indent="0" algn="l">
              <a:lnSpc>
                <a:spcPct val="90000"/>
              </a:lnSpc>
              <a:buNone/>
            </a:pPr>
            <a:r>
              <a:rPr lang="en-US" sz="1100" b="1" dirty="0">
                <a:solidFill>
                  <a:srgbClr val="0B6E63"/>
                </a:solidFill>
                <a:ea typeface="Aptos" pitchFamily="34" charset="-122"/>
                <a:cs typeface="Aptos" pitchFamily="34" charset="-120"/>
              </a:rPr>
              <a:t>Purpose: </a:t>
            </a:r>
            <a:r>
              <a:rPr lang="en-US" sz="1100" dirty="0">
                <a:solidFill>
                  <a:srgbClr val="1B2B32"/>
                </a:solidFill>
                <a:ea typeface="Aptos" pitchFamily="34" charset="-122"/>
                <a:cs typeface="Aptos" pitchFamily="34" charset="-120"/>
              </a:rPr>
              <a:t>Help employees transition to Canva as the primary self-service creative platform by building awareness, desire, knowledge, ability and reinforcement. The change supports faster asset creation, easier access to approved templates, improved brand consistency and reduced dependency on routine creative production support.</a:t>
            </a:r>
          </a:p>
          <a:p>
            <a:pPr marL="0" indent="0" algn="l">
              <a:lnSpc>
                <a:spcPct val="90000"/>
              </a:lnSpc>
              <a:buNone/>
            </a:pPr>
            <a:endParaRPr lang="en-US" sz="1100" dirty="0"/>
          </a:p>
        </p:txBody>
      </p:sp>
      <p:sp>
        <p:nvSpPr>
          <p:cNvPr id="9" name="Shape 7"/>
          <p:cNvSpPr/>
          <p:nvPr/>
        </p:nvSpPr>
        <p:spPr>
          <a:xfrm>
            <a:off x="420624" y="1636776"/>
            <a:ext cx="2176272" cy="2542032"/>
          </a:xfrm>
          <a:prstGeom prst="roundRect">
            <a:avLst>
              <a:gd name="adj" fmla="val 5042"/>
            </a:avLst>
          </a:prstGeom>
          <a:solidFill>
            <a:schemeClr val="accent3">
              <a:lumMod val="40000"/>
              <a:lumOff val="60000"/>
            </a:schemeClr>
          </a:solidFill>
          <a:ln w="6350">
            <a:solidFill>
              <a:srgbClr val="D8DCE0"/>
            </a:solidFill>
            <a:prstDash val="solid"/>
          </a:ln>
          <a:effectLst>
            <a:outerShdw blurRad="13970" dist="7620" dir="2700000" algn="bl" rotWithShape="0">
              <a:srgbClr val="000000">
                <a:alpha val="8000"/>
              </a:srgbClr>
            </a:outerShdw>
          </a:effectLst>
        </p:spPr>
        <p:txBody>
          <a:bodyPr/>
          <a:lstStyle/>
          <a:p>
            <a:endParaRPr lang="en-US"/>
          </a:p>
        </p:txBody>
      </p:sp>
      <p:sp>
        <p:nvSpPr>
          <p:cNvPr id="10" name="Shape 8"/>
          <p:cNvSpPr/>
          <p:nvPr/>
        </p:nvSpPr>
        <p:spPr>
          <a:xfrm>
            <a:off x="530352" y="1746504"/>
            <a:ext cx="347472" cy="347472"/>
          </a:xfrm>
          <a:prstGeom prst="ellipse">
            <a:avLst/>
          </a:prstGeom>
          <a:solidFill>
            <a:schemeClr val="accent1"/>
          </a:solidFill>
          <a:ln w="12700">
            <a:solidFill>
              <a:srgbClr val="7A3FD1"/>
            </a:solidFill>
            <a:prstDash val="solid"/>
          </a:ln>
        </p:spPr>
        <p:txBody>
          <a:bodyPr/>
          <a:lstStyle/>
          <a:p>
            <a:endParaRPr lang="en-US"/>
          </a:p>
        </p:txBody>
      </p:sp>
      <p:sp>
        <p:nvSpPr>
          <p:cNvPr id="11" name="Text 9"/>
          <p:cNvSpPr/>
          <p:nvPr/>
        </p:nvSpPr>
        <p:spPr>
          <a:xfrm>
            <a:off x="530352" y="1824228"/>
            <a:ext cx="347472" cy="182880"/>
          </a:xfrm>
          <a:prstGeom prst="rect">
            <a:avLst/>
          </a:prstGeom>
          <a:noFill/>
          <a:ln/>
        </p:spPr>
        <p:txBody>
          <a:bodyPr wrap="square" lIns="381" tIns="381" rIns="381" bIns="381" rtlCol="0" anchor="ctr">
            <a:normAutofit/>
          </a:bodyPr>
          <a:lstStyle/>
          <a:p>
            <a:pPr marL="0" indent="0" algn="ctr">
              <a:lnSpc>
                <a:spcPct val="90000"/>
              </a:lnSpc>
              <a:buNone/>
            </a:pPr>
            <a:r>
              <a:rPr lang="en-US" sz="1200" b="1" dirty="0">
                <a:solidFill>
                  <a:srgbClr val="FFFFFF"/>
                </a:solidFill>
                <a:ea typeface="Aptos" pitchFamily="34" charset="-122"/>
                <a:cs typeface="Aptos" pitchFamily="34" charset="-120"/>
              </a:rPr>
              <a:t>A</a:t>
            </a:r>
            <a:endParaRPr lang="en-US" sz="1200" dirty="0"/>
          </a:p>
        </p:txBody>
      </p:sp>
      <p:sp>
        <p:nvSpPr>
          <p:cNvPr id="12" name="Text 10"/>
          <p:cNvSpPr/>
          <p:nvPr/>
        </p:nvSpPr>
        <p:spPr>
          <a:xfrm>
            <a:off x="932688" y="1719072"/>
            <a:ext cx="1536192" cy="182880"/>
          </a:xfrm>
          <a:prstGeom prst="rect">
            <a:avLst/>
          </a:prstGeom>
          <a:noFill/>
          <a:ln/>
        </p:spPr>
        <p:txBody>
          <a:bodyPr wrap="square" lIns="381" tIns="381" rIns="381" bIns="381" rtlCol="0" anchor="ctr">
            <a:noAutofit/>
          </a:bodyPr>
          <a:lstStyle/>
          <a:p>
            <a:pPr marL="0" indent="0" algn="l">
              <a:lnSpc>
                <a:spcPct val="90000"/>
              </a:lnSpc>
              <a:buNone/>
            </a:pPr>
            <a:r>
              <a:rPr lang="en-US" sz="1600" b="1" dirty="0">
                <a:solidFill>
                  <a:srgbClr val="0B6E63"/>
                </a:solidFill>
                <a:ea typeface="Aptos" pitchFamily="34" charset="-122"/>
                <a:cs typeface="Aptos" pitchFamily="34" charset="-120"/>
              </a:rPr>
              <a:t>Awareness</a:t>
            </a:r>
            <a:endParaRPr lang="en-US" sz="1600" dirty="0"/>
          </a:p>
        </p:txBody>
      </p:sp>
      <p:sp>
        <p:nvSpPr>
          <p:cNvPr id="13" name="Text 11"/>
          <p:cNvSpPr/>
          <p:nvPr/>
        </p:nvSpPr>
        <p:spPr>
          <a:xfrm>
            <a:off x="548640" y="2180844"/>
            <a:ext cx="1920240" cy="384048"/>
          </a:xfrm>
          <a:prstGeom prst="rect">
            <a:avLst/>
          </a:prstGeom>
          <a:noFill/>
          <a:ln/>
        </p:spPr>
        <p:txBody>
          <a:bodyPr wrap="square" lIns="381" tIns="381" rIns="381" bIns="381" rtlCol="0" anchor="t">
            <a:normAutofit/>
          </a:bodyPr>
          <a:lstStyle/>
          <a:p>
            <a:pPr marL="0" indent="0" algn="l">
              <a:lnSpc>
                <a:spcPct val="90000"/>
              </a:lnSpc>
              <a:buNone/>
            </a:pPr>
            <a:r>
              <a:rPr lang="en-US" sz="1000" dirty="0">
                <a:solidFill>
                  <a:schemeClr val="bg2">
                    <a:lumMod val="10000"/>
                  </a:schemeClr>
                </a:solidFill>
                <a:ea typeface="Aptos" pitchFamily="34" charset="-122"/>
                <a:cs typeface="Aptos" pitchFamily="34" charset="-120"/>
              </a:rPr>
              <a:t>Employees understand why we are moving to Canva.</a:t>
            </a:r>
            <a:endParaRPr lang="en-US" sz="1000" dirty="0">
              <a:solidFill>
                <a:schemeClr val="bg2">
                  <a:lumMod val="10000"/>
                </a:schemeClr>
              </a:solidFill>
            </a:endParaRPr>
          </a:p>
        </p:txBody>
      </p:sp>
      <p:sp>
        <p:nvSpPr>
          <p:cNvPr id="14" name="Text 12"/>
          <p:cNvSpPr/>
          <p:nvPr/>
        </p:nvSpPr>
        <p:spPr>
          <a:xfrm>
            <a:off x="548640" y="2596896"/>
            <a:ext cx="1920240" cy="859536"/>
          </a:xfrm>
          <a:prstGeom prst="rect">
            <a:avLst/>
          </a:prstGeom>
          <a:noFill/>
          <a:ln/>
        </p:spPr>
        <p:txBody>
          <a:bodyPr wrap="square" lIns="508" tIns="508" rIns="508" bIns="508" rtlCol="0" anchor="t">
            <a:normAutofit/>
          </a:bodyPr>
          <a:lstStyle/>
          <a:p>
            <a:pPr>
              <a:lnSpc>
                <a:spcPct val="84000"/>
              </a:lnSpc>
            </a:pP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Communicate vision and rationale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Share timeline, milestones and FAQs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Launch “Coming Soon” message</a:t>
            </a:r>
            <a:endParaRPr lang="en-US" sz="900" dirty="0"/>
          </a:p>
        </p:txBody>
      </p:sp>
      <p:sp>
        <p:nvSpPr>
          <p:cNvPr id="15" name="Shape 13"/>
          <p:cNvSpPr/>
          <p:nvPr/>
        </p:nvSpPr>
        <p:spPr>
          <a:xfrm>
            <a:off x="548640" y="3538728"/>
            <a:ext cx="1920240" cy="0"/>
          </a:xfrm>
          <a:prstGeom prst="line">
            <a:avLst/>
          </a:prstGeom>
          <a:noFill/>
          <a:ln w="7620">
            <a:solidFill>
              <a:srgbClr val="D8DCE0"/>
            </a:solidFill>
            <a:prstDash val="solid"/>
          </a:ln>
        </p:spPr>
        <p:txBody>
          <a:bodyPr/>
          <a:lstStyle/>
          <a:p>
            <a:endParaRPr lang="en-US" sz="2800"/>
          </a:p>
        </p:txBody>
      </p:sp>
      <p:sp>
        <p:nvSpPr>
          <p:cNvPr id="16" name="Text 14"/>
          <p:cNvSpPr/>
          <p:nvPr/>
        </p:nvSpPr>
        <p:spPr>
          <a:xfrm>
            <a:off x="548640" y="3584448"/>
            <a:ext cx="621792" cy="73144"/>
          </a:xfrm>
          <a:prstGeom prst="rect">
            <a:avLst/>
          </a:prstGeom>
          <a:noFill/>
          <a:ln/>
        </p:spPr>
        <p:txBody>
          <a:bodyPr wrap="square" lIns="381" tIns="381" rIns="381" bIns="381" rtlCol="0" anchor="ctr">
            <a:noAutofit/>
          </a:bodyPr>
          <a:lstStyle/>
          <a:p>
            <a:pPr marL="0" indent="0" algn="l">
              <a:lnSpc>
                <a:spcPct val="90000"/>
              </a:lnSpc>
              <a:buNone/>
            </a:pPr>
            <a:r>
              <a:rPr lang="en-US" sz="900" b="1" dirty="0">
                <a:ea typeface="Aptos" pitchFamily="34" charset="-122"/>
                <a:cs typeface="Aptos" pitchFamily="34" charset="-120"/>
              </a:rPr>
              <a:t>Success:</a:t>
            </a:r>
            <a:endParaRPr lang="en-US" sz="900" dirty="0"/>
          </a:p>
        </p:txBody>
      </p:sp>
      <p:sp>
        <p:nvSpPr>
          <p:cNvPr id="17" name="Text 15"/>
          <p:cNvSpPr/>
          <p:nvPr/>
        </p:nvSpPr>
        <p:spPr>
          <a:xfrm>
            <a:off x="1037183" y="3566161"/>
            <a:ext cx="1472184" cy="347472"/>
          </a:xfrm>
          <a:prstGeom prst="rect">
            <a:avLst/>
          </a:prstGeom>
          <a:noFill/>
          <a:ln/>
        </p:spPr>
        <p:txBody>
          <a:bodyPr wrap="square" lIns="381" tIns="381" rIns="381" bIns="381" rtlCol="0" anchor="t">
            <a:noAutofit/>
          </a:bodyPr>
          <a:lstStyle/>
          <a:p>
            <a:pPr marL="0" indent="0" algn="l">
              <a:lnSpc>
                <a:spcPct val="90000"/>
              </a:lnSpc>
              <a:buNone/>
            </a:pPr>
            <a:r>
              <a:rPr lang="en-US" sz="900" dirty="0">
                <a:solidFill>
                  <a:srgbClr val="1B2B32"/>
                </a:solidFill>
                <a:ea typeface="Aptos" pitchFamily="34" charset="-122"/>
                <a:cs typeface="Aptos" pitchFamily="34" charset="-120"/>
              </a:rPr>
              <a:t>Employees know what is changing, why it matters and when.</a:t>
            </a:r>
            <a:endParaRPr lang="en-US" sz="900" dirty="0"/>
          </a:p>
        </p:txBody>
      </p:sp>
      <p:sp>
        <p:nvSpPr>
          <p:cNvPr id="18" name="Shape 16"/>
          <p:cNvSpPr/>
          <p:nvPr/>
        </p:nvSpPr>
        <p:spPr>
          <a:xfrm>
            <a:off x="2706624" y="1636776"/>
            <a:ext cx="2176272" cy="2542032"/>
          </a:xfrm>
          <a:prstGeom prst="roundRect">
            <a:avLst>
              <a:gd name="adj" fmla="val 5042"/>
            </a:avLst>
          </a:prstGeom>
          <a:solidFill>
            <a:srgbClr val="FFFFFF"/>
          </a:solidFill>
          <a:ln w="6350">
            <a:solidFill>
              <a:srgbClr val="D8DCE0"/>
            </a:solidFill>
            <a:prstDash val="solid"/>
          </a:ln>
          <a:effectLst>
            <a:outerShdw blurRad="13970" dist="7620" dir="2700000" algn="bl" rotWithShape="0">
              <a:srgbClr val="000000">
                <a:alpha val="8000"/>
              </a:srgbClr>
            </a:outerShdw>
          </a:effectLst>
        </p:spPr>
        <p:txBody>
          <a:bodyPr/>
          <a:lstStyle/>
          <a:p>
            <a:endParaRPr lang="en-US"/>
          </a:p>
        </p:txBody>
      </p:sp>
      <p:sp>
        <p:nvSpPr>
          <p:cNvPr id="19" name="Shape 17"/>
          <p:cNvSpPr/>
          <p:nvPr/>
        </p:nvSpPr>
        <p:spPr>
          <a:xfrm>
            <a:off x="2816352" y="1746504"/>
            <a:ext cx="347472" cy="347472"/>
          </a:xfrm>
          <a:prstGeom prst="ellipse">
            <a:avLst/>
          </a:prstGeom>
          <a:solidFill>
            <a:schemeClr val="accent1"/>
          </a:solidFill>
          <a:ln w="12700">
            <a:solidFill>
              <a:srgbClr val="7A3FD1"/>
            </a:solidFill>
            <a:prstDash val="solid"/>
          </a:ln>
        </p:spPr>
        <p:txBody>
          <a:bodyPr/>
          <a:lstStyle/>
          <a:p>
            <a:endParaRPr lang="en-US"/>
          </a:p>
        </p:txBody>
      </p:sp>
      <p:sp>
        <p:nvSpPr>
          <p:cNvPr id="20" name="Text 18"/>
          <p:cNvSpPr/>
          <p:nvPr/>
        </p:nvSpPr>
        <p:spPr>
          <a:xfrm>
            <a:off x="2816352" y="1824228"/>
            <a:ext cx="347472" cy="182880"/>
          </a:xfrm>
          <a:prstGeom prst="rect">
            <a:avLst/>
          </a:prstGeom>
          <a:noFill/>
          <a:ln/>
        </p:spPr>
        <p:txBody>
          <a:bodyPr wrap="square" lIns="381" tIns="381" rIns="381" bIns="381" rtlCol="0" anchor="ctr">
            <a:normAutofit/>
          </a:bodyPr>
          <a:lstStyle/>
          <a:p>
            <a:pPr marL="0" indent="0" algn="ctr">
              <a:lnSpc>
                <a:spcPct val="90000"/>
              </a:lnSpc>
              <a:buNone/>
            </a:pPr>
            <a:r>
              <a:rPr lang="en-US" sz="1200" b="1" dirty="0">
                <a:solidFill>
                  <a:srgbClr val="FFFFFF"/>
                </a:solidFill>
                <a:ea typeface="Aptos" pitchFamily="34" charset="-122"/>
                <a:cs typeface="Aptos" pitchFamily="34" charset="-120"/>
              </a:rPr>
              <a:t>D</a:t>
            </a:r>
            <a:endParaRPr lang="en-US" sz="1200" dirty="0"/>
          </a:p>
        </p:txBody>
      </p:sp>
      <p:sp>
        <p:nvSpPr>
          <p:cNvPr id="21" name="Text 19"/>
          <p:cNvSpPr/>
          <p:nvPr/>
        </p:nvSpPr>
        <p:spPr>
          <a:xfrm>
            <a:off x="3218688" y="1719072"/>
            <a:ext cx="1536192" cy="182880"/>
          </a:xfrm>
          <a:prstGeom prst="rect">
            <a:avLst/>
          </a:prstGeom>
          <a:noFill/>
          <a:ln/>
        </p:spPr>
        <p:txBody>
          <a:bodyPr wrap="square" lIns="381" tIns="381" rIns="381" bIns="381" rtlCol="0" anchor="ctr">
            <a:noAutofit/>
          </a:bodyPr>
          <a:lstStyle/>
          <a:p>
            <a:pPr marL="0" indent="0" algn="l">
              <a:lnSpc>
                <a:spcPct val="90000"/>
              </a:lnSpc>
              <a:buNone/>
            </a:pPr>
            <a:r>
              <a:rPr lang="en-US" sz="1600" b="1" dirty="0">
                <a:solidFill>
                  <a:srgbClr val="0B6E63"/>
                </a:solidFill>
                <a:ea typeface="Aptos" pitchFamily="34" charset="-122"/>
                <a:cs typeface="Aptos" pitchFamily="34" charset="-120"/>
              </a:rPr>
              <a:t>Desire</a:t>
            </a:r>
            <a:endParaRPr lang="en-US" sz="1600" dirty="0"/>
          </a:p>
        </p:txBody>
      </p:sp>
      <p:sp>
        <p:nvSpPr>
          <p:cNvPr id="22" name="Text 20"/>
          <p:cNvSpPr/>
          <p:nvPr/>
        </p:nvSpPr>
        <p:spPr>
          <a:xfrm>
            <a:off x="2834640" y="2199132"/>
            <a:ext cx="1920240" cy="384048"/>
          </a:xfrm>
          <a:prstGeom prst="rect">
            <a:avLst/>
          </a:prstGeom>
          <a:noFill/>
          <a:ln/>
        </p:spPr>
        <p:txBody>
          <a:bodyPr wrap="square" lIns="381" tIns="381" rIns="381" bIns="381" rtlCol="0" anchor="t">
            <a:normAutofit/>
          </a:bodyPr>
          <a:lstStyle/>
          <a:p>
            <a:pPr marL="0" indent="0" algn="l">
              <a:lnSpc>
                <a:spcPct val="90000"/>
              </a:lnSpc>
              <a:buNone/>
            </a:pPr>
            <a:r>
              <a:rPr lang="en-US" sz="1000" dirty="0">
                <a:solidFill>
                  <a:schemeClr val="bg2">
                    <a:lumMod val="10000"/>
                  </a:schemeClr>
                </a:solidFill>
                <a:ea typeface="Aptos" pitchFamily="34" charset="-122"/>
                <a:cs typeface="Aptos" pitchFamily="34" charset="-120"/>
              </a:rPr>
              <a:t>Employees see personal value and want to participate.</a:t>
            </a:r>
            <a:endParaRPr lang="en-US" sz="1000" dirty="0">
              <a:solidFill>
                <a:schemeClr val="bg2">
                  <a:lumMod val="10000"/>
                </a:schemeClr>
              </a:solidFill>
            </a:endParaRPr>
          </a:p>
        </p:txBody>
      </p:sp>
      <p:sp>
        <p:nvSpPr>
          <p:cNvPr id="23" name="Text 21"/>
          <p:cNvSpPr/>
          <p:nvPr/>
        </p:nvSpPr>
        <p:spPr>
          <a:xfrm>
            <a:off x="2834640" y="2596896"/>
            <a:ext cx="1920240" cy="859536"/>
          </a:xfrm>
          <a:prstGeom prst="rect">
            <a:avLst/>
          </a:prstGeom>
          <a:noFill/>
          <a:ln/>
        </p:spPr>
        <p:txBody>
          <a:bodyPr wrap="square" lIns="508" tIns="508" rIns="508" bIns="508" rtlCol="0" anchor="t">
            <a:normAutofit/>
          </a:bodyPr>
          <a:lstStyle/>
          <a:p>
            <a:pPr marL="0" indent="0">
              <a:lnSpc>
                <a:spcPct val="84000"/>
              </a:lnSpc>
              <a:buNone/>
            </a:pP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Show faster, easier, on-brand self-    service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Share demos and early examples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Address resistance and questions</a:t>
            </a:r>
            <a:endParaRPr lang="en-US" sz="900" dirty="0"/>
          </a:p>
        </p:txBody>
      </p:sp>
      <p:sp>
        <p:nvSpPr>
          <p:cNvPr id="24" name="Shape 22"/>
          <p:cNvSpPr/>
          <p:nvPr/>
        </p:nvSpPr>
        <p:spPr>
          <a:xfrm>
            <a:off x="2834640" y="3538728"/>
            <a:ext cx="1920240" cy="0"/>
          </a:xfrm>
          <a:prstGeom prst="line">
            <a:avLst/>
          </a:prstGeom>
          <a:noFill/>
          <a:ln w="7620">
            <a:solidFill>
              <a:srgbClr val="D8DCE0"/>
            </a:solidFill>
            <a:prstDash val="solid"/>
          </a:ln>
        </p:spPr>
        <p:txBody>
          <a:bodyPr/>
          <a:lstStyle/>
          <a:p>
            <a:endParaRPr lang="en-US" sz="2800"/>
          </a:p>
        </p:txBody>
      </p:sp>
      <p:sp>
        <p:nvSpPr>
          <p:cNvPr id="25" name="Text 23"/>
          <p:cNvSpPr/>
          <p:nvPr/>
        </p:nvSpPr>
        <p:spPr>
          <a:xfrm>
            <a:off x="2834640" y="3584448"/>
            <a:ext cx="621792" cy="73144"/>
          </a:xfrm>
          <a:prstGeom prst="rect">
            <a:avLst/>
          </a:prstGeom>
          <a:noFill/>
          <a:ln/>
        </p:spPr>
        <p:txBody>
          <a:bodyPr wrap="square" lIns="381" tIns="381" rIns="381" bIns="381" rtlCol="0" anchor="ctr">
            <a:noAutofit/>
          </a:bodyPr>
          <a:lstStyle/>
          <a:p>
            <a:pPr marL="0" indent="0" algn="l">
              <a:lnSpc>
                <a:spcPct val="90000"/>
              </a:lnSpc>
              <a:buNone/>
            </a:pPr>
            <a:r>
              <a:rPr lang="en-US" sz="900" b="1" dirty="0">
                <a:ea typeface="Aptos" pitchFamily="34" charset="-122"/>
                <a:cs typeface="Aptos" pitchFamily="34" charset="-120"/>
              </a:rPr>
              <a:t>Success:</a:t>
            </a:r>
            <a:endParaRPr lang="en-US" sz="900" dirty="0"/>
          </a:p>
        </p:txBody>
      </p:sp>
      <p:sp>
        <p:nvSpPr>
          <p:cNvPr id="26" name="Text 24"/>
          <p:cNvSpPr/>
          <p:nvPr/>
        </p:nvSpPr>
        <p:spPr>
          <a:xfrm>
            <a:off x="3323183" y="3566161"/>
            <a:ext cx="1472184" cy="347472"/>
          </a:xfrm>
          <a:prstGeom prst="rect">
            <a:avLst/>
          </a:prstGeom>
          <a:noFill/>
          <a:ln/>
        </p:spPr>
        <p:txBody>
          <a:bodyPr wrap="square" lIns="381" tIns="381" rIns="381" bIns="381" rtlCol="0" anchor="t">
            <a:noAutofit/>
          </a:bodyPr>
          <a:lstStyle/>
          <a:p>
            <a:pPr marL="0" indent="0" algn="l">
              <a:lnSpc>
                <a:spcPct val="90000"/>
              </a:lnSpc>
              <a:buNone/>
            </a:pPr>
            <a:r>
              <a:rPr lang="en-US" sz="900" dirty="0">
                <a:solidFill>
                  <a:srgbClr val="1B2B32"/>
                </a:solidFill>
                <a:ea typeface="Aptos" pitchFamily="34" charset="-122"/>
                <a:cs typeface="Aptos" pitchFamily="34" charset="-120"/>
              </a:rPr>
              <a:t>Employees support the change and feel motivated to try Canva.</a:t>
            </a:r>
            <a:endParaRPr lang="en-US" sz="900" dirty="0"/>
          </a:p>
        </p:txBody>
      </p:sp>
      <p:sp>
        <p:nvSpPr>
          <p:cNvPr id="27" name="Shape 25"/>
          <p:cNvSpPr/>
          <p:nvPr/>
        </p:nvSpPr>
        <p:spPr>
          <a:xfrm>
            <a:off x="4992624" y="1636776"/>
            <a:ext cx="2176272" cy="2542032"/>
          </a:xfrm>
          <a:prstGeom prst="roundRect">
            <a:avLst>
              <a:gd name="adj" fmla="val 5042"/>
            </a:avLst>
          </a:prstGeom>
          <a:solidFill>
            <a:schemeClr val="accent3">
              <a:lumMod val="40000"/>
              <a:lumOff val="60000"/>
            </a:schemeClr>
          </a:solidFill>
          <a:ln w="6350">
            <a:solidFill>
              <a:srgbClr val="D8DCE0"/>
            </a:solidFill>
            <a:prstDash val="solid"/>
          </a:ln>
          <a:effectLst>
            <a:outerShdw blurRad="13970" dist="7620" dir="2700000" algn="bl" rotWithShape="0">
              <a:srgbClr val="000000">
                <a:alpha val="8000"/>
              </a:srgbClr>
            </a:outerShdw>
          </a:effectLst>
        </p:spPr>
        <p:txBody>
          <a:bodyPr/>
          <a:lstStyle/>
          <a:p>
            <a:endParaRPr lang="en-US"/>
          </a:p>
        </p:txBody>
      </p:sp>
      <p:sp>
        <p:nvSpPr>
          <p:cNvPr id="28" name="Shape 26"/>
          <p:cNvSpPr/>
          <p:nvPr/>
        </p:nvSpPr>
        <p:spPr>
          <a:xfrm>
            <a:off x="5102352" y="1746504"/>
            <a:ext cx="347472" cy="347472"/>
          </a:xfrm>
          <a:prstGeom prst="ellipse">
            <a:avLst/>
          </a:prstGeom>
          <a:solidFill>
            <a:schemeClr val="accent1"/>
          </a:solidFill>
          <a:ln w="12700">
            <a:solidFill>
              <a:srgbClr val="7A3FD1"/>
            </a:solidFill>
            <a:prstDash val="solid"/>
          </a:ln>
        </p:spPr>
        <p:txBody>
          <a:bodyPr/>
          <a:lstStyle/>
          <a:p>
            <a:endParaRPr lang="en-US"/>
          </a:p>
        </p:txBody>
      </p:sp>
      <p:sp>
        <p:nvSpPr>
          <p:cNvPr id="29" name="Text 27"/>
          <p:cNvSpPr/>
          <p:nvPr/>
        </p:nvSpPr>
        <p:spPr>
          <a:xfrm>
            <a:off x="5102352" y="1824228"/>
            <a:ext cx="347472" cy="182880"/>
          </a:xfrm>
          <a:prstGeom prst="rect">
            <a:avLst/>
          </a:prstGeom>
          <a:noFill/>
          <a:ln/>
        </p:spPr>
        <p:txBody>
          <a:bodyPr wrap="square" lIns="381" tIns="381" rIns="381" bIns="381" rtlCol="0" anchor="ctr">
            <a:normAutofit/>
          </a:bodyPr>
          <a:lstStyle/>
          <a:p>
            <a:pPr marL="0" indent="0" algn="ctr">
              <a:lnSpc>
                <a:spcPct val="90000"/>
              </a:lnSpc>
              <a:buNone/>
            </a:pPr>
            <a:r>
              <a:rPr lang="en-US" sz="1200" b="1" dirty="0">
                <a:solidFill>
                  <a:srgbClr val="FFFFFF"/>
                </a:solidFill>
                <a:ea typeface="Aptos" pitchFamily="34" charset="-122"/>
                <a:cs typeface="Aptos" pitchFamily="34" charset="-120"/>
              </a:rPr>
              <a:t>K</a:t>
            </a:r>
            <a:endParaRPr lang="en-US" sz="1200" dirty="0"/>
          </a:p>
        </p:txBody>
      </p:sp>
      <p:sp>
        <p:nvSpPr>
          <p:cNvPr id="30" name="Text 28"/>
          <p:cNvSpPr/>
          <p:nvPr/>
        </p:nvSpPr>
        <p:spPr>
          <a:xfrm>
            <a:off x="5504688" y="1719072"/>
            <a:ext cx="1536192" cy="182880"/>
          </a:xfrm>
          <a:prstGeom prst="rect">
            <a:avLst/>
          </a:prstGeom>
          <a:noFill/>
          <a:ln/>
        </p:spPr>
        <p:txBody>
          <a:bodyPr wrap="square" lIns="381" tIns="381" rIns="381" bIns="381" rtlCol="0" anchor="ctr">
            <a:noAutofit/>
          </a:bodyPr>
          <a:lstStyle/>
          <a:p>
            <a:pPr marL="0" indent="0" algn="l">
              <a:lnSpc>
                <a:spcPct val="90000"/>
              </a:lnSpc>
              <a:buNone/>
            </a:pPr>
            <a:r>
              <a:rPr lang="en-US" sz="1600" b="1" dirty="0">
                <a:solidFill>
                  <a:srgbClr val="0B6E63"/>
                </a:solidFill>
                <a:ea typeface="Aptos" pitchFamily="34" charset="-122"/>
                <a:cs typeface="Aptos" pitchFamily="34" charset="-120"/>
              </a:rPr>
              <a:t>Knowledge</a:t>
            </a:r>
            <a:endParaRPr lang="en-US" sz="1600" dirty="0"/>
          </a:p>
        </p:txBody>
      </p:sp>
      <p:sp>
        <p:nvSpPr>
          <p:cNvPr id="31" name="Text 29"/>
          <p:cNvSpPr/>
          <p:nvPr/>
        </p:nvSpPr>
        <p:spPr>
          <a:xfrm>
            <a:off x="5120640" y="2189988"/>
            <a:ext cx="1920240" cy="384048"/>
          </a:xfrm>
          <a:prstGeom prst="rect">
            <a:avLst/>
          </a:prstGeom>
          <a:noFill/>
          <a:ln/>
        </p:spPr>
        <p:txBody>
          <a:bodyPr wrap="square" lIns="381" tIns="381" rIns="381" bIns="381" rtlCol="0" anchor="t">
            <a:normAutofit/>
          </a:bodyPr>
          <a:lstStyle/>
          <a:p>
            <a:pPr marL="0" indent="0" algn="l">
              <a:lnSpc>
                <a:spcPct val="90000"/>
              </a:lnSpc>
              <a:buNone/>
            </a:pPr>
            <a:r>
              <a:rPr lang="en-US" sz="1000" dirty="0">
                <a:solidFill>
                  <a:schemeClr val="bg2">
                    <a:lumMod val="10000"/>
                  </a:schemeClr>
                </a:solidFill>
                <a:ea typeface="Aptos" pitchFamily="34" charset="-122"/>
                <a:cs typeface="Aptos" pitchFamily="34" charset="-120"/>
              </a:rPr>
              <a:t>Employees know how to use Canva and get help.</a:t>
            </a:r>
            <a:endParaRPr lang="en-US" sz="1000" dirty="0">
              <a:solidFill>
                <a:schemeClr val="bg2">
                  <a:lumMod val="10000"/>
                </a:schemeClr>
              </a:solidFill>
            </a:endParaRPr>
          </a:p>
        </p:txBody>
      </p:sp>
      <p:sp>
        <p:nvSpPr>
          <p:cNvPr id="32" name="Text 30"/>
          <p:cNvSpPr/>
          <p:nvPr/>
        </p:nvSpPr>
        <p:spPr>
          <a:xfrm>
            <a:off x="5120640" y="2596896"/>
            <a:ext cx="1920240" cy="859536"/>
          </a:xfrm>
          <a:prstGeom prst="rect">
            <a:avLst/>
          </a:prstGeom>
          <a:noFill/>
          <a:ln/>
        </p:spPr>
        <p:txBody>
          <a:bodyPr wrap="square" lIns="508" tIns="508" rIns="508" bIns="508" rtlCol="0" anchor="t">
            <a:normAutofit/>
          </a:bodyPr>
          <a:lstStyle/>
          <a:p>
            <a:pPr marL="0" indent="0">
              <a:lnSpc>
                <a:spcPct val="84000"/>
              </a:lnSpc>
              <a:buNone/>
            </a:pP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Deliver live and on-demand training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Create quick-start guides and FAQs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Clarify access, templates and governance</a:t>
            </a:r>
            <a:endParaRPr lang="en-US" sz="900" dirty="0"/>
          </a:p>
        </p:txBody>
      </p:sp>
      <p:sp>
        <p:nvSpPr>
          <p:cNvPr id="33" name="Shape 31"/>
          <p:cNvSpPr/>
          <p:nvPr/>
        </p:nvSpPr>
        <p:spPr>
          <a:xfrm>
            <a:off x="5120640" y="3538728"/>
            <a:ext cx="1920240" cy="0"/>
          </a:xfrm>
          <a:prstGeom prst="line">
            <a:avLst/>
          </a:prstGeom>
          <a:noFill/>
          <a:ln w="7620">
            <a:solidFill>
              <a:srgbClr val="D8DCE0"/>
            </a:solidFill>
            <a:prstDash val="solid"/>
          </a:ln>
        </p:spPr>
        <p:txBody>
          <a:bodyPr/>
          <a:lstStyle/>
          <a:p>
            <a:endParaRPr lang="en-US" sz="2800"/>
          </a:p>
        </p:txBody>
      </p:sp>
      <p:sp>
        <p:nvSpPr>
          <p:cNvPr id="34" name="Text 32"/>
          <p:cNvSpPr/>
          <p:nvPr/>
        </p:nvSpPr>
        <p:spPr>
          <a:xfrm>
            <a:off x="5120640" y="3584448"/>
            <a:ext cx="621792" cy="73144"/>
          </a:xfrm>
          <a:prstGeom prst="rect">
            <a:avLst/>
          </a:prstGeom>
          <a:noFill/>
          <a:ln/>
        </p:spPr>
        <p:txBody>
          <a:bodyPr wrap="square" lIns="381" tIns="381" rIns="381" bIns="381" rtlCol="0" anchor="ctr">
            <a:noAutofit/>
          </a:bodyPr>
          <a:lstStyle/>
          <a:p>
            <a:pPr marL="0" indent="0" algn="l">
              <a:lnSpc>
                <a:spcPct val="90000"/>
              </a:lnSpc>
              <a:buNone/>
            </a:pPr>
            <a:r>
              <a:rPr lang="en-US" sz="900" b="1" dirty="0">
                <a:ea typeface="Aptos" pitchFamily="34" charset="-122"/>
                <a:cs typeface="Aptos" pitchFamily="34" charset="-120"/>
              </a:rPr>
              <a:t>Success:</a:t>
            </a:r>
            <a:endParaRPr lang="en-US" sz="900" dirty="0"/>
          </a:p>
        </p:txBody>
      </p:sp>
      <p:sp>
        <p:nvSpPr>
          <p:cNvPr id="35" name="Text 33"/>
          <p:cNvSpPr/>
          <p:nvPr/>
        </p:nvSpPr>
        <p:spPr>
          <a:xfrm>
            <a:off x="5609183" y="3566161"/>
            <a:ext cx="1472184" cy="347472"/>
          </a:xfrm>
          <a:prstGeom prst="rect">
            <a:avLst/>
          </a:prstGeom>
          <a:noFill/>
          <a:ln/>
        </p:spPr>
        <p:txBody>
          <a:bodyPr wrap="square" lIns="381" tIns="381" rIns="381" bIns="381" rtlCol="0" anchor="t">
            <a:noAutofit/>
          </a:bodyPr>
          <a:lstStyle/>
          <a:p>
            <a:pPr marL="0" indent="0" algn="l">
              <a:lnSpc>
                <a:spcPct val="90000"/>
              </a:lnSpc>
              <a:buNone/>
            </a:pPr>
            <a:r>
              <a:rPr lang="en-US" sz="900" dirty="0">
                <a:solidFill>
                  <a:srgbClr val="1B2B32"/>
                </a:solidFill>
                <a:ea typeface="Aptos" pitchFamily="34" charset="-122"/>
                <a:cs typeface="Aptos" pitchFamily="34" charset="-120"/>
              </a:rPr>
              <a:t>Employees know how to access Canva, use templates and get support.</a:t>
            </a:r>
            <a:endParaRPr lang="en-US" sz="900" dirty="0"/>
          </a:p>
        </p:txBody>
      </p:sp>
      <p:sp>
        <p:nvSpPr>
          <p:cNvPr id="36" name="Shape 34"/>
          <p:cNvSpPr/>
          <p:nvPr/>
        </p:nvSpPr>
        <p:spPr>
          <a:xfrm>
            <a:off x="7278624" y="1636776"/>
            <a:ext cx="2176272" cy="2542032"/>
          </a:xfrm>
          <a:prstGeom prst="roundRect">
            <a:avLst>
              <a:gd name="adj" fmla="val 5042"/>
            </a:avLst>
          </a:prstGeom>
          <a:solidFill>
            <a:srgbClr val="FFFFFF"/>
          </a:solidFill>
          <a:ln w="6350">
            <a:solidFill>
              <a:srgbClr val="D8DCE0"/>
            </a:solidFill>
            <a:prstDash val="solid"/>
          </a:ln>
          <a:effectLst>
            <a:outerShdw blurRad="13970" dist="7620" dir="2700000" algn="bl" rotWithShape="0">
              <a:srgbClr val="000000">
                <a:alpha val="8000"/>
              </a:srgbClr>
            </a:outerShdw>
          </a:effectLst>
        </p:spPr>
        <p:txBody>
          <a:bodyPr/>
          <a:lstStyle/>
          <a:p>
            <a:endParaRPr lang="en-US"/>
          </a:p>
        </p:txBody>
      </p:sp>
      <p:sp>
        <p:nvSpPr>
          <p:cNvPr id="37" name="Shape 35"/>
          <p:cNvSpPr/>
          <p:nvPr/>
        </p:nvSpPr>
        <p:spPr>
          <a:xfrm>
            <a:off x="7388352" y="1746504"/>
            <a:ext cx="347472" cy="347472"/>
          </a:xfrm>
          <a:prstGeom prst="ellipse">
            <a:avLst/>
          </a:prstGeom>
          <a:solidFill>
            <a:schemeClr val="accent1"/>
          </a:solidFill>
          <a:ln w="12700">
            <a:solidFill>
              <a:srgbClr val="7A3FD1"/>
            </a:solidFill>
            <a:prstDash val="solid"/>
          </a:ln>
        </p:spPr>
        <p:txBody>
          <a:bodyPr/>
          <a:lstStyle/>
          <a:p>
            <a:endParaRPr lang="en-US"/>
          </a:p>
        </p:txBody>
      </p:sp>
      <p:sp>
        <p:nvSpPr>
          <p:cNvPr id="38" name="Text 36"/>
          <p:cNvSpPr/>
          <p:nvPr/>
        </p:nvSpPr>
        <p:spPr>
          <a:xfrm>
            <a:off x="7388352" y="1824228"/>
            <a:ext cx="347472" cy="182880"/>
          </a:xfrm>
          <a:prstGeom prst="rect">
            <a:avLst/>
          </a:prstGeom>
          <a:noFill/>
          <a:ln/>
        </p:spPr>
        <p:txBody>
          <a:bodyPr wrap="square" lIns="381" tIns="381" rIns="381" bIns="381" rtlCol="0" anchor="ctr">
            <a:normAutofit/>
          </a:bodyPr>
          <a:lstStyle/>
          <a:p>
            <a:pPr marL="0" indent="0" algn="ctr">
              <a:lnSpc>
                <a:spcPct val="90000"/>
              </a:lnSpc>
              <a:buNone/>
            </a:pPr>
            <a:r>
              <a:rPr lang="en-US" sz="1200" b="1" dirty="0">
                <a:solidFill>
                  <a:srgbClr val="FFFFFF"/>
                </a:solidFill>
                <a:ea typeface="Aptos" pitchFamily="34" charset="-122"/>
                <a:cs typeface="Aptos" pitchFamily="34" charset="-120"/>
              </a:rPr>
              <a:t>A</a:t>
            </a:r>
            <a:endParaRPr lang="en-US" sz="1200" dirty="0"/>
          </a:p>
        </p:txBody>
      </p:sp>
      <p:sp>
        <p:nvSpPr>
          <p:cNvPr id="39" name="Text 37"/>
          <p:cNvSpPr/>
          <p:nvPr/>
        </p:nvSpPr>
        <p:spPr>
          <a:xfrm>
            <a:off x="7790688" y="1719072"/>
            <a:ext cx="1536192" cy="182880"/>
          </a:xfrm>
          <a:prstGeom prst="rect">
            <a:avLst/>
          </a:prstGeom>
          <a:noFill/>
          <a:ln/>
        </p:spPr>
        <p:txBody>
          <a:bodyPr wrap="square" lIns="381" tIns="381" rIns="381" bIns="381" rtlCol="0" anchor="ctr">
            <a:noAutofit/>
          </a:bodyPr>
          <a:lstStyle/>
          <a:p>
            <a:pPr marL="0" indent="0" algn="l">
              <a:lnSpc>
                <a:spcPct val="90000"/>
              </a:lnSpc>
              <a:buNone/>
            </a:pPr>
            <a:r>
              <a:rPr lang="en-US" sz="1600" b="1" dirty="0">
                <a:solidFill>
                  <a:srgbClr val="0B6E63"/>
                </a:solidFill>
                <a:ea typeface="Aptos" pitchFamily="34" charset="-122"/>
                <a:cs typeface="Aptos" pitchFamily="34" charset="-120"/>
              </a:rPr>
              <a:t>Ability</a:t>
            </a:r>
            <a:endParaRPr lang="en-US" sz="1600" dirty="0"/>
          </a:p>
        </p:txBody>
      </p:sp>
      <p:sp>
        <p:nvSpPr>
          <p:cNvPr id="40" name="Text 38"/>
          <p:cNvSpPr/>
          <p:nvPr/>
        </p:nvSpPr>
        <p:spPr>
          <a:xfrm>
            <a:off x="7406640" y="2212848"/>
            <a:ext cx="1920240" cy="384048"/>
          </a:xfrm>
          <a:prstGeom prst="rect">
            <a:avLst/>
          </a:prstGeom>
          <a:noFill/>
          <a:ln/>
        </p:spPr>
        <p:txBody>
          <a:bodyPr wrap="square" lIns="381" tIns="381" rIns="381" bIns="381" rtlCol="0" anchor="t">
            <a:normAutofit/>
          </a:bodyPr>
          <a:lstStyle/>
          <a:p>
            <a:pPr marL="0" indent="0" algn="l">
              <a:lnSpc>
                <a:spcPct val="90000"/>
              </a:lnSpc>
              <a:buNone/>
            </a:pPr>
            <a:r>
              <a:rPr lang="en-US" sz="1000" dirty="0">
                <a:solidFill>
                  <a:schemeClr val="bg2">
                    <a:lumMod val="10000"/>
                  </a:schemeClr>
                </a:solidFill>
                <a:ea typeface="Aptos" pitchFamily="34" charset="-122"/>
                <a:cs typeface="Aptos" pitchFamily="34" charset="-120"/>
              </a:rPr>
              <a:t>Employees can use Canva successfully in daily work.</a:t>
            </a:r>
            <a:endParaRPr lang="en-US" sz="1000" dirty="0">
              <a:solidFill>
                <a:schemeClr val="bg2">
                  <a:lumMod val="10000"/>
                </a:schemeClr>
              </a:solidFill>
            </a:endParaRPr>
          </a:p>
        </p:txBody>
      </p:sp>
      <p:sp>
        <p:nvSpPr>
          <p:cNvPr id="41" name="Text 39"/>
          <p:cNvSpPr/>
          <p:nvPr/>
        </p:nvSpPr>
        <p:spPr>
          <a:xfrm>
            <a:off x="7406640" y="2596896"/>
            <a:ext cx="1920240" cy="859536"/>
          </a:xfrm>
          <a:prstGeom prst="rect">
            <a:avLst/>
          </a:prstGeom>
          <a:noFill/>
          <a:ln/>
        </p:spPr>
        <p:txBody>
          <a:bodyPr wrap="square" lIns="508" tIns="508" rIns="508" bIns="508" rtlCol="0" anchor="t">
            <a:normAutofit/>
          </a:bodyPr>
          <a:lstStyle/>
          <a:p>
            <a:pPr marL="0" indent="0">
              <a:lnSpc>
                <a:spcPct val="84000"/>
              </a:lnSpc>
              <a:buNone/>
            </a:pP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Launch workspace and approved templates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Host office hours and support channel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Track and fix issues quickly</a:t>
            </a:r>
            <a:endParaRPr lang="en-US" sz="900" dirty="0"/>
          </a:p>
        </p:txBody>
      </p:sp>
      <p:sp>
        <p:nvSpPr>
          <p:cNvPr id="42" name="Shape 40"/>
          <p:cNvSpPr/>
          <p:nvPr/>
        </p:nvSpPr>
        <p:spPr>
          <a:xfrm>
            <a:off x="7406640" y="3538728"/>
            <a:ext cx="1920240" cy="0"/>
          </a:xfrm>
          <a:prstGeom prst="line">
            <a:avLst/>
          </a:prstGeom>
          <a:noFill/>
          <a:ln w="7620">
            <a:solidFill>
              <a:srgbClr val="D8DCE0"/>
            </a:solidFill>
            <a:prstDash val="solid"/>
          </a:ln>
        </p:spPr>
        <p:txBody>
          <a:bodyPr/>
          <a:lstStyle/>
          <a:p>
            <a:endParaRPr lang="en-US" sz="2800"/>
          </a:p>
        </p:txBody>
      </p:sp>
      <p:sp>
        <p:nvSpPr>
          <p:cNvPr id="43" name="Text 41"/>
          <p:cNvSpPr/>
          <p:nvPr/>
        </p:nvSpPr>
        <p:spPr>
          <a:xfrm>
            <a:off x="7406640" y="3584448"/>
            <a:ext cx="621792" cy="73144"/>
          </a:xfrm>
          <a:prstGeom prst="rect">
            <a:avLst/>
          </a:prstGeom>
          <a:noFill/>
          <a:ln/>
        </p:spPr>
        <p:txBody>
          <a:bodyPr wrap="square" lIns="381" tIns="381" rIns="381" bIns="381" rtlCol="0" anchor="ctr">
            <a:noAutofit/>
          </a:bodyPr>
          <a:lstStyle/>
          <a:p>
            <a:pPr marL="0" indent="0" algn="l">
              <a:lnSpc>
                <a:spcPct val="90000"/>
              </a:lnSpc>
              <a:buNone/>
            </a:pPr>
            <a:r>
              <a:rPr lang="en-US" sz="900" b="1" dirty="0">
                <a:ea typeface="Aptos" pitchFamily="34" charset="-122"/>
                <a:cs typeface="Aptos" pitchFamily="34" charset="-120"/>
              </a:rPr>
              <a:t>Success:</a:t>
            </a:r>
            <a:endParaRPr lang="en-US" sz="900" dirty="0"/>
          </a:p>
        </p:txBody>
      </p:sp>
      <p:sp>
        <p:nvSpPr>
          <p:cNvPr id="44" name="Text 42"/>
          <p:cNvSpPr/>
          <p:nvPr/>
        </p:nvSpPr>
        <p:spPr>
          <a:xfrm>
            <a:off x="7895183" y="3566161"/>
            <a:ext cx="1472184" cy="347472"/>
          </a:xfrm>
          <a:prstGeom prst="rect">
            <a:avLst/>
          </a:prstGeom>
          <a:noFill/>
          <a:ln/>
        </p:spPr>
        <p:txBody>
          <a:bodyPr wrap="square" lIns="381" tIns="381" rIns="381" bIns="381" rtlCol="0" anchor="t">
            <a:noAutofit/>
          </a:bodyPr>
          <a:lstStyle/>
          <a:p>
            <a:pPr marL="0" indent="0" algn="l">
              <a:lnSpc>
                <a:spcPct val="90000"/>
              </a:lnSpc>
              <a:buNone/>
            </a:pPr>
            <a:r>
              <a:rPr lang="en-US" sz="900" dirty="0">
                <a:solidFill>
                  <a:srgbClr val="1B2B32"/>
                </a:solidFill>
                <a:ea typeface="Aptos" pitchFamily="34" charset="-122"/>
                <a:cs typeface="Aptos" pitchFamily="34" charset="-120"/>
              </a:rPr>
              <a:t>Employees actively create assets using approved Canva templates.</a:t>
            </a:r>
            <a:endParaRPr lang="en-US" sz="900" dirty="0"/>
          </a:p>
        </p:txBody>
      </p:sp>
      <p:sp>
        <p:nvSpPr>
          <p:cNvPr id="45" name="Shape 43"/>
          <p:cNvSpPr/>
          <p:nvPr/>
        </p:nvSpPr>
        <p:spPr>
          <a:xfrm>
            <a:off x="9564624" y="1636776"/>
            <a:ext cx="2176272" cy="2542032"/>
          </a:xfrm>
          <a:prstGeom prst="roundRect">
            <a:avLst>
              <a:gd name="adj" fmla="val 5042"/>
            </a:avLst>
          </a:prstGeom>
          <a:solidFill>
            <a:schemeClr val="accent3">
              <a:lumMod val="40000"/>
              <a:lumOff val="60000"/>
            </a:schemeClr>
          </a:solidFill>
          <a:ln w="6350">
            <a:solidFill>
              <a:srgbClr val="D8DCE0"/>
            </a:solidFill>
            <a:prstDash val="solid"/>
          </a:ln>
          <a:effectLst>
            <a:outerShdw blurRad="13970" dist="7620" dir="2700000" algn="bl" rotWithShape="0">
              <a:srgbClr val="000000">
                <a:alpha val="8000"/>
              </a:srgbClr>
            </a:outerShdw>
          </a:effectLst>
        </p:spPr>
        <p:txBody>
          <a:bodyPr/>
          <a:lstStyle/>
          <a:p>
            <a:endParaRPr lang="en-US"/>
          </a:p>
        </p:txBody>
      </p:sp>
      <p:sp>
        <p:nvSpPr>
          <p:cNvPr id="46" name="Shape 44"/>
          <p:cNvSpPr/>
          <p:nvPr/>
        </p:nvSpPr>
        <p:spPr>
          <a:xfrm>
            <a:off x="9674352" y="1746504"/>
            <a:ext cx="347472" cy="347472"/>
          </a:xfrm>
          <a:prstGeom prst="ellipse">
            <a:avLst/>
          </a:prstGeom>
          <a:solidFill>
            <a:schemeClr val="accent1"/>
          </a:solidFill>
          <a:ln w="12700">
            <a:solidFill>
              <a:srgbClr val="7A3FD1"/>
            </a:solidFill>
            <a:prstDash val="solid"/>
          </a:ln>
        </p:spPr>
        <p:txBody>
          <a:bodyPr/>
          <a:lstStyle/>
          <a:p>
            <a:endParaRPr lang="en-US"/>
          </a:p>
        </p:txBody>
      </p:sp>
      <p:sp>
        <p:nvSpPr>
          <p:cNvPr id="47" name="Text 45"/>
          <p:cNvSpPr/>
          <p:nvPr/>
        </p:nvSpPr>
        <p:spPr>
          <a:xfrm>
            <a:off x="9674352" y="1824228"/>
            <a:ext cx="347472" cy="182880"/>
          </a:xfrm>
          <a:prstGeom prst="rect">
            <a:avLst/>
          </a:prstGeom>
          <a:noFill/>
          <a:ln/>
        </p:spPr>
        <p:txBody>
          <a:bodyPr wrap="square" lIns="381" tIns="381" rIns="381" bIns="381" rtlCol="0" anchor="ctr">
            <a:normAutofit/>
          </a:bodyPr>
          <a:lstStyle/>
          <a:p>
            <a:pPr marL="0" indent="0" algn="ctr">
              <a:lnSpc>
                <a:spcPct val="90000"/>
              </a:lnSpc>
              <a:buNone/>
            </a:pPr>
            <a:r>
              <a:rPr lang="en-US" sz="1200" b="1" dirty="0">
                <a:solidFill>
                  <a:srgbClr val="FFFFFF"/>
                </a:solidFill>
                <a:ea typeface="Aptos" pitchFamily="34" charset="-122"/>
                <a:cs typeface="Aptos" pitchFamily="34" charset="-120"/>
              </a:rPr>
              <a:t>R</a:t>
            </a:r>
            <a:endParaRPr lang="en-US" sz="1200" dirty="0"/>
          </a:p>
        </p:txBody>
      </p:sp>
      <p:sp>
        <p:nvSpPr>
          <p:cNvPr id="48" name="Text 46"/>
          <p:cNvSpPr/>
          <p:nvPr/>
        </p:nvSpPr>
        <p:spPr>
          <a:xfrm>
            <a:off x="10076688" y="1719072"/>
            <a:ext cx="1536192" cy="182880"/>
          </a:xfrm>
          <a:prstGeom prst="rect">
            <a:avLst/>
          </a:prstGeom>
          <a:noFill/>
          <a:ln/>
        </p:spPr>
        <p:txBody>
          <a:bodyPr wrap="square" lIns="381" tIns="381" rIns="381" bIns="381" rtlCol="0" anchor="ctr">
            <a:noAutofit/>
          </a:bodyPr>
          <a:lstStyle/>
          <a:p>
            <a:pPr marL="0" indent="0" algn="l">
              <a:lnSpc>
                <a:spcPct val="90000"/>
              </a:lnSpc>
              <a:buNone/>
            </a:pPr>
            <a:r>
              <a:rPr lang="en-US" sz="1600" b="1" dirty="0">
                <a:solidFill>
                  <a:srgbClr val="0B6E63"/>
                </a:solidFill>
                <a:ea typeface="Aptos" pitchFamily="34" charset="-122"/>
                <a:cs typeface="Aptos" pitchFamily="34" charset="-120"/>
              </a:rPr>
              <a:t>Reinforcement</a:t>
            </a:r>
            <a:endParaRPr lang="en-US" sz="1600" dirty="0"/>
          </a:p>
        </p:txBody>
      </p:sp>
      <p:sp>
        <p:nvSpPr>
          <p:cNvPr id="49" name="Text 47"/>
          <p:cNvSpPr/>
          <p:nvPr/>
        </p:nvSpPr>
        <p:spPr>
          <a:xfrm>
            <a:off x="9728986" y="2190763"/>
            <a:ext cx="1920240" cy="384048"/>
          </a:xfrm>
          <a:prstGeom prst="rect">
            <a:avLst/>
          </a:prstGeom>
          <a:noFill/>
          <a:ln/>
        </p:spPr>
        <p:txBody>
          <a:bodyPr wrap="square" lIns="381" tIns="381" rIns="381" bIns="381" rtlCol="0" anchor="t">
            <a:normAutofit/>
          </a:bodyPr>
          <a:lstStyle/>
          <a:p>
            <a:pPr marL="0" indent="0" algn="l">
              <a:lnSpc>
                <a:spcPct val="90000"/>
              </a:lnSpc>
              <a:buNone/>
            </a:pPr>
            <a:r>
              <a:rPr lang="en-US" sz="1000" dirty="0">
                <a:solidFill>
                  <a:schemeClr val="bg2">
                    <a:lumMod val="10000"/>
                  </a:schemeClr>
                </a:solidFill>
                <a:ea typeface="Aptos" pitchFamily="34" charset="-122"/>
                <a:cs typeface="Aptos" pitchFamily="34" charset="-120"/>
              </a:rPr>
              <a:t>Canva becomes the standard self-service way of working.</a:t>
            </a:r>
            <a:endParaRPr lang="en-US" sz="1000" dirty="0">
              <a:solidFill>
                <a:schemeClr val="bg2">
                  <a:lumMod val="10000"/>
                </a:schemeClr>
              </a:solidFill>
            </a:endParaRPr>
          </a:p>
        </p:txBody>
      </p:sp>
      <p:sp>
        <p:nvSpPr>
          <p:cNvPr id="50" name="Text 48"/>
          <p:cNvSpPr/>
          <p:nvPr/>
        </p:nvSpPr>
        <p:spPr>
          <a:xfrm>
            <a:off x="9717887" y="2598361"/>
            <a:ext cx="1920240" cy="859536"/>
          </a:xfrm>
          <a:prstGeom prst="rect">
            <a:avLst/>
          </a:prstGeom>
          <a:noFill/>
          <a:ln/>
        </p:spPr>
        <p:txBody>
          <a:bodyPr wrap="square" lIns="508" tIns="508" rIns="508" bIns="508" rtlCol="0" anchor="t">
            <a:normAutofit/>
          </a:bodyPr>
          <a:lstStyle/>
          <a:p>
            <a:pPr marL="0" indent="0">
              <a:lnSpc>
                <a:spcPct val="84000"/>
              </a:lnSpc>
              <a:buNone/>
            </a:pP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Measure usage, downloads and feedback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Recognize champions and share wins
</a:t>
            </a:r>
            <a:r>
              <a:rPr lang="en-US" sz="900" b="1" dirty="0">
                <a:solidFill>
                  <a:srgbClr val="0B6E63"/>
                </a:solidFill>
                <a:ea typeface="Aptos" pitchFamily="34" charset="-122"/>
                <a:cs typeface="Aptos" pitchFamily="34" charset="-120"/>
              </a:rPr>
              <a:t>• </a:t>
            </a:r>
            <a:r>
              <a:rPr lang="en-US" sz="900" dirty="0">
                <a:solidFill>
                  <a:srgbClr val="1B2B32"/>
                </a:solidFill>
                <a:ea typeface="Aptos" pitchFamily="34" charset="-122"/>
                <a:cs typeface="Aptos" pitchFamily="34" charset="-120"/>
              </a:rPr>
              <a:t>Run lessons learned and refresh guidance</a:t>
            </a:r>
            <a:endParaRPr lang="en-US" sz="900" dirty="0"/>
          </a:p>
        </p:txBody>
      </p:sp>
      <p:sp>
        <p:nvSpPr>
          <p:cNvPr id="51" name="Shape 49"/>
          <p:cNvSpPr/>
          <p:nvPr/>
        </p:nvSpPr>
        <p:spPr>
          <a:xfrm>
            <a:off x="9692640" y="3538728"/>
            <a:ext cx="1920240" cy="0"/>
          </a:xfrm>
          <a:prstGeom prst="line">
            <a:avLst/>
          </a:prstGeom>
          <a:noFill/>
          <a:ln w="7620">
            <a:solidFill>
              <a:srgbClr val="D8DCE0"/>
            </a:solidFill>
            <a:prstDash val="solid"/>
          </a:ln>
        </p:spPr>
        <p:txBody>
          <a:bodyPr/>
          <a:lstStyle/>
          <a:p>
            <a:endParaRPr lang="en-US" sz="2800"/>
          </a:p>
        </p:txBody>
      </p:sp>
      <p:sp>
        <p:nvSpPr>
          <p:cNvPr id="52" name="Text 50"/>
          <p:cNvSpPr/>
          <p:nvPr/>
        </p:nvSpPr>
        <p:spPr>
          <a:xfrm>
            <a:off x="9692640" y="3584448"/>
            <a:ext cx="621792" cy="73144"/>
          </a:xfrm>
          <a:prstGeom prst="rect">
            <a:avLst/>
          </a:prstGeom>
          <a:noFill/>
          <a:ln/>
        </p:spPr>
        <p:txBody>
          <a:bodyPr wrap="square" lIns="381" tIns="381" rIns="381" bIns="381" rtlCol="0" anchor="ctr">
            <a:noAutofit/>
          </a:bodyPr>
          <a:lstStyle/>
          <a:p>
            <a:pPr marL="0" indent="0" algn="l">
              <a:lnSpc>
                <a:spcPct val="90000"/>
              </a:lnSpc>
              <a:buNone/>
            </a:pPr>
            <a:r>
              <a:rPr lang="en-US" sz="900" b="1" dirty="0">
                <a:ea typeface="Aptos" pitchFamily="34" charset="-122"/>
                <a:cs typeface="Aptos" pitchFamily="34" charset="-120"/>
              </a:rPr>
              <a:t>Success:</a:t>
            </a:r>
            <a:endParaRPr lang="en-US" sz="900" dirty="0"/>
          </a:p>
        </p:txBody>
      </p:sp>
      <p:sp>
        <p:nvSpPr>
          <p:cNvPr id="53" name="Text 51"/>
          <p:cNvSpPr/>
          <p:nvPr/>
        </p:nvSpPr>
        <p:spPr>
          <a:xfrm>
            <a:off x="10181183" y="3566161"/>
            <a:ext cx="1472184" cy="347472"/>
          </a:xfrm>
          <a:prstGeom prst="rect">
            <a:avLst/>
          </a:prstGeom>
          <a:noFill/>
          <a:ln/>
        </p:spPr>
        <p:txBody>
          <a:bodyPr wrap="square" lIns="381" tIns="381" rIns="381" bIns="381" rtlCol="0" anchor="t">
            <a:normAutofit lnSpcReduction="10000"/>
          </a:bodyPr>
          <a:lstStyle/>
          <a:p>
            <a:pPr marL="0" indent="0" algn="l">
              <a:lnSpc>
                <a:spcPct val="90000"/>
              </a:lnSpc>
              <a:buNone/>
            </a:pPr>
            <a:r>
              <a:rPr lang="en-US" sz="900" dirty="0">
                <a:solidFill>
                  <a:srgbClr val="1B2B32"/>
                </a:solidFill>
                <a:ea typeface="Aptos" pitchFamily="34" charset="-122"/>
                <a:cs typeface="Aptos" pitchFamily="34" charset="-120"/>
              </a:rPr>
              <a:t>Adoption is sustained through governance, metrics and feedback.</a:t>
            </a:r>
            <a:endParaRPr lang="en-US" sz="900" dirty="0"/>
          </a:p>
        </p:txBody>
      </p:sp>
      <p:sp>
        <p:nvSpPr>
          <p:cNvPr id="54" name="Shape 52"/>
          <p:cNvSpPr/>
          <p:nvPr/>
        </p:nvSpPr>
        <p:spPr>
          <a:xfrm>
            <a:off x="420624" y="4443984"/>
            <a:ext cx="5532120" cy="1691640"/>
          </a:xfrm>
          <a:prstGeom prst="roundRect">
            <a:avLst>
              <a:gd name="adj" fmla="val 8000"/>
            </a:avLst>
          </a:prstGeom>
          <a:solidFill>
            <a:schemeClr val="accent1">
              <a:lumMod val="40000"/>
              <a:lumOff val="60000"/>
            </a:schemeClr>
          </a:solidFill>
          <a:ln w="8890">
            <a:solidFill>
              <a:srgbClr val="CFB9E9"/>
            </a:solidFill>
            <a:prstDash val="solid"/>
          </a:ln>
        </p:spPr>
        <p:txBody>
          <a:bodyPr/>
          <a:lstStyle/>
          <a:p>
            <a:endParaRPr lang="en-US"/>
          </a:p>
        </p:txBody>
      </p:sp>
      <p:sp>
        <p:nvSpPr>
          <p:cNvPr id="55" name="Shape 53"/>
          <p:cNvSpPr/>
          <p:nvPr/>
        </p:nvSpPr>
        <p:spPr>
          <a:xfrm>
            <a:off x="6236208" y="4443984"/>
            <a:ext cx="5541264" cy="1691640"/>
          </a:xfrm>
          <a:prstGeom prst="roundRect">
            <a:avLst>
              <a:gd name="adj" fmla="val 8000"/>
            </a:avLst>
          </a:prstGeom>
          <a:solidFill>
            <a:schemeClr val="accent1">
              <a:lumMod val="40000"/>
              <a:lumOff val="60000"/>
            </a:schemeClr>
          </a:solidFill>
          <a:ln w="8890">
            <a:solidFill>
              <a:srgbClr val="B7DCD8"/>
            </a:solidFill>
            <a:prstDash val="solid"/>
          </a:ln>
        </p:spPr>
        <p:txBody>
          <a:bodyPr/>
          <a:lstStyle/>
          <a:p>
            <a:endParaRPr lang="en-US" sz="4000"/>
          </a:p>
        </p:txBody>
      </p:sp>
      <p:sp>
        <p:nvSpPr>
          <p:cNvPr id="56" name="Text 54"/>
          <p:cNvSpPr/>
          <p:nvPr/>
        </p:nvSpPr>
        <p:spPr>
          <a:xfrm>
            <a:off x="621792" y="4590288"/>
            <a:ext cx="2286000" cy="201168"/>
          </a:xfrm>
          <a:prstGeom prst="rect">
            <a:avLst/>
          </a:prstGeom>
          <a:noFill/>
          <a:ln/>
        </p:spPr>
        <p:txBody>
          <a:bodyPr wrap="square" lIns="381" tIns="381" rIns="381" bIns="381" rtlCol="0" anchor="ctr">
            <a:normAutofit fontScale="92500" lnSpcReduction="20000"/>
          </a:bodyPr>
          <a:lstStyle/>
          <a:p>
            <a:pPr marL="0" indent="0" algn="l">
              <a:lnSpc>
                <a:spcPct val="90000"/>
              </a:lnSpc>
              <a:buNone/>
            </a:pPr>
            <a:r>
              <a:rPr lang="en-US" b="1" dirty="0">
                <a:solidFill>
                  <a:srgbClr val="0B6E63"/>
                </a:solidFill>
                <a:ea typeface="Aptos" pitchFamily="34" charset="-122"/>
                <a:cs typeface="Aptos" pitchFamily="34" charset="-120"/>
              </a:rPr>
              <a:t>Key deliverables</a:t>
            </a:r>
            <a:endParaRPr lang="en-US" dirty="0">
              <a:solidFill>
                <a:srgbClr val="0B6E63"/>
              </a:solidFill>
            </a:endParaRPr>
          </a:p>
        </p:txBody>
      </p:sp>
      <p:sp>
        <p:nvSpPr>
          <p:cNvPr id="57" name="Text 55"/>
          <p:cNvSpPr/>
          <p:nvPr/>
        </p:nvSpPr>
        <p:spPr>
          <a:xfrm>
            <a:off x="630936" y="4855464"/>
            <a:ext cx="5166360" cy="786384"/>
          </a:xfrm>
          <a:prstGeom prst="rect">
            <a:avLst/>
          </a:prstGeom>
          <a:noFill/>
          <a:ln/>
        </p:spPr>
        <p:txBody>
          <a:bodyPr wrap="square" lIns="508" tIns="508" rIns="508" bIns="508" rtlCol="0" anchor="t">
            <a:noAutofit/>
          </a:bodyPr>
          <a:lstStyle/>
          <a:p>
            <a:pPr marL="0" indent="0">
              <a:lnSpc>
                <a:spcPct val="84000"/>
              </a:lnSpc>
              <a:buNone/>
            </a:pP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Change management plan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Communications plan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Stakeholder engagement plan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Training and support plan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Sponsorship plan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Adoption dashboard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Lessons learned review</a:t>
            </a:r>
            <a:endParaRPr lang="en-US" sz="1200" dirty="0"/>
          </a:p>
        </p:txBody>
      </p:sp>
      <p:sp>
        <p:nvSpPr>
          <p:cNvPr id="58" name="Text 56"/>
          <p:cNvSpPr/>
          <p:nvPr/>
        </p:nvSpPr>
        <p:spPr>
          <a:xfrm>
            <a:off x="6437376" y="4590288"/>
            <a:ext cx="2286000" cy="201168"/>
          </a:xfrm>
          <a:prstGeom prst="rect">
            <a:avLst/>
          </a:prstGeom>
          <a:noFill/>
          <a:ln/>
        </p:spPr>
        <p:txBody>
          <a:bodyPr wrap="square" lIns="381" tIns="381" rIns="381" bIns="381" rtlCol="0" anchor="ctr">
            <a:normAutofit fontScale="92500" lnSpcReduction="20000"/>
          </a:bodyPr>
          <a:lstStyle/>
          <a:p>
            <a:pPr marL="0" indent="0" algn="l">
              <a:lnSpc>
                <a:spcPct val="90000"/>
              </a:lnSpc>
              <a:buNone/>
            </a:pPr>
            <a:r>
              <a:rPr lang="en-US" b="1" dirty="0">
                <a:solidFill>
                  <a:srgbClr val="0B6E63"/>
                </a:solidFill>
                <a:ea typeface="Aptos" pitchFamily="34" charset="-122"/>
                <a:cs typeface="Aptos" pitchFamily="34" charset="-120"/>
              </a:rPr>
              <a:t>Success measures</a:t>
            </a:r>
            <a:endParaRPr lang="en-US" dirty="0">
              <a:solidFill>
                <a:srgbClr val="0B6E63"/>
              </a:solidFill>
            </a:endParaRPr>
          </a:p>
        </p:txBody>
      </p:sp>
      <p:sp>
        <p:nvSpPr>
          <p:cNvPr id="59" name="Text 57"/>
          <p:cNvSpPr/>
          <p:nvPr/>
        </p:nvSpPr>
        <p:spPr>
          <a:xfrm>
            <a:off x="6446520" y="4855464"/>
            <a:ext cx="5074920" cy="786384"/>
          </a:xfrm>
          <a:prstGeom prst="rect">
            <a:avLst/>
          </a:prstGeom>
          <a:noFill/>
          <a:ln/>
        </p:spPr>
        <p:txBody>
          <a:bodyPr wrap="square" lIns="508" tIns="508" rIns="508" bIns="508" rtlCol="0" anchor="t">
            <a:noAutofit/>
          </a:bodyPr>
          <a:lstStyle/>
          <a:p>
            <a:pPr marL="0" indent="0">
              <a:lnSpc>
                <a:spcPct val="84000"/>
              </a:lnSpc>
              <a:buNone/>
            </a:pP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Active Canva users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Template adoption and downloads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Reduction in creative requests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Training engagement and support trends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Employee satisfaction and feedback
</a:t>
            </a:r>
            <a:r>
              <a:rPr lang="en-US" sz="1200" b="1" dirty="0">
                <a:solidFill>
                  <a:srgbClr val="0B6E63"/>
                </a:solidFill>
                <a:ea typeface="Aptos" pitchFamily="34" charset="-122"/>
                <a:cs typeface="Aptos" pitchFamily="34" charset="-120"/>
              </a:rPr>
              <a:t>• </a:t>
            </a:r>
            <a:r>
              <a:rPr lang="en-US" sz="1200" dirty="0">
                <a:solidFill>
                  <a:srgbClr val="1B2B32"/>
                </a:solidFill>
                <a:ea typeface="Aptos" pitchFamily="34" charset="-122"/>
                <a:cs typeface="Aptos" pitchFamily="34" charset="-120"/>
              </a:rPr>
              <a:t>Improved brand consistency through approved templates</a:t>
            </a:r>
            <a:endParaRPr lang="en-US" sz="1200" dirty="0"/>
          </a:p>
        </p:txBody>
      </p:sp>
      <p:sp>
        <p:nvSpPr>
          <p:cNvPr id="63" name="Title 1">
            <a:extLst>
              <a:ext uri="{FF2B5EF4-FFF2-40B4-BE49-F238E27FC236}">
                <a16:creationId xmlns:a16="http://schemas.microsoft.com/office/drawing/2014/main" id="{E059079C-4AD6-8C16-4922-14A89A3D20A6}"/>
              </a:ext>
            </a:extLst>
          </p:cNvPr>
          <p:cNvSpPr txBox="1">
            <a:spLocks/>
          </p:cNvSpPr>
          <p:nvPr/>
        </p:nvSpPr>
        <p:spPr>
          <a:xfrm>
            <a:off x="550864" y="368828"/>
            <a:ext cx="10692574" cy="251885"/>
          </a:xfrm>
          <a:prstGeom prst="rect">
            <a:avLst/>
          </a:prstGeom>
        </p:spPr>
        <p:txBody>
          <a:bodyPr/>
          <a:lstStyle>
            <a:lvl1pPr algn="l" defTabSz="914400" rtl="0" eaLnBrk="1" latinLnBrk="0" hangingPunct="1">
              <a:lnSpc>
                <a:spcPct val="90000"/>
              </a:lnSpc>
              <a:spcBef>
                <a:spcPct val="0"/>
              </a:spcBef>
              <a:buNone/>
              <a:defRPr sz="2400" kern="1200">
                <a:solidFill>
                  <a:schemeClr val="accent2"/>
                </a:solidFill>
                <a:latin typeface="+mj-lt"/>
                <a:ea typeface="+mj-ea"/>
                <a:cs typeface="+mj-cs"/>
              </a:defRPr>
            </a:lvl1pPr>
          </a:lstStyle>
          <a:p>
            <a:pPr fontAlgn="t"/>
            <a:r>
              <a:rPr lang="en-US" sz="3600" spc="-50" dirty="0">
                <a:solidFill>
                  <a:srgbClr val="C00000"/>
                </a:solidFill>
              </a:rPr>
              <a:t>Change management – plan on a page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DF5F-FB72-F318-5BD6-962F04F7AB0A}"/>
            </a:ext>
          </a:extLst>
        </p:cNvPr>
        <p:cNvGrpSpPr/>
        <p:nvPr/>
      </p:nvGrpSpPr>
      <p:grpSpPr>
        <a:xfrm>
          <a:off x="0" y="0"/>
          <a:ext cx="0" cy="0"/>
          <a:chOff x="0" y="0"/>
          <a:chExt cx="0" cy="0"/>
        </a:xfrm>
      </p:grpSpPr>
      <p:pic>
        <p:nvPicPr>
          <p:cNvPr id="67" name="Picture 66">
            <a:extLst>
              <a:ext uri="{FF2B5EF4-FFF2-40B4-BE49-F238E27FC236}">
                <a16:creationId xmlns:a16="http://schemas.microsoft.com/office/drawing/2014/main" id="{6C123AB2-02A2-F867-49C0-A0846E7D3FA4}"/>
              </a:ext>
            </a:extLst>
          </p:cNvPr>
          <p:cNvPicPr>
            <a:picLocks noChangeAspect="1"/>
          </p:cNvPicPr>
          <p:nvPr/>
        </p:nvPicPr>
        <p:blipFill>
          <a:blip r:embed="rId3"/>
          <a:stretch>
            <a:fillRect/>
          </a:stretch>
        </p:blipFill>
        <p:spPr>
          <a:xfrm>
            <a:off x="3587535" y="4712081"/>
            <a:ext cx="3103843" cy="1416263"/>
          </a:xfrm>
          <a:prstGeom prst="rect">
            <a:avLst/>
          </a:prstGeom>
          <a:ln>
            <a:solidFill>
              <a:schemeClr val="bg1">
                <a:lumMod val="85000"/>
              </a:schemeClr>
            </a:solidFill>
          </a:ln>
        </p:spPr>
      </p:pic>
      <p:pic>
        <p:nvPicPr>
          <p:cNvPr id="56" name="Picture 55">
            <a:extLst>
              <a:ext uri="{FF2B5EF4-FFF2-40B4-BE49-F238E27FC236}">
                <a16:creationId xmlns:a16="http://schemas.microsoft.com/office/drawing/2014/main" id="{6FC90B51-69B4-B1EA-2124-3824332BD778}"/>
              </a:ext>
            </a:extLst>
          </p:cNvPr>
          <p:cNvPicPr>
            <a:picLocks noChangeAspect="1"/>
          </p:cNvPicPr>
          <p:nvPr/>
        </p:nvPicPr>
        <p:blipFill>
          <a:blip r:embed="rId4"/>
          <a:stretch>
            <a:fillRect/>
          </a:stretch>
        </p:blipFill>
        <p:spPr>
          <a:xfrm>
            <a:off x="3686698" y="2740722"/>
            <a:ext cx="2913725" cy="1528935"/>
          </a:xfrm>
          <a:prstGeom prst="rect">
            <a:avLst/>
          </a:prstGeom>
          <a:ln>
            <a:solidFill>
              <a:schemeClr val="bg1">
                <a:lumMod val="75000"/>
              </a:schemeClr>
            </a:solidFill>
          </a:ln>
        </p:spPr>
      </p:pic>
      <p:pic>
        <p:nvPicPr>
          <p:cNvPr id="52" name="Picture 51">
            <a:extLst>
              <a:ext uri="{FF2B5EF4-FFF2-40B4-BE49-F238E27FC236}">
                <a16:creationId xmlns:a16="http://schemas.microsoft.com/office/drawing/2014/main" id="{988967EB-E994-F1A5-9AB4-4F647F8DF6F5}"/>
              </a:ext>
            </a:extLst>
          </p:cNvPr>
          <p:cNvPicPr>
            <a:picLocks noChangeAspect="1"/>
          </p:cNvPicPr>
          <p:nvPr/>
        </p:nvPicPr>
        <p:blipFill>
          <a:blip r:embed="rId5"/>
          <a:stretch>
            <a:fillRect/>
          </a:stretch>
        </p:blipFill>
        <p:spPr>
          <a:xfrm>
            <a:off x="599144" y="2820375"/>
            <a:ext cx="2855778" cy="1484999"/>
          </a:xfrm>
          <a:prstGeom prst="rect">
            <a:avLst/>
          </a:prstGeom>
        </p:spPr>
      </p:pic>
      <p:sp>
        <p:nvSpPr>
          <p:cNvPr id="33" name="TextBox 32">
            <a:extLst>
              <a:ext uri="{FF2B5EF4-FFF2-40B4-BE49-F238E27FC236}">
                <a16:creationId xmlns:a16="http://schemas.microsoft.com/office/drawing/2014/main" id="{FBDBD543-6A27-0927-AA85-F869649DF892}"/>
              </a:ext>
            </a:extLst>
          </p:cNvPr>
          <p:cNvSpPr txBox="1"/>
          <p:nvPr/>
        </p:nvSpPr>
        <p:spPr>
          <a:xfrm>
            <a:off x="6832798" y="4025413"/>
            <a:ext cx="5113002" cy="2109405"/>
          </a:xfrm>
          <a:prstGeom prst="rect">
            <a:avLst/>
          </a:prstGeom>
          <a:solidFill>
            <a:schemeClr val="accent2">
              <a:lumMod val="20000"/>
              <a:lumOff val="80000"/>
            </a:schemeClr>
          </a:solidFill>
          <a:ln>
            <a:no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32" name="TextBox 31">
            <a:extLst>
              <a:ext uri="{FF2B5EF4-FFF2-40B4-BE49-F238E27FC236}">
                <a16:creationId xmlns:a16="http://schemas.microsoft.com/office/drawing/2014/main" id="{25A84E88-4F24-1376-3E7C-EB0F1A8C6CE5}"/>
              </a:ext>
            </a:extLst>
          </p:cNvPr>
          <p:cNvSpPr txBox="1"/>
          <p:nvPr/>
        </p:nvSpPr>
        <p:spPr>
          <a:xfrm>
            <a:off x="659671" y="1597182"/>
            <a:ext cx="2850749" cy="604112"/>
          </a:xfrm>
          <a:prstGeom prst="rect">
            <a:avLst/>
          </a:prstGeom>
          <a:solidFill>
            <a:schemeClr val="bg1"/>
          </a:solid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41" name="Rectangle 40">
            <a:extLst>
              <a:ext uri="{FF2B5EF4-FFF2-40B4-BE49-F238E27FC236}">
                <a16:creationId xmlns:a16="http://schemas.microsoft.com/office/drawing/2014/main" id="{A120D375-43EC-E2C2-E2C8-2BD308F43C79}"/>
              </a:ext>
            </a:extLst>
          </p:cNvPr>
          <p:cNvSpPr/>
          <p:nvPr/>
        </p:nvSpPr>
        <p:spPr>
          <a:xfrm>
            <a:off x="570436" y="4392642"/>
            <a:ext cx="6120942" cy="259765"/>
          </a:xfrm>
          <a:prstGeom prst="rect">
            <a:avLst/>
          </a:prstGeom>
          <a:solidFill>
            <a:schemeClr val="accent2"/>
          </a:solidFill>
          <a:ln>
            <a:no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Brand perceptions</a:t>
            </a:r>
            <a:endParaRPr kumimoji="0" lang="en-BE" sz="1100" b="0" i="0" u="none" strike="noStrike" kern="1200" cap="none" spc="0" normalizeH="0" baseline="0" noProof="0">
              <a:ln>
                <a:noFill/>
              </a:ln>
              <a:solidFill>
                <a:prstClr val="white"/>
              </a:solidFill>
              <a:effectLst/>
              <a:uLnTx/>
              <a:uFillTx/>
              <a:latin typeface="Avenir Next LT Pro Demi"/>
              <a:ea typeface="+mn-ea"/>
              <a:cs typeface="+mn-cs"/>
            </a:endParaRPr>
          </a:p>
        </p:txBody>
      </p:sp>
      <p:sp>
        <p:nvSpPr>
          <p:cNvPr id="23" name="Rectangle 22">
            <a:extLst>
              <a:ext uri="{FF2B5EF4-FFF2-40B4-BE49-F238E27FC236}">
                <a16:creationId xmlns:a16="http://schemas.microsoft.com/office/drawing/2014/main" id="{98412BA7-B64F-E510-B23C-16008CC55EA3}"/>
              </a:ext>
            </a:extLst>
          </p:cNvPr>
          <p:cNvSpPr/>
          <p:nvPr/>
        </p:nvSpPr>
        <p:spPr>
          <a:xfrm>
            <a:off x="529600" y="1263861"/>
            <a:ext cx="6034032" cy="278585"/>
          </a:xfrm>
          <a:prstGeom prst="rect">
            <a:avLst/>
          </a:prstGeom>
          <a:solidFill>
            <a:schemeClr val="accent2"/>
          </a:solidFill>
          <a:ln>
            <a:no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Brand strength</a:t>
            </a:r>
            <a:endParaRPr kumimoji="0" lang="en-BE" sz="1100" b="0" i="0" u="none" strike="noStrike" kern="1200" cap="none" spc="0" normalizeH="0" baseline="0" noProof="0" err="1">
              <a:ln>
                <a:noFill/>
              </a:ln>
              <a:solidFill>
                <a:prstClr val="white"/>
              </a:solidFill>
              <a:effectLst/>
              <a:uLnTx/>
              <a:uFillTx/>
              <a:latin typeface="Avenir Next LT Pro Demi"/>
              <a:ea typeface="+mn-ea"/>
              <a:cs typeface="+mn-cs"/>
            </a:endParaRPr>
          </a:p>
        </p:txBody>
      </p:sp>
      <p:sp>
        <p:nvSpPr>
          <p:cNvPr id="24" name="Rectangle 23">
            <a:extLst>
              <a:ext uri="{FF2B5EF4-FFF2-40B4-BE49-F238E27FC236}">
                <a16:creationId xmlns:a16="http://schemas.microsoft.com/office/drawing/2014/main" id="{C7440AAD-B74D-1799-7511-F287504D69C8}"/>
              </a:ext>
            </a:extLst>
          </p:cNvPr>
          <p:cNvSpPr/>
          <p:nvPr/>
        </p:nvSpPr>
        <p:spPr>
          <a:xfrm>
            <a:off x="6846767" y="1289662"/>
            <a:ext cx="1979673" cy="225088"/>
          </a:xfrm>
          <a:prstGeom prst="rect">
            <a:avLst/>
          </a:prstGeom>
          <a:solidFill>
            <a:schemeClr val="accent2"/>
          </a:solidFill>
          <a:ln>
            <a:no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Brand awareness</a:t>
            </a:r>
            <a:endParaRPr kumimoji="0" lang="en-BE" sz="1100" b="0" i="0" u="none" strike="noStrike" kern="1200" cap="none" spc="0" normalizeH="0" baseline="0" noProof="0" err="1">
              <a:ln>
                <a:noFill/>
              </a:ln>
              <a:solidFill>
                <a:prstClr val="white"/>
              </a:solidFill>
              <a:effectLst/>
              <a:uLnTx/>
              <a:uFillTx/>
              <a:latin typeface="Avenir Next LT Pro Demi"/>
              <a:ea typeface="+mn-ea"/>
              <a:cs typeface="+mn-cs"/>
            </a:endParaRPr>
          </a:p>
        </p:txBody>
      </p:sp>
      <p:sp>
        <p:nvSpPr>
          <p:cNvPr id="36" name="Rectangle 35">
            <a:extLst>
              <a:ext uri="{FF2B5EF4-FFF2-40B4-BE49-F238E27FC236}">
                <a16:creationId xmlns:a16="http://schemas.microsoft.com/office/drawing/2014/main" id="{D5A68933-A9C4-87CD-1097-166567B54C5F}"/>
              </a:ext>
            </a:extLst>
          </p:cNvPr>
          <p:cNvSpPr/>
          <p:nvPr/>
        </p:nvSpPr>
        <p:spPr>
          <a:xfrm>
            <a:off x="533076" y="2381305"/>
            <a:ext cx="6058518" cy="288974"/>
          </a:xfrm>
          <a:prstGeom prst="rect">
            <a:avLst/>
          </a:prstGeom>
          <a:solidFill>
            <a:schemeClr val="accent2"/>
          </a:solidFill>
          <a:ln>
            <a:no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Brand exposure</a:t>
            </a:r>
            <a:endParaRPr kumimoji="0" lang="en-BE" sz="1100" b="0" i="0" u="none" strike="noStrike" kern="1200" cap="none" spc="0" normalizeH="0" baseline="0" noProof="0" err="1">
              <a:ln>
                <a:noFill/>
              </a:ln>
              <a:solidFill>
                <a:prstClr val="white"/>
              </a:solidFill>
              <a:effectLst/>
              <a:uLnTx/>
              <a:uFillTx/>
              <a:latin typeface="Avenir Next LT Pro Demi"/>
              <a:ea typeface="+mn-ea"/>
              <a:cs typeface="+mn-cs"/>
            </a:endParaRPr>
          </a:p>
        </p:txBody>
      </p:sp>
      <p:sp>
        <p:nvSpPr>
          <p:cNvPr id="2" name="Rectangle 1">
            <a:extLst>
              <a:ext uri="{FF2B5EF4-FFF2-40B4-BE49-F238E27FC236}">
                <a16:creationId xmlns:a16="http://schemas.microsoft.com/office/drawing/2014/main" id="{BF43E3CA-4CFF-D68E-D9CC-D49ABCDFCCD9}"/>
              </a:ext>
            </a:extLst>
          </p:cNvPr>
          <p:cNvSpPr/>
          <p:nvPr/>
        </p:nvSpPr>
        <p:spPr>
          <a:xfrm>
            <a:off x="524986" y="930351"/>
            <a:ext cx="11414166" cy="249844"/>
          </a:xfrm>
          <a:prstGeom prst="rect">
            <a:avLst/>
          </a:prstGeom>
          <a:solidFill>
            <a:schemeClr val="accent2"/>
          </a:solidFill>
          <a:ln>
            <a:no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Brand performance</a:t>
            </a:r>
            <a:endParaRPr kumimoji="0" lang="en-BE" sz="1100" b="0" i="0" u="none" strike="noStrike" kern="1200" cap="none" spc="0" normalizeH="0" baseline="0" noProof="0" err="1">
              <a:ln>
                <a:noFill/>
              </a:ln>
              <a:solidFill>
                <a:prstClr val="white"/>
              </a:solidFill>
              <a:effectLst/>
              <a:uLnTx/>
              <a:uFillTx/>
              <a:latin typeface="Avenir Next LT Pro Demi"/>
              <a:ea typeface="+mn-ea"/>
              <a:cs typeface="+mn-cs"/>
            </a:endParaRPr>
          </a:p>
        </p:txBody>
      </p:sp>
      <p:sp>
        <p:nvSpPr>
          <p:cNvPr id="5" name="Title 1">
            <a:extLst>
              <a:ext uri="{FF2B5EF4-FFF2-40B4-BE49-F238E27FC236}">
                <a16:creationId xmlns:a16="http://schemas.microsoft.com/office/drawing/2014/main" id="{2AFB5996-FD91-716E-88F4-77B7F89EF668}"/>
              </a:ext>
            </a:extLst>
          </p:cNvPr>
          <p:cNvSpPr>
            <a:spLocks noGrp="1"/>
          </p:cNvSpPr>
          <p:nvPr>
            <p:ph type="title"/>
          </p:nvPr>
        </p:nvSpPr>
        <p:spPr>
          <a:xfrm>
            <a:off x="595144" y="489204"/>
            <a:ext cx="8281986" cy="251885"/>
          </a:xfrm>
        </p:spPr>
        <p:txBody>
          <a:bodyPr>
            <a:noAutofit/>
          </a:bodyPr>
          <a:lstStyle/>
          <a:p>
            <a:r>
              <a:rPr lang="en-US" sz="3600" dirty="0">
                <a:solidFill>
                  <a:srgbClr val="C00000"/>
                </a:solidFill>
              </a:rPr>
              <a:t>Market research dashboard</a:t>
            </a:r>
            <a:endParaRPr lang="en-BE" sz="3600" dirty="0">
              <a:solidFill>
                <a:srgbClr val="C00000"/>
              </a:solidFill>
            </a:endParaRPr>
          </a:p>
        </p:txBody>
      </p:sp>
      <p:sp>
        <p:nvSpPr>
          <p:cNvPr id="4" name="TextBox 3">
            <a:extLst>
              <a:ext uri="{FF2B5EF4-FFF2-40B4-BE49-F238E27FC236}">
                <a16:creationId xmlns:a16="http://schemas.microsoft.com/office/drawing/2014/main" id="{FAD8487A-7E35-5DA7-B6B8-68A770006D56}"/>
              </a:ext>
            </a:extLst>
          </p:cNvPr>
          <p:cNvSpPr txBox="1"/>
          <p:nvPr/>
        </p:nvSpPr>
        <p:spPr>
          <a:xfrm>
            <a:off x="5162731" y="1748099"/>
            <a:ext cx="555723" cy="325665"/>
          </a:xfrm>
          <a:prstGeom prst="rect">
            <a:avLst/>
          </a:prstGeom>
          <a:solidFill>
            <a:schemeClr val="bg1"/>
          </a:solidFill>
          <a:ln>
            <a:no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TBD</a:t>
            </a:r>
          </a:p>
        </p:txBody>
      </p:sp>
      <p:sp>
        <p:nvSpPr>
          <p:cNvPr id="26" name="TextBox 25">
            <a:extLst>
              <a:ext uri="{FF2B5EF4-FFF2-40B4-BE49-F238E27FC236}">
                <a16:creationId xmlns:a16="http://schemas.microsoft.com/office/drawing/2014/main" id="{6788D32F-D808-A618-41E6-DC68ADC486A5}"/>
              </a:ext>
            </a:extLst>
          </p:cNvPr>
          <p:cNvSpPr txBox="1"/>
          <p:nvPr/>
        </p:nvSpPr>
        <p:spPr>
          <a:xfrm>
            <a:off x="617747" y="1586940"/>
            <a:ext cx="934721" cy="453009"/>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venir Next LT Pro"/>
                <a:ea typeface="+mn-ea"/>
                <a:cs typeface="+mn-cs"/>
              </a:rPr>
              <a:t>Equity score</a:t>
            </a:r>
          </a:p>
        </p:txBody>
      </p:sp>
      <p:sp>
        <p:nvSpPr>
          <p:cNvPr id="28" name="TextBox 27">
            <a:extLst>
              <a:ext uri="{FF2B5EF4-FFF2-40B4-BE49-F238E27FC236}">
                <a16:creationId xmlns:a16="http://schemas.microsoft.com/office/drawing/2014/main" id="{25B2C408-649C-D37B-7668-DABFB32A9E22}"/>
              </a:ext>
            </a:extLst>
          </p:cNvPr>
          <p:cNvSpPr txBox="1"/>
          <p:nvPr/>
        </p:nvSpPr>
        <p:spPr>
          <a:xfrm>
            <a:off x="1373850" y="1637935"/>
            <a:ext cx="832045" cy="453010"/>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3.4%</a:t>
            </a:r>
          </a:p>
        </p:txBody>
      </p:sp>
      <p:sp>
        <p:nvSpPr>
          <p:cNvPr id="30" name="TextBox 29">
            <a:extLst>
              <a:ext uri="{FF2B5EF4-FFF2-40B4-BE49-F238E27FC236}">
                <a16:creationId xmlns:a16="http://schemas.microsoft.com/office/drawing/2014/main" id="{201E99C8-B80E-206F-B32C-C253F03C06DB}"/>
              </a:ext>
            </a:extLst>
          </p:cNvPr>
          <p:cNvSpPr txBox="1"/>
          <p:nvPr/>
        </p:nvSpPr>
        <p:spPr>
          <a:xfrm>
            <a:off x="735551" y="2008483"/>
            <a:ext cx="1201176" cy="210585"/>
          </a:xfrm>
          <a:prstGeom prst="rect">
            <a:avLst/>
          </a:prstGeom>
          <a:noFill/>
          <a:ln>
            <a:noFill/>
          </a:ln>
        </p:spPr>
        <p:txBody>
          <a:bodyPr wrap="square" l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venir Next LT Pro"/>
                <a:ea typeface="+mn-ea"/>
                <a:cs typeface="+mn-cs"/>
              </a:rPr>
              <a:t>+1.4% vs. market avg</a:t>
            </a:r>
          </a:p>
        </p:txBody>
      </p:sp>
      <p:sp>
        <p:nvSpPr>
          <p:cNvPr id="44" name="TextBox 43">
            <a:extLst>
              <a:ext uri="{FF2B5EF4-FFF2-40B4-BE49-F238E27FC236}">
                <a16:creationId xmlns:a16="http://schemas.microsoft.com/office/drawing/2014/main" id="{4A466B8A-3215-553B-B492-C83EC1BB5470}"/>
              </a:ext>
            </a:extLst>
          </p:cNvPr>
          <p:cNvSpPr txBox="1"/>
          <p:nvPr/>
        </p:nvSpPr>
        <p:spPr>
          <a:xfrm>
            <a:off x="3851626" y="1612906"/>
            <a:ext cx="2623372" cy="602266"/>
          </a:xfrm>
          <a:prstGeom prst="rect">
            <a:avLst/>
          </a:prstGeom>
          <a:solidFill>
            <a:schemeClr val="bg1"/>
          </a:solid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46" name="TextBox 45">
            <a:extLst>
              <a:ext uri="{FF2B5EF4-FFF2-40B4-BE49-F238E27FC236}">
                <a16:creationId xmlns:a16="http://schemas.microsoft.com/office/drawing/2014/main" id="{B8CEE937-7CF5-62B9-4AB4-2A32FFFD1BEA}"/>
              </a:ext>
            </a:extLst>
          </p:cNvPr>
          <p:cNvSpPr txBox="1"/>
          <p:nvPr/>
        </p:nvSpPr>
        <p:spPr>
          <a:xfrm>
            <a:off x="3869269" y="1622760"/>
            <a:ext cx="599323" cy="453009"/>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venir Next LT Pro"/>
                <a:ea typeface="+mn-ea"/>
                <a:cs typeface="+mn-cs"/>
              </a:rPr>
              <a:t>NPS</a:t>
            </a:r>
          </a:p>
        </p:txBody>
      </p:sp>
      <p:sp>
        <p:nvSpPr>
          <p:cNvPr id="48" name="TextBox 47">
            <a:extLst>
              <a:ext uri="{FF2B5EF4-FFF2-40B4-BE49-F238E27FC236}">
                <a16:creationId xmlns:a16="http://schemas.microsoft.com/office/drawing/2014/main" id="{B37B89C4-F7FC-9F60-3DFC-D74C2FAF3073}"/>
              </a:ext>
            </a:extLst>
          </p:cNvPr>
          <p:cNvSpPr txBox="1"/>
          <p:nvPr/>
        </p:nvSpPr>
        <p:spPr>
          <a:xfrm>
            <a:off x="4350061" y="1623838"/>
            <a:ext cx="720394" cy="453010"/>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32</a:t>
            </a:r>
          </a:p>
        </p:txBody>
      </p:sp>
      <p:sp>
        <p:nvSpPr>
          <p:cNvPr id="49" name="TextBox 48">
            <a:extLst>
              <a:ext uri="{FF2B5EF4-FFF2-40B4-BE49-F238E27FC236}">
                <a16:creationId xmlns:a16="http://schemas.microsoft.com/office/drawing/2014/main" id="{7899469E-7944-7C1F-F4AA-B5993106B7B3}"/>
              </a:ext>
            </a:extLst>
          </p:cNvPr>
          <p:cNvSpPr txBox="1"/>
          <p:nvPr/>
        </p:nvSpPr>
        <p:spPr>
          <a:xfrm>
            <a:off x="3774642" y="1995589"/>
            <a:ext cx="1291380" cy="210585"/>
          </a:xfrm>
          <a:prstGeom prst="rect">
            <a:avLst/>
          </a:prstGeom>
          <a:noFill/>
          <a:ln>
            <a:noFill/>
          </a:ln>
        </p:spPr>
        <p:txBody>
          <a:bodyPr wrap="square" l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venir Next LT Pro"/>
                <a:ea typeface="+mn-ea"/>
                <a:cs typeface="+mn-cs"/>
              </a:rPr>
              <a:t>+13.4% vs. market avg</a:t>
            </a:r>
          </a:p>
        </p:txBody>
      </p:sp>
      <p:sp>
        <p:nvSpPr>
          <p:cNvPr id="79" name="TextBox 78">
            <a:extLst>
              <a:ext uri="{FF2B5EF4-FFF2-40B4-BE49-F238E27FC236}">
                <a16:creationId xmlns:a16="http://schemas.microsoft.com/office/drawing/2014/main" id="{562DEE19-9E94-1583-BD8E-FA2CB936CBF2}"/>
              </a:ext>
            </a:extLst>
          </p:cNvPr>
          <p:cNvSpPr txBox="1"/>
          <p:nvPr/>
        </p:nvSpPr>
        <p:spPr>
          <a:xfrm>
            <a:off x="5829245" y="5114791"/>
            <a:ext cx="872364" cy="43088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venir Next LT Pro"/>
                <a:ea typeface="+mn-ea"/>
                <a:cs typeface="+mn-cs"/>
              </a:rPr>
              <a:t>XXX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venir Next LT Pro"/>
                <a:ea typeface="+mn-ea"/>
                <a:cs typeface="+mn-cs"/>
              </a:rPr>
              <a:t>demonstrates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venir Next LT Pro"/>
                <a:ea typeface="+mn-ea"/>
                <a:cs typeface="+mn-cs"/>
              </a:rPr>
              <a:t>Think forward promise</a:t>
            </a:r>
          </a:p>
        </p:txBody>
      </p:sp>
      <p:sp>
        <p:nvSpPr>
          <p:cNvPr id="84" name="Triangle 88">
            <a:extLst>
              <a:ext uri="{FF2B5EF4-FFF2-40B4-BE49-F238E27FC236}">
                <a16:creationId xmlns:a16="http://schemas.microsoft.com/office/drawing/2014/main" id="{BBE2D7CB-DE56-B418-D6A4-FF55B21F781D}"/>
              </a:ext>
            </a:extLst>
          </p:cNvPr>
          <p:cNvSpPr/>
          <p:nvPr/>
        </p:nvSpPr>
        <p:spPr>
          <a:xfrm>
            <a:off x="3955028" y="2075961"/>
            <a:ext cx="64776" cy="4654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6" name="TextBox 5">
            <a:extLst>
              <a:ext uri="{FF2B5EF4-FFF2-40B4-BE49-F238E27FC236}">
                <a16:creationId xmlns:a16="http://schemas.microsoft.com/office/drawing/2014/main" id="{C38280AA-C70D-EF66-016E-A84F32E6ADAC}"/>
              </a:ext>
            </a:extLst>
          </p:cNvPr>
          <p:cNvSpPr txBox="1"/>
          <p:nvPr/>
        </p:nvSpPr>
        <p:spPr>
          <a:xfrm>
            <a:off x="2499005" y="1756486"/>
            <a:ext cx="906147" cy="188217"/>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venir Next LT Pro Demi"/>
                <a:ea typeface="+mn-ea"/>
                <a:cs typeface="+mn-cs"/>
              </a:rPr>
              <a:t>+0.9% YoY</a:t>
            </a:r>
          </a:p>
        </p:txBody>
      </p:sp>
      <p:sp>
        <p:nvSpPr>
          <p:cNvPr id="15" name="Triangle 88">
            <a:extLst>
              <a:ext uri="{FF2B5EF4-FFF2-40B4-BE49-F238E27FC236}">
                <a16:creationId xmlns:a16="http://schemas.microsoft.com/office/drawing/2014/main" id="{56D6F3D4-04EB-C9CA-A97A-4B1D19A516F9}"/>
              </a:ext>
            </a:extLst>
          </p:cNvPr>
          <p:cNvSpPr/>
          <p:nvPr/>
        </p:nvSpPr>
        <p:spPr>
          <a:xfrm>
            <a:off x="2457796" y="1813444"/>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17" name="TextBox 16">
            <a:extLst>
              <a:ext uri="{FF2B5EF4-FFF2-40B4-BE49-F238E27FC236}">
                <a16:creationId xmlns:a16="http://schemas.microsoft.com/office/drawing/2014/main" id="{509BDAAB-E839-7E4F-7A32-32B97F70667F}"/>
              </a:ext>
            </a:extLst>
          </p:cNvPr>
          <p:cNvSpPr txBox="1"/>
          <p:nvPr/>
        </p:nvSpPr>
        <p:spPr>
          <a:xfrm>
            <a:off x="5420859" y="1753325"/>
            <a:ext cx="705260" cy="210585"/>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venir Next LT Pro Demi"/>
                <a:ea typeface="+mn-ea"/>
                <a:cs typeface="+mn-cs"/>
              </a:rPr>
              <a:t>-30 YoY</a:t>
            </a:r>
          </a:p>
        </p:txBody>
      </p:sp>
      <p:sp>
        <p:nvSpPr>
          <p:cNvPr id="19" name="Triangle 88">
            <a:extLst>
              <a:ext uri="{FF2B5EF4-FFF2-40B4-BE49-F238E27FC236}">
                <a16:creationId xmlns:a16="http://schemas.microsoft.com/office/drawing/2014/main" id="{6F64E9A8-2A6D-69F9-FF58-B49319937AC6}"/>
              </a:ext>
            </a:extLst>
          </p:cNvPr>
          <p:cNvSpPr/>
          <p:nvPr/>
        </p:nvSpPr>
        <p:spPr>
          <a:xfrm rot="10800000">
            <a:off x="5404397" y="1842682"/>
            <a:ext cx="86410" cy="56419"/>
          </a:xfrm>
          <a:prstGeom prst="triangle">
            <a:avLst/>
          </a:prstGeom>
          <a:solidFill>
            <a:schemeClr val="accent4"/>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20" name="TextBox 19">
            <a:extLst>
              <a:ext uri="{FF2B5EF4-FFF2-40B4-BE49-F238E27FC236}">
                <a16:creationId xmlns:a16="http://schemas.microsoft.com/office/drawing/2014/main" id="{BFD2C90F-611B-55A6-D39E-B1B25E63B286}"/>
              </a:ext>
            </a:extLst>
          </p:cNvPr>
          <p:cNvSpPr txBox="1"/>
          <p:nvPr/>
        </p:nvSpPr>
        <p:spPr>
          <a:xfrm>
            <a:off x="6844506" y="1568730"/>
            <a:ext cx="1944510" cy="602266"/>
          </a:xfrm>
          <a:prstGeom prst="rect">
            <a:avLst/>
          </a:prstGeom>
          <a:solidFill>
            <a:schemeClr val="bg1"/>
          </a:solid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60" name="TextBox 59">
            <a:extLst>
              <a:ext uri="{FF2B5EF4-FFF2-40B4-BE49-F238E27FC236}">
                <a16:creationId xmlns:a16="http://schemas.microsoft.com/office/drawing/2014/main" id="{65843559-3C53-58B5-57D1-A1E902EB9BB2}"/>
              </a:ext>
            </a:extLst>
          </p:cNvPr>
          <p:cNvSpPr txBox="1"/>
          <p:nvPr/>
        </p:nvSpPr>
        <p:spPr>
          <a:xfrm>
            <a:off x="6871874" y="1610955"/>
            <a:ext cx="934721" cy="453009"/>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venir Next LT Pro"/>
                <a:ea typeface="+mn-ea"/>
                <a:cs typeface="+mn-cs"/>
              </a:rPr>
              <a:t>Aided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venir Next LT Pro"/>
                <a:ea typeface="+mn-ea"/>
                <a:cs typeface="+mn-cs"/>
              </a:rPr>
              <a:t>awareness</a:t>
            </a:r>
          </a:p>
        </p:txBody>
      </p:sp>
      <p:sp>
        <p:nvSpPr>
          <p:cNvPr id="22" name="TextBox 21">
            <a:extLst>
              <a:ext uri="{FF2B5EF4-FFF2-40B4-BE49-F238E27FC236}">
                <a16:creationId xmlns:a16="http://schemas.microsoft.com/office/drawing/2014/main" id="{7C5F4AAB-2B6F-FE44-D734-E2F1027ECE31}"/>
              </a:ext>
            </a:extLst>
          </p:cNvPr>
          <p:cNvSpPr txBox="1"/>
          <p:nvPr/>
        </p:nvSpPr>
        <p:spPr>
          <a:xfrm>
            <a:off x="7395085" y="1553444"/>
            <a:ext cx="998736" cy="453010"/>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16.1%</a:t>
            </a:r>
          </a:p>
        </p:txBody>
      </p:sp>
      <p:sp>
        <p:nvSpPr>
          <p:cNvPr id="53" name="TextBox 52">
            <a:extLst>
              <a:ext uri="{FF2B5EF4-FFF2-40B4-BE49-F238E27FC236}">
                <a16:creationId xmlns:a16="http://schemas.microsoft.com/office/drawing/2014/main" id="{24AE83AE-FCB6-A1E8-E5A2-3682D7DAE46C}"/>
              </a:ext>
            </a:extLst>
          </p:cNvPr>
          <p:cNvSpPr txBox="1"/>
          <p:nvPr/>
        </p:nvSpPr>
        <p:spPr>
          <a:xfrm>
            <a:off x="4056086" y="5606656"/>
            <a:ext cx="2381580" cy="364921"/>
          </a:xfrm>
          <a:prstGeom prst="rect">
            <a:avLst/>
          </a:prstGeom>
          <a:noFill/>
          <a:ln>
            <a:noFill/>
          </a:ln>
        </p:spPr>
        <p:txBody>
          <a:bodyPr wrap="square" rtlCol="0" anchor="ctr">
            <a:noAutofit/>
          </a:bodyPr>
          <a:lstStyle>
            <a:defPPr>
              <a:defRPr lang="en-US"/>
            </a:defPPr>
            <a:lvl1pPr marR="0" lvl="0" indent="0" algn="r" fontAlgn="auto">
              <a:lnSpc>
                <a:spcPct val="100000"/>
              </a:lnSpc>
              <a:spcBef>
                <a:spcPts val="0"/>
              </a:spcBef>
              <a:spcAft>
                <a:spcPts val="0"/>
              </a:spcAft>
              <a:buClrTx/>
              <a:buSzTx/>
              <a:buFontTx/>
              <a:buNone/>
              <a:tabLst/>
              <a:defRPr kumimoji="0" sz="2000" b="0" i="0" u="none" strike="noStrike" cap="none" spc="0" normalizeH="0" baseline="0">
                <a:ln>
                  <a:noFill/>
                </a:ln>
                <a:solidFill>
                  <a:prstClr val="black"/>
                </a:solidFill>
                <a:effectLst/>
                <a:uLnTx/>
                <a:uFillTx/>
                <a:latin typeface="Avenir Next LT Pro"/>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76.7%</a:t>
            </a:r>
          </a:p>
        </p:txBody>
      </p:sp>
      <p:sp>
        <p:nvSpPr>
          <p:cNvPr id="82" name="Triangle 88">
            <a:extLst>
              <a:ext uri="{FF2B5EF4-FFF2-40B4-BE49-F238E27FC236}">
                <a16:creationId xmlns:a16="http://schemas.microsoft.com/office/drawing/2014/main" id="{2498B7B9-0ECD-6922-E1E3-9606933664E3}"/>
              </a:ext>
            </a:extLst>
          </p:cNvPr>
          <p:cNvSpPr/>
          <p:nvPr/>
        </p:nvSpPr>
        <p:spPr>
          <a:xfrm>
            <a:off x="7000279" y="2034341"/>
            <a:ext cx="64776" cy="4654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66" name="Triangle 88">
            <a:extLst>
              <a:ext uri="{FF2B5EF4-FFF2-40B4-BE49-F238E27FC236}">
                <a16:creationId xmlns:a16="http://schemas.microsoft.com/office/drawing/2014/main" id="{5FDCBD3A-EDDC-4CC4-D5E5-62F5B2935504}"/>
              </a:ext>
            </a:extLst>
          </p:cNvPr>
          <p:cNvSpPr/>
          <p:nvPr/>
        </p:nvSpPr>
        <p:spPr>
          <a:xfrm>
            <a:off x="844880" y="2067229"/>
            <a:ext cx="64776" cy="4654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7" name="Rectangle 6">
            <a:extLst>
              <a:ext uri="{FF2B5EF4-FFF2-40B4-BE49-F238E27FC236}">
                <a16:creationId xmlns:a16="http://schemas.microsoft.com/office/drawing/2014/main" id="{BFE718B4-D441-4A73-C9B5-28A651139C98}"/>
              </a:ext>
            </a:extLst>
          </p:cNvPr>
          <p:cNvSpPr/>
          <p:nvPr/>
        </p:nvSpPr>
        <p:spPr>
          <a:xfrm>
            <a:off x="548204" y="2740723"/>
            <a:ext cx="3094717" cy="1528936"/>
          </a:xfrm>
          <a:prstGeom prst="rect">
            <a:avLst/>
          </a:prstGeom>
          <a:noFill/>
          <a:ln>
            <a:solidFill>
              <a:schemeClr val="bg1">
                <a:lumMod val="85000"/>
              </a:schemeClr>
            </a:solid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8" name="Rectangle 7">
            <a:extLst>
              <a:ext uri="{FF2B5EF4-FFF2-40B4-BE49-F238E27FC236}">
                <a16:creationId xmlns:a16="http://schemas.microsoft.com/office/drawing/2014/main" id="{E6B86319-2D52-5446-CA21-A580D62C802F}"/>
              </a:ext>
            </a:extLst>
          </p:cNvPr>
          <p:cNvSpPr/>
          <p:nvPr/>
        </p:nvSpPr>
        <p:spPr>
          <a:xfrm>
            <a:off x="8988298" y="1579298"/>
            <a:ext cx="2957502" cy="1991527"/>
          </a:xfrm>
          <a:prstGeom prst="rect">
            <a:avLst/>
          </a:prstGeom>
          <a:solidFill>
            <a:schemeClr val="bg1"/>
          </a:solidFill>
          <a:ln>
            <a:solidFill>
              <a:schemeClr val="accent2"/>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9" name="Rectangle 8">
            <a:extLst>
              <a:ext uri="{FF2B5EF4-FFF2-40B4-BE49-F238E27FC236}">
                <a16:creationId xmlns:a16="http://schemas.microsoft.com/office/drawing/2014/main" id="{5E6ED412-675B-8214-183E-69A535D785B2}"/>
              </a:ext>
            </a:extLst>
          </p:cNvPr>
          <p:cNvSpPr/>
          <p:nvPr/>
        </p:nvSpPr>
        <p:spPr>
          <a:xfrm>
            <a:off x="8994945" y="1298150"/>
            <a:ext cx="2950855" cy="253490"/>
          </a:xfrm>
          <a:prstGeom prst="rect">
            <a:avLst/>
          </a:prstGeom>
          <a:solidFill>
            <a:schemeClr val="accent2"/>
          </a:solidFill>
          <a:ln w="19050">
            <a:solidFill>
              <a:schemeClr val="accent2"/>
            </a:solid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venir Next LT Pro Demi"/>
                <a:ea typeface="+mn-ea"/>
                <a:cs typeface="+mn-cs"/>
              </a:rPr>
              <a:t>Aided awareness vs competitors</a:t>
            </a:r>
            <a:endParaRPr kumimoji="0" lang="en-BE" sz="1100" b="0" i="0" u="none" strike="noStrike" kern="1200" cap="none" spc="0" normalizeH="0" baseline="0" noProof="0">
              <a:ln>
                <a:noFill/>
              </a:ln>
              <a:solidFill>
                <a:prstClr val="white"/>
              </a:solidFill>
              <a:effectLst/>
              <a:uLnTx/>
              <a:uFillTx/>
              <a:latin typeface="Avenir Next LT Pro Demi"/>
              <a:ea typeface="+mn-ea"/>
              <a:cs typeface="+mn-cs"/>
            </a:endParaRPr>
          </a:p>
        </p:txBody>
      </p:sp>
      <p:graphicFrame>
        <p:nvGraphicFramePr>
          <p:cNvPr id="11" name="Chart 10">
            <a:extLst>
              <a:ext uri="{FF2B5EF4-FFF2-40B4-BE49-F238E27FC236}">
                <a16:creationId xmlns:a16="http://schemas.microsoft.com/office/drawing/2014/main" id="{99D9B724-1259-93AD-3C97-53E512A2BD11}"/>
              </a:ext>
            </a:extLst>
          </p:cNvPr>
          <p:cNvGraphicFramePr/>
          <p:nvPr>
            <p:extLst>
              <p:ext uri="{D42A27DB-BD31-4B8C-83A1-F6EECF244321}">
                <p14:modId xmlns:p14="http://schemas.microsoft.com/office/powerpoint/2010/main" val="3387717001"/>
              </p:ext>
            </p:extLst>
          </p:nvPr>
        </p:nvGraphicFramePr>
        <p:xfrm>
          <a:off x="8707721" y="1656411"/>
          <a:ext cx="3175911" cy="2027736"/>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12">
            <a:extLst>
              <a:ext uri="{FF2B5EF4-FFF2-40B4-BE49-F238E27FC236}">
                <a16:creationId xmlns:a16="http://schemas.microsoft.com/office/drawing/2014/main" id="{DF6E3B66-34D2-9027-3085-9BD0116AD733}"/>
              </a:ext>
            </a:extLst>
          </p:cNvPr>
          <p:cNvSpPr txBox="1"/>
          <p:nvPr/>
        </p:nvSpPr>
        <p:spPr>
          <a:xfrm>
            <a:off x="6832799" y="2246640"/>
            <a:ext cx="1979673" cy="602266"/>
          </a:xfrm>
          <a:prstGeom prst="rect">
            <a:avLst/>
          </a:prstGeom>
          <a:solidFill>
            <a:schemeClr val="bg1"/>
          </a:solid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21" name="TextBox 20">
            <a:extLst>
              <a:ext uri="{FF2B5EF4-FFF2-40B4-BE49-F238E27FC236}">
                <a16:creationId xmlns:a16="http://schemas.microsoft.com/office/drawing/2014/main" id="{E7692287-95E9-BE80-387D-44E845A2AE23}"/>
              </a:ext>
            </a:extLst>
          </p:cNvPr>
          <p:cNvSpPr txBox="1"/>
          <p:nvPr/>
        </p:nvSpPr>
        <p:spPr>
          <a:xfrm>
            <a:off x="6920701" y="2279030"/>
            <a:ext cx="972594" cy="453009"/>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venir Next LT Pro"/>
                <a:ea typeface="+mn-ea"/>
                <a:cs typeface="+mn-cs"/>
              </a:rPr>
              <a:t>Top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venir Next LT Pro"/>
                <a:ea typeface="+mn-ea"/>
                <a:cs typeface="+mn-cs"/>
              </a:rPr>
              <a:t>mind</a:t>
            </a:r>
          </a:p>
        </p:txBody>
      </p:sp>
      <p:sp>
        <p:nvSpPr>
          <p:cNvPr id="25" name="TextBox 24">
            <a:extLst>
              <a:ext uri="{FF2B5EF4-FFF2-40B4-BE49-F238E27FC236}">
                <a16:creationId xmlns:a16="http://schemas.microsoft.com/office/drawing/2014/main" id="{50543AEB-10DE-A9BD-D52B-1C1C652AD6E0}"/>
              </a:ext>
            </a:extLst>
          </p:cNvPr>
          <p:cNvSpPr txBox="1"/>
          <p:nvPr/>
        </p:nvSpPr>
        <p:spPr>
          <a:xfrm>
            <a:off x="7440524" y="2285100"/>
            <a:ext cx="872802" cy="453010"/>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2.7%</a:t>
            </a:r>
          </a:p>
        </p:txBody>
      </p:sp>
      <p:sp>
        <p:nvSpPr>
          <p:cNvPr id="27" name="TextBox 26">
            <a:extLst>
              <a:ext uri="{FF2B5EF4-FFF2-40B4-BE49-F238E27FC236}">
                <a16:creationId xmlns:a16="http://schemas.microsoft.com/office/drawing/2014/main" id="{ADC07384-23D3-B3DA-0570-E48F1A3EDB7B}"/>
              </a:ext>
            </a:extLst>
          </p:cNvPr>
          <p:cNvSpPr txBox="1"/>
          <p:nvPr/>
        </p:nvSpPr>
        <p:spPr>
          <a:xfrm>
            <a:off x="6832798" y="2936308"/>
            <a:ext cx="1993641" cy="602266"/>
          </a:xfrm>
          <a:prstGeom prst="rect">
            <a:avLst/>
          </a:prstGeom>
          <a:solidFill>
            <a:schemeClr val="bg1"/>
          </a:solidFill>
          <a:ln>
            <a:solidFill>
              <a:schemeClr val="accent2"/>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29" name="TextBox 28">
            <a:extLst>
              <a:ext uri="{FF2B5EF4-FFF2-40B4-BE49-F238E27FC236}">
                <a16:creationId xmlns:a16="http://schemas.microsoft.com/office/drawing/2014/main" id="{2CBA2DC1-DCEA-F029-5A70-65CFC6650157}"/>
              </a:ext>
            </a:extLst>
          </p:cNvPr>
          <p:cNvSpPr txBox="1"/>
          <p:nvPr/>
        </p:nvSpPr>
        <p:spPr>
          <a:xfrm>
            <a:off x="6864077" y="3001088"/>
            <a:ext cx="979407" cy="453009"/>
          </a:xfrm>
          <a:prstGeom prst="rect">
            <a:avLst/>
          </a:prstGeom>
          <a:no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venir Next LT Pro"/>
                <a:ea typeface="+mn-ea"/>
                <a:cs typeface="+mn-cs"/>
              </a:rPr>
              <a:t>Unaided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venir Next LT Pro"/>
                <a:ea typeface="+mn-ea"/>
                <a:cs typeface="+mn-cs"/>
              </a:rPr>
              <a:t>awareness</a:t>
            </a:r>
          </a:p>
        </p:txBody>
      </p:sp>
      <p:sp>
        <p:nvSpPr>
          <p:cNvPr id="31" name="TextBox 30">
            <a:extLst>
              <a:ext uri="{FF2B5EF4-FFF2-40B4-BE49-F238E27FC236}">
                <a16:creationId xmlns:a16="http://schemas.microsoft.com/office/drawing/2014/main" id="{4A4AE92E-DF35-233F-6CDF-0D954ABA62F7}"/>
              </a:ext>
            </a:extLst>
          </p:cNvPr>
          <p:cNvSpPr txBox="1"/>
          <p:nvPr/>
        </p:nvSpPr>
        <p:spPr>
          <a:xfrm>
            <a:off x="7505274" y="2966023"/>
            <a:ext cx="867503" cy="453010"/>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venir Next LT Pro Demi"/>
                <a:ea typeface="+mn-ea"/>
                <a:cs typeface="+mn-cs"/>
              </a:rPr>
              <a:t>5.0%</a:t>
            </a:r>
          </a:p>
        </p:txBody>
      </p:sp>
      <p:sp>
        <p:nvSpPr>
          <p:cNvPr id="35" name="Oval 34">
            <a:extLst>
              <a:ext uri="{FF2B5EF4-FFF2-40B4-BE49-F238E27FC236}">
                <a16:creationId xmlns:a16="http://schemas.microsoft.com/office/drawing/2014/main" id="{F633871D-0238-4368-9929-BEFEF1E308C5}"/>
              </a:ext>
            </a:extLst>
          </p:cNvPr>
          <p:cNvSpPr/>
          <p:nvPr/>
        </p:nvSpPr>
        <p:spPr>
          <a:xfrm>
            <a:off x="6634503" y="3638090"/>
            <a:ext cx="1056328" cy="1002038"/>
          </a:xfrm>
          <a:prstGeom prst="ellipse">
            <a:avLst/>
          </a:prstGeom>
          <a:solidFill>
            <a:schemeClr val="bg1"/>
          </a:solidFill>
          <a:ln>
            <a:noFill/>
          </a:ln>
          <a:effectLst/>
        </p:spPr>
        <p:txBody>
          <a:bodyPr wrap="square" t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39" name="TextBox 38">
            <a:extLst>
              <a:ext uri="{FF2B5EF4-FFF2-40B4-BE49-F238E27FC236}">
                <a16:creationId xmlns:a16="http://schemas.microsoft.com/office/drawing/2014/main" id="{32C50A12-EFD1-62A2-AD46-99D523CD2C32}"/>
              </a:ext>
            </a:extLst>
          </p:cNvPr>
          <p:cNvSpPr txBox="1"/>
          <p:nvPr/>
        </p:nvSpPr>
        <p:spPr>
          <a:xfrm>
            <a:off x="7526377" y="4118645"/>
            <a:ext cx="4371382" cy="2431435"/>
          </a:xfrm>
          <a:prstGeom prst="rect">
            <a:avLst/>
          </a:prstGeom>
          <a:noFill/>
          <a:ln>
            <a:noFill/>
          </a:ln>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A2B2D"/>
                </a:solidFill>
                <a:effectLst/>
                <a:uLnTx/>
                <a:uFillTx/>
                <a:latin typeface="Avenir Next LT Pro" panose="020B0504020202020204" pitchFamily="34" charset="0"/>
                <a:ea typeface="+mn-ea"/>
                <a:cs typeface="+mn-cs"/>
              </a:rPr>
              <a:t>Evidence of strong Masterbrand health and recognition through continued equity increases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A2B2D"/>
                </a:solidFill>
                <a:effectLst/>
                <a:uLnTx/>
                <a:uFillTx/>
                <a:latin typeface="Avenir Next LT Pro" panose="020B0504020202020204" pitchFamily="34" charset="0"/>
                <a:ea typeface="+mn-ea"/>
                <a:cs typeface="+mn-cs"/>
              </a:rPr>
              <a:t>Key opportunities for increasing sub-brand equity  by leveraging the Masterbrand brand name and imaging</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A2B2D"/>
                </a:solidFill>
                <a:effectLst/>
                <a:uLnTx/>
                <a:uFillTx/>
                <a:latin typeface="Avenir Next LT Pro" panose="020B0504020202020204" pitchFamily="34" charset="0"/>
                <a:ea typeface="+mn-ea"/>
                <a:cs typeface="+mn-cs"/>
              </a:rPr>
              <a:t>Statically significant </a:t>
            </a:r>
            <a:r>
              <a:rPr kumimoji="0" lang="en-US" sz="1200" b="0" i="0" u="none" strike="noStrike" kern="1200" cap="none" spc="0" normalizeH="0" baseline="0" noProof="0" dirty="0">
                <a:ln>
                  <a:noFill/>
                </a:ln>
                <a:solidFill>
                  <a:srgbClr val="000000"/>
                </a:solidFill>
                <a:effectLst/>
                <a:uLnTx/>
                <a:uFillTx/>
                <a:latin typeface="Avenir Next LT Pro" panose="020B0504020202020204" pitchFamily="34" charset="0"/>
                <a:ea typeface="+mn-ea"/>
                <a:cs typeface="+mn-cs"/>
              </a:rPr>
              <a:t>​shift upward in familiar first metrics around our website and google channels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venir Next LT Pro" panose="020B0504020202020204" pitchFamily="34" charset="0"/>
                <a:ea typeface="+mn-ea"/>
                <a:cs typeface="+mn-cs"/>
              </a:rPr>
              <a:t>Statistically significant shift upward in our positive Think forward metrics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Avenir Next LT Pro" panose="020B05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Avenir Next LT Pro" panose="020B05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venir Next LT Pro"/>
              <a:ea typeface="+mn-ea"/>
              <a:cs typeface="+mn-cs"/>
            </a:endParaRPr>
          </a:p>
        </p:txBody>
      </p:sp>
      <p:sp>
        <p:nvSpPr>
          <p:cNvPr id="40" name="TextBox 39">
            <a:extLst>
              <a:ext uri="{FF2B5EF4-FFF2-40B4-BE49-F238E27FC236}">
                <a16:creationId xmlns:a16="http://schemas.microsoft.com/office/drawing/2014/main" id="{384B57EB-411A-8A6E-E1A4-761806A592D5}"/>
              </a:ext>
            </a:extLst>
          </p:cNvPr>
          <p:cNvSpPr txBox="1"/>
          <p:nvPr/>
        </p:nvSpPr>
        <p:spPr>
          <a:xfrm>
            <a:off x="6682581" y="1966202"/>
            <a:ext cx="1291380" cy="210585"/>
          </a:xfrm>
          <a:prstGeom prst="rect">
            <a:avLst/>
          </a:prstGeom>
          <a:noFill/>
          <a:ln>
            <a:noFill/>
          </a:ln>
        </p:spPr>
        <p:txBody>
          <a:bodyPr wrap="square" l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venir Next LT Pro"/>
                <a:ea typeface="+mn-ea"/>
                <a:cs typeface="+mn-cs"/>
              </a:rPr>
              <a:t>+2.2 vs. market avg</a:t>
            </a:r>
          </a:p>
        </p:txBody>
      </p:sp>
      <p:sp>
        <p:nvSpPr>
          <p:cNvPr id="42" name="TextBox 41">
            <a:extLst>
              <a:ext uri="{FF2B5EF4-FFF2-40B4-BE49-F238E27FC236}">
                <a16:creationId xmlns:a16="http://schemas.microsoft.com/office/drawing/2014/main" id="{D9AE603E-EC9F-F562-CB65-74AA31E3FD6D}"/>
              </a:ext>
            </a:extLst>
          </p:cNvPr>
          <p:cNvSpPr txBox="1"/>
          <p:nvPr/>
        </p:nvSpPr>
        <p:spPr>
          <a:xfrm>
            <a:off x="8255024" y="1703749"/>
            <a:ext cx="556959" cy="250693"/>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+5.6% YoY</a:t>
            </a:r>
          </a:p>
        </p:txBody>
      </p:sp>
      <p:sp>
        <p:nvSpPr>
          <p:cNvPr id="45" name="Triangle 88">
            <a:extLst>
              <a:ext uri="{FF2B5EF4-FFF2-40B4-BE49-F238E27FC236}">
                <a16:creationId xmlns:a16="http://schemas.microsoft.com/office/drawing/2014/main" id="{934822E4-8005-F613-3E2C-47BFDA5AA9A2}"/>
              </a:ext>
            </a:extLst>
          </p:cNvPr>
          <p:cNvSpPr/>
          <p:nvPr/>
        </p:nvSpPr>
        <p:spPr>
          <a:xfrm>
            <a:off x="8286219" y="1885680"/>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47" name="TextBox 46">
            <a:extLst>
              <a:ext uri="{FF2B5EF4-FFF2-40B4-BE49-F238E27FC236}">
                <a16:creationId xmlns:a16="http://schemas.microsoft.com/office/drawing/2014/main" id="{53E9EE99-C6C4-4C15-AF87-731D4A41CA33}"/>
              </a:ext>
            </a:extLst>
          </p:cNvPr>
          <p:cNvSpPr txBox="1"/>
          <p:nvPr/>
        </p:nvSpPr>
        <p:spPr>
          <a:xfrm>
            <a:off x="8245498" y="2411829"/>
            <a:ext cx="556959" cy="250693"/>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Flat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YoY</a:t>
            </a:r>
          </a:p>
        </p:txBody>
      </p:sp>
      <p:sp>
        <p:nvSpPr>
          <p:cNvPr id="50" name="TextBox 49">
            <a:extLst>
              <a:ext uri="{FF2B5EF4-FFF2-40B4-BE49-F238E27FC236}">
                <a16:creationId xmlns:a16="http://schemas.microsoft.com/office/drawing/2014/main" id="{92C50905-D041-BEE1-19AE-0993C6071DE6}"/>
              </a:ext>
            </a:extLst>
          </p:cNvPr>
          <p:cNvSpPr txBox="1"/>
          <p:nvPr/>
        </p:nvSpPr>
        <p:spPr>
          <a:xfrm>
            <a:off x="618715" y="2797192"/>
            <a:ext cx="692415" cy="1384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a:ea typeface="+mn-ea"/>
                <a:cs typeface="+mn-cs"/>
              </a:rPr>
              <a:t>Familiar first</a:t>
            </a:r>
          </a:p>
        </p:txBody>
      </p:sp>
      <p:sp>
        <p:nvSpPr>
          <p:cNvPr id="54" name="Rectangle 53">
            <a:extLst>
              <a:ext uri="{FF2B5EF4-FFF2-40B4-BE49-F238E27FC236}">
                <a16:creationId xmlns:a16="http://schemas.microsoft.com/office/drawing/2014/main" id="{708854BF-159C-8671-5B59-49FD5185FBAE}"/>
              </a:ext>
            </a:extLst>
          </p:cNvPr>
          <p:cNvSpPr/>
          <p:nvPr/>
        </p:nvSpPr>
        <p:spPr>
          <a:xfrm>
            <a:off x="1373850" y="3066452"/>
            <a:ext cx="1836967" cy="290967"/>
          </a:xfrm>
          <a:prstGeom prst="rect">
            <a:avLst/>
          </a:prstGeom>
          <a:noFill/>
          <a:ln>
            <a:solidFill>
              <a:schemeClr val="accent4"/>
            </a:solid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57" name="TextBox 56">
            <a:extLst>
              <a:ext uri="{FF2B5EF4-FFF2-40B4-BE49-F238E27FC236}">
                <a16:creationId xmlns:a16="http://schemas.microsoft.com/office/drawing/2014/main" id="{AAE4C27C-B7AC-D1D5-6159-BE30806641D4}"/>
              </a:ext>
            </a:extLst>
          </p:cNvPr>
          <p:cNvSpPr txBox="1"/>
          <p:nvPr/>
        </p:nvSpPr>
        <p:spPr>
          <a:xfrm>
            <a:off x="5515711" y="3796127"/>
            <a:ext cx="969594" cy="436964"/>
          </a:xfrm>
          <a:prstGeom prst="rect">
            <a:avLst/>
          </a:prstGeom>
          <a:noFill/>
          <a:ln>
            <a:noFill/>
          </a:ln>
        </p:spPr>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Very often +6%</a:t>
            </a:r>
          </a:p>
        </p:txBody>
      </p:sp>
      <p:sp>
        <p:nvSpPr>
          <p:cNvPr id="58" name="Triangle 88">
            <a:extLst>
              <a:ext uri="{FF2B5EF4-FFF2-40B4-BE49-F238E27FC236}">
                <a16:creationId xmlns:a16="http://schemas.microsoft.com/office/drawing/2014/main" id="{D27CC367-0646-FE03-01EB-1BF01B2D38B7}"/>
              </a:ext>
            </a:extLst>
          </p:cNvPr>
          <p:cNvSpPr/>
          <p:nvPr/>
        </p:nvSpPr>
        <p:spPr>
          <a:xfrm>
            <a:off x="5951266" y="4072036"/>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59" name="TextBox 58">
            <a:extLst>
              <a:ext uri="{FF2B5EF4-FFF2-40B4-BE49-F238E27FC236}">
                <a16:creationId xmlns:a16="http://schemas.microsoft.com/office/drawing/2014/main" id="{302065FB-AF6D-7451-3890-49AF0EECF905}"/>
              </a:ext>
            </a:extLst>
          </p:cNvPr>
          <p:cNvSpPr txBox="1"/>
          <p:nvPr/>
        </p:nvSpPr>
        <p:spPr>
          <a:xfrm>
            <a:off x="8255513" y="3060526"/>
            <a:ext cx="556959" cy="250693"/>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Flat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venir Next LT Pro Demi"/>
                <a:ea typeface="+mn-ea"/>
                <a:cs typeface="+mn-cs"/>
              </a:rPr>
              <a:t>YoY</a:t>
            </a:r>
          </a:p>
        </p:txBody>
      </p:sp>
      <p:sp>
        <p:nvSpPr>
          <p:cNvPr id="61" name="TextBox 60">
            <a:extLst>
              <a:ext uri="{FF2B5EF4-FFF2-40B4-BE49-F238E27FC236}">
                <a16:creationId xmlns:a16="http://schemas.microsoft.com/office/drawing/2014/main" id="{8A65FCA9-5DAE-8FE3-7346-49BCA4B80764}"/>
              </a:ext>
            </a:extLst>
          </p:cNvPr>
          <p:cNvSpPr txBox="1"/>
          <p:nvPr/>
        </p:nvSpPr>
        <p:spPr>
          <a:xfrm>
            <a:off x="10991489" y="1995589"/>
            <a:ext cx="1024828" cy="861774"/>
          </a:xfrm>
          <a:prstGeom prst="rect">
            <a:avLst/>
          </a:prstGeom>
          <a:solidFill>
            <a:schemeClr val="bg1"/>
          </a:solid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venir Next LT Pro"/>
                <a:ea typeface="+mn-ea"/>
                <a:cs typeface="+mn-cs"/>
              </a:rPr>
              <a:t>All brands have seen an increase in awareness with XXX experiencing the highest gains </a:t>
            </a:r>
            <a:r>
              <a:rPr kumimoji="0" lang="en-US" sz="800" b="1" i="0" u="none" strike="noStrike" kern="1200" cap="none" spc="0" normalizeH="0" baseline="0" noProof="0" dirty="0">
                <a:ln>
                  <a:noFill/>
                </a:ln>
                <a:solidFill>
                  <a:prstClr val="black"/>
                </a:solidFill>
                <a:effectLst/>
                <a:uLnTx/>
                <a:uFillTx/>
                <a:latin typeface="Avenir Next LT Pro"/>
                <a:ea typeface="+mn-ea"/>
                <a:cs typeface="+mn-cs"/>
              </a:rPr>
              <a:t>+5.6% </a:t>
            </a:r>
            <a:r>
              <a:rPr kumimoji="0" lang="en-US" sz="800" b="0" i="0" u="none" strike="noStrike" kern="1200" cap="none" spc="0" normalizeH="0" baseline="0" noProof="0" dirty="0">
                <a:ln>
                  <a:noFill/>
                </a:ln>
                <a:solidFill>
                  <a:prstClr val="black"/>
                </a:solidFill>
                <a:effectLst/>
                <a:uLnTx/>
                <a:uFillTx/>
                <a:latin typeface="Avenir Next LT Pro"/>
                <a:ea typeface="+mn-ea"/>
                <a:cs typeface="+mn-cs"/>
              </a:rPr>
              <a:t>YoY vs these competitors</a:t>
            </a:r>
          </a:p>
        </p:txBody>
      </p:sp>
      <p:sp>
        <p:nvSpPr>
          <p:cNvPr id="68" name="Triangle 88">
            <a:extLst>
              <a:ext uri="{FF2B5EF4-FFF2-40B4-BE49-F238E27FC236}">
                <a16:creationId xmlns:a16="http://schemas.microsoft.com/office/drawing/2014/main" id="{419BE0B8-0E73-8118-5BC5-F82AA4DF65CE}"/>
              </a:ext>
            </a:extLst>
          </p:cNvPr>
          <p:cNvSpPr/>
          <p:nvPr/>
        </p:nvSpPr>
        <p:spPr>
          <a:xfrm>
            <a:off x="5567166" y="5971817"/>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69" name="TextBox 68">
            <a:extLst>
              <a:ext uri="{FF2B5EF4-FFF2-40B4-BE49-F238E27FC236}">
                <a16:creationId xmlns:a16="http://schemas.microsoft.com/office/drawing/2014/main" id="{A8EB01F7-A158-6804-D242-E04B8CDE6254}"/>
              </a:ext>
            </a:extLst>
          </p:cNvPr>
          <p:cNvSpPr txBox="1"/>
          <p:nvPr/>
        </p:nvSpPr>
        <p:spPr>
          <a:xfrm>
            <a:off x="5579158" y="5915587"/>
            <a:ext cx="906147" cy="188217"/>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venir Next LT Pro Demi"/>
                <a:ea typeface="+mn-ea"/>
                <a:cs typeface="+mn-cs"/>
              </a:rPr>
              <a:t>+6.8% YoY</a:t>
            </a:r>
          </a:p>
        </p:txBody>
      </p:sp>
      <p:pic>
        <p:nvPicPr>
          <p:cNvPr id="71" name="Picture 70">
            <a:extLst>
              <a:ext uri="{FF2B5EF4-FFF2-40B4-BE49-F238E27FC236}">
                <a16:creationId xmlns:a16="http://schemas.microsoft.com/office/drawing/2014/main" id="{91475F1C-A9E4-1774-4598-45C38DC230D9}"/>
              </a:ext>
            </a:extLst>
          </p:cNvPr>
          <p:cNvPicPr>
            <a:picLocks noChangeAspect="1"/>
          </p:cNvPicPr>
          <p:nvPr/>
        </p:nvPicPr>
        <p:blipFill>
          <a:blip r:embed="rId7"/>
          <a:stretch>
            <a:fillRect/>
          </a:stretch>
        </p:blipFill>
        <p:spPr>
          <a:xfrm>
            <a:off x="533075" y="4739675"/>
            <a:ext cx="2817447" cy="1375525"/>
          </a:xfrm>
          <a:prstGeom prst="rect">
            <a:avLst/>
          </a:prstGeom>
        </p:spPr>
      </p:pic>
      <p:sp>
        <p:nvSpPr>
          <p:cNvPr id="72" name="Rectangle 71">
            <a:extLst>
              <a:ext uri="{FF2B5EF4-FFF2-40B4-BE49-F238E27FC236}">
                <a16:creationId xmlns:a16="http://schemas.microsoft.com/office/drawing/2014/main" id="{5154957C-AEBD-5B7C-8BE4-3925E962CBA2}"/>
              </a:ext>
            </a:extLst>
          </p:cNvPr>
          <p:cNvSpPr/>
          <p:nvPr/>
        </p:nvSpPr>
        <p:spPr>
          <a:xfrm>
            <a:off x="570436" y="4689121"/>
            <a:ext cx="2911275" cy="1445697"/>
          </a:xfrm>
          <a:prstGeom prst="rect">
            <a:avLst/>
          </a:prstGeom>
          <a:noFill/>
          <a:ln>
            <a:solidFill>
              <a:schemeClr val="bg1">
                <a:lumMod val="85000"/>
              </a:schemeClr>
            </a:solidFill>
          </a:ln>
        </p:spPr>
        <p:txBody>
          <a:bodyPr wrap="square" tIns="108000" bIns="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prstClr val="black"/>
              </a:solidFill>
              <a:effectLst/>
              <a:uLnTx/>
              <a:uFillTx/>
              <a:latin typeface="Avenir Next LT Pro"/>
              <a:ea typeface="+mn-ea"/>
              <a:cs typeface="+mn-cs"/>
            </a:endParaRPr>
          </a:p>
        </p:txBody>
      </p:sp>
      <p:sp>
        <p:nvSpPr>
          <p:cNvPr id="73" name="TextBox 72">
            <a:extLst>
              <a:ext uri="{FF2B5EF4-FFF2-40B4-BE49-F238E27FC236}">
                <a16:creationId xmlns:a16="http://schemas.microsoft.com/office/drawing/2014/main" id="{7823D2F1-F644-8585-B1CE-BCB954D69838}"/>
              </a:ext>
            </a:extLst>
          </p:cNvPr>
          <p:cNvSpPr txBox="1"/>
          <p:nvPr/>
        </p:nvSpPr>
        <p:spPr>
          <a:xfrm>
            <a:off x="2519612" y="5525161"/>
            <a:ext cx="906147" cy="437714"/>
          </a:xfrm>
          <a:prstGeom prst="rect">
            <a:avLst/>
          </a:prstGeom>
          <a:no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venir Next LT Pro Demi"/>
                <a:ea typeface="+mn-ea"/>
                <a:cs typeface="+mn-cs"/>
              </a:rPr>
              <a:t>Change for the better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venir Next LT Pro Dem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venir Next LT Pro Demi"/>
                <a:ea typeface="+mn-ea"/>
                <a:cs typeface="+mn-cs"/>
              </a:rPr>
              <a:t>+6.8% YoY</a:t>
            </a:r>
          </a:p>
        </p:txBody>
      </p:sp>
      <p:sp>
        <p:nvSpPr>
          <p:cNvPr id="74" name="Triangle 88">
            <a:extLst>
              <a:ext uri="{FF2B5EF4-FFF2-40B4-BE49-F238E27FC236}">
                <a16:creationId xmlns:a16="http://schemas.microsoft.com/office/drawing/2014/main" id="{316534F1-F7E2-68CF-6795-044B6989A5BE}"/>
              </a:ext>
            </a:extLst>
          </p:cNvPr>
          <p:cNvSpPr/>
          <p:nvPr/>
        </p:nvSpPr>
        <p:spPr>
          <a:xfrm>
            <a:off x="2457796" y="5889518"/>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75" name="TextBox 74">
            <a:extLst>
              <a:ext uri="{FF2B5EF4-FFF2-40B4-BE49-F238E27FC236}">
                <a16:creationId xmlns:a16="http://schemas.microsoft.com/office/drawing/2014/main" id="{333B8BBD-967A-750B-4472-8B58E7E65FD6}"/>
              </a:ext>
            </a:extLst>
          </p:cNvPr>
          <p:cNvSpPr txBox="1"/>
          <p:nvPr/>
        </p:nvSpPr>
        <p:spPr>
          <a:xfrm>
            <a:off x="5166662" y="2868791"/>
            <a:ext cx="143376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venir Next LT Pro"/>
                <a:ea typeface="+mn-ea"/>
                <a:cs typeface="+mn-cs"/>
              </a:rPr>
              <a:t>How often have you heard about XXX brand in past 6 months?</a:t>
            </a:r>
          </a:p>
        </p:txBody>
      </p:sp>
      <p:sp>
        <p:nvSpPr>
          <p:cNvPr id="76" name="Triangle 88">
            <a:extLst>
              <a:ext uri="{FF2B5EF4-FFF2-40B4-BE49-F238E27FC236}">
                <a16:creationId xmlns:a16="http://schemas.microsoft.com/office/drawing/2014/main" id="{BFB7B275-F1D1-63B6-3621-88B34A6839C0}"/>
              </a:ext>
            </a:extLst>
          </p:cNvPr>
          <p:cNvSpPr/>
          <p:nvPr/>
        </p:nvSpPr>
        <p:spPr>
          <a:xfrm>
            <a:off x="10603175" y="2596922"/>
            <a:ext cx="98484" cy="73357"/>
          </a:xfrm>
          <a:prstGeom prst="triangle">
            <a:avLst/>
          </a:prstGeom>
          <a:solidFill>
            <a:schemeClr val="accent5"/>
          </a:solidFill>
          <a:ln>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a:ea typeface="+mn-ea"/>
              <a:cs typeface="+mn-cs"/>
            </a:endParaRPr>
          </a:p>
        </p:txBody>
      </p:sp>
      <p:sp>
        <p:nvSpPr>
          <p:cNvPr id="77" name="TextBox 76">
            <a:extLst>
              <a:ext uri="{FF2B5EF4-FFF2-40B4-BE49-F238E27FC236}">
                <a16:creationId xmlns:a16="http://schemas.microsoft.com/office/drawing/2014/main" id="{BC813D52-6BAB-A8E3-A4E4-BDC113FADBB9}"/>
              </a:ext>
            </a:extLst>
          </p:cNvPr>
          <p:cNvSpPr txBox="1"/>
          <p:nvPr/>
        </p:nvSpPr>
        <p:spPr>
          <a:xfrm>
            <a:off x="602847" y="4734796"/>
            <a:ext cx="2003396" cy="215444"/>
          </a:xfrm>
          <a:prstGeom prst="rect">
            <a:avLst/>
          </a:prstGeom>
          <a:solidFill>
            <a:schemeClr val="bg1"/>
          </a:solid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venir Next LT Pro"/>
                <a:ea typeface="+mn-ea"/>
                <a:cs typeface="+mn-cs"/>
              </a:rPr>
              <a:t>How has your opinion changed of XXX brand in the past 2-3 years??</a:t>
            </a:r>
          </a:p>
        </p:txBody>
      </p:sp>
      <p:pic>
        <p:nvPicPr>
          <p:cNvPr id="12" name="Graphic 11" descr="Calligraphy Pen with solid fill">
            <a:extLst>
              <a:ext uri="{FF2B5EF4-FFF2-40B4-BE49-F238E27FC236}">
                <a16:creationId xmlns:a16="http://schemas.microsoft.com/office/drawing/2014/main" id="{97EA6EC5-40CA-D5A5-47E0-53518183CBF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38549" y="3784116"/>
            <a:ext cx="724308" cy="724308"/>
          </a:xfrm>
          <a:prstGeom prst="rect">
            <a:avLst/>
          </a:prstGeom>
        </p:spPr>
      </p:pic>
    </p:spTree>
    <p:extLst>
      <p:ext uri="{BB962C8B-B14F-4D97-AF65-F5344CB8AC3E}">
        <p14:creationId xmlns:p14="http://schemas.microsoft.com/office/powerpoint/2010/main" val="80600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B206D31-AF6C-E53B-1F27-3EF00B7F7CC1}"/>
              </a:ext>
            </a:extLst>
          </p:cNvPr>
          <p:cNvGrpSpPr/>
          <p:nvPr/>
        </p:nvGrpSpPr>
        <p:grpSpPr>
          <a:xfrm>
            <a:off x="118647" y="847436"/>
            <a:ext cx="2475894" cy="5191666"/>
            <a:chOff x="2863702" y="1212403"/>
            <a:chExt cx="2475894" cy="5191666"/>
          </a:xfrm>
        </p:grpSpPr>
        <p:grpSp>
          <p:nvGrpSpPr>
            <p:cNvPr id="6" name="Group 5">
              <a:extLst>
                <a:ext uri="{FF2B5EF4-FFF2-40B4-BE49-F238E27FC236}">
                  <a16:creationId xmlns:a16="http://schemas.microsoft.com/office/drawing/2014/main" id="{330CFD9D-EF8F-4141-9EBC-83424B129339}"/>
                </a:ext>
              </a:extLst>
            </p:cNvPr>
            <p:cNvGrpSpPr/>
            <p:nvPr/>
          </p:nvGrpSpPr>
          <p:grpSpPr>
            <a:xfrm>
              <a:off x="2863702" y="1212403"/>
              <a:ext cx="2475894" cy="5191666"/>
              <a:chOff x="769060" y="1141908"/>
              <a:chExt cx="1737360" cy="5623560"/>
            </a:xfrm>
          </p:grpSpPr>
          <p:sp>
            <p:nvSpPr>
              <p:cNvPr id="89" name="Rectangle 88">
                <a:extLst>
                  <a:ext uri="{FF2B5EF4-FFF2-40B4-BE49-F238E27FC236}">
                    <a16:creationId xmlns:a16="http://schemas.microsoft.com/office/drawing/2014/main" id="{A1AB4B31-7193-4DA8-8642-B98B81D3489C}"/>
                  </a:ext>
                </a:extLst>
              </p:cNvPr>
              <p:cNvSpPr/>
              <p:nvPr/>
            </p:nvSpPr>
            <p:spPr>
              <a:xfrm>
                <a:off x="769060" y="1141908"/>
                <a:ext cx="1737360" cy="5623560"/>
              </a:xfrm>
              <a:prstGeom prst="rect">
                <a:avLst/>
              </a:prstGeom>
              <a:solidFill>
                <a:schemeClr val="accent2">
                  <a:lumMod val="40000"/>
                  <a:lumOff val="60000"/>
                  <a:alpha val="62000"/>
                </a:schemeClr>
              </a:solidFill>
              <a:ln w="12700" cap="flat" cmpd="sng" algn="ctr">
                <a:no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184D5EC9-3236-41DF-92C1-FDCDD7B4D038}"/>
                  </a:ext>
                </a:extLst>
              </p:cNvPr>
              <p:cNvSpPr/>
              <p:nvPr/>
            </p:nvSpPr>
            <p:spPr>
              <a:xfrm>
                <a:off x="769060" y="1260896"/>
                <a:ext cx="1737360" cy="738987"/>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Calibri" panose="020F0502020204030204"/>
                    <a:ea typeface="+mn-ea"/>
                    <a:cs typeface="+mn-cs"/>
                  </a:rPr>
                  <a:t>Brand/competitor Research</a:t>
                </a:r>
              </a:p>
            </p:txBody>
          </p:sp>
          <p:sp>
            <p:nvSpPr>
              <p:cNvPr id="91" name="TextBox 90">
                <a:extLst>
                  <a:ext uri="{FF2B5EF4-FFF2-40B4-BE49-F238E27FC236}">
                    <a16:creationId xmlns:a16="http://schemas.microsoft.com/office/drawing/2014/main" id="{0184A990-83FB-47B5-8655-A93ED1E7D68A}"/>
                  </a:ext>
                </a:extLst>
              </p:cNvPr>
              <p:cNvSpPr txBox="1"/>
              <p:nvPr/>
            </p:nvSpPr>
            <p:spPr>
              <a:xfrm>
                <a:off x="860933" y="2075688"/>
                <a:ext cx="1553615" cy="4572000"/>
              </a:xfrm>
              <a:prstGeom prst="rect">
                <a:avLst/>
              </a:prstGeom>
              <a:solidFill>
                <a:srgbClr val="FFFFFF"/>
              </a:solidFill>
            </p:spPr>
            <p:txBody>
              <a:bodyPr wrap="square" lIns="91416" tIns="45708" rIns="91416" bIns="45708" rtlCol="0" anchor="t">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5C6770"/>
                  </a:solidFill>
                  <a:effectLst/>
                  <a:uLnTx/>
                  <a:uFillTx/>
                  <a:latin typeface="Calibri" panose="020F0502020204030204"/>
                  <a:ea typeface="+mn-ea"/>
                  <a:cs typeface="+mn-cs"/>
                </a:endParaRPr>
              </a:p>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5C6770"/>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E7F25F4E-48C5-6162-865A-FA4FAA12B89D}"/>
                </a:ext>
              </a:extLst>
            </p:cNvPr>
            <p:cNvSpPr txBox="1"/>
            <p:nvPr/>
          </p:nvSpPr>
          <p:spPr>
            <a:xfrm>
              <a:off x="3045250" y="5129812"/>
              <a:ext cx="2112795" cy="276999"/>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Calibri" panose="020F0502020204030204"/>
                <a:ea typeface="+mn-ea"/>
                <a:cs typeface="+mn-cs"/>
              </a:endParaRPr>
            </a:p>
          </p:txBody>
        </p:sp>
      </p:grpSp>
      <p:sp>
        <p:nvSpPr>
          <p:cNvPr id="19" name="Title 1">
            <a:extLst>
              <a:ext uri="{FF2B5EF4-FFF2-40B4-BE49-F238E27FC236}">
                <a16:creationId xmlns:a16="http://schemas.microsoft.com/office/drawing/2014/main" id="{F3BA04D6-559D-9151-B249-C958D4206D94}"/>
              </a:ext>
            </a:extLst>
          </p:cNvPr>
          <p:cNvSpPr txBox="1">
            <a:spLocks/>
          </p:cNvSpPr>
          <p:nvPr/>
        </p:nvSpPr>
        <p:spPr>
          <a:xfrm>
            <a:off x="249574" y="97395"/>
            <a:ext cx="12196350" cy="701675"/>
          </a:xfrm>
          <a:prstGeom prst="rect">
            <a:avLst/>
          </a:prstGeom>
        </p:spPr>
        <p:txBody>
          <a:bodyPr vert="horz" lIns="0" tIns="0" rIns="0" bIns="0" rtlCol="0" anchor="t">
            <a:noAutofit/>
          </a:bodyPr>
          <a:lstStyle>
            <a:lvl1pPr algn="l" defTabSz="914377"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l" defTabSz="685783" rtl="0" eaLnBrk="1" fontAlgn="ctr" latinLnBrk="0" hangingPunct="1">
              <a:lnSpc>
                <a:spcPct val="100000"/>
              </a:lnSpc>
              <a:spcBef>
                <a:spcPts val="0"/>
              </a:spcBef>
              <a:spcAft>
                <a:spcPts val="0"/>
              </a:spcAft>
              <a:buClrTx/>
              <a:buSzTx/>
              <a:buFontTx/>
              <a:buNone/>
              <a:tabLst/>
              <a:defRPr/>
            </a:pPr>
            <a:r>
              <a:rPr lang="en-US" sz="3200" spc="-50" dirty="0">
                <a:solidFill>
                  <a:srgbClr val="C00000"/>
                </a:solidFill>
              </a:rPr>
              <a:t>Brand familiarity and health measurement</a:t>
            </a:r>
          </a:p>
        </p:txBody>
      </p:sp>
      <p:sp>
        <p:nvSpPr>
          <p:cNvPr id="10" name="TextBox 9">
            <a:extLst>
              <a:ext uri="{FF2B5EF4-FFF2-40B4-BE49-F238E27FC236}">
                <a16:creationId xmlns:a16="http://schemas.microsoft.com/office/drawing/2014/main" id="{6F3268FC-3EBD-8A39-F540-706813BBDC18}"/>
              </a:ext>
            </a:extLst>
          </p:cNvPr>
          <p:cNvSpPr txBox="1"/>
          <p:nvPr/>
        </p:nvSpPr>
        <p:spPr>
          <a:xfrm>
            <a:off x="2878400" y="643283"/>
            <a:ext cx="9370184" cy="529375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venir Next LT Pro"/>
                <a:ea typeface="+mn-ea"/>
                <a:cs typeface="+mn-cs"/>
              </a:rPr>
              <a:t>Description</a:t>
            </a:r>
            <a:r>
              <a:rPr kumimoji="0" lang="en-US" sz="1400" b="0" i="0" u="none" strike="noStrike" kern="1200" cap="none" spc="0" normalizeH="0" baseline="0" noProof="0" dirty="0">
                <a:ln>
                  <a:noFill/>
                </a:ln>
                <a:solidFill>
                  <a:srgbClr val="000000"/>
                </a:solidFill>
                <a:effectLst/>
                <a:uLnTx/>
                <a:uFillTx/>
                <a:latin typeface="Avenir Next LT Pro"/>
                <a:ea typeface="+mn-ea"/>
                <a:cs typeface="+mn-cs"/>
              </a:rPr>
              <a:t>: Providing research and insight methodology to investigate the value and saturation of various aspects of our brand. This process fosters and strengthens brand awareness that can help curate brand value with prospects and existing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rPr>
            </a:b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Slide Number Placeholder 7">
            <a:extLst>
              <a:ext uri="{FF2B5EF4-FFF2-40B4-BE49-F238E27FC236}">
                <a16:creationId xmlns:a16="http://schemas.microsoft.com/office/drawing/2014/main" id="{283F65ED-0804-A1A7-9AAB-8BE35AEA5F87}"/>
              </a:ext>
            </a:extLst>
          </p:cNvPr>
          <p:cNvSpPr>
            <a:spLocks noGrp="1"/>
          </p:cNvSpPr>
          <p:nvPr>
            <p:ph type="sldNum" sz="quarter" idx="11"/>
          </p:nvPr>
        </p:nvSpPr>
        <p:spPr>
          <a:xfrm>
            <a:off x="11524570" y="6037960"/>
            <a:ext cx="216000" cy="215900"/>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F18EFF25-22D3-7349-97D6-73D11F9E5B0D}" type="slidenum">
              <a:rPr kumimoji="0" lang="en-GB"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28</a:t>
            </a:fld>
            <a:endParaRPr kumimoji="0" lang="en-GB"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8FD69D5-6343-F49C-7E9C-B0859258680F}"/>
              </a:ext>
            </a:extLst>
          </p:cNvPr>
          <p:cNvSpPr txBox="1"/>
          <p:nvPr/>
        </p:nvSpPr>
        <p:spPr>
          <a:xfrm>
            <a:off x="218944" y="1749368"/>
            <a:ext cx="2294347" cy="2708434"/>
          </a:xfrm>
          <a:prstGeom prst="rect">
            <a:avLst/>
          </a:prstGeom>
          <a:noFill/>
          <a:ln>
            <a:noFill/>
          </a:ln>
        </p:spPr>
        <p:txBody>
          <a:bodyPr wrap="square" lIns="91440" tIns="45720" rIns="91440" bIns="45720" anchor="t">
            <a:spAutoFit/>
          </a:bodyPr>
          <a:lstStyle/>
          <a:p>
            <a:pPr marL="0" marR="0" lvl="0" indent="0" algn="l" defTabSz="914400" rtl="0" eaLnBrk="1" fontAlgn="auto" latinLnBrk="0" hangingPunct="1">
              <a:lnSpc>
                <a:spcPct val="100000"/>
              </a:lnSpc>
              <a:spcBef>
                <a:spcPts val="90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Avenir Next LT Pro Demi"/>
                <a:ea typeface="+mn-ea"/>
                <a:cs typeface="+mn-cs"/>
              </a:rPr>
              <a:t>Integrated Brand Experience</a:t>
            </a:r>
            <a:endParaRPr kumimoji="0" lang="en-US" sz="1600" b="1" i="0" u="none" strike="noStrike" kern="1200" cap="none" spc="0" normalizeH="0" baseline="0" noProof="0" dirty="0">
              <a:ln>
                <a:noFill/>
              </a:ln>
              <a:solidFill>
                <a:srgbClr val="C00000"/>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endParaRPr kumimoji="0" lang="en-US" sz="1400" b="0" i="0" u="none" strike="noStrike" kern="1200" cap="none" spc="0" normalizeH="0" baseline="0" noProof="0" dirty="0">
              <a:ln>
                <a:noFill/>
              </a:ln>
              <a:solidFill>
                <a:srgbClr val="B175E1"/>
              </a:solidFill>
              <a:effectLst/>
              <a:uLnTx/>
              <a:uFillTx/>
              <a:latin typeface="Avenir Next LT Pro Demi"/>
              <a:ea typeface="+mn-ea"/>
              <a:cs typeface="+mn-cs"/>
            </a:endParaRPr>
          </a:p>
          <a:p>
            <a:pPr marL="0" marR="0" lvl="0" indent="0" algn="l" defTabSz="914400" rtl="0" eaLnBrk="1" fontAlgn="auto" latinLnBrk="0" hangingPunct="1">
              <a:lnSpc>
                <a:spcPct val="100000"/>
              </a:lnSpc>
              <a:spcBef>
                <a:spcPts val="90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Avenir Next LT Pro Demi"/>
                <a:ea typeface="+mn-ea"/>
                <a:cs typeface="+mn-cs"/>
              </a:rPr>
              <a:t>Experience insights</a:t>
            </a:r>
          </a:p>
        </p:txBody>
      </p:sp>
      <p:cxnSp>
        <p:nvCxnSpPr>
          <p:cNvPr id="3" name="Straight Connector 2">
            <a:extLst>
              <a:ext uri="{FF2B5EF4-FFF2-40B4-BE49-F238E27FC236}">
                <a16:creationId xmlns:a16="http://schemas.microsoft.com/office/drawing/2014/main" id="{E7CD086C-176B-D725-7D86-2BFE63483CDC}"/>
              </a:ext>
            </a:extLst>
          </p:cNvPr>
          <p:cNvCxnSpPr>
            <a:cxnSpLocks/>
          </p:cNvCxnSpPr>
          <p:nvPr/>
        </p:nvCxnSpPr>
        <p:spPr>
          <a:xfrm>
            <a:off x="336094" y="3940478"/>
            <a:ext cx="1954661" cy="0"/>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16BAF74-5C50-BB01-E79F-17D5A8D938BC}"/>
              </a:ext>
            </a:extLst>
          </p:cNvPr>
          <p:cNvPicPr>
            <a:picLocks noChangeAspect="1"/>
          </p:cNvPicPr>
          <p:nvPr/>
        </p:nvPicPr>
        <p:blipFill>
          <a:blip r:embed="rId4"/>
          <a:stretch>
            <a:fillRect/>
          </a:stretch>
        </p:blipFill>
        <p:spPr>
          <a:xfrm>
            <a:off x="263251" y="2157867"/>
            <a:ext cx="2163544" cy="1613140"/>
          </a:xfrm>
          <a:prstGeom prst="rect">
            <a:avLst/>
          </a:prstGeom>
          <a:ln>
            <a:solidFill>
              <a:srgbClr val="C00000"/>
            </a:solidFill>
          </a:ln>
        </p:spPr>
      </p:pic>
      <p:graphicFrame>
        <p:nvGraphicFramePr>
          <p:cNvPr id="9" name="Table 8">
            <a:extLst>
              <a:ext uri="{FF2B5EF4-FFF2-40B4-BE49-F238E27FC236}">
                <a16:creationId xmlns:a16="http://schemas.microsoft.com/office/drawing/2014/main" id="{B51E7ABE-C687-CDBA-D963-E02EF5A866E6}"/>
              </a:ext>
            </a:extLst>
          </p:cNvPr>
          <p:cNvGraphicFramePr>
            <a:graphicFrameLocks noGrp="1"/>
          </p:cNvGraphicFramePr>
          <p:nvPr>
            <p:extLst>
              <p:ext uri="{D42A27DB-BD31-4B8C-83A1-F6EECF244321}">
                <p14:modId xmlns:p14="http://schemas.microsoft.com/office/powerpoint/2010/main" val="1450498455"/>
              </p:ext>
            </p:extLst>
          </p:nvPr>
        </p:nvGraphicFramePr>
        <p:xfrm>
          <a:off x="3040661" y="1407279"/>
          <a:ext cx="8591909" cy="4810009"/>
        </p:xfrm>
        <a:graphic>
          <a:graphicData uri="http://schemas.openxmlformats.org/drawingml/2006/table">
            <a:tbl>
              <a:tblPr firstRow="1" bandRow="1">
                <a:tableStyleId>{2D5ABB26-0587-4C30-8999-92F81FD0307C}</a:tableStyleId>
              </a:tblPr>
              <a:tblGrid>
                <a:gridCol w="3329363">
                  <a:extLst>
                    <a:ext uri="{9D8B030D-6E8A-4147-A177-3AD203B41FA5}">
                      <a16:colId xmlns:a16="http://schemas.microsoft.com/office/drawing/2014/main" val="29129976"/>
                    </a:ext>
                  </a:extLst>
                </a:gridCol>
                <a:gridCol w="5262546">
                  <a:extLst>
                    <a:ext uri="{9D8B030D-6E8A-4147-A177-3AD203B41FA5}">
                      <a16:colId xmlns:a16="http://schemas.microsoft.com/office/drawing/2014/main" val="3312624405"/>
                    </a:ext>
                  </a:extLst>
                </a:gridCol>
              </a:tblGrid>
              <a:tr h="757211">
                <a:tc>
                  <a:txBody>
                    <a:bodyPr/>
                    <a:lstStyle/>
                    <a:p>
                      <a:pPr lvl="0">
                        <a:buNone/>
                      </a:pPr>
                      <a:r>
                        <a:rPr lang="en-US" sz="1400" b="1" dirty="0">
                          <a:latin typeface="AvenirNext LT Pro Bold"/>
                        </a:rPr>
                        <a:t>Qualtrics brand research </a:t>
                      </a:r>
                    </a:p>
                  </a:txBody>
                  <a:tcPr anchor="ctr">
                    <a:lnB w="12700" cap="flat" cmpd="sng" algn="ctr">
                      <a:solidFill>
                        <a:schemeClr val="tx1"/>
                      </a:solidFill>
                      <a:prstDash val="solid"/>
                      <a:round/>
                      <a:headEnd type="none" w="med" len="med"/>
                      <a:tailEnd type="none" w="med" len="med"/>
                    </a:lnB>
                  </a:tcPr>
                </a:tc>
                <a:tc>
                  <a:txBody>
                    <a:bodyPr/>
                    <a:lstStyle/>
                    <a:p>
                      <a:pPr marL="171450" lvl="0" indent="-171450" algn="l">
                        <a:lnSpc>
                          <a:spcPct val="100000"/>
                        </a:lnSpc>
                        <a:spcBef>
                          <a:spcPts val="0"/>
                        </a:spcBef>
                        <a:spcAft>
                          <a:spcPts val="0"/>
                        </a:spcAft>
                        <a:buFont typeface="Arial" panose="020B0604020202020204" pitchFamily="34" charset="0"/>
                        <a:buChar char="•"/>
                      </a:pPr>
                      <a:r>
                        <a:rPr lang="en-GB" sz="1200" dirty="0">
                          <a:latin typeface="+mn-lt"/>
                        </a:rPr>
                        <a:t>Manager project and guide teams through key steps</a:t>
                      </a:r>
                    </a:p>
                    <a:p>
                      <a:pPr marL="171450" lvl="0" indent="-171450" algn="l">
                        <a:lnSpc>
                          <a:spcPct val="100000"/>
                        </a:lnSpc>
                        <a:spcBef>
                          <a:spcPts val="0"/>
                        </a:spcBef>
                        <a:spcAft>
                          <a:spcPts val="0"/>
                        </a:spcAft>
                        <a:buFont typeface="Arial" panose="020B0604020202020204" pitchFamily="34" charset="0"/>
                        <a:buChar char="•"/>
                      </a:pPr>
                      <a:r>
                        <a:rPr lang="en-GB" sz="1200" dirty="0">
                          <a:latin typeface="+mn-lt"/>
                        </a:rPr>
                        <a:t>Share data, insights and trending information</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257005"/>
                  </a:ext>
                </a:extLst>
              </a:tr>
              <a:tr h="728722">
                <a:tc>
                  <a:txBody>
                    <a:bodyPr/>
                    <a:lstStyle/>
                    <a:p>
                      <a:pPr lvl="0">
                        <a:buNone/>
                      </a:pPr>
                      <a:r>
                        <a:rPr lang="en-US" sz="1400" b="1" i="0" kern="1200" dirty="0">
                          <a:solidFill>
                            <a:schemeClr val="dk1"/>
                          </a:solidFill>
                          <a:latin typeface="AvenirNext LT Pro Bold"/>
                          <a:ea typeface="+mn-ea"/>
                          <a:cs typeface="+mn-cs"/>
                        </a:rPr>
                        <a:t>Internal brand research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rtl="0" eaLnBrk="1" fontAlgn="base" latinLnBrk="0" hangingPunct="1">
                        <a:lnSpc>
                          <a:spcPct val="100000"/>
                        </a:lnSpc>
                        <a:spcBef>
                          <a:spcPts val="0"/>
                        </a:spcBef>
                        <a:spcAft>
                          <a:spcPts val="0"/>
                        </a:spcAft>
                        <a:buClrTx/>
                        <a:buSzTx/>
                        <a:buFont typeface="Arial" panose="020B0604020202020204" pitchFamily="34" charset="0"/>
                        <a:buChar char="•"/>
                      </a:pPr>
                      <a:r>
                        <a:rPr lang="en-GB" sz="1200">
                          <a:latin typeface="+mn-lt"/>
                        </a:rPr>
                        <a:t>Customer interviews and focus groups – where needed</a:t>
                      </a:r>
                    </a:p>
                    <a:p>
                      <a:pPr marL="171450" marR="0" lvl="0" indent="-171450" algn="l" rtl="0" eaLnBrk="1" fontAlgn="base" latinLnBrk="0" hangingPunct="1">
                        <a:lnSpc>
                          <a:spcPct val="100000"/>
                        </a:lnSpc>
                        <a:spcBef>
                          <a:spcPts val="0"/>
                        </a:spcBef>
                        <a:spcAft>
                          <a:spcPts val="0"/>
                        </a:spcAft>
                        <a:buClrTx/>
                        <a:buSzTx/>
                        <a:buFont typeface="Arial" panose="020B0604020202020204" pitchFamily="34" charset="0"/>
                        <a:buChar char="•"/>
                      </a:pPr>
                      <a:r>
                        <a:rPr lang="en-GB" sz="1200">
                          <a:latin typeface="+mn-lt"/>
                        </a:rPr>
                        <a:t>Build process to share all forms of brand research in one location</a:t>
                      </a:r>
                    </a:p>
                    <a:p>
                      <a:pPr marL="171450" marR="0" lvl="0" indent="-171450" algn="l" rtl="0" eaLnBrk="1" fontAlgn="base" latinLnBrk="0" hangingPunct="1">
                        <a:lnSpc>
                          <a:spcPct val="100000"/>
                        </a:lnSpc>
                        <a:spcBef>
                          <a:spcPts val="0"/>
                        </a:spcBef>
                        <a:spcAft>
                          <a:spcPts val="0"/>
                        </a:spcAft>
                        <a:buClrTx/>
                        <a:buSzTx/>
                        <a:buFont typeface="Arial" panose="020B0604020202020204" pitchFamily="34" charset="0"/>
                        <a:buChar char="•"/>
                      </a:pPr>
                      <a:r>
                        <a:rPr lang="en-GB" sz="1200">
                          <a:latin typeface="+mn-lt"/>
                        </a:rPr>
                        <a:t>Conduct on-line polling based on defined needs (digital experience)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0509575"/>
                  </a:ext>
                </a:extLst>
              </a:tr>
              <a:tr h="861625">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dirty="0">
                          <a:latin typeface="AvenirNext LT Pro Bold"/>
                        </a:rPr>
                        <a:t>Website demand generation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a:lnSpc>
                          <a:spcPct val="100000"/>
                        </a:lnSpc>
                        <a:spcBef>
                          <a:spcPts val="0"/>
                        </a:spcBef>
                        <a:spcAft>
                          <a:spcPts val="0"/>
                        </a:spcAft>
                        <a:buFont typeface="Arial" panose="020B0604020202020204" pitchFamily="34" charset="0"/>
                        <a:buChar char="•"/>
                      </a:pPr>
                      <a:r>
                        <a:rPr lang="en-US" sz="1200" dirty="0">
                          <a:latin typeface="+mn-lt"/>
                        </a:rPr>
                        <a:t>Support Marketing to drive demand</a:t>
                      </a:r>
                    </a:p>
                    <a:p>
                      <a:pPr marL="171450" marR="0" lvl="0" indent="-171450" algn="l">
                        <a:lnSpc>
                          <a:spcPct val="100000"/>
                        </a:lnSpc>
                        <a:spcBef>
                          <a:spcPts val="0"/>
                        </a:spcBef>
                        <a:spcAft>
                          <a:spcPts val="0"/>
                        </a:spcAft>
                        <a:buFont typeface="Arial" panose="020B0604020202020204" pitchFamily="34" charset="0"/>
                        <a:buChar char="•"/>
                      </a:pPr>
                      <a:r>
                        <a:rPr lang="en-US" sz="1200" dirty="0">
                          <a:latin typeface="+mn-lt"/>
                        </a:rPr>
                        <a:t>Assess and execute initiatives to increase conversion optimization</a:t>
                      </a:r>
                    </a:p>
                    <a:p>
                      <a:pPr marL="171450" marR="0" lvl="0" indent="-171450" algn="l">
                        <a:lnSpc>
                          <a:spcPct val="100000"/>
                        </a:lnSpc>
                        <a:spcBef>
                          <a:spcPts val="0"/>
                        </a:spcBef>
                        <a:spcAft>
                          <a:spcPts val="0"/>
                        </a:spcAft>
                        <a:buFont typeface="Arial" panose="020B0604020202020204" pitchFamily="34" charset="0"/>
                        <a:buChar char="•"/>
                      </a:pPr>
                      <a:r>
                        <a:rPr lang="en-US" sz="1200" dirty="0">
                          <a:latin typeface="+mn-lt"/>
                        </a:rPr>
                        <a:t>A/B Testing &amp; and optimization for digital changes</a:t>
                      </a:r>
                    </a:p>
                    <a:p>
                      <a:pPr marL="171450" marR="0" lvl="0" indent="-171450" algn="l">
                        <a:lnSpc>
                          <a:spcPct val="100000"/>
                        </a:lnSpc>
                        <a:spcBef>
                          <a:spcPts val="0"/>
                        </a:spcBef>
                        <a:spcAft>
                          <a:spcPts val="0"/>
                        </a:spcAft>
                        <a:buFont typeface="Arial" panose="020B0604020202020204" pitchFamily="34" charset="0"/>
                        <a:buChar char="•"/>
                      </a:pPr>
                      <a:r>
                        <a:rPr lang="en-US" sz="1200" dirty="0">
                          <a:latin typeface="+mn-lt"/>
                        </a:rPr>
                        <a:t>AA compliance status – process creation and implementation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2891111"/>
                  </a:ext>
                </a:extLst>
              </a:tr>
              <a:tr h="724337">
                <a:tc>
                  <a:txBody>
                    <a:bodyPr/>
                    <a:lstStyle/>
                    <a:p>
                      <a:pPr marL="0" lvl="0" indent="0" algn="l">
                        <a:lnSpc>
                          <a:spcPct val="100000"/>
                        </a:lnSpc>
                        <a:spcBef>
                          <a:spcPts val="0"/>
                        </a:spcBef>
                        <a:spcAft>
                          <a:spcPts val="0"/>
                        </a:spcAft>
                        <a:buNone/>
                      </a:pPr>
                      <a:r>
                        <a:rPr lang="en-US" sz="1400" b="1" dirty="0">
                          <a:latin typeface="AvenirNext LT Pro Bold"/>
                        </a:rPr>
                        <a:t>Internal brand pulse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lgn="l">
                        <a:lnSpc>
                          <a:spcPct val="100000"/>
                        </a:lnSpc>
                        <a:spcBef>
                          <a:spcPts val="0"/>
                        </a:spcBef>
                        <a:spcAft>
                          <a:spcPts val="0"/>
                        </a:spcAft>
                        <a:buFont typeface="Arial" panose="020B0604020202020204" pitchFamily="34" charset="0"/>
                        <a:buChar char="•"/>
                      </a:pPr>
                      <a:r>
                        <a:rPr lang="en-US" sz="1200">
                          <a:latin typeface="+mn-lt"/>
                        </a:rPr>
                        <a:t>Administration and support for internal brand pulse measurement and insights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600330"/>
                  </a:ext>
                </a:extLst>
              </a:tr>
              <a:tr h="732274">
                <a:tc>
                  <a:txBody>
                    <a:bodyPr/>
                    <a:lstStyle/>
                    <a:p>
                      <a:pPr marL="0" lvl="0" indent="0" algn="l">
                        <a:lnSpc>
                          <a:spcPct val="100000"/>
                        </a:lnSpc>
                        <a:spcBef>
                          <a:spcPts val="0"/>
                        </a:spcBef>
                        <a:spcAft>
                          <a:spcPts val="0"/>
                        </a:spcAft>
                        <a:buNone/>
                      </a:pPr>
                      <a:r>
                        <a:rPr lang="en-US" sz="1400" b="1" dirty="0">
                          <a:latin typeface="AvenirNext LT Pro Bold"/>
                        </a:rPr>
                        <a:t>Brand journey feedback  dashboard/reporting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lvl="0" indent="-171450" algn="l">
                        <a:lnSpc>
                          <a:spcPct val="100000"/>
                        </a:lnSpc>
                        <a:spcBef>
                          <a:spcPts val="0"/>
                        </a:spcBef>
                        <a:spcAft>
                          <a:spcPts val="0"/>
                        </a:spcAft>
                        <a:buFont typeface="Arial" panose="020B0604020202020204" pitchFamily="34" charset="0"/>
                        <a:buChar char="•"/>
                      </a:pPr>
                      <a:r>
                        <a:rPr lang="en-US" sz="1200" kern="1200">
                          <a:solidFill>
                            <a:schemeClr val="tx1"/>
                          </a:solidFill>
                          <a:latin typeface="+mn-lt"/>
                          <a:ea typeface="+mn-ea"/>
                          <a:cs typeface="+mn-cs"/>
                        </a:rPr>
                        <a:t>Create </a:t>
                      </a:r>
                      <a:r>
                        <a:rPr lang="en-US" sz="1200" kern="1200" noProof="0">
                          <a:solidFill>
                            <a:schemeClr val="tx1"/>
                          </a:solidFill>
                          <a:latin typeface="+mn-lt"/>
                          <a:ea typeface="+mn-ea"/>
                          <a:cs typeface="+mn-cs"/>
                        </a:rPr>
                        <a:t>strategy for comprehensive reporting/dashboards that disseminate feedback throughout the customer journey around brand (ITS)</a:t>
                      </a:r>
                      <a:endParaRPr lang="en-US" sz="1200" kern="120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041373"/>
                  </a:ext>
                </a:extLst>
              </a:tr>
              <a:tr h="732274">
                <a:tc>
                  <a:txBody>
                    <a:bodyPr/>
                    <a:lstStyle/>
                    <a:p>
                      <a:pPr marL="0" lvl="0" indent="0" algn="l">
                        <a:lnSpc>
                          <a:spcPct val="100000"/>
                        </a:lnSpc>
                        <a:spcBef>
                          <a:spcPts val="0"/>
                        </a:spcBef>
                        <a:spcAft>
                          <a:spcPts val="0"/>
                        </a:spcAft>
                        <a:buNone/>
                      </a:pPr>
                      <a:r>
                        <a:rPr lang="en-US" sz="1400" b="1" dirty="0">
                          <a:latin typeface="AvenirNext LT Pro Bold"/>
                        </a:rPr>
                        <a:t>Competitor research </a:t>
                      </a:r>
                    </a:p>
                  </a:txBody>
                  <a:tcPr anchor="ctr">
                    <a:lnT w="12700" cap="flat" cmpd="sng" algn="ctr">
                      <a:solidFill>
                        <a:schemeClr val="tx1"/>
                      </a:solidFill>
                      <a:prstDash val="solid"/>
                      <a:round/>
                      <a:headEnd type="none" w="med" len="med"/>
                      <a:tailEnd type="none" w="med" len="med"/>
                    </a:lnT>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latin typeface="+mn-lt"/>
                          <a:ea typeface="+mn-ea"/>
                          <a:cs typeface="+mn-cs"/>
                        </a:rPr>
                        <a:t>Value proposition benchmarking (VARS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latin typeface="+mn-lt"/>
                          <a:ea typeface="+mn-ea"/>
                          <a:cs typeface="+mn-cs"/>
                        </a:rPr>
                        <a:t>Spot emerging trends or features competitors are adopting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latin typeface="+mn-lt"/>
                          <a:ea typeface="+mn-ea"/>
                          <a:cs typeface="+mn-cs"/>
                        </a:rPr>
                        <a:t>H1 corporate narrative and H2 Otterly review of overall  brand perception &amp; 1 other topic TBD</a:t>
                      </a:r>
                    </a:p>
                    <a:p>
                      <a:pPr marL="171450" lvl="0" indent="-171450" algn="l">
                        <a:lnSpc>
                          <a:spcPct val="100000"/>
                        </a:lnSpc>
                        <a:spcBef>
                          <a:spcPts val="0"/>
                        </a:spcBef>
                        <a:spcAft>
                          <a:spcPts val="0"/>
                        </a:spcAft>
                        <a:buFont typeface="Arial" panose="020B0604020202020204" pitchFamily="34" charset="0"/>
                        <a:buChar char="•"/>
                      </a:pPr>
                      <a:endParaRPr lang="en-US" sz="1200" kern="1200" dirty="0">
                        <a:solidFill>
                          <a:schemeClr val="tx1"/>
                        </a:solidFill>
                        <a:latin typeface="+mn-lt"/>
                        <a:ea typeface="+mn-ea"/>
                        <a:cs typeface="+mn-cs"/>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07586340"/>
                  </a:ext>
                </a:extLst>
              </a:tr>
            </a:tbl>
          </a:graphicData>
        </a:graphic>
      </p:graphicFrame>
      <p:sp>
        <p:nvSpPr>
          <p:cNvPr id="12" name="TextBox 11">
            <a:extLst>
              <a:ext uri="{FF2B5EF4-FFF2-40B4-BE49-F238E27FC236}">
                <a16:creationId xmlns:a16="http://schemas.microsoft.com/office/drawing/2014/main" id="{6FDA4C9F-24B6-7C8C-E12B-1B76F8D4170C}"/>
              </a:ext>
            </a:extLst>
          </p:cNvPr>
          <p:cNvSpPr txBox="1"/>
          <p:nvPr/>
        </p:nvSpPr>
        <p:spPr>
          <a:xfrm>
            <a:off x="402439" y="4527785"/>
            <a:ext cx="2041181" cy="1354217"/>
          </a:xfrm>
          <a:prstGeom prst="rect">
            <a:avLst/>
          </a:prstGeom>
          <a:noFill/>
          <a:ln>
            <a:noFill/>
          </a:ln>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Equity</a:t>
            </a:r>
          </a:p>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Awareness</a:t>
            </a:r>
          </a:p>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Associations</a:t>
            </a:r>
          </a:p>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Perceptions</a:t>
            </a:r>
          </a:p>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Loyalty</a:t>
            </a:r>
          </a:p>
          <a:p>
            <a:pPr marL="171450" marR="0" lvl="0" indent="-171450" algn="l" defTabSz="914400"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venir Next LT Pro"/>
                <a:ea typeface="+mn-ea"/>
                <a:cs typeface="+mn-cs"/>
              </a:rPr>
              <a:t>Advocacy</a:t>
            </a:r>
          </a:p>
          <a:p>
            <a:pPr marL="171450" marR="0" lvl="0" indent="-171450" algn="l" defTabSz="914400" rtl="0" eaLnBrk="1" fontAlgn="auto" latinLnBrk="0" hangingPunct="1">
              <a:lnSpc>
                <a:spcPct val="100000"/>
              </a:lnSpc>
              <a:spcBef>
                <a:spcPts val="0"/>
              </a:spcBef>
              <a:spcAft>
                <a:spcPts val="0"/>
              </a:spcAft>
              <a:buClr>
                <a:srgbClr val="4472C4"/>
              </a:buClr>
              <a:buSzTx/>
              <a:buFont typeface="Arial" panose="020B0604020202020204" pitchFamily="34" charset="0"/>
              <a:buChar char="•"/>
              <a:tabLst/>
              <a:defRPr/>
            </a:pPr>
            <a:endParaRPr kumimoji="0" lang="en-US" sz="1000" b="0" i="0" u="none" strike="noStrike" kern="1200" cap="none" spc="0" normalizeH="0" baseline="0" noProof="0" dirty="0">
              <a:ln>
                <a:noFill/>
              </a:ln>
              <a:solidFill>
                <a:prstClr val="black"/>
              </a:solidFill>
              <a:effectLst/>
              <a:uLnTx/>
              <a:uFillTx/>
              <a:latin typeface="Avenir Next LT Pro"/>
              <a:ea typeface="+mn-ea"/>
              <a:cs typeface="+mn-cs"/>
            </a:endParaRPr>
          </a:p>
        </p:txBody>
      </p:sp>
    </p:spTree>
    <p:custDataLst>
      <p:tags r:id="rId1"/>
    </p:custDataLst>
    <p:extLst>
      <p:ext uri="{BB962C8B-B14F-4D97-AF65-F5344CB8AC3E}">
        <p14:creationId xmlns:p14="http://schemas.microsoft.com/office/powerpoint/2010/main" val="18051156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27fa96e-00b4-429e-95f9-72c2828437a4}" enabled="0" method="" siteId="{127fa96e-00b4-429e-95f9-72c2828437a4}" removed="1"/>
  <clbl:label id="{fbc493a8-0d24-4454-a815-f4ca58e8c09d}" enabled="0" method="" siteId="{fbc493a8-0d24-4454-a815-f4ca58e8c09d}" removed="1"/>
</clbl:labelList>
</file>

<file path=docProps/app.xml><?xml version="1.0" encoding="utf-8"?>
<Properties xmlns="http://schemas.openxmlformats.org/officeDocument/2006/extended-properties" xmlns:vt="http://schemas.openxmlformats.org/officeDocument/2006/docPropsVTypes">
  <Template>{463E42A3-7877-40D6-BF62-2CF48566F9AC}tf11437505_win32</Template>
  <TotalTime>904</TotalTime>
  <Words>5135</Words>
  <Application>Microsoft Office PowerPoint</Application>
  <PresentationFormat>Widescreen</PresentationFormat>
  <Paragraphs>770</Paragraphs>
  <Slides>28</Slides>
  <Notes>9</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28</vt:i4>
      </vt:variant>
    </vt:vector>
  </HeadingPairs>
  <TitlesOfParts>
    <vt:vector size="51" baseType="lpstr">
      <vt:lpstr>Aptos</vt:lpstr>
      <vt:lpstr>Arial</vt:lpstr>
      <vt:lpstr>Arial,Sans-Serif</vt:lpstr>
      <vt:lpstr>Avenir Next LT Pro</vt:lpstr>
      <vt:lpstr>Avenir Next LT Pro Demi</vt:lpstr>
      <vt:lpstr>AvenirNext LT Pro Bold</vt:lpstr>
      <vt:lpstr>Calibri</vt:lpstr>
      <vt:lpstr>Calibri Light</vt:lpstr>
      <vt:lpstr>Courier New</vt:lpstr>
      <vt:lpstr>Georgia Pro Cond Light</vt:lpstr>
      <vt:lpstr>Gill Sans</vt:lpstr>
      <vt:lpstr>Helvetica</vt:lpstr>
      <vt:lpstr>Helvetica Light</vt:lpstr>
      <vt:lpstr>Montserrat</vt:lpstr>
      <vt:lpstr>Montserrat Light</vt:lpstr>
      <vt:lpstr>Open Sans Light</vt:lpstr>
      <vt:lpstr>Roboto</vt:lpstr>
      <vt:lpstr>Roboto Bold</vt:lpstr>
      <vt:lpstr>Roboto Medium</vt:lpstr>
      <vt:lpstr>Speak Pro</vt:lpstr>
      <vt:lpstr>Times New Roman</vt:lpstr>
      <vt:lpstr>Wingdings</vt:lpstr>
      <vt:lpstr>RetrospectVTI</vt:lpstr>
      <vt:lpstr>PowerPoint Presentation</vt:lpstr>
      <vt:lpstr>Building the Blueprint – Short Term Plan</vt:lpstr>
      <vt:lpstr>PowerPoint Presentation</vt:lpstr>
      <vt:lpstr>Client Experience</vt:lpstr>
      <vt:lpstr>PowerPoint Presentation</vt:lpstr>
      <vt:lpstr>Customer Success Competencies</vt:lpstr>
      <vt:lpstr>Client Experience Programs Overview</vt:lpstr>
      <vt:lpstr>CLIENT JOURNEY – Creating “Micro-Journey’s” on Touchpoints – Mid to Long Term Plan</vt:lpstr>
      <vt:lpstr>CX Analytics – Long Term Plan</vt:lpstr>
      <vt:lpstr>NPS – Bain’s Inner and Outer Loops – Mid to Long Term Plan</vt:lpstr>
      <vt:lpstr>PowerPoint Presentation</vt:lpstr>
      <vt:lpstr>PowerPoint Presentation</vt:lpstr>
      <vt:lpstr>PowerPoint Presentation</vt:lpstr>
      <vt:lpstr>PowerPoint Presentation</vt:lpstr>
      <vt:lpstr>Employee Experience</vt:lpstr>
      <vt:lpstr>Focus on the  Framework &amp;    Roadmap for Employee Experience</vt:lpstr>
      <vt:lpstr>Employee Engagement Initiative Roadmap – Back to the basics</vt:lpstr>
      <vt:lpstr>Predictability – Data Driven Insights</vt:lpstr>
      <vt:lpstr>Data-driven Retention Program </vt:lpstr>
      <vt:lpstr>“Project Illumination” Client Facing      Research</vt:lpstr>
      <vt:lpstr>PowerPoint Presentation</vt:lpstr>
      <vt:lpstr>“Project Illumination” Program Offering – World class VOC process</vt:lpstr>
      <vt:lpstr>Guide | Client Facing Research</vt:lpstr>
      <vt:lpstr>Guide | Client Facing Research</vt:lpstr>
      <vt:lpstr>Sample Output: Research Reporting &amp; Overview</vt:lpstr>
      <vt:lpstr>PowerPoint Presentation</vt:lpstr>
      <vt:lpstr>Market research 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 O'Kelley</dc:creator>
  <cp:lastModifiedBy>Julia OKelley</cp:lastModifiedBy>
  <cp:revision>7</cp:revision>
  <dcterms:created xsi:type="dcterms:W3CDTF">2022-06-13T03:12:43Z</dcterms:created>
  <dcterms:modified xsi:type="dcterms:W3CDTF">2026-08-03T17:08:14Z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